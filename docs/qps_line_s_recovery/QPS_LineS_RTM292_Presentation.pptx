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QPS LINE S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FF"/>
                </a:solidFill>
              </a:rPr>
              <a:t>RTM-292 Pressure Analysis &amp; LOOP Boil-off Transient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ABACUS PR #582  |  Branch w001 → main  |  2026-06-26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BBFF"/>
                </a:solidFill>
              </a:rPr>
              <a:t>V_eff = 3.12 m³  |  P_limit = 1.30 bar  |  HP_max = 112 g/s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99AA"/>
                </a:solidFill>
              </a:rPr>
              <a:t>Confidential — SCK CEN / GBOGEB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Resolved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All 4 ASSUM gates closed — merge_allowed: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000"/>
                </a:solidFill>
              </a:rPr>
              <a:t>  •  Binding Line S ceiling  P_limit = 1.30 bar</a:t>
            </a:r>
          </a:p>
          <a:p>
            <a:pPr algn="l"/>
            <a:r>
              <a:rPr sz="1400" b="0">
                <a:solidFill>
                  <a:srgbClr val="606060"/>
                </a:solidFill>
              </a:rPr>
              <a:t>  •    Source: He-line-safety p_fullop_backpressure  (NOT 1.50 bar — that is closed vessel relief)</a:t>
            </a:r>
          </a:p>
          <a:p>
            <a:pPr algn="l"/>
            <a:r>
              <a:rPr sz="1400" b="1">
                <a:solidFill>
                  <a:srgbClr val="007000"/>
                </a:solidFill>
              </a:rPr>
              <a:t>  •  Allowable ΔP = 0.20 bar   (1.30 − 1.10 nominal)</a:t>
            </a:r>
          </a:p>
          <a:p>
            <a:pPr algn="l"/>
            <a:r>
              <a:rPr sz="1400" b="1">
                <a:solidFill>
                  <a:srgbClr val="007000"/>
                </a:solidFill>
              </a:rPr>
              <a:t>  •  Effective volume  V_eff = 3.12 m³  (legacy 120 m³ RETIRED — 38× too large)</a:t>
            </a:r>
          </a:p>
          <a:p>
            <a:pPr algn="l"/>
            <a:r>
              <a:rPr sz="1400" b="0">
                <a:solidFill>
                  <a:srgbClr val="606060"/>
                </a:solidFill>
              </a:rPr>
              <a:t>  •    Breakdown: bath vapour 0.289 + cold 90m 1.590 + warm 60m 1.060 + QVE 0.185</a:t>
            </a:r>
          </a:p>
          <a:p>
            <a:pPr algn="l"/>
            <a:r>
              <a:rPr sz="1400" b="1">
                <a:solidFill>
                  <a:srgbClr val="007000"/>
                </a:solidFill>
              </a:rPr>
              <a:t>  •  HP compressor max suction = 112 g/s  (350 kW diesel confirmed)</a:t>
            </a:r>
          </a:p>
          <a:p>
            <a:pPr algn="l"/>
            <a:r>
              <a:rPr sz="1400" b="0">
                <a:solidFill>
                  <a:srgbClr val="003D7A"/>
                </a:solidFill>
              </a:rPr>
              <a:t>  •  C30 LHe inventory = 391.5 kg  (2700 L × 0.145 kg/L)</a:t>
            </a:r>
          </a:p>
          <a:p>
            <a:pPr algn="l"/>
            <a:r>
              <a:rPr sz="1400" b="0">
                <a:solidFill>
                  <a:srgbClr val="003D7A"/>
                </a:solidFill>
              </a:rPr>
              <a:t>  •  SSOT Table 28: a_cond = −3.60 m (Q1), −1.38 m (Q2)  [LINAC_30]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Governing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Four equations form the complete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Eq 1 — Pressure rise (ideal gas, isothermal)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430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dP/dt = P · ṁ_net / m_gas    [bar/s]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m_gas = ρ · V_eff = (P·10⁵) / (R_He · T_line) · V_eff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t_available = ΔP_allowed / (dP/dt) = 0.20 bar / (dP/dt)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31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Eq 2 — Conduction (SSOT Table 28 lumped coefficient)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114300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Q_cond = a_cond · ∫[T_from → T_to] λ_SS(T) dT    [W]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a_cond [m] is signed — negative in SSOT → positive Q when hot→cold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Eq 3 — Radiation (SSOT Table 28 lumped coefficient)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114300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94759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Q_rad = a_rad · (T_hot⁴ − T_cold⁴)    [W]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a_rad [W/K⁴] from SSOT Table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Eq 4 — NIST AISI 304 conductivity (1–300 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11430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4632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log₁₀(λ_SS) = Σ(i=0..8) cᵢ · [log₁₀(T)]ⁱ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c = [−1.4087, +1.3982, +0.2543, −0.6260, +0.2334, +0.4256, −0.4658, +0.1650, −0.0199]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Evaluated via Simpson's rule (n=64); error &lt;0.001% vs n=512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Sample Calculations — T_TS = 50 K, LINAC_30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Worked example at initial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λ_SS at key temperatures (Eq 4):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λ_SS( 4 K)  = 0.2724 W/(m·K)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λ_SS(50 K)  = 5.7302 W/(m·K)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λ_SS(300 K) = 15.3087 W/(m·K)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Q1 conduction — TS 50K → bath 2K (Eq 2):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54864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∫[50→2] λ dT = -140.23 W/m   (negative: T_to &lt; T_from)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Q1_cond = −3.60 × (-140.23) = 504.8 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Q1 radiation — TS 50K → bath 2K (Eq 3):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54864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661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Q1_rad = 2.24e-5 × (50⁴ − 2⁴) = 140.0 W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Q1 total = 504.8 + 140.0 = 644.8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Boil-off flow rate: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26280"/>
            <a:ext cx="5486400" cy="41148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ṁ = Q1 / h_fg(2K) = 644.8 / 23300 = 27.6742 kg/s = 27674.2 g/s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dP/dt — LOOP_100, cold section (Eq 1):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49240"/>
            <a:ext cx="54864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394959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m_gas = (1.10e5)/(2077.2×4.0)×3.124 = 41.359 kg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dP/dt = 1.10 × 0.100 / 41.359 = 2.66 mbar/s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t_available = 200 mbar / 2.66 mbar/s = 75 s (1.3 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097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Q2 conduction — ambient 300K → TS 50K (Eq 2):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17320"/>
            <a:ext cx="59436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146304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∫[300→50] λ dT = -2890.99 W/m   (negative)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Q2_cond = −1.38 × (-2890.99) = 3989.6 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03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Q2 radiation — ambient 300K → TS 50K (Eq 3):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423160"/>
            <a:ext cx="59436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2468879"/>
            <a:ext cx="5760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Q2_rad = 6.58e-7 × (300⁴ − 50⁴)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       = 6.58e-7 × 8.094e9 = 5325.7 W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Q2 total = 3989.6 + 5325.7 = 9315.3 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D7A"/>
                </a:solidFill>
              </a:rPr>
              <a:t>Energy balance at t=0: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520440"/>
            <a:ext cx="59436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79" y="3566160"/>
            <a:ext cx="5760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0080"/>
                </a:solidFill>
                <a:latin typeface="Courier New"/>
              </a:rPr>
              <a:t>dH_TS/dt = Q2 − Q1 = 9315 − 645 = 8670 W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→ TS Mass warms rapidly from initial 50 K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→ as T_TS rises, Q1 grows (more conduction)</a:t>
            </a:r>
          </a:p>
          <a:p>
            <a:r>
              <a:rPr sz="1000">
                <a:solidFill>
                  <a:srgbClr val="000080"/>
                </a:solidFill>
                <a:latin typeface="Courier New"/>
              </a:rPr>
              <a:t>→ boil-off rate accelerates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Pressure Rise — LOOP_100, Cold Section (4 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Eq 1 applied across suction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pressure_rise_c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</a:rPr>
              <a:t>  •  0 g/s suction → hits 1.30 bar in 75 s (~1.3 min)</a:t>
            </a:r>
          </a:p>
          <a:p>
            <a:pPr algn="l"/>
            <a:r>
              <a:rPr sz="1200" b="1">
                <a:solidFill>
                  <a:srgbClr val="007000"/>
                </a:solidFill>
              </a:rPr>
              <a:t>  •  100 g/s balanced → pressure flat at nominal ∞ time</a:t>
            </a:r>
          </a:p>
          <a:p>
            <a:pPr algn="l"/>
            <a:r>
              <a:rPr sz="1200" b="1">
                <a:solidFill>
                  <a:srgbClr val="007000"/>
                </a:solidFill>
              </a:rPr>
              <a:t>  •  112 g/s HP max → pressure falls, actively clearing the line</a:t>
            </a:r>
          </a:p>
          <a:p>
            <a:pPr algn="l"/>
            <a:r>
              <a:rPr sz="1200" b="1">
                <a:solidFill>
                  <a:srgbClr val="C00000"/>
                </a:solidFill>
              </a:rPr>
              <a:t>  •  Warm section (300 K): ALL cases except balanced reach 1.30 bar in &lt;1 s</a:t>
            </a:r>
          </a:p>
          <a:p>
            <a:pPr algn="l"/>
            <a:r>
              <a:rPr sz="1200" b="1">
                <a:solidFill>
                  <a:srgbClr val="000000"/>
                </a:solidFill>
              </a:rPr>
              <a:t>  •  Conclusion: HP suction must be ON before the event, not after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t_available Matrix — RTM-292 Compliance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Time to exceed 1.30 bar: red = critical, green = safe (&gt;600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t_availab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612880" cy="4840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893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3D7A"/>
                </a:solidFill>
              </a:rPr>
              <a:t>LOOP_100: ≥100 g/s suction → safe at all temperatures  |  QVE_200 (200 g/s spike): 112 g/s HP gives ~85 s on cold section — covers 100 s spike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LOOP Boil-off Transient — LINAC_30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SSOT Table 28 + NIST AISI 304 (Equations 2, 3,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boiloff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315200" cy="812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1887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00"/>
                </a:solidFill>
              </a:rPr>
              <a:t>  •  Dry-out: 1.86 h  (D2.1 baseline ~2 h)</a:t>
            </a:r>
          </a:p>
          <a:p>
            <a:pPr algn="l"/>
            <a:r>
              <a:rPr sz="1200" b="1">
                <a:solidFill>
                  <a:srgbClr val="B06000"/>
                </a:solidFill>
              </a:rPr>
              <a:t>  •  Peak boil-off: 88.7 g/s  (D2.1 target &gt;150 g/s)</a:t>
            </a:r>
          </a:p>
          <a:p>
            <a:pPr algn="l"/>
            <a:r>
              <a:rPr sz="1200" b="1">
                <a:solidFill>
                  <a:srgbClr val="B06000"/>
                </a:solidFill>
              </a:rPr>
              <a:t>  •  Average boil-off: 58.6 g/s  (D2.1 target &gt;120 g/s)</a:t>
            </a:r>
          </a:p>
          <a:p>
            <a:pPr algn="l"/>
            <a:r>
              <a:rPr sz="1200" b="0">
                <a:solidFill>
                  <a:srgbClr val="606060"/>
                </a:solidFill>
              </a:rPr>
              <a:t>  •  Gap vs D2.1: modelling scope — single lump, no early bath transient</a:t>
            </a:r>
          </a:p>
          <a:p>
            <a:pPr algn="l"/>
            <a:r>
              <a:rPr sz="1200" b="1">
                <a:solidFill>
                  <a:srgbClr val="007000"/>
                </a:solidFill>
              </a:rPr>
              <a:t>  •  HP at 100 g/s covers entire boil-off duration — never exceeded</a:t>
            </a:r>
          </a:p>
          <a:p>
            <a:pPr algn="l"/>
            <a:r>
              <a:rPr sz="1200" b="0">
                <a:solidFill>
                  <a:srgbClr val="003D7A"/>
                </a:solidFill>
              </a:rPr>
              <a:t>  •  T_TS rises 50 → 78.5 K at dry-out</a:t>
            </a:r>
          </a:p>
          <a:p>
            <a:pPr algn="l"/>
            <a:r>
              <a:rPr sz="1200" b="0">
                <a:solidFill>
                  <a:srgbClr val="003D7A"/>
                </a:solidFill>
              </a:rPr>
              <a:t>  •  Boil-off rate accelerates as T_TS warms (Q1 grows — see Eq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Heat Loads &amp; NIST 304 Conductivity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SSOT Table 28 Equations 2, 3,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heat_loads_vs_T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3657600"/>
          </a:xfrm>
          <a:prstGeom prst="rect">
            <a:avLst/>
          </a:prstGeom>
        </p:spPr>
      </p:pic>
      <p:pic>
        <p:nvPicPr>
          <p:cNvPr id="7" name="Picture 6" descr="fig5_nist_condu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97280"/>
            <a:ext cx="36576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41148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D7A"/>
                </a:solidFill>
              </a:rPr>
              <a:t>  •  At T_TS = 50 K:  Q1 = 645 W  |  Q2 = 9315 W</a:t>
            </a:r>
          </a:p>
          <a:p>
            <a:pPr algn="l"/>
            <a:r>
              <a:rPr sz="1100" b="0">
                <a:solidFill>
                  <a:srgbClr val="C00000"/>
                </a:solidFill>
              </a:rPr>
              <a:t>  •  Q1 grows steeply — conduction ~10× from 30→110 K</a:t>
            </a:r>
          </a:p>
          <a:p>
            <a:pPr algn="l"/>
            <a:r>
              <a:rPr sz="1100" b="0">
                <a:solidFill>
                  <a:srgbClr val="003D7A"/>
                </a:solidFill>
              </a:rPr>
              <a:t>  •  Q2 ~flat — dominated by radiation (T_amb⁴ term)</a:t>
            </a:r>
          </a:p>
          <a:p>
            <a:pPr algn="l"/>
            <a:r>
              <a:rPr sz="1100" b="0">
                <a:solidFill>
                  <a:srgbClr val="606060"/>
                </a:solidFill>
              </a:rPr>
              <a:t>  •  λ_SS(4K)=0.272  λ_SS(50K)=5.730  λ_SS(300K)=15.309 W/(m·K)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Conclusion — RTM-292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All 4 ASSUM blockers resolved | merge_allowed: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</a:rPr>
              <a:t>Compliance verdict by scenario: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6858000" cy="54864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508760"/>
            <a:ext cx="4572000" cy="54864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LOOP_100 (100 g/s in) + 100 g/s suction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00"/>
                </a:solidFill>
              </a:rPr>
              <a:t>∞ — balanced, nominal pressure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39"/>
            <a:ext cx="6858000" cy="54864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2148839"/>
            <a:ext cx="4572000" cy="54864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027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LOOP_100 (100 g/s in) + 112 g/s HP 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00"/>
                </a:solidFill>
              </a:rPr>
              <a:t>∞ — pressure falls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6858000" cy="54864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2788920"/>
            <a:ext cx="4572000" cy="54864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QVE_200 spike (200 g/s, 100 s) + 112 g/s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880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00"/>
                </a:solidFill>
              </a:rPr>
              <a:t>~85 s cold margin  &gt;  100 s spike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28999"/>
            <a:ext cx="6858000" cy="54864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428999"/>
            <a:ext cx="4572000" cy="548640"/>
          </a:xfrm>
          <a:prstGeom prst="rect">
            <a:avLst/>
          </a:prstGeom>
          <a:solidFill>
            <a:srgbClr val="F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20439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Any scenario, warm line (300 K), 0 suction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5204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</a:rPr>
              <a:t>&lt;1 s — FAILS immediately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06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D7A"/>
                </a:solidFill>
              </a:rPr>
              <a:t>▶  The 112 g/s HP compressor satisfies RTM-292 and RTM-261 provided suction is running at event onset.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  •  Remaining open (non-blocking): q_ts_design_w discrepancy  |  MDOT_IN trace  |  V_eff isometric check</a:t>
            </a:r>
          </a:p>
          <a:p>
            <a:pPr algn="l"/>
            <a:r>
              <a:rPr sz="1200" b="0">
                <a:solidFill>
                  <a:srgbClr val="606060"/>
                </a:solidFill>
              </a:rPr>
              <a:t>  •  D2.1 average gap (60 vs 120 g/s avg) is a modelling-scope difference — documented, not a blocker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Provenance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Wave 0 MDA spine — all numbers trace to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D7A"/>
                </a:solidFill>
              </a:rPr>
              <a:t>  •  SSOT Table 27 — lumped cold/TS masses (LINAC_30: 12356 / 10753 kg)</a:t>
            </a:r>
          </a:p>
          <a:p>
            <a:pPr algn="l"/>
            <a:r>
              <a:rPr sz="1300" b="0">
                <a:solidFill>
                  <a:srgbClr val="003D7A"/>
                </a:solidFill>
              </a:rPr>
              <a:t>  •  SSOT Table 28 — heat-load a_cond [m] and a_rad [W/K⁴] coefficients</a:t>
            </a:r>
          </a:p>
          <a:p>
            <a:pPr algn="l"/>
            <a:r>
              <a:rPr sz="1300" b="0">
                <a:solidFill>
                  <a:srgbClr val="003D7A"/>
                </a:solidFill>
              </a:rPr>
              <a:t>  •  SSOT Table 29 — specific enthalpy 1–300 K (TS column, inverse lookup)</a:t>
            </a:r>
          </a:p>
          <a:p>
            <a:pPr algn="l"/>
            <a:r>
              <a:rPr sz="1300" b="0">
                <a:solidFill>
                  <a:srgbClr val="003D7A"/>
                </a:solidFill>
              </a:rPr>
              <a:t>  •  NIST AISI 304 / UNS S30400 — 9-term log polynomial, valid 1–300 K</a:t>
            </a:r>
          </a:p>
          <a:p>
            <a:pPr algn="l"/>
            <a:r>
              <a:rPr sz="1300" b="0">
                <a:solidFill>
                  <a:srgbClr val="606060"/>
                </a:solidFill>
              </a:rPr>
              <a:t>  •  D2.1 = CEA DSBT-TN-24-37 — LOOP timing (Figs 15-18), 2700 L inventory</a:t>
            </a:r>
          </a:p>
          <a:p>
            <a:pPr algn="l"/>
            <a:r>
              <a:rPr sz="1300" b="0">
                <a:solidFill>
                  <a:srgbClr val="606060"/>
                </a:solidFill>
              </a:rPr>
              <a:t>  •  He-line-safety sheet — P_limit 1.30 bar (p_fullop), relief 1.50 bar (vessel only)</a:t>
            </a:r>
          </a:p>
          <a:p>
            <a:pPr algn="l"/>
            <a:r>
              <a:rPr sz="1300" b="0">
                <a:solidFill>
                  <a:srgbClr val="606060"/>
                </a:solidFill>
              </a:rPr>
              <a:t>  •  RTM-292 — nominal 1.10 bar, min allowable 1.05 bar, use-case envelope</a:t>
            </a:r>
          </a:p>
          <a:p>
            <a:pPr algn="l"/>
            <a:r>
              <a:rPr sz="1300" b="1">
                <a:solidFill>
                  <a:srgbClr val="007000"/>
                </a:solidFill>
              </a:rPr>
              <a:t>  •  assumptions_register.yaml — gate status, open_gates: [], merge_allowed: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