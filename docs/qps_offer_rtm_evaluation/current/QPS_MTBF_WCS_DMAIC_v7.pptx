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95" r:id="rId2"/>
    <p:sldMasterId id="2147483702" r:id="rId3"/>
    <p:sldMasterId id="2147483738" r:id="rId4"/>
  </p:sldMasterIdLst>
  <p:notesMasterIdLst>
    <p:notesMasterId r:id="rId43"/>
  </p:notesMasterIdLst>
  <p:handoutMasterIdLst>
    <p:handoutMasterId r:id="rId44"/>
  </p:handoutMasterIdLst>
  <p:sldIdLst>
    <p:sldId id="256" r:id="rId5"/>
    <p:sldId id="307" r:id="rId6"/>
    <p:sldId id="308" r:id="rId7"/>
    <p:sldId id="309" r:id="rId8"/>
    <p:sldId id="257" r:id="rId9"/>
    <p:sldId id="258" r:id="rId10"/>
    <p:sldId id="259" r:id="rId11"/>
    <p:sldId id="260" r:id="rId12"/>
    <p:sldId id="261" r:id="rId13"/>
    <p:sldId id="310" r:id="rId14"/>
    <p:sldId id="262" r:id="rId15"/>
    <p:sldId id="263" r:id="rId16"/>
    <p:sldId id="264" r:id="rId17"/>
    <p:sldId id="265" r:id="rId18"/>
    <p:sldId id="266" r:id="rId19"/>
    <p:sldId id="267" r:id="rId20"/>
    <p:sldId id="268" r:id="rId21"/>
    <p:sldId id="269" r:id="rId22"/>
    <p:sldId id="278" r:id="rId23"/>
    <p:sldId id="311" r:id="rId24"/>
    <p:sldId id="277" r:id="rId25"/>
    <p:sldId id="312" r:id="rId26"/>
    <p:sldId id="313" r:id="rId27"/>
    <p:sldId id="314" r:id="rId28"/>
    <p:sldId id="315" r:id="rId29"/>
    <p:sldId id="316" r:id="rId30"/>
    <p:sldId id="317" r:id="rId31"/>
    <p:sldId id="318" r:id="rId32"/>
    <p:sldId id="298" r:id="rId33"/>
    <p:sldId id="297" r:id="rId34"/>
    <p:sldId id="299" r:id="rId35"/>
    <p:sldId id="302" r:id="rId36"/>
    <p:sldId id="305" r:id="rId37"/>
    <p:sldId id="303" r:id="rId38"/>
    <p:sldId id="304" r:id="rId39"/>
    <p:sldId id="301" r:id="rId40"/>
    <p:sldId id="300" r:id="rId41"/>
    <p:sldId id="306" r:id="rId42"/>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172C13-C772-4E49-B062-8EBAA15C29D6}">
          <p14:sldIdLst>
            <p14:sldId id="256"/>
            <p14:sldId id="307"/>
            <p14:sldId id="308"/>
            <p14:sldId id="309"/>
            <p14:sldId id="257"/>
            <p14:sldId id="258"/>
            <p14:sldId id="259"/>
            <p14:sldId id="260"/>
            <p14:sldId id="261"/>
            <p14:sldId id="310"/>
            <p14:sldId id="262"/>
            <p14:sldId id="263"/>
            <p14:sldId id="264"/>
            <p14:sldId id="265"/>
            <p14:sldId id="266"/>
          </p14:sldIdLst>
        </p14:section>
        <p14:section name="Appendix" id="{52BA0AFE-A795-42C0-9D92-2C3A5F7E5A17}">
          <p14:sldIdLst>
            <p14:sldId id="267"/>
            <p14:sldId id="268"/>
            <p14:sldId id="269"/>
            <p14:sldId id="278"/>
            <p14:sldId id="311"/>
            <p14:sldId id="277"/>
            <p14:sldId id="312"/>
            <p14:sldId id="313"/>
            <p14:sldId id="314"/>
            <p14:sldId id="315"/>
            <p14:sldId id="316"/>
            <p14:sldId id="317"/>
            <p14:sldId id="318"/>
          </p14:sldIdLst>
        </p14:section>
        <p14:section name="MTBF" id="{9F0481D7-8AD0-492B-BB6D-1EF576A6346B}">
          <p14:sldIdLst>
            <p14:sldId id="298"/>
            <p14:sldId id="297"/>
            <p14:sldId id="299"/>
            <p14:sldId id="302"/>
            <p14:sldId id="305"/>
            <p14:sldId id="303"/>
            <p14:sldId id="304"/>
            <p14:sldId id="301"/>
            <p14:sldId id="300"/>
            <p14:sldId id="3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ollon Ann" initials="FA" lastIdx="1" clrIdx="0">
    <p:extLst>
      <p:ext uri="{19B8F6BF-5375-455C-9EA6-DF929625EA0E}">
        <p15:presenceInfo xmlns:p15="http://schemas.microsoft.com/office/powerpoint/2012/main" userId="S-1-5-21-2143564435-1125984783-857296014-4155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FFFFF"/>
    <a:srgbClr val="DDDDDD"/>
    <a:srgbClr val="808000"/>
    <a:srgbClr val="6C9BF8"/>
    <a:srgbClr val="FFFFCC"/>
    <a:srgbClr val="FFC000"/>
    <a:srgbClr val="C4BD97"/>
    <a:srgbClr val="F79646"/>
    <a:srgbClr val="66A1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0909" autoAdjust="0"/>
  </p:normalViewPr>
  <p:slideViewPr>
    <p:cSldViewPr snapToGrid="0">
      <p:cViewPr varScale="1">
        <p:scale>
          <a:sx n="104" d="100"/>
          <a:sy n="104" d="100"/>
        </p:scale>
        <p:origin x="144" y="252"/>
      </p:cViewPr>
      <p:guideLst/>
    </p:cSldViewPr>
  </p:slideViewPr>
  <p:notesTextViewPr>
    <p:cViewPr>
      <p:scale>
        <a:sx n="3" d="2"/>
        <a:sy n="3" d="2"/>
      </p:scale>
      <p:origin x="0" y="0"/>
    </p:cViewPr>
  </p:notesTextViewPr>
  <p:sorterViewPr>
    <p:cViewPr>
      <p:scale>
        <a:sx n="100" d="100"/>
        <a:sy n="100" d="100"/>
      </p:scale>
      <p:origin x="0" y="-1392"/>
    </p:cViewPr>
  </p:sorterViewPr>
  <p:notesViewPr>
    <p:cSldViewPr snapToGrid="0" showGuides="1">
      <p:cViewPr varScale="1">
        <p:scale>
          <a:sx n="85" d="100"/>
          <a:sy n="85" d="100"/>
        </p:scale>
        <p:origin x="3804" y="9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notesMaster" Target="notesMasters/notesMaster1.xml"/><Relationship Id="rId44" Type="http://schemas.openxmlformats.org/officeDocument/2006/relationships/handoutMaster" Target="handoutMasters/handoutMaster1.xml"/><Relationship Id="rId45" Type="http://schemas.openxmlformats.org/officeDocument/2006/relationships/commentAuthors" Target="commentAuthors.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wmf"/></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6" name="Group 35"/>
          <p:cNvGrpSpPr/>
          <p:nvPr/>
        </p:nvGrpSpPr>
        <p:grpSpPr>
          <a:xfrm>
            <a:off x="269285" y="9489316"/>
            <a:ext cx="791559" cy="437322"/>
            <a:chOff x="222512" y="4397202"/>
            <a:chExt cx="798584" cy="402843"/>
          </a:xfrm>
        </p:grpSpPr>
        <p:cxnSp>
          <p:nvCxnSpPr>
            <p:cNvPr id="32" name="Rechte verbindingslijn 15">
              <a:extLst>
                <a:ext uri="{FF2B5EF4-FFF2-40B4-BE49-F238E27FC236}">
                  <a16:creationId xmlns:a16="http://schemas.microsoft.com/office/drawing/2014/main" id="{37B50A3E-DDAF-4A5F-ADED-8187508C78E1}"/>
                </a:ext>
              </a:extLst>
            </p:cNvPr>
            <p:cNvCxnSpPr>
              <a:cxnSpLocks/>
            </p:cNvCxnSpPr>
            <p:nvPr/>
          </p:nvCxnSpPr>
          <p:spPr>
            <a:xfrm>
              <a:off x="1021096" y="4397202"/>
              <a:ext cx="0" cy="40284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3" name="Afbeelding 13">
              <a:extLst>
                <a:ext uri="{FF2B5EF4-FFF2-40B4-BE49-F238E27FC236}">
                  <a16:creationId xmlns:a16="http://schemas.microsoft.com/office/drawing/2014/main" id="{522606A1-5983-4956-9002-1FC101450F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2512" y="4481976"/>
              <a:ext cx="720000" cy="164148"/>
            </a:xfrm>
            <a:prstGeom prst="rect">
              <a:avLst/>
            </a:prstGeom>
          </p:spPr>
        </p:pic>
      </p:grpSp>
      <p:sp>
        <p:nvSpPr>
          <p:cNvPr id="37" name="Footer Placeholder 36"/>
          <p:cNvSpPr>
            <a:spLocks noGrp="1"/>
          </p:cNvSpPr>
          <p:nvPr>
            <p:ph type="ftr" sz="quarter" idx="2"/>
          </p:nvPr>
        </p:nvSpPr>
        <p:spPr>
          <a:xfrm>
            <a:off x="1138738" y="8991261"/>
            <a:ext cx="5381110" cy="498055"/>
          </a:xfrm>
          <a:prstGeom prst="rect">
            <a:avLst/>
          </a:prstGeom>
        </p:spPr>
        <p:txBody>
          <a:bodyPr vert="horz" lIns="91440" tIns="45720" rIns="91440" bIns="45720" rtlCol="0" anchor="b"/>
          <a:lstStyle>
            <a:lvl1pPr algn="l">
              <a:defRPr sz="1200"/>
            </a:lvl1pPr>
          </a:lstStyle>
          <a:p>
            <a:pPr>
              <a:defRPr/>
            </a:pPr>
            <a:r>
              <a:rPr lang="en-GB" sz="800">
                <a:solidFill>
                  <a:schemeClr val="tx1">
                    <a:lumMod val="50000"/>
                    <a:lumOff val="50000"/>
                  </a:schemeClr>
                </a:solidFill>
                <a:ea typeface="Times New Roman" pitchFamily="18" charset="0"/>
                <a:cs typeface="Arial" charset="0"/>
              </a:rPr>
              <a:t>Copyright © SCK CEN - </a:t>
            </a:r>
            <a:r>
              <a:rPr lang="en-US" sz="800">
                <a:solidFill>
                  <a:schemeClr val="tx1">
                    <a:lumMod val="50000"/>
                    <a:lumOff val="50000"/>
                  </a:schemeClr>
                </a:solidFill>
                <a:ea typeface="Times New Roman" pitchFamily="18" charset="0"/>
                <a:cs typeface="Arial" charset="0"/>
              </a:rPr>
              <a:t>This presentation contains data, information and formats for dedicated use only and may not be communicated, copied, reproduced, distributed or cited without the explicit written permission of SCK CEN.</a:t>
            </a:r>
            <a:endParaRPr lang="en-US" sz="800" dirty="0">
              <a:solidFill>
                <a:schemeClr val="tx1">
                  <a:lumMod val="50000"/>
                  <a:lumOff val="50000"/>
                </a:schemeClr>
              </a:solidFill>
              <a:ea typeface="Times New Roman" pitchFamily="18" charset="0"/>
              <a:cs typeface="Arial" charset="0"/>
            </a:endParaRPr>
          </a:p>
        </p:txBody>
      </p:sp>
    </p:spTree>
    <p:extLst>
      <p:ext uri="{BB962C8B-B14F-4D97-AF65-F5344CB8AC3E}">
        <p14:creationId xmlns:p14="http://schemas.microsoft.com/office/powerpoint/2010/main" val="157572824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wmf"/></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extBox 14" title="AlexandriaReference"/>
          <p:cNvSpPr txBox="1"/>
          <p:nvPr/>
        </p:nvSpPr>
        <p:spPr>
          <a:xfrm>
            <a:off x="993230" y="9469838"/>
            <a:ext cx="1427333" cy="21544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en-US" sz="800" b="0"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&lt;generated automatically&gt;</a:t>
            </a:r>
            <a:endParaRPr kumimoji="0" lang="nl-BE" sz="800" b="0"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16" name="TextBox 15" title="AlexandriaDistributionLimitations"/>
          <p:cNvSpPr txBox="1"/>
          <p:nvPr/>
        </p:nvSpPr>
        <p:spPr>
          <a:xfrm>
            <a:off x="4881610" y="9653529"/>
            <a:ext cx="1646099" cy="215444"/>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fr-FR" sz="800" b="0"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ISC: Restricted</a:t>
            </a:r>
            <a:endParaRPr kumimoji="0" lang="fr-FR" sz="800" b="0"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17" name="TextBox 16" title="AlexandriaAlternativeReference"/>
          <p:cNvSpPr txBox="1"/>
          <p:nvPr/>
        </p:nvSpPr>
        <p:spPr>
          <a:xfrm>
            <a:off x="993230" y="9625846"/>
            <a:ext cx="1427333" cy="21544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en-US" sz="800" b="0"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altenative reference</a:t>
            </a:r>
            <a:endParaRPr kumimoji="0" lang="nl-BE" sz="800" b="0"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18" name="Tijdelijke aanduiding voor dianummer 5">
            <a:extLst>
              <a:ext uri="{FF2B5EF4-FFF2-40B4-BE49-F238E27FC236}">
                <a16:creationId xmlns:a16="http://schemas.microsoft.com/office/drawing/2014/main" id="{85ACB9A7-77F2-41DA-BDAD-3E1B26CA8CAF}"/>
              </a:ext>
            </a:extLst>
          </p:cNvPr>
          <p:cNvSpPr txBox="1">
            <a:spLocks/>
          </p:cNvSpPr>
          <p:nvPr/>
        </p:nvSpPr>
        <p:spPr>
          <a:xfrm>
            <a:off x="3716690" y="9536746"/>
            <a:ext cx="2719070" cy="155430"/>
          </a:xfrm>
          <a:prstGeom prst="rect">
            <a:avLst/>
          </a:prstGeom>
        </p:spPr>
        <p:txBody>
          <a:bodyPr vert="horz" lIns="0" tIns="0" rIns="0" bIns="0" rtlCol="0" anchor="t" anchorCtr="0"/>
          <a:lstStyle>
            <a:defPPr>
              <a:defRPr lang="en-US"/>
            </a:defPPr>
            <a:lvl1pPr marL="0" algn="r" defTabSz="914400" rtl="0" eaLnBrk="1" latinLnBrk="0" hangingPunct="1">
              <a:defRPr sz="1000" b="1" kern="1200">
                <a:solidFill>
                  <a:schemeClr val="tx1"/>
                </a:solidFill>
                <a:latin typeface="+mj-lt"/>
                <a:ea typeface="Segoe UI Black" panose="020B0A02040204020203" pitchFamily="34" charset="0"/>
                <a:cs typeface="Segoe UI Semibold" panose="020B07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814E660-BF25-4843-B2A0-93C6E2B6253B}" type="slidenum">
              <a:rPr lang="en-BE" sz="900" smtClean="0">
                <a:solidFill>
                  <a:schemeClr val="tx1">
                    <a:lumMod val="50000"/>
                    <a:lumOff val="50000"/>
                  </a:schemeClr>
                </a:solidFill>
              </a:rPr>
              <a:pPr/>
              <a:t>‹#›</a:t>
            </a:fld>
            <a:endParaRPr lang="en-BE" sz="900" dirty="0">
              <a:solidFill>
                <a:schemeClr val="tx1">
                  <a:lumMod val="50000"/>
                  <a:lumOff val="50000"/>
                </a:schemeClr>
              </a:solidFill>
            </a:endParaRPr>
          </a:p>
        </p:txBody>
      </p:sp>
      <p:cxnSp>
        <p:nvCxnSpPr>
          <p:cNvPr id="19" name="Rechte verbindingslijn 15">
            <a:extLst>
              <a:ext uri="{FF2B5EF4-FFF2-40B4-BE49-F238E27FC236}">
                <a16:creationId xmlns:a16="http://schemas.microsoft.com/office/drawing/2014/main" id="{37B50A3E-DDAF-4A5F-ADED-8187508C78E1}"/>
              </a:ext>
            </a:extLst>
          </p:cNvPr>
          <p:cNvCxnSpPr>
            <a:cxnSpLocks/>
          </p:cNvCxnSpPr>
          <p:nvPr/>
        </p:nvCxnSpPr>
        <p:spPr>
          <a:xfrm>
            <a:off x="6527709" y="9536747"/>
            <a:ext cx="0" cy="43732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Rechte verbindingslijn 15">
            <a:extLst>
              <a:ext uri="{FF2B5EF4-FFF2-40B4-BE49-F238E27FC236}">
                <a16:creationId xmlns:a16="http://schemas.microsoft.com/office/drawing/2014/main" id="{37B50A3E-DDAF-4A5F-ADED-8187508C78E1}"/>
              </a:ext>
            </a:extLst>
          </p:cNvPr>
          <p:cNvCxnSpPr>
            <a:cxnSpLocks/>
          </p:cNvCxnSpPr>
          <p:nvPr/>
        </p:nvCxnSpPr>
        <p:spPr>
          <a:xfrm>
            <a:off x="1012114" y="9509061"/>
            <a:ext cx="0" cy="43732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Afbeelding 13">
            <a:extLst>
              <a:ext uri="{FF2B5EF4-FFF2-40B4-BE49-F238E27FC236}">
                <a16:creationId xmlns:a16="http://schemas.microsoft.com/office/drawing/2014/main" id="{522606A1-5983-4956-9002-1FC101450F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555" y="9516065"/>
            <a:ext cx="713667" cy="178197"/>
          </a:xfrm>
          <a:prstGeom prst="rect">
            <a:avLst/>
          </a:prstGeom>
        </p:spPr>
      </p:pic>
      <p:sp>
        <p:nvSpPr>
          <p:cNvPr id="37" name="Text Box 11"/>
          <p:cNvSpPr txBox="1">
            <a:spLocks noChangeArrowheads="1"/>
          </p:cNvSpPr>
          <p:nvPr/>
        </p:nvSpPr>
        <p:spPr bwMode="auto">
          <a:xfrm>
            <a:off x="697454" y="336899"/>
            <a:ext cx="5402768" cy="461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95" tIns="45747" rIns="91495" bIns="45747">
            <a:spAutoFit/>
          </a:bodyPr>
          <a:lstStyle>
            <a:lvl1pPr>
              <a:tabLst>
                <a:tab pos="9331325" algn="r"/>
              </a:tabLst>
              <a:defRPr sz="2400">
                <a:solidFill>
                  <a:schemeClr val="tx1"/>
                </a:solidFill>
                <a:latin typeface="Times New Roman" pitchFamily="18" charset="0"/>
              </a:defRPr>
            </a:lvl1pPr>
            <a:lvl2pPr>
              <a:tabLst>
                <a:tab pos="9331325" algn="r"/>
              </a:tabLst>
              <a:defRPr sz="2400">
                <a:solidFill>
                  <a:schemeClr val="tx1"/>
                </a:solidFill>
                <a:latin typeface="Times New Roman" pitchFamily="18" charset="0"/>
              </a:defRPr>
            </a:lvl2pPr>
            <a:lvl3pPr>
              <a:tabLst>
                <a:tab pos="9331325" algn="r"/>
              </a:tabLst>
              <a:defRPr sz="2400">
                <a:solidFill>
                  <a:schemeClr val="tx1"/>
                </a:solidFill>
                <a:latin typeface="Times New Roman" pitchFamily="18" charset="0"/>
              </a:defRPr>
            </a:lvl3pPr>
            <a:lvl4pPr marL="1373188">
              <a:tabLst>
                <a:tab pos="9331325" algn="r"/>
              </a:tabLst>
              <a:defRPr sz="2400">
                <a:solidFill>
                  <a:schemeClr val="tx1"/>
                </a:solidFill>
                <a:latin typeface="Times New Roman" pitchFamily="18" charset="0"/>
              </a:defRPr>
            </a:lvl4pPr>
            <a:lvl5pPr marL="1830388">
              <a:tabLst>
                <a:tab pos="9331325" algn="r"/>
              </a:tabLst>
              <a:defRPr sz="2400">
                <a:solidFill>
                  <a:schemeClr val="tx1"/>
                </a:solidFill>
                <a:latin typeface="Times New Roman" pitchFamily="18" charset="0"/>
              </a:defRPr>
            </a:lvl5pPr>
            <a:lvl6pPr marL="2287588" eaLnBrk="0" fontAlgn="base" hangingPunct="0">
              <a:spcBef>
                <a:spcPct val="0"/>
              </a:spcBef>
              <a:spcAft>
                <a:spcPct val="0"/>
              </a:spcAft>
              <a:tabLst>
                <a:tab pos="9331325" algn="r"/>
              </a:tabLst>
              <a:defRPr sz="2400">
                <a:solidFill>
                  <a:schemeClr val="tx1"/>
                </a:solidFill>
                <a:latin typeface="Times New Roman" pitchFamily="18" charset="0"/>
              </a:defRPr>
            </a:lvl6pPr>
            <a:lvl7pPr marL="2744788" eaLnBrk="0" fontAlgn="base" hangingPunct="0">
              <a:spcBef>
                <a:spcPct val="0"/>
              </a:spcBef>
              <a:spcAft>
                <a:spcPct val="0"/>
              </a:spcAft>
              <a:tabLst>
                <a:tab pos="9331325" algn="r"/>
              </a:tabLst>
              <a:defRPr sz="2400">
                <a:solidFill>
                  <a:schemeClr val="tx1"/>
                </a:solidFill>
                <a:latin typeface="Times New Roman" pitchFamily="18" charset="0"/>
              </a:defRPr>
            </a:lvl7pPr>
            <a:lvl8pPr marL="3201988" eaLnBrk="0" fontAlgn="base" hangingPunct="0">
              <a:spcBef>
                <a:spcPct val="0"/>
              </a:spcBef>
              <a:spcAft>
                <a:spcPct val="0"/>
              </a:spcAft>
              <a:tabLst>
                <a:tab pos="9331325" algn="r"/>
              </a:tabLst>
              <a:defRPr sz="2400">
                <a:solidFill>
                  <a:schemeClr val="tx1"/>
                </a:solidFill>
                <a:latin typeface="Times New Roman" pitchFamily="18" charset="0"/>
              </a:defRPr>
            </a:lvl8pPr>
            <a:lvl9pPr marL="3659188" eaLnBrk="0" fontAlgn="base" hangingPunct="0">
              <a:spcBef>
                <a:spcPct val="0"/>
              </a:spcBef>
              <a:spcAft>
                <a:spcPct val="0"/>
              </a:spcAft>
              <a:tabLst>
                <a:tab pos="9331325" algn="r"/>
              </a:tabLst>
              <a:defRPr sz="2400">
                <a:solidFill>
                  <a:schemeClr val="tx1"/>
                </a:solidFill>
                <a:latin typeface="Times New Roman" pitchFamily="18" charset="0"/>
              </a:defRPr>
            </a:lvl9pPr>
          </a:lstStyle>
          <a:p>
            <a:pPr>
              <a:defRPr/>
            </a:pPr>
            <a:r>
              <a:rPr lang="en-GB" sz="800">
                <a:solidFill>
                  <a:schemeClr val="tx1">
                    <a:lumMod val="50000"/>
                    <a:lumOff val="50000"/>
                  </a:schemeClr>
                </a:solidFill>
                <a:latin typeface="+mj-lt"/>
                <a:ea typeface="Times New Roman" pitchFamily="18" charset="0"/>
                <a:cs typeface="Arial" charset="0"/>
              </a:rPr>
              <a:t>Copyright © SCK CEN - 2020 - </a:t>
            </a:r>
            <a:r>
              <a:rPr lang="en-US" sz="800">
                <a:solidFill>
                  <a:schemeClr val="tx1">
                    <a:lumMod val="50000"/>
                    <a:lumOff val="50000"/>
                  </a:schemeClr>
                </a:solidFill>
                <a:latin typeface="+mj-lt"/>
                <a:ea typeface="Times New Roman" pitchFamily="18" charset="0"/>
                <a:cs typeface="Arial" charset="0"/>
              </a:rPr>
              <a:t>This presentation contains data, information and formats for dedicated use only and may not be communicated, copied, reproduced, distributed or cited without the explicit written permission of SCK CEN.</a:t>
            </a:r>
            <a:endParaRPr lang="en-US" sz="800" dirty="0">
              <a:solidFill>
                <a:schemeClr val="tx1">
                  <a:lumMod val="50000"/>
                  <a:lumOff val="50000"/>
                </a:schemeClr>
              </a:solidFill>
              <a:latin typeface="+mj-lt"/>
              <a:ea typeface="Times New Roman" pitchFamily="18" charset="0"/>
              <a:cs typeface="Arial" charset="0"/>
            </a:endParaRPr>
          </a:p>
        </p:txBody>
      </p:sp>
      <p:sp>
        <p:nvSpPr>
          <p:cNvPr id="41" name="Notes Placeholder 40"/>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Slide Image Placeholder 41"/>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394389876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900" kern="1200">
        <a:solidFill>
          <a:schemeClr val="tx1"/>
        </a:solidFill>
        <a:latin typeface="+mn-lt"/>
        <a:ea typeface="+mn-ea"/>
        <a:cs typeface="+mn-cs"/>
      </a:defRPr>
    </a:lvl2pPr>
    <a:lvl3pPr marL="914400" algn="l" defTabSz="914400" rtl="0" eaLnBrk="1" latinLnBrk="0" hangingPunct="1">
      <a:defRPr sz="900" kern="1200">
        <a:solidFill>
          <a:schemeClr val="tx1"/>
        </a:solidFill>
        <a:latin typeface="+mn-lt"/>
        <a:ea typeface="+mn-ea"/>
        <a:cs typeface="+mn-cs"/>
      </a:defRPr>
    </a:lvl3pPr>
    <a:lvl4pPr marL="1371600" algn="l" defTabSz="914400" rtl="0" eaLnBrk="1" latinLnBrk="0" hangingPunct="1">
      <a:defRPr sz="900" kern="1200">
        <a:solidFill>
          <a:schemeClr val="tx1"/>
        </a:solidFill>
        <a:latin typeface="+mn-lt"/>
        <a:ea typeface="+mn-ea"/>
        <a:cs typeface="+mn-cs"/>
      </a:defRPr>
    </a:lvl4pPr>
    <a:lvl5pPr marL="1828800" algn="l" defTabSz="914400" rtl="0" eaLnBrk="1" latinLnBrk="0" hangingPunct="1">
      <a:defRPr sz="9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bullet text (verbatim), condensed on-slide for readability:</a:t>
            </a:r>
          </a:p>
          <a:p>
            <a:endParaRPr/>
          </a:p>
          <a:p>
            <a:r>
              <a:t>- Consolidate compressor fleet assumptions (≥ 3 units min., Option A baseline = 4 × FSD 575)</a:t>
            </a:r>
          </a:p>
          <a:p>
            <a:r>
              <a:t>- Align with Addendum II canonical RTMs (incl. 'To be offered…' statements)</a:t>
            </a:r>
          </a:p>
          <a:p>
            <a:r>
              <a:t>- Define acceptance tests (24×2 K SB &amp; 24×2 K OP), integration checkpoints (CIS/MCS)</a:t>
            </a:r>
          </a:p>
          <a:p>
            <a:r>
              <a:t>- Scope: 24 QM with FFT operating mode (&lt; design 307 g/s nominal)</a:t>
            </a:r>
          </a:p>
          <a:p>
            <a:r>
              <a:t>- Design envelope: 320 – 350 g/s (total flow)</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bullet text (verbatim), condensed on-slide for readability:</a:t>
            </a:r>
          </a:p>
          <a:p>
            <a:endParaRPr/>
          </a:p>
          <a:p>
            <a:r>
              <a:t>- 4× 350 kW HP compressors (≈ 1.4 MW total installed)</a:t>
            </a:r>
          </a:p>
          <a:p>
            <a:r>
              <a:t>- Cooling water: 27 °C supply · 37 °C return (Δ T 10 K) → up to 42 °C return with reduced flow (15 K Δ T for PS01)</a:t>
            </a:r>
          </a:p>
          <a:p>
            <a:r>
              <a:t>- Shared header (looped feed/return)</a:t>
            </a:r>
          </a:p>
          <a:p>
            <a:r>
              <a:t>- Install deferral option (4th position fully stubbed – enforceable by SCK CEN at grant or EoCD)</a:t>
            </a:r>
            <a:br/>
            <a:br/>
            <a:r>
              <a:t>This is up to them – pressure constant or pressure swing?</a:t>
            </a:r>
          </a:p>
          <a:p>
            <a:r>
              <a:t>- Maintain ≈ 14 bar discharge pressure; VFD does flow trimming</a:t>
            </a:r>
          </a:p>
          <a:p>
            <a:r>
              <a:t>- Applicant shall: deliver layout &amp; piping stubs (if 4th unit deferred)</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bullet text (verbatim), condensed on-slide for readability:</a:t>
            </a:r>
          </a:p>
          <a:p>
            <a:endParaRPr/>
          </a:p>
          <a:p>
            <a:r>
              <a:t>- Nominal Operation: ≤ 65 Hz (sustainable continuous)</a:t>
            </a:r>
          </a:p>
          <a:p>
            <a:r>
              <a:t>- Transient / Upset: up to 72 Hz, ≤ 8 h per event (cover service or trip recovery, 8 h MTTR)</a:t>
            </a:r>
          </a:p>
          <a:p>
            <a:r>
              <a:t>- Cumulative &gt; 72 Hz: ≤ 24 h / compressor / month (logged, monthly RAMI trigger if exceeded)</a:t>
            </a:r>
          </a:p>
          <a:p>
            <a:r>
              <a:t>- Logging: Mandatory (Start/Stop · Duration · Cause) stored in CIS + RAMI DB</a:t>
            </a:r>
          </a:p>
          <a:p>
            <a:r>
              <a:t>- Recovery: Return ≤ 60 Hz to re-stabilize post-repair</a:t>
            </a:r>
            <a:br/>
            <a:br/>
            <a:r>
              <a:t>In the Offer the Applicant shall:</a:t>
            </a:r>
          </a:p>
          <a:p>
            <a:r>
              <a:t>- Applicant shall quantify sustained MTBF vs frequency band (≤ 60 Hz, 60‑68 Hz, ≥ 68 Hz)</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bullet text (verbatim), condensed on-slide for readability:</a:t>
            </a:r>
          </a:p>
          <a:p>
            <a:endParaRPr/>
          </a:p>
          <a:p>
            <a:r>
              <a:t>- FSD 475: Flow @ 72 Hz ≈ 96 g/s | Flow @ 60 Hz ≈ 82 – 86 g/s (Kaeser OEM figures)</a:t>
            </a:r>
          </a:p>
          <a:p>
            <a:r>
              <a:t>- FSD 575: Flow @ 72 Hz ≈ 112.5 g/s | Flow @ 60 Hz ≈ 95 – 101 g/s (OEM Higher-capacity)</a:t>
            </a:r>
          </a:p>
          <a:p>
            <a:r>
              <a:t>- HSD Combi: ≈ 87.5 g/s / comp (175 /combi) @ 72 Hz | ≈ 75 – 80 g/s @ 60 Hz (Option A basis) - guess</a:t>
            </a:r>
          </a:p>
          <a:p>
            <a:r>
              <a:t>- Scaling: 4 × FSD‑475 → ≈ 65.6 Hz to hit 87.5 g/s each</a:t>
            </a:r>
          </a:p>
          <a:p>
            <a:r>
              <a:t>- Controls principle: hold pressure → apply VFD turndown; avoid &gt; 60 Hz except upsets</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bullet text (verbatim), condensed on-slide for readability:</a:t>
            </a:r>
          </a:p>
          <a:p>
            <a:endParaRPr/>
          </a:p>
          <a:p>
            <a:r>
              <a:t>- FSD 475: 4 × @ 72 Hz = 384 g/s | N−1 (3 @ 72 Hz) = 288 g/s | ❌ short ≈ 19 g/s</a:t>
            </a:r>
          </a:p>
          <a:p>
            <a:r>
              <a:t>- FSD 575: 4 × @ 72 Hz = 450 g/s | N−1 (3 @ 72 Hz) = 337.5 g/s | ✅ OK (+ 30 g/s margin)</a:t>
            </a:r>
          </a:p>
          <a:p>
            <a:r>
              <a:t>- HSD Combi (2 Combis = 4 comp): 4 × @ 72 Hz = 350 g/s | N−1 = 262.5 g/s | ⚠ short for 307 g/s</a:t>
            </a:r>
          </a:p>
          <a:p>
            <a:r>
              <a:t>- FSD‑475 N−1 insufficient → use liquid buffer (5 m³ tank, 0.4 m³/h descent rate = ≈ 12 h repair window)</a:t>
            </a:r>
          </a:p>
          <a:p>
            <a:r>
              <a:t>- FSD‑575 N−1 covers 24 QM operation (≈ 307 g/s)</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This slide is new — it is not derived from a baseline slide. It fills a gap the deck's compressor sizing sections did not cover: what a single HP compressor actually costs to run. Isothermal compression is the correct idealisation for a water-cooled, intercooled screw machine (it is the thermodynamic lower bound on required work; real machines sit between isothermal and adiabatic depending on cooling effectiveness). The 50% isothermal efficiency figure is a reasonable planning assumption for this class of machine but should be confirmed against the OEM's actual performance curve. The suction pressure (1.1 bar) is not stated anywhere in the RTMs excerpted in this deck and is flagged as an assumption — sensitivity: 1.05-1.5 bar suction brackets 313-363 kW, i.e. the 350 kW nameplate sits comfortably inside that range. The energy-cost figures use illustrative tariff bands (€0.12-0.20/kWh); replace with the actual SCK CEN industrial electricity contract rate before using this for a budget submission. This slide's real purpose is to make the case, in Euros, for why the CONTROL section's predictable-replacement policy matters: running cost this large dwarfs a single overhaul, so keeping the compressor in its efficient operating window is itself worth money, independent of the reliability argument.</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bullet text (verbatim), condensed on-slide for readability:</a:t>
            </a:r>
          </a:p>
          <a:p>
            <a:endParaRPr/>
          </a:p>
          <a:p>
            <a:r>
              <a:t>- At 3 × FSD‑475 @ 72 Hz → 288 g/s (&lt; target)</a:t>
            </a:r>
          </a:p>
          <a:p>
            <a:r>
              <a:t>- At 3 × FSD‑575 @ 72 Hz → 337.5 g/s (≥ target)</a:t>
            </a:r>
          </a:p>
          <a:p>
            <a:r>
              <a:t>- At 3 × ≤ 65 Hz → ≈ 270‑285 g/s → marginal but may meet with buffer</a:t>
            </a:r>
          </a:p>
          <a:p>
            <a:r>
              <a:t>- Descent rate check: 3/4 flow → ≈ 0.4 m³/h; 5 m³ liquid gives ≈ 12 h repair window</a:t>
            </a:r>
          </a:p>
          <a:p>
            <a:r>
              <a:t>- Applicant shall: simulate 2/3 and 3/4 flow cases (Fred/DBE loop analysis) and report restart capability</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Applicant shall implement parametric scripts to estimate descent-rate and restart criteria with liquid inventory.</a:t>
            </a:r>
          </a:p>
          <a:p>
            <a:endParaRPr/>
          </a:p>
          <a:p>
            <a:r>
              <a:t>Full baseline text:</a:t>
            </a:r>
          </a:p>
          <a:p>
            <a:r>
              <a:t>- 72 Hz Stress (per unit): Stability / no derate | ≥ 2 h continuous | Vibration, oil temp, ΔT log</a:t>
            </a:r>
          </a:p>
          <a:p>
            <a:r>
              <a:t>- 3‑Only Envelope Check: MTTR 8 h coverage | Maintain 24 QM w/ FFT | Flow + P trend record</a:t>
            </a:r>
          </a:p>
          <a:p>
            <a:r>
              <a:t>- CIS/MCS Exchange: Autonomy · data sync | RTM‑0237…0252 pass | Event logs + MTBF fields – to check and confirm since new numbers</a:t>
            </a:r>
          </a:p>
          <a:p>
            <a:r>
              <a:t>- Recovery: Back to ≤ 60 Hz | ≤ 15 min post‑upset | Verified control loop</a:t>
            </a:r>
          </a:p>
          <a:p>
            <a:r>
              <a:t>- Applicant shall implement parametric scripts to estimate descent‑rate and restart criteria with liquid inventory</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bullet text (verbatim), condensed on-slide for readability:</a:t>
            </a:r>
          </a:p>
          <a:p>
            <a:endParaRPr/>
          </a:p>
          <a:p>
            <a:r>
              <a:t>- Unplanned transition out of 2 K: Target MTBF &gt; 5 years (, minor recovery events)</a:t>
            </a:r>
          </a:p>
          <a:p>
            <a:r>
              <a:t>- Transition to 4.5 K standby: Target MTBF &gt; 10 years (, refrigerator‑backed)</a:t>
            </a:r>
          </a:p>
          <a:p>
            <a:r>
              <a:t>- Warm‑up &gt; 4.5 K: Target MTBF &gt; 15 years (critical system event)</a:t>
            </a:r>
          </a:p>
          <a:p>
            <a:r>
              <a:t>- Planning assumption: rotary screw compressors ≈ 40 000 – 80 000 h between major overhauls</a:t>
            </a:r>
          </a:p>
          <a:p>
            <a:r>
              <a:t>- Applicant shall: submit RAMI dossier with component MTBFs, frequency bins, maintenance policy, and MTBF impact for ≥ 68 Hz operation</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text:</a:t>
            </a:r>
          </a:p>
          <a:p>
            <a:r>
              <a:t>- RTM 0237‑0252: CIS Autonomy / MCS Exchange (to check actual numbers again)</a:t>
            </a:r>
          </a:p>
          <a:p>
            <a:r>
              <a:t>- 'In the offer …' Obligation: Verbatim text from Addendum II extracts</a:t>
            </a:r>
          </a:p>
          <a:p>
            <a:r>
              <a:t>- Applicant Shall Elaboration: Implement real‑time linking of event IDs, Hz‑band hours, and MTBF tracking per compressor</a:t>
            </a:r>
          </a:p>
          <a:p>
            <a:r>
              <a:t>- Cross‑References: Fig. 9, Addendum II § 3.5.4, RTM‑047 (VFD operation target nominal operation  ≤ 65 Hz)</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text:</a:t>
            </a:r>
          </a:p>
          <a:p>
            <a:r>
              <a:t>- Electrical: 4 × 350 kW (metered + aggregated log feed)</a:t>
            </a:r>
          </a:p>
          <a:p>
            <a:r>
              <a:t>- Cooling Water: 27 → 37 °C (Δ 10 K) | 42 °C max return (Δ 15 K for PS01) | Single loop header</a:t>
            </a:r>
          </a:p>
          <a:p>
            <a:r>
              <a:t>- Process Headers: Maintain 14 bar supply setpoint | Controls via VFD + Trim valves</a:t>
            </a:r>
          </a:p>
          <a:p>
            <a:r>
              <a:t>- Future 4.5 K / 2 K Vessel tie‑in: QRB provision | Pilot valve pads + IO stubs</a:t>
            </a:r>
          </a:p>
          <a:p>
            <a:r>
              <a:t>- Applicant shall design mechanical &amp; process tie‑in kit</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bullet text (verbatim), condensed on-slide for readability:</a:t>
            </a:r>
          </a:p>
          <a:p>
            <a:endParaRPr/>
          </a:p>
          <a:p>
            <a:r>
              <a:t>- 2 K Op 30 QM (margin): 900 W @ 2 K + 8600 W @ 40/60 K | 344 g/s |  Design Pt</a:t>
            </a:r>
          </a:p>
          <a:p>
            <a:r>
              <a:t>- 2 K Stdby 30 QM: 420 W @ 2 K + 6215 W @ 40/60 K | 239 g/s | Standby</a:t>
            </a:r>
          </a:p>
          <a:p>
            <a:r>
              <a:t>- 2 K Op 24 QM (margin): 720 W @ 2 K + 7025 W @ 40/60 K | 307 g/s | Real Ops Target</a:t>
            </a:r>
          </a:p>
          <a:p>
            <a:r>
              <a:t>- 2 K Stdby 24 QM: 340 W @ 2 K + 5100 W @ 40/60 K | 215 g/s |  Mini‑Design</a:t>
            </a:r>
          </a:p>
          <a:p>
            <a:r>
              <a:t>- 4.5 K Stdby 24 QM: 340 W @ 4.5 K + 5100 W @ 40/60 K | 160 g/s | | Warm Standby</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bullet text (verbatim), condensed on-slide for readability:</a:t>
            </a:r>
          </a:p>
          <a:p>
            <a:endParaRPr/>
          </a:p>
          <a:p>
            <a:r>
              <a:t>- FSD‑475: Hz &gt; 72 Hz (≈ 75 Hz est.) | ⚠ Exceeds limit | Requires buffer or extra unit</a:t>
            </a:r>
          </a:p>
          <a:p>
            <a:r>
              <a:t>- FSD‑575: Hz ≈ 65–66 Hz | ✅ OK | Within limits · meets target</a:t>
            </a:r>
          </a:p>
          <a:p>
            <a:r>
              <a:t>- HSD Combi (4 comp): Hz ≈ 72 Hz | ⚠ Limit edge | Use as short term check mode</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Full baseline bullet text (verbatim), condensed on-slide for readability:</a:t>
            </a:r>
          </a:p>
          <a:p>
            <a:endParaRPr/>
          </a:p>
          <a:p>
            <a:r>
              <a:t>- ¾ flow (≈ 0.75× nom.): Descent‑Rate 0.4 m³/h | Buffer Volume 5 m³ | Coverage Time ≈ 12 h</a:t>
            </a:r>
          </a:p>
          <a:p>
            <a:r>
              <a:t>- ⅔ flow: Descent‑Rate ≈ 0.6 m³/h (est.) | Buffer Volume 5 m³ | Coverage Time ≈ 8 h</a:t>
            </a:r>
          </a:p>
          <a:p>
            <a:r>
              <a:t>- ½ flow (check): Descent‑Rate ≈ 0.9 m³/h (est.) | Buffer Volume 5 m³ | Coverage Time ≈ 5 h</a:t>
            </a:r>
          </a:p>
          <a:p>
            <a:r>
              <a:t>- In the Offer the Applicant Shall:</a:t>
            </a:r>
          </a:p>
          <a:p>
            <a:r>
              <a:t>- Applicant shall quantify and validate these loops (2/3 · 3/4 nominal) and submit as part of acceptance data package</a:t>
            </a:r>
          </a:p>
          <a:p>
            <a:r>
              <a:t>- Demonstrate restart criteria after flow recovery and update control logic parameters</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BSLN Slide 16 combined this table with the Reliability Targets content below it on one crowded slide (plus an unrelated leftover textbox duplicated from the Operational Philosophy slide, removed here as dead content). Split for readability — targets now on Slide 21.</a:t>
            </a:r>
          </a:p>
          <a:p>
            <a:endParaRPr/>
          </a:p>
          <a:p>
            <a:r>
              <a:t>Full baseline table:</a:t>
            </a:r>
          </a:p>
          <a:p>
            <a:r>
              <a:t>- Class A: Exit from 2 K, recoverable ≤ 24 h</a:t>
            </a:r>
          </a:p>
          <a:p>
            <a:r>
              <a:t>- Class B: Transition to 4.5 K / TS standby</a:t>
            </a:r>
          </a:p>
          <a:p>
            <a:r>
              <a:t>- Class C: Warm-up &gt; 4.5 K or &gt; 24 h recovery</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Second half of BSLN Slide 16 (see Slide 20's notes for the split rationale).</a:t>
            </a:r>
          </a:p>
          <a:p>
            <a:endParaRPr/>
          </a:p>
          <a:p>
            <a:r>
              <a:t>Full baseline text:</a:t>
            </a:r>
          </a:p>
          <a:p>
            <a:r>
              <a:t>- MTBF requirements scale with severity of consequence</a:t>
            </a:r>
          </a:p>
          <a:p>
            <a:r>
              <a:t>- Applies to aggregated QPLANT contribution</a:t>
            </a:r>
          </a:p>
          <a:p>
            <a:r>
              <a:t>- Prevents trading rare catastrophic events against frequent minor ones</a:t>
            </a:r>
          </a:p>
          <a:p>
            <a:r>
              <a:t>- Class A: &gt; 5 years</a:t>
            </a:r>
          </a:p>
          <a:p>
            <a:r>
              <a:t>- Class B: &gt; 10 years</a:t>
            </a:r>
          </a:p>
          <a:p>
            <a:r>
              <a:t>- Class C: &gt; 15 years</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This slide replaces 5 near-identical Poisson-curve screenshots from the original working deck (all plotting the same P0=e^-lambda*t relationship with progressively more annotation layered on) with one clean chart and the underlying formula stated once. Full original chart axis/curve legend: X-axis = trips per year (lambda), the Poisson event rate, equivalent to MTBF = 1/lambda. Y-axis = probability of zero trips over a given time window. Curves = 90-day campaign (physics continuity requirement), 1 year (operational intuition), 5 years (long-term cold-operation intuition). All curves follow P(N=0) = exp(-lambda*t).</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Consolidates three separate worked-example screenshots from the original working deck (the CC+PVPS realistic case, the contractual Class-A case, and the '100 occurrences' / '99% over 90 days' literal-reading walkthrough) into three compact takeaway boxes. Full original derivation for example 3: mission time ~46.7 months = ~34,090 hours; setting P(&gt;=1 failure) = 1% over that window and solving for MTBF gives ~3.39 million hours (~387 years) -- confirming that a literal 99%-over-full-window reading is not the intended requirement, which is why RTM-05 (Appendix F) instead caps the annual SAE rate.</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Recreated as an editable table from the original screenshot (same data, unchanged). Legend: check = permitted, triangle = conditional (see Notes column), cross = not permitted. Columns are the same five operating states as the Slide 19 diagram: 2K-OP (nominal), 2K-SB (standby, valid), 4.5K-SB (reduced availability), TS-SB (warm standby), WS (Warm Stop, last resort).</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Condenses 6 screenshot-heavy slides from the original working deck (the '100 occurrences' scratch derivation, the 'Wrong' literal-reading demonstration, the 'Better' consistency-rule derivation, the RTM-05 text -- repeated 3 times in the original -- and Annex X) into one slide with the logical chain plus the two normative end-states. No numbers were changed: RTM-05's 0.26 events/calendar-year cap, the ~4.8-year equivalent MTBF, the 9/14 duty factor, and the Annex X worked check (lambda ~0.257/yr, P0~94%) all match the original document verbatim.</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Recreated as an editable table from a screenshot of the original source table (all values unchanged). This is the base reference table — component MTBF/MTTR figures used everywhere else in this compendium trace back to this table.</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Recreated as editable tables/text from Linde Kryotechnik AG document screenshots and the original 'Contrast with Contractor A' analysis (all figures unchanged). The comparison is presented as a reading-clarification, not a contradiction, per instruction to not let appendix content contradict the rest of the deck.</a:t>
            </a:r>
          </a:p>
        </p:txBody>
      </p:sp>
      <p:sp>
        <p:nvSpPr>
          <p:cNvPr id="3" name="Slide Image Placeholder 2"/>
          <p:cNvSpPr>
            <a:spLocks noGrp="1" noRot="1" noChangeAspect="1"/>
          </p:cNvSpPr>
          <p:nvPr>
            <p:ph type="sldImg" idx="2"/>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sz="quarter" idx="3"/>
          </p:nvPr>
        </p:nvSpPr>
        <p:spPr/>
        <p:txBody>
          <a:bodyPr/>
          <a:lstStyle/>
          <a:p>
            <a:r>
              <a:t>Consolidates two slides from the original working deck (the cold-compressor-train series calculation and the Weibull 'fresh vs 5-years-old' results table, which was duplicated across two slides in the original) into one. All figures unchanged. Interpretation unchanged: if the 90-day 2 K run starts right after a good-as-new overhaul, the wear-out contribution is tiny; if it starts at the end of the 5-year interval, the risk is dramatically higher, especially for beta=2.5 assets.</a:t>
            </a:r>
          </a:p>
        </p:txBody>
      </p:sp>
      <p:sp>
        <p:nvSpPr>
          <p:cNvPr id="3" name="Slide Image Placeholder 2"/>
          <p:cNvSpPr>
            <a:spLocks noGrp="1" noRot="1" noChangeAspect="1"/>
          </p:cNvSpPr>
          <p:nvPr>
            <p:ph type="sldImg" idx="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w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w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w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w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w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w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wmf"/><Relationship Id="rId3" Type="http://schemas.openxmlformats.org/officeDocument/2006/relationships/image" Target="../media/image1.w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wmf"/><Relationship Id="rId3" Type="http://schemas.openxmlformats.org/officeDocument/2006/relationships/image" Target="../media/image1.w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w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w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w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w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3.w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w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3.w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3.wmf"/></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wmf"/></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3.wmf"/></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wmf"/><Relationship Id="rId3" Type="http://schemas.openxmlformats.org/officeDocument/2006/relationships/image" Target="../media/image1.wmf"/></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wmf"/><Relationship Id="rId3" Type="http://schemas.openxmlformats.org/officeDocument/2006/relationships/image" Target="../media/image1.wmf"/></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wm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wmf"/></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w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wmf"/></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3.wmf"/></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 Slide 1">
    <p:spTree>
      <p:nvGrpSpPr>
        <p:cNvPr id="1" name=""/>
        <p:cNvGrpSpPr/>
        <p:nvPr/>
      </p:nvGrpSpPr>
      <p:grpSpPr>
        <a:xfrm>
          <a:off x="0" y="0"/>
          <a:ext cx="0" cy="0"/>
          <a:chOff x="0" y="0"/>
          <a:chExt cx="0" cy="0"/>
        </a:xfrm>
      </p:grpSpPr>
      <p:pic>
        <p:nvPicPr>
          <p:cNvPr id="2686" name="Afbeelding 8">
            <a:extLst>
              <a:ext uri="{FF2B5EF4-FFF2-40B4-BE49-F238E27FC236}">
                <a16:creationId xmlns:a16="http://schemas.microsoft.com/office/drawing/2014/main" id="{647C93FD-69BD-4ECC-920A-2E0DC25772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860" t="46262" r="6836" b="16827"/>
          <a:stretch/>
        </p:blipFill>
        <p:spPr>
          <a:xfrm>
            <a:off x="742950" y="762000"/>
            <a:ext cx="10725150" cy="4476750"/>
          </a:xfrm>
          <a:prstGeom prst="rect">
            <a:avLst/>
          </a:prstGeom>
        </p:spPr>
      </p:pic>
      <p:sp>
        <p:nvSpPr>
          <p:cNvPr id="17"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3181350" y="5321300"/>
            <a:ext cx="8270421" cy="285787"/>
          </a:xfrm>
          <a:prstGeom prst="rect">
            <a:avLst/>
          </a:prstGeom>
        </p:spPr>
        <p:txBody>
          <a:bodyPr lIns="0" tIns="0" rIns="0" bIns="0" anchor="b" anchorCtr="0"/>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BE" dirty="0"/>
          </a:p>
        </p:txBody>
      </p:sp>
      <p:sp>
        <p:nvSpPr>
          <p:cNvPr id="2687" name="Title Placeholder 1"/>
          <p:cNvSpPr>
            <a:spLocks noGrp="1"/>
          </p:cNvSpPr>
          <p:nvPr>
            <p:ph type="title"/>
          </p:nvPr>
        </p:nvSpPr>
        <p:spPr>
          <a:xfrm>
            <a:off x="3181350" y="5635663"/>
            <a:ext cx="8362949" cy="602040"/>
          </a:xfrm>
          <a:prstGeom prst="rect">
            <a:avLst/>
          </a:prstGeom>
        </p:spPr>
        <p:txBody>
          <a:bodyPr vert="horz" lIns="91440" tIns="45720" rIns="91440" bIns="45720" rtlCol="0" anchor="t">
            <a:normAutofit/>
          </a:bodyPr>
          <a:lstStyle>
            <a:lvl1pPr algn="r">
              <a:defRPr>
                <a:solidFill>
                  <a:schemeClr val="tx1"/>
                </a:solidFill>
              </a:defRPr>
            </a:lvl1pPr>
          </a:lstStyle>
          <a:p>
            <a:r>
              <a:rPr lang="en-US"/>
              <a:t>Click to edit Master title style</a:t>
            </a:r>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1999" y="5300662"/>
            <a:ext cx="2193393" cy="794165"/>
          </a:xfrm>
          <a:prstGeom prst="rect">
            <a:avLst/>
          </a:prstGeom>
        </p:spPr>
      </p:pic>
    </p:spTree>
    <p:extLst>
      <p:ext uri="{BB962C8B-B14F-4D97-AF65-F5344CB8AC3E}">
        <p14:creationId xmlns:p14="http://schemas.microsoft.com/office/powerpoint/2010/main" val="40950814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Slide 2">
    <p:spTree>
      <p:nvGrpSpPr>
        <p:cNvPr id="1" name=""/>
        <p:cNvGrpSpPr/>
        <p:nvPr/>
      </p:nvGrpSpPr>
      <p:grpSpPr>
        <a:xfrm>
          <a:off x="0" y="0"/>
          <a:ext cx="0" cy="0"/>
          <a:chOff x="0" y="0"/>
          <a:chExt cx="0" cy="0"/>
        </a:xfrm>
      </p:grpSpPr>
      <p:sp>
        <p:nvSpPr>
          <p:cNvPr id="2687" name="Title Placeholder 1"/>
          <p:cNvSpPr>
            <a:spLocks noGrp="1"/>
          </p:cNvSpPr>
          <p:nvPr>
            <p:ph type="title"/>
          </p:nvPr>
        </p:nvSpPr>
        <p:spPr>
          <a:xfrm>
            <a:off x="3181350" y="5635663"/>
            <a:ext cx="8362949" cy="602040"/>
          </a:xfrm>
          <a:prstGeom prst="rect">
            <a:avLst/>
          </a:prstGeom>
        </p:spPr>
        <p:txBody>
          <a:bodyPr vert="horz" lIns="91440" tIns="45720" rIns="91440" bIns="45720" rtlCol="0" anchor="t">
            <a:normAutofit/>
          </a:bodyPr>
          <a:lstStyle>
            <a:lvl1pPr algn="r">
              <a:defRPr>
                <a:solidFill>
                  <a:schemeClr val="tx1"/>
                </a:solidFill>
              </a:defRPr>
            </a:lvl1pPr>
          </a:lstStyle>
          <a:p>
            <a:r>
              <a:rPr lang="en-US"/>
              <a:t>Click to edit Master title style</a:t>
            </a:r>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l="4619" t="19781" r="9238" b="29912"/>
          <a:stretch/>
        </p:blipFill>
        <p:spPr>
          <a:xfrm>
            <a:off x="771525" y="771525"/>
            <a:ext cx="10658475" cy="4435475"/>
          </a:xfrm>
          <a:prstGeom prst="rect">
            <a:avLst/>
          </a:prstGeom>
        </p:spPr>
      </p:pic>
      <p:sp>
        <p:nvSpPr>
          <p:cNvPr id="7"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3181350" y="5321300"/>
            <a:ext cx="8270421" cy="285787"/>
          </a:xfrm>
          <a:prstGeom prst="rect">
            <a:avLst/>
          </a:prstGeom>
        </p:spPr>
        <p:txBody>
          <a:bodyPr lIns="0" tIns="0" rIns="0" bIns="0" anchor="b" anchorCtr="0"/>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BE" dirty="0"/>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1999" y="5310187"/>
            <a:ext cx="2193393" cy="794165"/>
          </a:xfrm>
          <a:prstGeom prst="rect">
            <a:avLst/>
          </a:prstGeom>
        </p:spPr>
      </p:pic>
    </p:spTree>
    <p:extLst>
      <p:ext uri="{BB962C8B-B14F-4D97-AF65-F5344CB8AC3E}">
        <p14:creationId xmlns:p14="http://schemas.microsoft.com/office/powerpoint/2010/main" val="16012488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Slide 3">
    <p:spTree>
      <p:nvGrpSpPr>
        <p:cNvPr id="1" name=""/>
        <p:cNvGrpSpPr/>
        <p:nvPr/>
      </p:nvGrpSpPr>
      <p:grpSpPr>
        <a:xfrm>
          <a:off x="0" y="0"/>
          <a:ext cx="0" cy="0"/>
          <a:chOff x="0" y="0"/>
          <a:chExt cx="0" cy="0"/>
        </a:xfrm>
      </p:grpSpPr>
      <p:sp>
        <p:nvSpPr>
          <p:cNvPr id="2687" name="Title Placeholder 1"/>
          <p:cNvSpPr>
            <a:spLocks noGrp="1"/>
          </p:cNvSpPr>
          <p:nvPr>
            <p:ph type="title"/>
          </p:nvPr>
        </p:nvSpPr>
        <p:spPr>
          <a:xfrm>
            <a:off x="3181350" y="5635663"/>
            <a:ext cx="8362949" cy="602040"/>
          </a:xfrm>
          <a:prstGeom prst="rect">
            <a:avLst/>
          </a:prstGeom>
        </p:spPr>
        <p:txBody>
          <a:bodyPr vert="horz" lIns="91440" tIns="45720" rIns="91440" bIns="45720" rtlCol="0" anchor="t">
            <a:normAutofit/>
          </a:bodyPr>
          <a:lstStyle>
            <a:lvl1pPr algn="r">
              <a:defRPr>
                <a:solidFill>
                  <a:schemeClr val="tx1"/>
                </a:solidFill>
              </a:defRPr>
            </a:lvl1pPr>
          </a:lstStyle>
          <a:p>
            <a:r>
              <a:rPr lang="en-US"/>
              <a:t>Click to edit Master title style</a:t>
            </a:r>
          </a:p>
        </p:txBody>
      </p:sp>
      <p:pic>
        <p:nvPicPr>
          <p:cNvPr id="7" name="Afbeelding 3">
            <a:extLst>
              <a:ext uri="{FF2B5EF4-FFF2-40B4-BE49-F238E27FC236}">
                <a16:creationId xmlns:a16="http://schemas.microsoft.com/office/drawing/2014/main" id="{AA5B3CA4-7383-4A08-AD3F-748BE844E0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7011" t="39931" r="6884" b="9611"/>
          <a:stretch/>
        </p:blipFill>
        <p:spPr>
          <a:xfrm>
            <a:off x="754743" y="769256"/>
            <a:ext cx="10711543" cy="4475843"/>
          </a:xfrm>
          <a:prstGeom prst="rect">
            <a:avLst/>
          </a:prstGeom>
        </p:spPr>
      </p:pic>
      <p:sp>
        <p:nvSpPr>
          <p:cNvPr id="8"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3181350" y="5321300"/>
            <a:ext cx="8270421" cy="285787"/>
          </a:xfrm>
          <a:prstGeom prst="rect">
            <a:avLst/>
          </a:prstGeom>
        </p:spPr>
        <p:txBody>
          <a:bodyPr lIns="0" tIns="0" rIns="0" bIns="0" anchor="b" anchorCtr="0"/>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BE" dirty="0"/>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2474" y="5310187"/>
            <a:ext cx="2193393" cy="794165"/>
          </a:xfrm>
          <a:prstGeom prst="rect">
            <a:avLst/>
          </a:prstGeom>
        </p:spPr>
      </p:pic>
    </p:spTree>
    <p:extLst>
      <p:ext uri="{BB962C8B-B14F-4D97-AF65-F5344CB8AC3E}">
        <p14:creationId xmlns:p14="http://schemas.microsoft.com/office/powerpoint/2010/main" val="36791884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 Slide 4">
    <p:spTree>
      <p:nvGrpSpPr>
        <p:cNvPr id="1" name=""/>
        <p:cNvGrpSpPr/>
        <p:nvPr/>
      </p:nvGrpSpPr>
      <p:grpSpPr>
        <a:xfrm>
          <a:off x="0" y="0"/>
          <a:ext cx="0" cy="0"/>
          <a:chOff x="0" y="0"/>
          <a:chExt cx="0" cy="0"/>
        </a:xfrm>
      </p:grpSpPr>
      <p:sp>
        <p:nvSpPr>
          <p:cNvPr id="2687" name="Title Placeholder 1"/>
          <p:cNvSpPr>
            <a:spLocks noGrp="1"/>
          </p:cNvSpPr>
          <p:nvPr>
            <p:ph type="title"/>
          </p:nvPr>
        </p:nvSpPr>
        <p:spPr>
          <a:xfrm>
            <a:off x="3181350" y="5635663"/>
            <a:ext cx="8362949" cy="602040"/>
          </a:xfrm>
          <a:prstGeom prst="rect">
            <a:avLst/>
          </a:prstGeom>
        </p:spPr>
        <p:txBody>
          <a:bodyPr vert="horz" lIns="91440" tIns="45720" rIns="91440" bIns="45720" rtlCol="0" anchor="t">
            <a:normAutofit/>
          </a:bodyPr>
          <a:lstStyle>
            <a:lvl1pPr algn="r">
              <a:defRPr>
                <a:solidFill>
                  <a:schemeClr val="tx1"/>
                </a:solidFill>
              </a:defRPr>
            </a:lvl1pPr>
          </a:lstStyle>
          <a:p>
            <a:r>
              <a:rPr lang="en-US"/>
              <a:t>Click to edit Master title style</a:t>
            </a: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7002" t="23540" r="6984" b="26475"/>
          <a:stretch/>
        </p:blipFill>
        <p:spPr>
          <a:xfrm>
            <a:off x="740229" y="788308"/>
            <a:ext cx="10697028" cy="4437742"/>
          </a:xfrm>
          <a:prstGeom prst="rect">
            <a:avLst/>
          </a:prstGeom>
        </p:spPr>
      </p:pic>
      <p:sp>
        <p:nvSpPr>
          <p:cNvPr id="9"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3181350" y="5321300"/>
            <a:ext cx="8270421" cy="285787"/>
          </a:xfrm>
          <a:prstGeom prst="rect">
            <a:avLst/>
          </a:prstGeom>
        </p:spPr>
        <p:txBody>
          <a:bodyPr lIns="0" tIns="0" rIns="0" bIns="0" anchor="b" anchorCtr="0"/>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BE" dirty="0"/>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1999" y="5310187"/>
            <a:ext cx="2193393" cy="794165"/>
          </a:xfrm>
          <a:prstGeom prst="rect">
            <a:avLst/>
          </a:prstGeom>
        </p:spPr>
      </p:pic>
    </p:spTree>
    <p:extLst>
      <p:ext uri="{BB962C8B-B14F-4D97-AF65-F5344CB8AC3E}">
        <p14:creationId xmlns:p14="http://schemas.microsoft.com/office/powerpoint/2010/main" val="3527443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 Slide 5">
    <p:spTree>
      <p:nvGrpSpPr>
        <p:cNvPr id="1" name=""/>
        <p:cNvGrpSpPr/>
        <p:nvPr/>
      </p:nvGrpSpPr>
      <p:grpSpPr>
        <a:xfrm>
          <a:off x="0" y="0"/>
          <a:ext cx="0" cy="0"/>
          <a:chOff x="0" y="0"/>
          <a:chExt cx="0" cy="0"/>
        </a:xfrm>
      </p:grpSpPr>
      <p:pic>
        <p:nvPicPr>
          <p:cNvPr id="18" name="Picture 17"/>
          <p:cNvPicPr>
            <a:picLocks noChangeAspect="1"/>
          </p:cNvPicPr>
          <p:nvPr userDrawn="1"/>
        </p:nvPicPr>
        <p:blipFill rotWithShape="1">
          <a:blip r:embed="rId2" cstate="print">
            <a:extLst>
              <a:ext uri="{28A0092B-C50C-407E-A947-70E740481C1C}">
                <a14:useLocalDpi xmlns:a14="http://schemas.microsoft.com/office/drawing/2010/main" val="0"/>
              </a:ext>
            </a:extLst>
          </a:blip>
          <a:srcRect l="30870" t="19781" r="-17013" b="19721"/>
          <a:stretch/>
        </p:blipFill>
        <p:spPr>
          <a:xfrm>
            <a:off x="742950" y="771525"/>
            <a:ext cx="10658475" cy="5334000"/>
          </a:xfrm>
          <a:prstGeom prst="rect">
            <a:avLst/>
          </a:prstGeom>
        </p:spPr>
      </p:pic>
      <p:sp>
        <p:nvSpPr>
          <p:cNvPr id="19" name="Rectangle 18"/>
          <p:cNvSpPr/>
          <p:nvPr userDrawn="1"/>
        </p:nvSpPr>
        <p:spPr>
          <a:xfrm>
            <a:off x="6391276" y="2057401"/>
            <a:ext cx="5060496" cy="42195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1322569" y="2845254"/>
            <a:ext cx="3278005" cy="1476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10230" y="3129533"/>
            <a:ext cx="2331259" cy="844082"/>
          </a:xfrm>
          <a:prstGeom prst="rect">
            <a:avLst/>
          </a:prstGeom>
        </p:spPr>
      </p:pic>
      <p:sp>
        <p:nvSpPr>
          <p:cNvPr id="16"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6555086" y="4514850"/>
            <a:ext cx="4896685" cy="1543050"/>
          </a:xfrm>
          <a:prstGeom prst="rect">
            <a:avLst/>
          </a:prstGeom>
        </p:spPr>
        <p:txBody>
          <a:bodyPr lIns="0" tIns="0" rIns="0" bIns="0" anchor="t" anchorCtr="0"/>
          <a:lstStyle>
            <a:lvl1pPr marL="0" indent="0" algn="l">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BE" dirty="0"/>
          </a:p>
        </p:txBody>
      </p:sp>
      <p:sp>
        <p:nvSpPr>
          <p:cNvPr id="17" name="Title Placeholder 1"/>
          <p:cNvSpPr>
            <a:spLocks noGrp="1"/>
          </p:cNvSpPr>
          <p:nvPr>
            <p:ph type="title"/>
          </p:nvPr>
        </p:nvSpPr>
        <p:spPr>
          <a:xfrm>
            <a:off x="6555086" y="2143125"/>
            <a:ext cx="4896685" cy="2254704"/>
          </a:xfrm>
          <a:prstGeom prst="rect">
            <a:avLst/>
          </a:prstGeom>
        </p:spPr>
        <p:txBody>
          <a:bodyPr vert="horz" lIns="0" tIns="0" rIns="0" bIns="0" rtlCol="0" anchor="b">
            <a:normAutofit/>
          </a:bodyPr>
          <a:lstStyle>
            <a:lvl1pPr algn="l">
              <a:defRPr>
                <a:solidFill>
                  <a:schemeClr val="accent2"/>
                </a:solidFill>
              </a:defRPr>
            </a:lvl1pPr>
          </a:lstStyle>
          <a:p>
            <a:r>
              <a:rPr lang="en-US"/>
              <a:t>Click to edit Master title style</a:t>
            </a:r>
          </a:p>
        </p:txBody>
      </p:sp>
    </p:spTree>
    <p:extLst>
      <p:ext uri="{BB962C8B-B14F-4D97-AF65-F5344CB8AC3E}">
        <p14:creationId xmlns:p14="http://schemas.microsoft.com/office/powerpoint/2010/main" val="15758297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 Slide 6">
    <p:spTree>
      <p:nvGrpSpPr>
        <p:cNvPr id="1" name=""/>
        <p:cNvGrpSpPr/>
        <p:nvPr/>
      </p:nvGrpSpPr>
      <p:grpSpPr>
        <a:xfrm>
          <a:off x="0" y="0"/>
          <a:ext cx="0" cy="0"/>
          <a:chOff x="0" y="0"/>
          <a:chExt cx="0" cy="0"/>
        </a:xfrm>
      </p:grpSpPr>
      <p:pic>
        <p:nvPicPr>
          <p:cNvPr id="11" name="Afbeelding 3">
            <a:extLst>
              <a:ext uri="{FF2B5EF4-FFF2-40B4-BE49-F238E27FC236}">
                <a16:creationId xmlns:a16="http://schemas.microsoft.com/office/drawing/2014/main" id="{AA5B3CA4-7383-4A08-AD3F-748BE844E0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7011" t="29944" r="50129" b="9678"/>
          <a:stretch/>
        </p:blipFill>
        <p:spPr>
          <a:xfrm>
            <a:off x="754744" y="756557"/>
            <a:ext cx="5331731" cy="5355772"/>
          </a:xfrm>
          <a:prstGeom prst="rect">
            <a:avLst/>
          </a:prstGeom>
        </p:spPr>
      </p:pic>
      <p:sp>
        <p:nvSpPr>
          <p:cNvPr id="12" name="Rectangle 11"/>
          <p:cNvSpPr/>
          <p:nvPr userDrawn="1"/>
        </p:nvSpPr>
        <p:spPr>
          <a:xfrm>
            <a:off x="1341619" y="2819399"/>
            <a:ext cx="3278005" cy="1476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10230" y="3129533"/>
            <a:ext cx="2331259" cy="844082"/>
          </a:xfrm>
          <a:prstGeom prst="rect">
            <a:avLst/>
          </a:prstGeom>
        </p:spPr>
      </p:pic>
      <p:sp>
        <p:nvSpPr>
          <p:cNvPr id="16"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6555086" y="4514850"/>
            <a:ext cx="4896685" cy="1543050"/>
          </a:xfrm>
          <a:prstGeom prst="rect">
            <a:avLst/>
          </a:prstGeom>
        </p:spPr>
        <p:txBody>
          <a:bodyPr lIns="0" tIns="0" rIns="0" bIns="0" anchor="t" anchorCtr="0"/>
          <a:lstStyle>
            <a:lvl1pPr marL="0" indent="0" algn="l">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en-BE" dirty="0"/>
          </a:p>
        </p:txBody>
      </p:sp>
      <p:sp>
        <p:nvSpPr>
          <p:cNvPr id="17" name="Title Placeholder 1"/>
          <p:cNvSpPr>
            <a:spLocks noGrp="1"/>
          </p:cNvSpPr>
          <p:nvPr>
            <p:ph type="title"/>
          </p:nvPr>
        </p:nvSpPr>
        <p:spPr>
          <a:xfrm>
            <a:off x="6555086" y="2143125"/>
            <a:ext cx="4896685" cy="2254704"/>
          </a:xfrm>
          <a:prstGeom prst="rect">
            <a:avLst/>
          </a:prstGeom>
        </p:spPr>
        <p:txBody>
          <a:bodyPr vert="horz" lIns="0" tIns="0" rIns="0" bIns="0" rtlCol="0" anchor="b">
            <a:normAutofit/>
          </a:bodyPr>
          <a:lstStyle>
            <a:lvl1pPr algn="l">
              <a:defRPr>
                <a:solidFill>
                  <a:schemeClr val="accent2"/>
                </a:solidFill>
              </a:defRPr>
            </a:lvl1pPr>
          </a:lstStyle>
          <a:p>
            <a:r>
              <a:rPr lang="en-US"/>
              <a:t>Click to edit Master title style</a:t>
            </a:r>
          </a:p>
        </p:txBody>
      </p:sp>
    </p:spTree>
    <p:extLst>
      <p:ext uri="{BB962C8B-B14F-4D97-AF65-F5344CB8AC3E}">
        <p14:creationId xmlns:p14="http://schemas.microsoft.com/office/powerpoint/2010/main" val="27331082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dex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val="0"/>
              </a:ext>
            </a:extLst>
          </a:blip>
          <a:srcRect l="61970" t="12938" r="-48113" b="26562"/>
          <a:stretch/>
        </p:blipFill>
        <p:spPr>
          <a:xfrm>
            <a:off x="771525" y="758825"/>
            <a:ext cx="10658475" cy="5334000"/>
          </a:xfrm>
          <a:prstGeom prst="rect">
            <a:avLst/>
          </a:prstGeom>
        </p:spPr>
      </p:pic>
      <p:sp>
        <p:nvSpPr>
          <p:cNvPr id="15" name="Tijdelijke aanduiding voor tekst 14">
            <a:extLst>
              <a:ext uri="{FF2B5EF4-FFF2-40B4-BE49-F238E27FC236}">
                <a16:creationId xmlns:a16="http://schemas.microsoft.com/office/drawing/2014/main" id="{B625ABE2-4787-4DCE-8BBA-59C73CFF5EFD}"/>
              </a:ext>
            </a:extLst>
          </p:cNvPr>
          <p:cNvSpPr>
            <a:spLocks noGrp="1"/>
          </p:cNvSpPr>
          <p:nvPr>
            <p:ph type="body" sz="quarter" idx="12" hasCustomPrompt="1"/>
          </p:nvPr>
        </p:nvSpPr>
        <p:spPr>
          <a:xfrm>
            <a:off x="9220200" y="1794669"/>
            <a:ext cx="2097363" cy="3243262"/>
          </a:xfrm>
          <a:prstGeom prst="rect">
            <a:avLst/>
          </a:prstGeom>
        </p:spPr>
        <p:txBody>
          <a:bodyPr anchor="ctr">
            <a:noAutofit/>
          </a:bodyPr>
          <a:lstStyle>
            <a:lvl1pPr marL="0" indent="0">
              <a:lnSpc>
                <a:spcPct val="150000"/>
              </a:lnSpc>
              <a:spcBef>
                <a:spcPts val="0"/>
              </a:spcBef>
              <a:spcAft>
                <a:spcPts val="0"/>
              </a:spcAft>
              <a:buFont typeface="Georgia" panose="02040502050405020303" pitchFamily="18" charset="0"/>
              <a:buChar char="─"/>
              <a:defRPr sz="2800" b="1">
                <a:solidFill>
                  <a:schemeClr val="accent2"/>
                </a:solidFill>
                <a:latin typeface="+mj-lt"/>
              </a:defRPr>
            </a:lvl1pPr>
          </a:lstStyle>
          <a:p>
            <a:pPr lvl="0"/>
            <a:r>
              <a:rPr lang="nl-NL" dirty="0"/>
              <a:t> 3</a:t>
            </a:r>
          </a:p>
          <a:p>
            <a:pPr lvl="0"/>
            <a:r>
              <a:rPr lang="nl-NL" dirty="0"/>
              <a:t> 4</a:t>
            </a:r>
          </a:p>
          <a:p>
            <a:pPr lvl="0"/>
            <a:r>
              <a:rPr lang="nl-NL" dirty="0"/>
              <a:t> 5</a:t>
            </a:r>
          </a:p>
          <a:p>
            <a:pPr lvl="0"/>
            <a:r>
              <a:rPr lang="nl-NL" dirty="0"/>
              <a:t> 6</a:t>
            </a:r>
          </a:p>
          <a:p>
            <a:pPr lvl="0"/>
            <a:r>
              <a:rPr lang="nl-NL"/>
              <a:t> 7</a:t>
            </a:r>
            <a:endParaRPr lang="en-BE" dirty="0"/>
          </a:p>
        </p:txBody>
      </p:sp>
      <p:sp>
        <p:nvSpPr>
          <p:cNvPr id="5" name="Tijdelijke aanduiding voor tekst 4">
            <a:extLst>
              <a:ext uri="{FF2B5EF4-FFF2-40B4-BE49-F238E27FC236}">
                <a16:creationId xmlns:a16="http://schemas.microsoft.com/office/drawing/2014/main" id="{3AEE0936-214A-4172-9057-144F7932C4E7}"/>
              </a:ext>
            </a:extLst>
          </p:cNvPr>
          <p:cNvSpPr>
            <a:spLocks noGrp="1"/>
          </p:cNvSpPr>
          <p:nvPr>
            <p:ph type="body" sz="quarter" idx="13" hasCustomPrompt="1"/>
          </p:nvPr>
        </p:nvSpPr>
        <p:spPr>
          <a:xfrm>
            <a:off x="4674703" y="1794669"/>
            <a:ext cx="4433060" cy="3276600"/>
          </a:xfrm>
          <a:prstGeom prst="rect">
            <a:avLst/>
          </a:prstGeom>
        </p:spPr>
        <p:txBody>
          <a:bodyPr lIns="0" tIns="0" rIns="0" bIns="0" anchor="ctr">
            <a:normAutofit/>
          </a:bodyPr>
          <a:lstStyle>
            <a:lvl1pPr marL="0" indent="0" algn="r">
              <a:lnSpc>
                <a:spcPct val="150000"/>
              </a:lnSpc>
              <a:spcBef>
                <a:spcPts val="0"/>
              </a:spcBef>
              <a:buFontTx/>
              <a:buNone/>
              <a:defRPr sz="2800"/>
            </a:lvl1pPr>
          </a:lstStyle>
          <a:p>
            <a:pPr lvl="0"/>
            <a:r>
              <a:rPr lang="en-US"/>
              <a:t>Click to add subtitle</a:t>
            </a:r>
            <a:endParaRPr lang="en-BE" dirty="0"/>
          </a:p>
        </p:txBody>
      </p:sp>
      <p:sp>
        <p:nvSpPr>
          <p:cNvPr id="11"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2"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46815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itel slide 1">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l="6942" t="9657" r="6963" b="29950"/>
          <a:stretch/>
        </p:blipFill>
        <p:spPr>
          <a:xfrm>
            <a:off x="787400" y="761999"/>
            <a:ext cx="10668000" cy="5334001"/>
          </a:xfrm>
          <a:prstGeom prst="rect">
            <a:avLst/>
          </a:prstGeom>
        </p:spPr>
      </p:pic>
      <p:sp>
        <p:nvSpPr>
          <p:cNvPr id="3" name="Rectangle 2"/>
          <p:cNvSpPr/>
          <p:nvPr userDrawn="1"/>
        </p:nvSpPr>
        <p:spPr>
          <a:xfrm>
            <a:off x="1224613" y="2263515"/>
            <a:ext cx="5209082" cy="2345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AC9C767-9A67-4216-A05F-95382F81BAEA}"/>
              </a:ext>
            </a:extLst>
          </p:cNvPr>
          <p:cNvSpPr>
            <a:spLocks noGrp="1"/>
          </p:cNvSpPr>
          <p:nvPr>
            <p:ph type="title" hasCustomPrompt="1"/>
          </p:nvPr>
        </p:nvSpPr>
        <p:spPr>
          <a:xfrm>
            <a:off x="1252538" y="2254251"/>
            <a:ext cx="5173662" cy="2352674"/>
          </a:xfrm>
          <a:prstGeom prst="rect">
            <a:avLst/>
          </a:prstGeom>
          <a:solidFill>
            <a:schemeClr val="bg1"/>
          </a:solidFill>
        </p:spPr>
        <p:txBody>
          <a:bodyPr lIns="182880" tIns="182880" rIns="182880" bIns="182880" anchor="ctr" anchorCtr="0">
            <a:normAutofit/>
          </a:bodyPr>
          <a:lstStyle>
            <a:lvl1pPr>
              <a:defRPr sz="3600"/>
            </a:lvl1pPr>
          </a:lstStyle>
          <a:p>
            <a:r>
              <a:rPr lang="en-US"/>
              <a:t>Click to add subtitle</a:t>
            </a:r>
            <a:endParaRPr lang="en-BE" dirty="0"/>
          </a:p>
        </p:txBody>
      </p:sp>
      <p:sp>
        <p:nvSpPr>
          <p:cNvPr id="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0"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9750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itel slide 2">
    <p:spTree>
      <p:nvGrpSpPr>
        <p:cNvPr id="1" name=""/>
        <p:cNvGrpSpPr/>
        <p:nvPr/>
      </p:nvGrpSpPr>
      <p:grpSpPr>
        <a:xfrm>
          <a:off x="0" y="0"/>
          <a:ext cx="0" cy="0"/>
          <a:chOff x="0" y="0"/>
          <a:chExt cx="0" cy="0"/>
        </a:xfrm>
      </p:grpSpPr>
      <p:pic>
        <p:nvPicPr>
          <p:cNvPr id="4" name="Afbeelding 3">
            <a:extLst>
              <a:ext uri="{FF2B5EF4-FFF2-40B4-BE49-F238E27FC236}">
                <a16:creationId xmlns:a16="http://schemas.microsoft.com/office/drawing/2014/main" id="{AA5B3CA4-7383-4A08-AD3F-748BE844E0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7011" t="29944" r="6884" b="9678"/>
          <a:stretch/>
        </p:blipFill>
        <p:spPr>
          <a:xfrm>
            <a:off x="754743" y="756557"/>
            <a:ext cx="10711543" cy="5355772"/>
          </a:xfrm>
          <a:prstGeom prst="rect">
            <a:avLst/>
          </a:prstGeom>
        </p:spPr>
      </p:pic>
      <p:sp>
        <p:nvSpPr>
          <p:cNvPr id="3" name="Rectangle 2"/>
          <p:cNvSpPr/>
          <p:nvPr userDrawn="1"/>
        </p:nvSpPr>
        <p:spPr>
          <a:xfrm>
            <a:off x="1341620" y="2235825"/>
            <a:ext cx="5029200" cy="23684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AC9C767-9A67-4216-A05F-95382F81BAEA}"/>
              </a:ext>
            </a:extLst>
          </p:cNvPr>
          <p:cNvSpPr>
            <a:spLocks noGrp="1"/>
          </p:cNvSpPr>
          <p:nvPr>
            <p:ph type="title" hasCustomPrompt="1"/>
          </p:nvPr>
        </p:nvSpPr>
        <p:spPr>
          <a:xfrm>
            <a:off x="1349829" y="2237014"/>
            <a:ext cx="5021942" cy="2351315"/>
          </a:xfrm>
          <a:prstGeom prst="rect">
            <a:avLst/>
          </a:prstGeom>
          <a:noFill/>
        </p:spPr>
        <p:txBody>
          <a:bodyPr lIns="182880" tIns="182880" rIns="182880" bIns="182880" anchor="ctr" anchorCtr="0">
            <a:normAutofit/>
          </a:bodyPr>
          <a:lstStyle>
            <a:lvl1pPr>
              <a:defRPr sz="3600"/>
            </a:lvl1pPr>
          </a:lstStyle>
          <a:p>
            <a:r>
              <a:rPr lang="en-US"/>
              <a:t>Click to add subtitle</a:t>
            </a:r>
            <a:endParaRPr lang="en-BE" dirty="0"/>
          </a:p>
        </p:txBody>
      </p:sp>
      <p:sp>
        <p:nvSpPr>
          <p:cNvPr id="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7626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btitel slide 3">
    <p:spTree>
      <p:nvGrpSpPr>
        <p:cNvPr id="1" name=""/>
        <p:cNvGrpSpPr/>
        <p:nvPr/>
      </p:nvGrpSpPr>
      <p:grpSpPr>
        <a:xfrm>
          <a:off x="0" y="0"/>
          <a:ext cx="0" cy="0"/>
          <a:chOff x="0" y="0"/>
          <a:chExt cx="0" cy="0"/>
        </a:xfrm>
      </p:grpSpPr>
      <p:pic>
        <p:nvPicPr>
          <p:cNvPr id="6" name="Afbeelding 8">
            <a:extLst>
              <a:ext uri="{FF2B5EF4-FFF2-40B4-BE49-F238E27FC236}">
                <a16:creationId xmlns:a16="http://schemas.microsoft.com/office/drawing/2014/main" id="{647C93FD-69BD-4ECC-920A-2E0DC25772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3721" t="28982" r="2160" b="26878"/>
          <a:stretch/>
        </p:blipFill>
        <p:spPr>
          <a:xfrm>
            <a:off x="742950" y="733425"/>
            <a:ext cx="9210675" cy="5353050"/>
          </a:xfrm>
          <a:prstGeom prst="rect">
            <a:avLst/>
          </a:prstGeom>
        </p:spPr>
      </p:pic>
      <p:sp>
        <p:nvSpPr>
          <p:cNvPr id="3" name="Rectangle 2"/>
          <p:cNvSpPr/>
          <p:nvPr userDrawn="1"/>
        </p:nvSpPr>
        <p:spPr>
          <a:xfrm>
            <a:off x="1334125" y="2241030"/>
            <a:ext cx="5074170" cy="2360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AC9C767-9A67-4216-A05F-95382F81BAEA}"/>
              </a:ext>
            </a:extLst>
          </p:cNvPr>
          <p:cNvSpPr>
            <a:spLocks noGrp="1"/>
          </p:cNvSpPr>
          <p:nvPr>
            <p:ph type="title" hasCustomPrompt="1"/>
          </p:nvPr>
        </p:nvSpPr>
        <p:spPr>
          <a:xfrm>
            <a:off x="1333500" y="2247899"/>
            <a:ext cx="5067300" cy="2362201"/>
          </a:xfrm>
          <a:prstGeom prst="rect">
            <a:avLst/>
          </a:prstGeom>
          <a:noFill/>
        </p:spPr>
        <p:txBody>
          <a:bodyPr lIns="182880" tIns="182880" rIns="182880" bIns="182880" anchor="ctr" anchorCtr="0">
            <a:normAutofit/>
          </a:bodyPr>
          <a:lstStyle>
            <a:lvl1pPr>
              <a:defRPr sz="3600"/>
            </a:lvl1pPr>
          </a:lstStyle>
          <a:p>
            <a:r>
              <a:rPr lang="en-US"/>
              <a:t>Click to add subtitle</a:t>
            </a:r>
            <a:endParaRPr lang="en-BE" dirty="0"/>
          </a:p>
        </p:txBody>
      </p:sp>
      <p:sp>
        <p:nvSpPr>
          <p:cNvPr id="8"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554549"/>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554549"/>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71224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titel slide 4">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7002" t="23540" r="6984" b="16462"/>
          <a:stretch/>
        </p:blipFill>
        <p:spPr>
          <a:xfrm>
            <a:off x="752929" y="769258"/>
            <a:ext cx="10697028" cy="5326742"/>
          </a:xfrm>
          <a:prstGeom prst="rect">
            <a:avLst/>
          </a:prstGeom>
        </p:spPr>
      </p:pic>
      <p:sp>
        <p:nvSpPr>
          <p:cNvPr id="3" name="Rectangle 2"/>
          <p:cNvSpPr/>
          <p:nvPr userDrawn="1"/>
        </p:nvSpPr>
        <p:spPr>
          <a:xfrm>
            <a:off x="1346825" y="2241030"/>
            <a:ext cx="5074170" cy="2360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AC9C767-9A67-4216-A05F-95382F81BAEA}"/>
              </a:ext>
            </a:extLst>
          </p:cNvPr>
          <p:cNvSpPr>
            <a:spLocks noGrp="1"/>
          </p:cNvSpPr>
          <p:nvPr>
            <p:ph type="title" hasCustomPrompt="1"/>
          </p:nvPr>
        </p:nvSpPr>
        <p:spPr>
          <a:xfrm>
            <a:off x="1346200" y="2247899"/>
            <a:ext cx="5067300" cy="2362201"/>
          </a:xfrm>
          <a:prstGeom prst="rect">
            <a:avLst/>
          </a:prstGeom>
          <a:noFill/>
        </p:spPr>
        <p:txBody>
          <a:bodyPr lIns="182880" tIns="182880" rIns="182880" bIns="182880" anchor="ctr" anchorCtr="0">
            <a:normAutofit/>
          </a:bodyPr>
          <a:lstStyle>
            <a:lvl1pPr>
              <a:defRPr sz="3600"/>
            </a:lvl1pPr>
          </a:lstStyle>
          <a:p>
            <a:r>
              <a:rPr lang="en-US"/>
              <a:t>Click to add subtitle</a:t>
            </a:r>
            <a:endParaRPr lang="en-BE" dirty="0"/>
          </a:p>
        </p:txBody>
      </p:sp>
      <p:sp>
        <p:nvSpPr>
          <p:cNvPr id="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0"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3887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ing slide with icons">
    <p:spTree>
      <p:nvGrpSpPr>
        <p:cNvPr id="1" name=""/>
        <p:cNvGrpSpPr/>
        <p:nvPr/>
      </p:nvGrpSpPr>
      <p:grpSpPr>
        <a:xfrm>
          <a:off x="0" y="0"/>
          <a:ext cx="0" cy="0"/>
          <a:chOff x="0" y="0"/>
          <a:chExt cx="0" cy="0"/>
        </a:xfrm>
      </p:grpSpPr>
      <p:sp>
        <p:nvSpPr>
          <p:cNvPr id="4" name="Tijdelijke aanduiding voor afbeelding 3">
            <a:extLst>
              <a:ext uri="{FF2B5EF4-FFF2-40B4-BE49-F238E27FC236}">
                <a16:creationId xmlns:a16="http://schemas.microsoft.com/office/drawing/2014/main" id="{E2D5FF81-71AA-4A77-BAFA-7D04F841B056}"/>
              </a:ext>
            </a:extLst>
          </p:cNvPr>
          <p:cNvSpPr>
            <a:spLocks noGrp="1"/>
          </p:cNvSpPr>
          <p:nvPr>
            <p:ph type="pic" sz="quarter" idx="15" hasCustomPrompt="1"/>
          </p:nvPr>
        </p:nvSpPr>
        <p:spPr>
          <a:xfrm>
            <a:off x="766763" y="1827482"/>
            <a:ext cx="1470223" cy="1471613"/>
          </a:xfrm>
          <a:prstGeom prst="rect">
            <a:avLst/>
          </a:prstGeom>
        </p:spPr>
        <p:txBody>
          <a:bodyPr>
            <a:normAutofit/>
          </a:bodyPr>
          <a:lstStyle>
            <a:lvl1pPr marL="0" indent="0" algn="ctr">
              <a:lnSpc>
                <a:spcPct val="100000"/>
              </a:lnSpc>
              <a:spcBef>
                <a:spcPts val="300"/>
              </a:spcBef>
              <a:buFontTx/>
              <a:buNone/>
              <a:defRPr sz="1100"/>
            </a:lvl1pPr>
          </a:lstStyle>
          <a:p>
            <a:r>
              <a:rPr lang="en-US"/>
              <a:t>add icon</a:t>
            </a:r>
          </a:p>
        </p:txBody>
      </p:sp>
      <p:sp>
        <p:nvSpPr>
          <p:cNvPr id="8" name="Tijdelijke aanduiding voor afbeelding 3">
            <a:extLst>
              <a:ext uri="{FF2B5EF4-FFF2-40B4-BE49-F238E27FC236}">
                <a16:creationId xmlns:a16="http://schemas.microsoft.com/office/drawing/2014/main" id="{09AA0D7A-FE33-4F8C-9C9B-2DF71EA202B7}"/>
              </a:ext>
            </a:extLst>
          </p:cNvPr>
          <p:cNvSpPr>
            <a:spLocks noGrp="1"/>
          </p:cNvSpPr>
          <p:nvPr>
            <p:ph type="pic" sz="quarter" idx="16" hasCustomPrompt="1"/>
          </p:nvPr>
        </p:nvSpPr>
        <p:spPr>
          <a:xfrm>
            <a:off x="6563784" y="1810727"/>
            <a:ext cx="1517650" cy="1471613"/>
          </a:xfrm>
          <a:prstGeom prst="rect">
            <a:avLst/>
          </a:prstGeom>
        </p:spPr>
        <p:txBody>
          <a:bodyPr>
            <a:normAutofit/>
          </a:bodyPr>
          <a:lstStyle>
            <a:lvl1pPr marL="0" indent="0" algn="ctr">
              <a:lnSpc>
                <a:spcPct val="100000"/>
              </a:lnSpc>
              <a:spcBef>
                <a:spcPts val="300"/>
              </a:spcBef>
              <a:buFontTx/>
              <a:buNone/>
              <a:defRPr sz="1100"/>
            </a:lvl1pPr>
          </a:lstStyle>
          <a:p>
            <a:r>
              <a:rPr lang="en-US"/>
              <a:t>add icon</a:t>
            </a:r>
            <a:endParaRPr lang="en-BE" dirty="0"/>
          </a:p>
        </p:txBody>
      </p:sp>
      <p:sp>
        <p:nvSpPr>
          <p:cNvPr id="10" name="Tijdelijke aanduiding voor tekst 9">
            <a:extLst>
              <a:ext uri="{FF2B5EF4-FFF2-40B4-BE49-F238E27FC236}">
                <a16:creationId xmlns:a16="http://schemas.microsoft.com/office/drawing/2014/main" id="{2F64FA00-F52F-4F8C-9ED0-8C00855A7D4E}"/>
              </a:ext>
            </a:extLst>
          </p:cNvPr>
          <p:cNvSpPr>
            <a:spLocks noGrp="1"/>
          </p:cNvSpPr>
          <p:nvPr>
            <p:ph type="body" sz="quarter" idx="17"/>
          </p:nvPr>
        </p:nvSpPr>
        <p:spPr>
          <a:xfrm>
            <a:off x="2305175" y="1822478"/>
            <a:ext cx="3333623" cy="1471612"/>
          </a:xfrm>
          <a:prstGeom prst="rect">
            <a:avLst/>
          </a:prstGeom>
        </p:spPr>
        <p:txBody>
          <a:bodyPr lIns="0" tIns="0" rIns="0" bIns="0" anchor="ctr" anchorCtr="0">
            <a:noAutofit/>
          </a:bodyPr>
          <a:lstStyle>
            <a:lvl1pPr marL="0" indent="0" algn="l">
              <a:buFontTx/>
              <a:buNone/>
              <a:defRPr sz="2800">
                <a:solidFill>
                  <a:schemeClr val="accent2"/>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endParaRPr lang="nl-NL" dirty="0"/>
          </a:p>
        </p:txBody>
      </p:sp>
      <p:sp>
        <p:nvSpPr>
          <p:cNvPr id="12" name="Tijdelijke aanduiding voor tekst 9">
            <a:extLst>
              <a:ext uri="{FF2B5EF4-FFF2-40B4-BE49-F238E27FC236}">
                <a16:creationId xmlns:a16="http://schemas.microsoft.com/office/drawing/2014/main" id="{21D06019-3674-4CC0-8571-2CD83FD684EB}"/>
              </a:ext>
            </a:extLst>
          </p:cNvPr>
          <p:cNvSpPr>
            <a:spLocks noGrp="1"/>
          </p:cNvSpPr>
          <p:nvPr>
            <p:ph type="body" sz="quarter" idx="18"/>
          </p:nvPr>
        </p:nvSpPr>
        <p:spPr>
          <a:xfrm>
            <a:off x="8155264" y="1810727"/>
            <a:ext cx="3269974" cy="1471612"/>
          </a:xfrm>
          <a:prstGeom prst="rect">
            <a:avLst/>
          </a:prstGeom>
        </p:spPr>
        <p:txBody>
          <a:bodyPr lIns="0" tIns="0" rIns="0" bIns="0" anchor="ctr" anchorCtr="0">
            <a:noAutofit/>
          </a:bodyPr>
          <a:lstStyle>
            <a:lvl1pPr marL="0" indent="0" algn="l">
              <a:buFontTx/>
              <a:buNone/>
              <a:defRPr sz="2800">
                <a:solidFill>
                  <a:schemeClr val="accent2"/>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endParaRPr lang="nl-NL" dirty="0"/>
          </a:p>
        </p:txBody>
      </p:sp>
      <p:sp>
        <p:nvSpPr>
          <p:cNvPr id="3" name="Title 2"/>
          <p:cNvSpPr>
            <a:spLocks noGrp="1"/>
          </p:cNvSpPr>
          <p:nvPr>
            <p:ph type="title"/>
          </p:nvPr>
        </p:nvSpPr>
        <p:spPr>
          <a:xfrm>
            <a:off x="766762" y="806211"/>
            <a:ext cx="10658476" cy="884477"/>
          </a:xfrm>
        </p:spPr>
        <p:txBody>
          <a:bodyPr/>
          <a:lstStyle/>
          <a:p>
            <a:r>
              <a:rPr lang="en-US"/>
              <a:t>Click to edit Master title style</a:t>
            </a:r>
          </a:p>
        </p:txBody>
      </p:sp>
      <p:sp>
        <p:nvSpPr>
          <p:cNvPr id="14" name="Text Placeholder 5"/>
          <p:cNvSpPr>
            <a:spLocks noGrp="1"/>
          </p:cNvSpPr>
          <p:nvPr>
            <p:ph type="body" sz="quarter" idx="19"/>
          </p:nvPr>
        </p:nvSpPr>
        <p:spPr>
          <a:xfrm>
            <a:off x="766763" y="3429000"/>
            <a:ext cx="4872037" cy="26289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5"/>
          <p:cNvSpPr>
            <a:spLocks noGrp="1"/>
          </p:cNvSpPr>
          <p:nvPr>
            <p:ph type="body" sz="quarter" idx="20"/>
          </p:nvPr>
        </p:nvSpPr>
        <p:spPr>
          <a:xfrm>
            <a:off x="6569814" y="3429000"/>
            <a:ext cx="4872037" cy="26289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03269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3552">
          <p15:clr>
            <a:srgbClr val="FBAE40"/>
          </p15:clr>
        </p15:guide>
        <p15:guide id="3" pos="412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3" y="800496"/>
            <a:ext cx="8939204" cy="525078"/>
          </a:xfrm>
          <a:prstGeom prst="rect">
            <a:avLst/>
          </a:prstGeom>
        </p:spPr>
        <p:txBody>
          <a:bodyPr lIns="0" tIns="0" rIns="0" bIns="0">
            <a:noAutofit/>
          </a:bodyPr>
          <a:lstStyle>
            <a:lvl1pPr>
              <a:defRPr sz="3600"/>
            </a:lvl1pPr>
          </a:lstStyle>
          <a:p>
            <a:endParaRPr lang="en-BE" dirty="0"/>
          </a:p>
        </p:txBody>
      </p:sp>
      <p:sp>
        <p:nvSpPr>
          <p:cNvPr id="9" name="Tijdelijke aanduiding voor tekst 8">
            <a:extLst>
              <a:ext uri="{FF2B5EF4-FFF2-40B4-BE49-F238E27FC236}">
                <a16:creationId xmlns:a16="http://schemas.microsoft.com/office/drawing/2014/main" id="{013F778B-D9C1-4802-970E-A23E39CC2A98}"/>
              </a:ext>
            </a:extLst>
          </p:cNvPr>
          <p:cNvSpPr>
            <a:spLocks noGrp="1"/>
          </p:cNvSpPr>
          <p:nvPr>
            <p:ph type="body" sz="quarter" idx="14"/>
          </p:nvPr>
        </p:nvSpPr>
        <p:spPr>
          <a:xfrm>
            <a:off x="766763" y="1486463"/>
            <a:ext cx="8939204" cy="725105"/>
          </a:xfrm>
          <a:prstGeom prst="rect">
            <a:avLst/>
          </a:prstGeom>
        </p:spPr>
        <p:txBody>
          <a:bodyPr lIns="0" tIns="0" rIns="0" bIns="0" anchor="t">
            <a:normAutofit/>
          </a:bodyPr>
          <a:lstStyle>
            <a:lvl1pPr marL="0" indent="0">
              <a:spcBef>
                <a:spcPts val="0"/>
              </a:spcBef>
              <a:buFontTx/>
              <a:buNone/>
              <a:defRPr sz="2800">
                <a:solidFill>
                  <a:schemeClr val="accent1"/>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nl-NL" dirty="0"/>
          </a:p>
        </p:txBody>
      </p:sp>
      <p:sp>
        <p:nvSpPr>
          <p:cNvPr id="81" name="Text Placeholder 4"/>
          <p:cNvSpPr>
            <a:spLocks noGrp="1"/>
          </p:cNvSpPr>
          <p:nvPr>
            <p:ph type="body" sz="quarter" idx="15"/>
          </p:nvPr>
        </p:nvSpPr>
        <p:spPr>
          <a:xfrm>
            <a:off x="766763" y="2293938"/>
            <a:ext cx="8939212" cy="379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0"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82"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33809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ext Slide">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F8EDE2AA-5EC7-4E82-852A-FE7B050223C2}"/>
              </a:ext>
            </a:extLst>
          </p:cNvPr>
          <p:cNvSpPr>
            <a:spLocks noGrp="1"/>
          </p:cNvSpPr>
          <p:nvPr>
            <p:ph type="title"/>
          </p:nvPr>
        </p:nvSpPr>
        <p:spPr>
          <a:xfrm>
            <a:off x="766762" y="800496"/>
            <a:ext cx="10658465" cy="525078"/>
          </a:xfrm>
          <a:prstGeom prst="rect">
            <a:avLst/>
          </a:prstGeom>
        </p:spPr>
        <p:txBody>
          <a:bodyPr lIns="0" tIns="0" rIns="0" bIns="0">
            <a:noAutofit/>
          </a:bodyPr>
          <a:lstStyle>
            <a:lvl1pPr>
              <a:defRPr sz="3600"/>
            </a:lvl1pPr>
          </a:lstStyle>
          <a:p>
            <a:endParaRPr lang="en-BE" dirty="0"/>
          </a:p>
        </p:txBody>
      </p:sp>
      <p:sp>
        <p:nvSpPr>
          <p:cNvPr id="8" name="Tijdelijke aanduiding voor tekst 8">
            <a:extLst>
              <a:ext uri="{FF2B5EF4-FFF2-40B4-BE49-F238E27FC236}">
                <a16:creationId xmlns:a16="http://schemas.microsoft.com/office/drawing/2014/main" id="{013F778B-D9C1-4802-970E-A23E39CC2A98}"/>
              </a:ext>
            </a:extLst>
          </p:cNvPr>
          <p:cNvSpPr>
            <a:spLocks noGrp="1"/>
          </p:cNvSpPr>
          <p:nvPr>
            <p:ph type="body" sz="quarter" idx="14"/>
          </p:nvPr>
        </p:nvSpPr>
        <p:spPr>
          <a:xfrm>
            <a:off x="766762" y="1486463"/>
            <a:ext cx="10658465" cy="725105"/>
          </a:xfrm>
          <a:prstGeom prst="rect">
            <a:avLst/>
          </a:prstGeom>
        </p:spPr>
        <p:txBody>
          <a:bodyPr lIns="0" tIns="0" rIns="0" bIns="0" anchor="t">
            <a:normAutofit/>
          </a:bodyPr>
          <a:lstStyle>
            <a:lvl1pPr marL="0" indent="0">
              <a:spcBef>
                <a:spcPts val="0"/>
              </a:spcBef>
              <a:buFontTx/>
              <a:buNone/>
              <a:defRPr sz="2800">
                <a:solidFill>
                  <a:schemeClr val="accent1"/>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nl-NL" dirty="0"/>
          </a:p>
        </p:txBody>
      </p:sp>
      <p:sp>
        <p:nvSpPr>
          <p:cNvPr id="85" name="Text Placeholder 4"/>
          <p:cNvSpPr>
            <a:spLocks noGrp="1"/>
          </p:cNvSpPr>
          <p:nvPr>
            <p:ph type="body" sz="quarter" idx="15"/>
          </p:nvPr>
        </p:nvSpPr>
        <p:spPr>
          <a:xfrm>
            <a:off x="766762" y="2293938"/>
            <a:ext cx="10658475" cy="379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8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739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Slid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2" y="800496"/>
            <a:ext cx="10658475" cy="985576"/>
          </a:xfrm>
          <a:prstGeom prst="rect">
            <a:avLst/>
          </a:prstGeom>
        </p:spPr>
        <p:txBody>
          <a:bodyPr lIns="0" tIns="0" rIns="0" bIns="0">
            <a:noAutofit/>
          </a:bodyPr>
          <a:lstStyle>
            <a:lvl1pPr>
              <a:defRPr sz="3600"/>
            </a:lvl1pPr>
          </a:lstStyle>
          <a:p>
            <a:endParaRPr lang="en-BE" dirty="0"/>
          </a:p>
        </p:txBody>
      </p:sp>
      <p:sp>
        <p:nvSpPr>
          <p:cNvPr id="81" name="Text Placeholder 4"/>
          <p:cNvSpPr>
            <a:spLocks noGrp="1"/>
          </p:cNvSpPr>
          <p:nvPr>
            <p:ph type="body" sz="quarter" idx="15"/>
          </p:nvPr>
        </p:nvSpPr>
        <p:spPr>
          <a:xfrm>
            <a:off x="766762" y="1786072"/>
            <a:ext cx="10658475" cy="4301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4872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aphic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3" y="800100"/>
            <a:ext cx="10658475" cy="711201"/>
          </a:xfrm>
          <a:prstGeom prst="rect">
            <a:avLst/>
          </a:prstGeom>
        </p:spPr>
        <p:txBody>
          <a:bodyPr lIns="0" tIns="0" rIns="0" bIns="0">
            <a:normAutofit/>
          </a:bodyPr>
          <a:lstStyle>
            <a:lvl1pPr>
              <a:defRPr sz="3600"/>
            </a:lvl1pPr>
          </a:lstStyle>
          <a:p>
            <a:endParaRPr lang="en-BE" dirty="0"/>
          </a:p>
        </p:txBody>
      </p:sp>
      <p:sp>
        <p:nvSpPr>
          <p:cNvPr id="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6553200" y="1638300"/>
            <a:ext cx="4872038" cy="698501"/>
          </a:xfrm>
          <a:prstGeom prst="rect">
            <a:avLst/>
          </a:prstGeom>
        </p:spPr>
        <p:txBody>
          <a:bodyPr lIns="0" tIns="0" rIns="0" bIns="91440">
            <a:normAutofit/>
          </a:bodyPr>
          <a:lstStyle>
            <a:lvl1pPr marL="0" indent="0">
              <a:buFontTx/>
              <a:buNone/>
              <a:defRPr sz="2800" b="0">
                <a:solidFill>
                  <a:schemeClr val="accent1"/>
                </a:solidFill>
                <a:latin typeface="Georgia" panose="02040502050405020303" pitchFamily="18" charset="0"/>
                <a:cs typeface="Segoe UI Semibold" panose="020B0702040204020203" pitchFamily="34" charset="0"/>
              </a:defRPr>
            </a:lvl1pPr>
          </a:lstStyle>
          <a:p>
            <a:pPr lvl="0"/>
            <a:endParaRPr lang="nl-NL" dirty="0"/>
          </a:p>
        </p:txBody>
      </p:sp>
      <p:sp>
        <p:nvSpPr>
          <p:cNvPr id="8" name="Tijdelijke aanduiding voor grafiek 7">
            <a:extLst>
              <a:ext uri="{FF2B5EF4-FFF2-40B4-BE49-F238E27FC236}">
                <a16:creationId xmlns:a16="http://schemas.microsoft.com/office/drawing/2014/main" id="{785BDB02-0669-46C1-BC18-4B6915F659E2}"/>
              </a:ext>
            </a:extLst>
          </p:cNvPr>
          <p:cNvSpPr>
            <a:spLocks noGrp="1"/>
          </p:cNvSpPr>
          <p:nvPr>
            <p:ph type="chart" sz="quarter" idx="15"/>
          </p:nvPr>
        </p:nvSpPr>
        <p:spPr>
          <a:xfrm>
            <a:off x="766762" y="1638300"/>
            <a:ext cx="4872037" cy="4419600"/>
          </a:xfrm>
          <a:prstGeom prst="rect">
            <a:avLst/>
          </a:prstGeom>
        </p:spPr>
        <p:txBody>
          <a:bodyPr>
            <a:normAutofit/>
          </a:bodyPr>
          <a:lstStyle>
            <a:lvl1pPr marL="0" indent="0" algn="ctr">
              <a:buFontTx/>
              <a:buNone/>
              <a:defRPr sz="1800" b="0"/>
            </a:lvl1pPr>
          </a:lstStyle>
          <a:p>
            <a:endParaRPr lang="en-BE" dirty="0"/>
          </a:p>
        </p:txBody>
      </p:sp>
      <p:sp>
        <p:nvSpPr>
          <p:cNvPr id="11" name="Text Placeholder 5"/>
          <p:cNvSpPr>
            <a:spLocks noGrp="1"/>
          </p:cNvSpPr>
          <p:nvPr>
            <p:ph type="body" sz="quarter" idx="20"/>
          </p:nvPr>
        </p:nvSpPr>
        <p:spPr>
          <a:xfrm>
            <a:off x="6544414" y="2463800"/>
            <a:ext cx="4872037" cy="3594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3"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9069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4128">
          <p15:clr>
            <a:srgbClr val="FBAE40"/>
          </p15:clr>
        </p15:guide>
        <p15:guide id="3" pos="35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aphic Slid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3" y="800099"/>
            <a:ext cx="5329237" cy="558801"/>
          </a:xfrm>
          <a:prstGeom prst="rect">
            <a:avLst/>
          </a:prstGeom>
        </p:spPr>
        <p:txBody>
          <a:bodyPr lIns="0" tIns="0" rIns="0" bIns="0">
            <a:normAutofit/>
          </a:bodyPr>
          <a:lstStyle>
            <a:lvl1pPr>
              <a:defRPr sz="3600"/>
            </a:lvl1pPr>
          </a:lstStyle>
          <a:p>
            <a:endParaRPr lang="en-BE" dirty="0"/>
          </a:p>
        </p:txBody>
      </p:sp>
      <p:sp>
        <p:nvSpPr>
          <p:cNvPr id="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766763" y="1460501"/>
            <a:ext cx="5329237" cy="922958"/>
          </a:xfrm>
          <a:prstGeom prst="rect">
            <a:avLst/>
          </a:prstGeom>
        </p:spPr>
        <p:txBody>
          <a:bodyPr lIns="0" tIns="0" rIns="0" bIns="91440">
            <a:normAutofit/>
          </a:bodyPr>
          <a:lstStyle>
            <a:lvl1pPr marL="0" indent="0">
              <a:buFontTx/>
              <a:buNone/>
              <a:defRPr sz="2800" b="0">
                <a:solidFill>
                  <a:schemeClr val="accent1"/>
                </a:solidFill>
                <a:latin typeface="Georgia" panose="02040502050405020303" pitchFamily="18" charset="0"/>
                <a:cs typeface="Segoe UI Semibold" panose="020B0702040204020203" pitchFamily="34" charset="0"/>
              </a:defRPr>
            </a:lvl1pPr>
          </a:lstStyle>
          <a:p>
            <a:pPr lvl="0"/>
            <a:endParaRPr lang="nl-NL" dirty="0"/>
          </a:p>
        </p:txBody>
      </p:sp>
      <p:sp>
        <p:nvSpPr>
          <p:cNvPr id="8" name="Tijdelijke aanduiding voor grafiek 7">
            <a:extLst>
              <a:ext uri="{FF2B5EF4-FFF2-40B4-BE49-F238E27FC236}">
                <a16:creationId xmlns:a16="http://schemas.microsoft.com/office/drawing/2014/main" id="{785BDB02-0669-46C1-BC18-4B6915F659E2}"/>
              </a:ext>
            </a:extLst>
          </p:cNvPr>
          <p:cNvSpPr>
            <a:spLocks noGrp="1"/>
          </p:cNvSpPr>
          <p:nvPr>
            <p:ph type="chart" sz="quarter" idx="15"/>
          </p:nvPr>
        </p:nvSpPr>
        <p:spPr>
          <a:xfrm>
            <a:off x="6553200" y="800101"/>
            <a:ext cx="4872038" cy="5257800"/>
          </a:xfrm>
          <a:prstGeom prst="rect">
            <a:avLst/>
          </a:prstGeom>
        </p:spPr>
        <p:txBody>
          <a:bodyPr>
            <a:normAutofit/>
          </a:bodyPr>
          <a:lstStyle>
            <a:lvl1pPr marL="0" indent="0" algn="ctr">
              <a:buFontTx/>
              <a:buNone/>
              <a:defRPr sz="1800" b="0"/>
            </a:lvl1pPr>
          </a:lstStyle>
          <a:p>
            <a:endParaRPr lang="en-BE" dirty="0"/>
          </a:p>
        </p:txBody>
      </p:sp>
      <p:sp>
        <p:nvSpPr>
          <p:cNvPr id="5" name="Text Placeholder 4"/>
          <p:cNvSpPr>
            <a:spLocks noGrp="1"/>
          </p:cNvSpPr>
          <p:nvPr>
            <p:ph type="body" sz="quarter" idx="16"/>
          </p:nvPr>
        </p:nvSpPr>
        <p:spPr>
          <a:xfrm>
            <a:off x="766762" y="2485059"/>
            <a:ext cx="5329237" cy="35728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2"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9623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4128">
          <p15:clr>
            <a:srgbClr val="FBAE40"/>
          </p15:clr>
        </p15:guide>
        <p15:guide id="3" pos="355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mp; Pictur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4" y="800100"/>
            <a:ext cx="5983288" cy="838200"/>
          </a:xfrm>
          <a:prstGeom prst="rect">
            <a:avLst/>
          </a:prstGeom>
        </p:spPr>
        <p:txBody>
          <a:bodyPr lIns="0" tIns="0" rIns="0" bIns="0">
            <a:normAutofit/>
          </a:bodyPr>
          <a:lstStyle>
            <a:lvl1pPr>
              <a:defRPr sz="3600"/>
            </a:lvl1pPr>
          </a:lstStyle>
          <a:p>
            <a:endParaRPr lang="en-BE" dirty="0"/>
          </a:p>
        </p:txBody>
      </p:sp>
      <p:sp>
        <p:nvSpPr>
          <p:cNvPr id="8" name="Tijdelijke aanduiding voor afbeelding 7">
            <a:extLst>
              <a:ext uri="{FF2B5EF4-FFF2-40B4-BE49-F238E27FC236}">
                <a16:creationId xmlns:a16="http://schemas.microsoft.com/office/drawing/2014/main" id="{DA1F5B52-3085-476E-BB6D-6FEB75BDE4A8}"/>
              </a:ext>
            </a:extLst>
          </p:cNvPr>
          <p:cNvSpPr>
            <a:spLocks noGrp="1"/>
          </p:cNvSpPr>
          <p:nvPr>
            <p:ph type="pic" sz="quarter" idx="11"/>
          </p:nvPr>
        </p:nvSpPr>
        <p:spPr>
          <a:xfrm>
            <a:off x="7000875" y="0"/>
            <a:ext cx="5191125" cy="6858000"/>
          </a:xfrm>
          <a:prstGeom prst="rect">
            <a:avLst/>
          </a:prstGeom>
        </p:spPr>
        <p:txBody>
          <a:bodyPr anchor="ctr" anchorCtr="0"/>
          <a:lstStyle>
            <a:lvl1pPr marL="0" indent="0" algn="ctr">
              <a:buFontTx/>
              <a:buNone/>
              <a:defRPr/>
            </a:lvl1pPr>
          </a:lstStyle>
          <a:p>
            <a:endParaRPr lang="en-BE" dirty="0"/>
          </a:p>
        </p:txBody>
      </p:sp>
      <p:sp>
        <p:nvSpPr>
          <p:cNvPr id="4" name="Tijdelijke aanduiding voor tekst 3">
            <a:extLst>
              <a:ext uri="{FF2B5EF4-FFF2-40B4-BE49-F238E27FC236}">
                <a16:creationId xmlns:a16="http://schemas.microsoft.com/office/drawing/2014/main" id="{3EC44366-3659-4A5F-8C4F-FE4BEEF77354}"/>
              </a:ext>
            </a:extLst>
          </p:cNvPr>
          <p:cNvSpPr>
            <a:spLocks noGrp="1"/>
          </p:cNvSpPr>
          <p:nvPr>
            <p:ph type="body" sz="quarter" idx="12"/>
          </p:nvPr>
        </p:nvSpPr>
        <p:spPr>
          <a:xfrm>
            <a:off x="766763" y="1768890"/>
            <a:ext cx="6010275" cy="847310"/>
          </a:xfrm>
          <a:prstGeom prst="rect">
            <a:avLst/>
          </a:prstGeom>
        </p:spPr>
        <p:txBody>
          <a:bodyPr lIns="0" tIns="0" rIns="0" bIns="0">
            <a:noAutofit/>
          </a:bodyPr>
          <a:lstStyle>
            <a:lvl1pPr marL="0" indent="0">
              <a:buFontTx/>
              <a:buNone/>
              <a:defRPr sz="2800">
                <a:solidFill>
                  <a:schemeClr val="accent1"/>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nl-NL" dirty="0"/>
          </a:p>
        </p:txBody>
      </p:sp>
      <p:sp>
        <p:nvSpPr>
          <p:cNvPr id="11" name="Text Placeholder 10"/>
          <p:cNvSpPr>
            <a:spLocks noGrp="1"/>
          </p:cNvSpPr>
          <p:nvPr>
            <p:ph type="body" sz="quarter" idx="13"/>
          </p:nvPr>
        </p:nvSpPr>
        <p:spPr>
          <a:xfrm>
            <a:off x="766763" y="2895600"/>
            <a:ext cx="6010275" cy="3581400"/>
          </a:xfrm>
        </p:spPr>
        <p:txBody>
          <a:bodyPr/>
          <a:lstStyle>
            <a:lvl1pPr marL="355600" indent="-355600">
              <a:defRPr/>
            </a:lvl1pPr>
            <a:lvl2pPr marL="622300" indent="-266700">
              <a:defRPr/>
            </a:lvl2pPr>
            <a:lvl3pPr marL="990600" indent="-266700">
              <a:defRPr/>
            </a:lvl3pPr>
            <a:lvl4pPr marL="1524000" indent="-266700">
              <a:defRPr/>
            </a:lvl4pPr>
            <a:lvl5pPr marL="1968500" indent="-35560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63399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mp; Picture 2">
    <p:spTree>
      <p:nvGrpSpPr>
        <p:cNvPr id="1" name=""/>
        <p:cNvGrpSpPr/>
        <p:nvPr/>
      </p:nvGrpSpPr>
      <p:grpSpPr>
        <a:xfrm>
          <a:off x="0" y="0"/>
          <a:ext cx="0" cy="0"/>
          <a:chOff x="0" y="0"/>
          <a:chExt cx="0" cy="0"/>
        </a:xfrm>
      </p:grpSpPr>
      <p:sp>
        <p:nvSpPr>
          <p:cNvPr id="3" name="Rectangle 2"/>
          <p:cNvSpPr/>
          <p:nvPr userDrawn="1"/>
        </p:nvSpPr>
        <p:spPr>
          <a:xfrm>
            <a:off x="0" y="0"/>
            <a:ext cx="12191999" cy="6858000"/>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indent="-360000" algn="ctr"/>
            <a:endParaRPr lang="en-US"/>
          </a:p>
        </p:txBody>
      </p:sp>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6092942" y="800100"/>
            <a:ext cx="5305309" cy="838200"/>
          </a:xfrm>
          <a:prstGeom prst="rect">
            <a:avLst/>
          </a:prstGeom>
        </p:spPr>
        <p:txBody>
          <a:bodyPr lIns="0" tIns="0" rIns="0" bIns="0">
            <a:normAutofit/>
          </a:bodyPr>
          <a:lstStyle>
            <a:lvl1pPr indent="-360000">
              <a:defRPr sz="3600">
                <a:solidFill>
                  <a:schemeClr val="bg1"/>
                </a:solidFill>
              </a:defRPr>
            </a:lvl1pPr>
          </a:lstStyle>
          <a:p>
            <a:endParaRPr lang="en-BE" dirty="0"/>
          </a:p>
        </p:txBody>
      </p:sp>
      <p:sp>
        <p:nvSpPr>
          <p:cNvPr id="8" name="Tijdelijke aanduiding voor afbeelding 7">
            <a:extLst>
              <a:ext uri="{FF2B5EF4-FFF2-40B4-BE49-F238E27FC236}">
                <a16:creationId xmlns:a16="http://schemas.microsoft.com/office/drawing/2014/main" id="{DA1F5B52-3085-476E-BB6D-6FEB75BDE4A8}"/>
              </a:ext>
            </a:extLst>
          </p:cNvPr>
          <p:cNvSpPr>
            <a:spLocks noGrp="1"/>
          </p:cNvSpPr>
          <p:nvPr>
            <p:ph type="pic" sz="quarter" idx="11"/>
          </p:nvPr>
        </p:nvSpPr>
        <p:spPr>
          <a:xfrm>
            <a:off x="0" y="11057"/>
            <a:ext cx="5191125" cy="6858000"/>
          </a:xfrm>
          <a:prstGeom prst="rect">
            <a:avLst/>
          </a:prstGeom>
        </p:spPr>
        <p:txBody>
          <a:bodyPr anchor="ctr" anchorCtr="0"/>
          <a:lstStyle>
            <a:lvl1pPr marL="0" indent="-360000" algn="ctr">
              <a:buFontTx/>
              <a:buNone/>
              <a:defRPr/>
            </a:lvl1pPr>
          </a:lstStyle>
          <a:p>
            <a:endParaRPr lang="en-BE" dirty="0"/>
          </a:p>
        </p:txBody>
      </p:sp>
      <p:sp>
        <p:nvSpPr>
          <p:cNvPr id="4" name="Tijdelijke aanduiding voor tekst 3">
            <a:extLst>
              <a:ext uri="{FF2B5EF4-FFF2-40B4-BE49-F238E27FC236}">
                <a16:creationId xmlns:a16="http://schemas.microsoft.com/office/drawing/2014/main" id="{3EC44366-3659-4A5F-8C4F-FE4BEEF77354}"/>
              </a:ext>
            </a:extLst>
          </p:cNvPr>
          <p:cNvSpPr>
            <a:spLocks noGrp="1"/>
          </p:cNvSpPr>
          <p:nvPr>
            <p:ph type="body" sz="quarter" idx="12"/>
          </p:nvPr>
        </p:nvSpPr>
        <p:spPr>
          <a:xfrm>
            <a:off x="6096000" y="1768890"/>
            <a:ext cx="5329238" cy="847310"/>
          </a:xfrm>
          <a:prstGeom prst="rect">
            <a:avLst/>
          </a:prstGeom>
        </p:spPr>
        <p:txBody>
          <a:bodyPr lIns="0" tIns="0" rIns="0" bIns="0">
            <a:noAutofit/>
          </a:bodyPr>
          <a:lstStyle>
            <a:lvl1pPr marL="0" indent="-360000">
              <a:buFontTx/>
              <a:buNone/>
              <a:defRPr sz="2800">
                <a:solidFill>
                  <a:schemeClr val="bg1"/>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nl-NL" dirty="0"/>
          </a:p>
        </p:txBody>
      </p:sp>
      <p:sp>
        <p:nvSpPr>
          <p:cNvPr id="6" name="Content Placeholder 5"/>
          <p:cNvSpPr>
            <a:spLocks noGrp="1"/>
          </p:cNvSpPr>
          <p:nvPr>
            <p:ph sz="quarter" idx="14"/>
          </p:nvPr>
        </p:nvSpPr>
        <p:spPr>
          <a:xfrm>
            <a:off x="6096000" y="2857500"/>
            <a:ext cx="5329238" cy="3200400"/>
          </a:xfrm>
        </p:spPr>
        <p:txBody>
          <a:bodyPr wrap="square">
            <a:normAutofit/>
          </a:bodyPr>
          <a:lstStyle>
            <a:lvl1pPr marL="269875" indent="-273050">
              <a:buClr>
                <a:schemeClr val="bg1"/>
              </a:buClr>
              <a:defRPr sz="2400">
                <a:solidFill>
                  <a:schemeClr val="bg1"/>
                </a:solidFill>
              </a:defRPr>
            </a:lvl1pPr>
            <a:lvl2pPr marL="533400" indent="-269875">
              <a:buClr>
                <a:schemeClr val="bg1"/>
              </a:buClr>
              <a:defRPr>
                <a:solidFill>
                  <a:schemeClr val="bg1"/>
                </a:solidFill>
              </a:defRPr>
            </a:lvl2pPr>
            <a:lvl3pPr marL="901700" indent="-269875">
              <a:buClr>
                <a:schemeClr val="bg1"/>
              </a:buClr>
              <a:defRPr>
                <a:solidFill>
                  <a:schemeClr val="bg1"/>
                </a:solidFill>
              </a:defRPr>
            </a:lvl3pPr>
            <a:lvl4pPr marL="1168400" indent="-269875">
              <a:buClr>
                <a:schemeClr val="bg1"/>
              </a:buClr>
              <a:defRPr>
                <a:solidFill>
                  <a:schemeClr val="bg1"/>
                </a:solidFill>
              </a:defRPr>
            </a:lvl4pPr>
            <a:lvl5pPr marL="1524000" indent="-269875">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7" name="Text Placeholder 86"/>
          <p:cNvSpPr>
            <a:spLocks noGrp="1"/>
          </p:cNvSpPr>
          <p:nvPr>
            <p:ph type="body" sz="quarter" idx="15" hasCustomPrompt="1"/>
          </p:nvPr>
        </p:nvSpPr>
        <p:spPr>
          <a:xfrm>
            <a:off x="107078" y="5338327"/>
            <a:ext cx="809863" cy="1418431"/>
          </a:xfrm>
          <a:blipFill dpi="0" rotWithShape="1">
            <a:blip r:embed="rId2">
              <a:alphaModFix amt="50000"/>
            </a:blip>
            <a:srcRect/>
            <a:stretch>
              <a:fillRect/>
            </a:stretch>
          </a:blipFill>
        </p:spPr>
        <p:txBody>
          <a:bodyPr/>
          <a:lstStyle>
            <a:lvl1pPr marL="88900" indent="0">
              <a:buNone/>
              <a:defRPr baseline="0"/>
            </a:lvl1pPr>
          </a:lstStyle>
          <a:p>
            <a:pPr lvl="0"/>
            <a:r>
              <a:rPr lang="en-US"/>
              <a:t> </a:t>
            </a:r>
          </a:p>
        </p:txBody>
      </p:sp>
      <p:sp>
        <p:nvSpPr>
          <p:cNvPr id="14"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5"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04602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9" name="Tijdelijke aanduiding voor tekst 8">
            <a:extLst>
              <a:ext uri="{FF2B5EF4-FFF2-40B4-BE49-F238E27FC236}">
                <a16:creationId xmlns:a16="http://schemas.microsoft.com/office/drawing/2014/main" id="{7F4BDD94-FB2C-4502-A2BB-86CAD3E59940}"/>
              </a:ext>
            </a:extLst>
          </p:cNvPr>
          <p:cNvSpPr>
            <a:spLocks noGrp="1"/>
          </p:cNvSpPr>
          <p:nvPr>
            <p:ph type="body" sz="quarter" idx="11" hasCustomPrompt="1"/>
          </p:nvPr>
        </p:nvSpPr>
        <p:spPr>
          <a:xfrm>
            <a:off x="766763" y="2324100"/>
            <a:ext cx="10658474" cy="2197100"/>
          </a:xfrm>
          <a:prstGeom prst="rect">
            <a:avLst/>
          </a:prstGeom>
        </p:spPr>
        <p:txBody>
          <a:bodyPr lIns="1371600" tIns="0" rIns="1371600" bIns="0" anchor="ctr" anchorCtr="0">
            <a:noAutofit/>
          </a:bodyPr>
          <a:lstStyle>
            <a:lvl1pPr marL="0" indent="0" algn="ctr">
              <a:spcBef>
                <a:spcPts val="600"/>
              </a:spcBef>
              <a:buFontTx/>
              <a:buNone/>
              <a:defRPr sz="3200">
                <a:solidFill>
                  <a:schemeClr val="accent1"/>
                </a:solidFill>
                <a:latin typeface="Georgia" panose="02040502050405020303" pitchFamily="18" charset="0"/>
                <a:cs typeface="Segoe UI Semibold" panose="020B0702040204020203" pitchFamily="34" charset="0"/>
              </a:defRPr>
            </a:lvl1pPr>
          </a:lstStyle>
          <a:p>
            <a:pPr lvl="0"/>
            <a:r>
              <a:rPr lang="nl-NL"/>
              <a:t>Click to add a quote</a:t>
            </a:r>
            <a:endParaRPr lang="nl-NL" dirty="0"/>
          </a:p>
        </p:txBody>
      </p:sp>
      <p:sp>
        <p:nvSpPr>
          <p:cNvPr id="11" name="Tijdelijke aanduiding voor tekst 10">
            <a:extLst>
              <a:ext uri="{FF2B5EF4-FFF2-40B4-BE49-F238E27FC236}">
                <a16:creationId xmlns:a16="http://schemas.microsoft.com/office/drawing/2014/main" id="{0BF1D710-5F93-4654-8D54-CD40B1D335E1}"/>
              </a:ext>
            </a:extLst>
          </p:cNvPr>
          <p:cNvSpPr>
            <a:spLocks noGrp="1"/>
          </p:cNvSpPr>
          <p:nvPr>
            <p:ph type="body" sz="quarter" idx="12" hasCustomPrompt="1"/>
          </p:nvPr>
        </p:nvSpPr>
        <p:spPr>
          <a:xfrm>
            <a:off x="766763" y="4768439"/>
            <a:ext cx="10658474" cy="881063"/>
          </a:xfrm>
          <a:prstGeom prst="rect">
            <a:avLst/>
          </a:prstGeom>
        </p:spPr>
        <p:txBody>
          <a:bodyPr lIns="1828800" tIns="0" rIns="1828800" bIns="0">
            <a:normAutofit/>
          </a:bodyPr>
          <a:lstStyle>
            <a:lvl1pPr marL="0" indent="0" algn="ctr">
              <a:buFontTx/>
              <a:buNone/>
              <a:defRPr sz="2000" b="0" baseline="0">
                <a:solidFill>
                  <a:schemeClr val="accent3"/>
                </a:solidFill>
                <a:latin typeface="Segoe UI Semibold" panose="020B0702040204020203" pitchFamily="34" charset="0"/>
                <a:cs typeface="Segoe UI Semibold" panose="020B0702040204020203" pitchFamily="34" charset="0"/>
              </a:defRPr>
            </a:lvl1pPr>
          </a:lstStyle>
          <a:p>
            <a:pPr lvl="0"/>
            <a:r>
              <a:rPr lang="nl-BE"/>
              <a:t>Click to add a name</a:t>
            </a:r>
            <a:endParaRPr lang="en-BE" dirty="0"/>
          </a:p>
        </p:txBody>
      </p:sp>
      <p:grpSp>
        <p:nvGrpSpPr>
          <p:cNvPr id="2" name="Group 4"/>
          <p:cNvGrpSpPr>
            <a:grpSpLocks noChangeAspect="1"/>
          </p:cNvGrpSpPr>
          <p:nvPr userDrawn="1"/>
        </p:nvGrpSpPr>
        <p:grpSpPr bwMode="auto">
          <a:xfrm>
            <a:off x="5613400" y="1055688"/>
            <a:ext cx="965200" cy="1143000"/>
            <a:chOff x="3536" y="665"/>
            <a:chExt cx="608" cy="720"/>
          </a:xfrm>
        </p:grpSpPr>
        <p:sp>
          <p:nvSpPr>
            <p:cNvPr id="4" name="Freeform 5"/>
            <p:cNvSpPr>
              <a:spLocks/>
            </p:cNvSpPr>
            <p:nvPr userDrawn="1"/>
          </p:nvSpPr>
          <p:spPr bwMode="auto">
            <a:xfrm>
              <a:off x="3988" y="1116"/>
              <a:ext cx="43" cy="44"/>
            </a:xfrm>
            <a:custGeom>
              <a:avLst/>
              <a:gdLst>
                <a:gd name="T0" fmla="*/ 44 w 87"/>
                <a:gd name="T1" fmla="*/ 86 h 86"/>
                <a:gd name="T2" fmla="*/ 44 w 87"/>
                <a:gd name="T3" fmla="*/ 86 h 86"/>
                <a:gd name="T4" fmla="*/ 35 w 87"/>
                <a:gd name="T5" fmla="*/ 85 h 86"/>
                <a:gd name="T6" fmla="*/ 27 w 87"/>
                <a:gd name="T7" fmla="*/ 82 h 86"/>
                <a:gd name="T8" fmla="*/ 20 w 87"/>
                <a:gd name="T9" fmla="*/ 78 h 86"/>
                <a:gd name="T10" fmla="*/ 13 w 87"/>
                <a:gd name="T11" fmla="*/ 74 h 86"/>
                <a:gd name="T12" fmla="*/ 9 w 87"/>
                <a:gd name="T13" fmla="*/ 67 h 86"/>
                <a:gd name="T14" fmla="*/ 5 w 87"/>
                <a:gd name="T15" fmla="*/ 60 h 86"/>
                <a:gd name="T16" fmla="*/ 2 w 87"/>
                <a:gd name="T17" fmla="*/ 52 h 86"/>
                <a:gd name="T18" fmla="*/ 0 w 87"/>
                <a:gd name="T19" fmla="*/ 44 h 86"/>
                <a:gd name="T20" fmla="*/ 0 w 87"/>
                <a:gd name="T21" fmla="*/ 44 h 86"/>
                <a:gd name="T22" fmla="*/ 2 w 87"/>
                <a:gd name="T23" fmla="*/ 34 h 86"/>
                <a:gd name="T24" fmla="*/ 5 w 87"/>
                <a:gd name="T25" fmla="*/ 26 h 86"/>
                <a:gd name="T26" fmla="*/ 9 w 87"/>
                <a:gd name="T27" fmla="*/ 19 h 86"/>
                <a:gd name="T28" fmla="*/ 13 w 87"/>
                <a:gd name="T29" fmla="*/ 12 h 86"/>
                <a:gd name="T30" fmla="*/ 20 w 87"/>
                <a:gd name="T31" fmla="*/ 8 h 86"/>
                <a:gd name="T32" fmla="*/ 27 w 87"/>
                <a:gd name="T33" fmla="*/ 4 h 86"/>
                <a:gd name="T34" fmla="*/ 35 w 87"/>
                <a:gd name="T35" fmla="*/ 1 h 86"/>
                <a:gd name="T36" fmla="*/ 44 w 87"/>
                <a:gd name="T37" fmla="*/ 0 h 86"/>
                <a:gd name="T38" fmla="*/ 44 w 87"/>
                <a:gd name="T39" fmla="*/ 0 h 86"/>
                <a:gd name="T40" fmla="*/ 53 w 87"/>
                <a:gd name="T41" fmla="*/ 1 h 86"/>
                <a:gd name="T42" fmla="*/ 61 w 87"/>
                <a:gd name="T43" fmla="*/ 4 h 86"/>
                <a:gd name="T44" fmla="*/ 68 w 87"/>
                <a:gd name="T45" fmla="*/ 8 h 86"/>
                <a:gd name="T46" fmla="*/ 75 w 87"/>
                <a:gd name="T47" fmla="*/ 12 h 86"/>
                <a:gd name="T48" fmla="*/ 79 w 87"/>
                <a:gd name="T49" fmla="*/ 19 h 86"/>
                <a:gd name="T50" fmla="*/ 83 w 87"/>
                <a:gd name="T51" fmla="*/ 26 h 86"/>
                <a:gd name="T52" fmla="*/ 86 w 87"/>
                <a:gd name="T53" fmla="*/ 34 h 86"/>
                <a:gd name="T54" fmla="*/ 87 w 87"/>
                <a:gd name="T55" fmla="*/ 44 h 86"/>
                <a:gd name="T56" fmla="*/ 87 w 87"/>
                <a:gd name="T57" fmla="*/ 44 h 86"/>
                <a:gd name="T58" fmla="*/ 86 w 87"/>
                <a:gd name="T59" fmla="*/ 52 h 86"/>
                <a:gd name="T60" fmla="*/ 83 w 87"/>
                <a:gd name="T61" fmla="*/ 60 h 86"/>
                <a:gd name="T62" fmla="*/ 79 w 87"/>
                <a:gd name="T63" fmla="*/ 67 h 86"/>
                <a:gd name="T64" fmla="*/ 75 w 87"/>
                <a:gd name="T65" fmla="*/ 74 h 86"/>
                <a:gd name="T66" fmla="*/ 68 w 87"/>
                <a:gd name="T67" fmla="*/ 78 h 86"/>
                <a:gd name="T68" fmla="*/ 61 w 87"/>
                <a:gd name="T69" fmla="*/ 82 h 86"/>
                <a:gd name="T70" fmla="*/ 53 w 87"/>
                <a:gd name="T71" fmla="*/ 85 h 86"/>
                <a:gd name="T72" fmla="*/ 44 w 87"/>
                <a:gd name="T73" fmla="*/ 86 h 86"/>
                <a:gd name="T74" fmla="*/ 44 w 87"/>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86"/>
                  </a:moveTo>
                  <a:lnTo>
                    <a:pt x="44" y="86"/>
                  </a:lnTo>
                  <a:lnTo>
                    <a:pt x="35" y="85"/>
                  </a:lnTo>
                  <a:lnTo>
                    <a:pt x="27" y="82"/>
                  </a:lnTo>
                  <a:lnTo>
                    <a:pt x="20" y="78"/>
                  </a:lnTo>
                  <a:lnTo>
                    <a:pt x="13" y="74"/>
                  </a:lnTo>
                  <a:lnTo>
                    <a:pt x="9" y="67"/>
                  </a:lnTo>
                  <a:lnTo>
                    <a:pt x="5" y="60"/>
                  </a:lnTo>
                  <a:lnTo>
                    <a:pt x="2" y="52"/>
                  </a:lnTo>
                  <a:lnTo>
                    <a:pt x="0" y="44"/>
                  </a:lnTo>
                  <a:lnTo>
                    <a:pt x="0" y="44"/>
                  </a:lnTo>
                  <a:lnTo>
                    <a:pt x="2" y="34"/>
                  </a:lnTo>
                  <a:lnTo>
                    <a:pt x="5" y="26"/>
                  </a:lnTo>
                  <a:lnTo>
                    <a:pt x="9" y="19"/>
                  </a:lnTo>
                  <a:lnTo>
                    <a:pt x="13" y="12"/>
                  </a:lnTo>
                  <a:lnTo>
                    <a:pt x="20" y="8"/>
                  </a:lnTo>
                  <a:lnTo>
                    <a:pt x="27" y="4"/>
                  </a:lnTo>
                  <a:lnTo>
                    <a:pt x="35" y="1"/>
                  </a:lnTo>
                  <a:lnTo>
                    <a:pt x="44" y="0"/>
                  </a:lnTo>
                  <a:lnTo>
                    <a:pt x="44" y="0"/>
                  </a:lnTo>
                  <a:lnTo>
                    <a:pt x="53" y="1"/>
                  </a:lnTo>
                  <a:lnTo>
                    <a:pt x="61" y="4"/>
                  </a:lnTo>
                  <a:lnTo>
                    <a:pt x="68" y="8"/>
                  </a:lnTo>
                  <a:lnTo>
                    <a:pt x="75" y="12"/>
                  </a:lnTo>
                  <a:lnTo>
                    <a:pt x="79" y="19"/>
                  </a:lnTo>
                  <a:lnTo>
                    <a:pt x="83" y="26"/>
                  </a:lnTo>
                  <a:lnTo>
                    <a:pt x="86" y="34"/>
                  </a:lnTo>
                  <a:lnTo>
                    <a:pt x="87" y="44"/>
                  </a:lnTo>
                  <a:lnTo>
                    <a:pt x="87" y="44"/>
                  </a:lnTo>
                  <a:lnTo>
                    <a:pt x="86" y="52"/>
                  </a:lnTo>
                  <a:lnTo>
                    <a:pt x="83" y="60"/>
                  </a:lnTo>
                  <a:lnTo>
                    <a:pt x="79" y="67"/>
                  </a:lnTo>
                  <a:lnTo>
                    <a:pt x="75" y="74"/>
                  </a:lnTo>
                  <a:lnTo>
                    <a:pt x="68" y="78"/>
                  </a:lnTo>
                  <a:lnTo>
                    <a:pt x="61" y="82"/>
                  </a:lnTo>
                  <a:lnTo>
                    <a:pt x="53" y="85"/>
                  </a:lnTo>
                  <a:lnTo>
                    <a:pt x="44" y="86"/>
                  </a:lnTo>
                  <a:lnTo>
                    <a:pt x="44"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6"/>
            <p:cNvSpPr>
              <a:spLocks/>
            </p:cNvSpPr>
            <p:nvPr userDrawn="1"/>
          </p:nvSpPr>
          <p:spPr bwMode="auto">
            <a:xfrm>
              <a:off x="3931" y="1116"/>
              <a:ext cx="44" cy="44"/>
            </a:xfrm>
            <a:custGeom>
              <a:avLst/>
              <a:gdLst>
                <a:gd name="T0" fmla="*/ 43 w 87"/>
                <a:gd name="T1" fmla="*/ 86 h 86"/>
                <a:gd name="T2" fmla="*/ 43 w 87"/>
                <a:gd name="T3" fmla="*/ 86 h 86"/>
                <a:gd name="T4" fmla="*/ 35 w 87"/>
                <a:gd name="T5" fmla="*/ 85 h 86"/>
                <a:gd name="T6" fmla="*/ 27 w 87"/>
                <a:gd name="T7" fmla="*/ 82 h 86"/>
                <a:gd name="T8" fmla="*/ 20 w 87"/>
                <a:gd name="T9" fmla="*/ 78 h 86"/>
                <a:gd name="T10" fmla="*/ 13 w 87"/>
                <a:gd name="T11" fmla="*/ 74 h 86"/>
                <a:gd name="T12" fmla="*/ 9 w 87"/>
                <a:gd name="T13" fmla="*/ 67 h 86"/>
                <a:gd name="T14" fmla="*/ 5 w 87"/>
                <a:gd name="T15" fmla="*/ 60 h 86"/>
                <a:gd name="T16" fmla="*/ 2 w 87"/>
                <a:gd name="T17" fmla="*/ 52 h 86"/>
                <a:gd name="T18" fmla="*/ 0 w 87"/>
                <a:gd name="T19" fmla="*/ 44 h 86"/>
                <a:gd name="T20" fmla="*/ 0 w 87"/>
                <a:gd name="T21" fmla="*/ 44 h 86"/>
                <a:gd name="T22" fmla="*/ 2 w 87"/>
                <a:gd name="T23" fmla="*/ 34 h 86"/>
                <a:gd name="T24" fmla="*/ 5 w 87"/>
                <a:gd name="T25" fmla="*/ 26 h 86"/>
                <a:gd name="T26" fmla="*/ 9 w 87"/>
                <a:gd name="T27" fmla="*/ 19 h 86"/>
                <a:gd name="T28" fmla="*/ 13 w 87"/>
                <a:gd name="T29" fmla="*/ 12 h 86"/>
                <a:gd name="T30" fmla="*/ 20 w 87"/>
                <a:gd name="T31" fmla="*/ 8 h 86"/>
                <a:gd name="T32" fmla="*/ 27 w 87"/>
                <a:gd name="T33" fmla="*/ 4 h 86"/>
                <a:gd name="T34" fmla="*/ 35 w 87"/>
                <a:gd name="T35" fmla="*/ 1 h 86"/>
                <a:gd name="T36" fmla="*/ 43 w 87"/>
                <a:gd name="T37" fmla="*/ 0 h 86"/>
                <a:gd name="T38" fmla="*/ 43 w 87"/>
                <a:gd name="T39" fmla="*/ 0 h 86"/>
                <a:gd name="T40" fmla="*/ 53 w 87"/>
                <a:gd name="T41" fmla="*/ 1 h 86"/>
                <a:gd name="T42" fmla="*/ 61 w 87"/>
                <a:gd name="T43" fmla="*/ 4 h 86"/>
                <a:gd name="T44" fmla="*/ 68 w 87"/>
                <a:gd name="T45" fmla="*/ 8 h 86"/>
                <a:gd name="T46" fmla="*/ 73 w 87"/>
                <a:gd name="T47" fmla="*/ 12 h 86"/>
                <a:gd name="T48" fmla="*/ 79 w 87"/>
                <a:gd name="T49" fmla="*/ 19 h 86"/>
                <a:gd name="T50" fmla="*/ 83 w 87"/>
                <a:gd name="T51" fmla="*/ 26 h 86"/>
                <a:gd name="T52" fmla="*/ 86 w 87"/>
                <a:gd name="T53" fmla="*/ 34 h 86"/>
                <a:gd name="T54" fmla="*/ 87 w 87"/>
                <a:gd name="T55" fmla="*/ 44 h 86"/>
                <a:gd name="T56" fmla="*/ 87 w 87"/>
                <a:gd name="T57" fmla="*/ 44 h 86"/>
                <a:gd name="T58" fmla="*/ 86 w 87"/>
                <a:gd name="T59" fmla="*/ 52 h 86"/>
                <a:gd name="T60" fmla="*/ 83 w 87"/>
                <a:gd name="T61" fmla="*/ 60 h 86"/>
                <a:gd name="T62" fmla="*/ 79 w 87"/>
                <a:gd name="T63" fmla="*/ 67 h 86"/>
                <a:gd name="T64" fmla="*/ 73 w 87"/>
                <a:gd name="T65" fmla="*/ 74 h 86"/>
                <a:gd name="T66" fmla="*/ 68 w 87"/>
                <a:gd name="T67" fmla="*/ 78 h 86"/>
                <a:gd name="T68" fmla="*/ 61 w 87"/>
                <a:gd name="T69" fmla="*/ 82 h 86"/>
                <a:gd name="T70" fmla="*/ 53 w 87"/>
                <a:gd name="T71" fmla="*/ 85 h 86"/>
                <a:gd name="T72" fmla="*/ 43 w 87"/>
                <a:gd name="T73" fmla="*/ 86 h 86"/>
                <a:gd name="T74" fmla="*/ 43 w 87"/>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3" y="86"/>
                  </a:moveTo>
                  <a:lnTo>
                    <a:pt x="43" y="86"/>
                  </a:lnTo>
                  <a:lnTo>
                    <a:pt x="35" y="85"/>
                  </a:lnTo>
                  <a:lnTo>
                    <a:pt x="27" y="82"/>
                  </a:lnTo>
                  <a:lnTo>
                    <a:pt x="20" y="78"/>
                  </a:lnTo>
                  <a:lnTo>
                    <a:pt x="13" y="74"/>
                  </a:lnTo>
                  <a:lnTo>
                    <a:pt x="9" y="67"/>
                  </a:lnTo>
                  <a:lnTo>
                    <a:pt x="5" y="60"/>
                  </a:lnTo>
                  <a:lnTo>
                    <a:pt x="2" y="52"/>
                  </a:lnTo>
                  <a:lnTo>
                    <a:pt x="0" y="44"/>
                  </a:lnTo>
                  <a:lnTo>
                    <a:pt x="0" y="44"/>
                  </a:lnTo>
                  <a:lnTo>
                    <a:pt x="2" y="34"/>
                  </a:lnTo>
                  <a:lnTo>
                    <a:pt x="5" y="26"/>
                  </a:lnTo>
                  <a:lnTo>
                    <a:pt x="9" y="19"/>
                  </a:lnTo>
                  <a:lnTo>
                    <a:pt x="13" y="12"/>
                  </a:lnTo>
                  <a:lnTo>
                    <a:pt x="20" y="8"/>
                  </a:lnTo>
                  <a:lnTo>
                    <a:pt x="27" y="4"/>
                  </a:lnTo>
                  <a:lnTo>
                    <a:pt x="35" y="1"/>
                  </a:lnTo>
                  <a:lnTo>
                    <a:pt x="43" y="0"/>
                  </a:lnTo>
                  <a:lnTo>
                    <a:pt x="43" y="0"/>
                  </a:lnTo>
                  <a:lnTo>
                    <a:pt x="53" y="1"/>
                  </a:lnTo>
                  <a:lnTo>
                    <a:pt x="61" y="4"/>
                  </a:lnTo>
                  <a:lnTo>
                    <a:pt x="68" y="8"/>
                  </a:lnTo>
                  <a:lnTo>
                    <a:pt x="73" y="12"/>
                  </a:lnTo>
                  <a:lnTo>
                    <a:pt x="79" y="19"/>
                  </a:lnTo>
                  <a:lnTo>
                    <a:pt x="83" y="26"/>
                  </a:lnTo>
                  <a:lnTo>
                    <a:pt x="86" y="34"/>
                  </a:lnTo>
                  <a:lnTo>
                    <a:pt x="87" y="44"/>
                  </a:lnTo>
                  <a:lnTo>
                    <a:pt x="87" y="44"/>
                  </a:lnTo>
                  <a:lnTo>
                    <a:pt x="86" y="52"/>
                  </a:lnTo>
                  <a:lnTo>
                    <a:pt x="83" y="60"/>
                  </a:lnTo>
                  <a:lnTo>
                    <a:pt x="79" y="67"/>
                  </a:lnTo>
                  <a:lnTo>
                    <a:pt x="73" y="74"/>
                  </a:lnTo>
                  <a:lnTo>
                    <a:pt x="68" y="78"/>
                  </a:lnTo>
                  <a:lnTo>
                    <a:pt x="61" y="82"/>
                  </a:lnTo>
                  <a:lnTo>
                    <a:pt x="53"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7"/>
            <p:cNvSpPr>
              <a:spLocks/>
            </p:cNvSpPr>
            <p:nvPr userDrawn="1"/>
          </p:nvSpPr>
          <p:spPr bwMode="auto">
            <a:xfrm>
              <a:off x="3762" y="947"/>
              <a:ext cx="43" cy="43"/>
            </a:xfrm>
            <a:custGeom>
              <a:avLst/>
              <a:gdLst>
                <a:gd name="T0" fmla="*/ 42 w 85"/>
                <a:gd name="T1" fmla="*/ 85 h 85"/>
                <a:gd name="T2" fmla="*/ 42 w 85"/>
                <a:gd name="T3" fmla="*/ 85 h 85"/>
                <a:gd name="T4" fmla="*/ 34 w 85"/>
                <a:gd name="T5" fmla="*/ 85 h 85"/>
                <a:gd name="T6" fmla="*/ 26 w 85"/>
                <a:gd name="T7" fmla="*/ 82 h 85"/>
                <a:gd name="T8" fmla="*/ 19 w 85"/>
                <a:gd name="T9" fmla="*/ 78 h 85"/>
                <a:gd name="T10" fmla="*/ 12 w 85"/>
                <a:gd name="T11" fmla="*/ 73 h 85"/>
                <a:gd name="T12" fmla="*/ 7 w 85"/>
                <a:gd name="T13" fmla="*/ 67 h 85"/>
                <a:gd name="T14" fmla="*/ 2 w 85"/>
                <a:gd name="T15" fmla="*/ 59 h 85"/>
                <a:gd name="T16" fmla="*/ 1 w 85"/>
                <a:gd name="T17" fmla="*/ 51 h 85"/>
                <a:gd name="T18" fmla="*/ 0 w 85"/>
                <a:gd name="T19" fmla="*/ 42 h 85"/>
                <a:gd name="T20" fmla="*/ 0 w 85"/>
                <a:gd name="T21" fmla="*/ 42 h 85"/>
                <a:gd name="T22" fmla="*/ 1 w 85"/>
                <a:gd name="T23" fmla="*/ 34 h 85"/>
                <a:gd name="T24" fmla="*/ 2 w 85"/>
                <a:gd name="T25" fmla="*/ 26 h 85"/>
                <a:gd name="T26" fmla="*/ 7 w 85"/>
                <a:gd name="T27" fmla="*/ 19 h 85"/>
                <a:gd name="T28" fmla="*/ 12 w 85"/>
                <a:gd name="T29" fmla="*/ 12 h 85"/>
                <a:gd name="T30" fmla="*/ 19 w 85"/>
                <a:gd name="T31" fmla="*/ 7 h 85"/>
                <a:gd name="T32" fmla="*/ 26 w 85"/>
                <a:gd name="T33" fmla="*/ 2 h 85"/>
                <a:gd name="T34" fmla="*/ 34 w 85"/>
                <a:gd name="T35" fmla="*/ 1 h 85"/>
                <a:gd name="T36" fmla="*/ 42 w 85"/>
                <a:gd name="T37" fmla="*/ 0 h 85"/>
                <a:gd name="T38" fmla="*/ 42 w 85"/>
                <a:gd name="T39" fmla="*/ 0 h 85"/>
                <a:gd name="T40" fmla="*/ 51 w 85"/>
                <a:gd name="T41" fmla="*/ 1 h 85"/>
                <a:gd name="T42" fmla="*/ 59 w 85"/>
                <a:gd name="T43" fmla="*/ 2 h 85"/>
                <a:gd name="T44" fmla="*/ 67 w 85"/>
                <a:gd name="T45" fmla="*/ 7 h 85"/>
                <a:gd name="T46" fmla="*/ 73 w 85"/>
                <a:gd name="T47" fmla="*/ 12 h 85"/>
                <a:gd name="T48" fmla="*/ 78 w 85"/>
                <a:gd name="T49" fmla="*/ 19 h 85"/>
                <a:gd name="T50" fmla="*/ 82 w 85"/>
                <a:gd name="T51" fmla="*/ 26 h 85"/>
                <a:gd name="T52" fmla="*/ 85 w 85"/>
                <a:gd name="T53" fmla="*/ 34 h 85"/>
                <a:gd name="T54" fmla="*/ 85 w 85"/>
                <a:gd name="T55" fmla="*/ 42 h 85"/>
                <a:gd name="T56" fmla="*/ 85 w 85"/>
                <a:gd name="T57" fmla="*/ 42 h 85"/>
                <a:gd name="T58" fmla="*/ 85 w 85"/>
                <a:gd name="T59" fmla="*/ 51 h 85"/>
                <a:gd name="T60" fmla="*/ 82 w 85"/>
                <a:gd name="T61" fmla="*/ 59 h 85"/>
                <a:gd name="T62" fmla="*/ 78 w 85"/>
                <a:gd name="T63" fmla="*/ 67 h 85"/>
                <a:gd name="T64" fmla="*/ 73 w 85"/>
                <a:gd name="T65" fmla="*/ 73 h 85"/>
                <a:gd name="T66" fmla="*/ 67 w 85"/>
                <a:gd name="T67" fmla="*/ 78 h 85"/>
                <a:gd name="T68" fmla="*/ 59 w 85"/>
                <a:gd name="T69" fmla="*/ 82 h 85"/>
                <a:gd name="T70" fmla="*/ 51 w 85"/>
                <a:gd name="T71" fmla="*/ 85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5"/>
                  </a:lnTo>
                  <a:lnTo>
                    <a:pt x="26" y="82"/>
                  </a:lnTo>
                  <a:lnTo>
                    <a:pt x="19" y="78"/>
                  </a:lnTo>
                  <a:lnTo>
                    <a:pt x="12" y="73"/>
                  </a:lnTo>
                  <a:lnTo>
                    <a:pt x="7" y="67"/>
                  </a:lnTo>
                  <a:lnTo>
                    <a:pt x="2" y="59"/>
                  </a:lnTo>
                  <a:lnTo>
                    <a:pt x="1" y="51"/>
                  </a:lnTo>
                  <a:lnTo>
                    <a:pt x="0" y="42"/>
                  </a:lnTo>
                  <a:lnTo>
                    <a:pt x="0" y="42"/>
                  </a:lnTo>
                  <a:lnTo>
                    <a:pt x="1" y="34"/>
                  </a:lnTo>
                  <a:lnTo>
                    <a:pt x="2" y="26"/>
                  </a:lnTo>
                  <a:lnTo>
                    <a:pt x="7" y="19"/>
                  </a:lnTo>
                  <a:lnTo>
                    <a:pt x="12" y="12"/>
                  </a:lnTo>
                  <a:lnTo>
                    <a:pt x="19" y="7"/>
                  </a:lnTo>
                  <a:lnTo>
                    <a:pt x="26" y="2"/>
                  </a:lnTo>
                  <a:lnTo>
                    <a:pt x="34" y="1"/>
                  </a:lnTo>
                  <a:lnTo>
                    <a:pt x="42" y="0"/>
                  </a:lnTo>
                  <a:lnTo>
                    <a:pt x="42" y="0"/>
                  </a:lnTo>
                  <a:lnTo>
                    <a:pt x="51" y="1"/>
                  </a:lnTo>
                  <a:lnTo>
                    <a:pt x="59" y="2"/>
                  </a:lnTo>
                  <a:lnTo>
                    <a:pt x="67" y="7"/>
                  </a:lnTo>
                  <a:lnTo>
                    <a:pt x="73" y="12"/>
                  </a:lnTo>
                  <a:lnTo>
                    <a:pt x="78" y="19"/>
                  </a:lnTo>
                  <a:lnTo>
                    <a:pt x="82" y="26"/>
                  </a:lnTo>
                  <a:lnTo>
                    <a:pt x="85" y="34"/>
                  </a:lnTo>
                  <a:lnTo>
                    <a:pt x="85" y="42"/>
                  </a:lnTo>
                  <a:lnTo>
                    <a:pt x="85" y="42"/>
                  </a:lnTo>
                  <a:lnTo>
                    <a:pt x="85" y="51"/>
                  </a:lnTo>
                  <a:lnTo>
                    <a:pt x="82" y="59"/>
                  </a:lnTo>
                  <a:lnTo>
                    <a:pt x="78" y="67"/>
                  </a:lnTo>
                  <a:lnTo>
                    <a:pt x="73" y="73"/>
                  </a:lnTo>
                  <a:lnTo>
                    <a:pt x="67" y="78"/>
                  </a:lnTo>
                  <a:lnTo>
                    <a:pt x="59" y="82"/>
                  </a:lnTo>
                  <a:lnTo>
                    <a:pt x="51" y="85"/>
                  </a:lnTo>
                  <a:lnTo>
                    <a:pt x="42" y="85"/>
                  </a:lnTo>
                  <a:lnTo>
                    <a:pt x="42"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8"/>
            <p:cNvSpPr>
              <a:spLocks/>
            </p:cNvSpPr>
            <p:nvPr userDrawn="1"/>
          </p:nvSpPr>
          <p:spPr bwMode="auto">
            <a:xfrm>
              <a:off x="3762" y="1004"/>
              <a:ext cx="43" cy="42"/>
            </a:xfrm>
            <a:custGeom>
              <a:avLst/>
              <a:gdLst>
                <a:gd name="T0" fmla="*/ 42 w 85"/>
                <a:gd name="T1" fmla="*/ 86 h 86"/>
                <a:gd name="T2" fmla="*/ 42 w 85"/>
                <a:gd name="T3" fmla="*/ 86 h 86"/>
                <a:gd name="T4" fmla="*/ 34 w 85"/>
                <a:gd name="T5" fmla="*/ 86 h 86"/>
                <a:gd name="T6" fmla="*/ 26 w 85"/>
                <a:gd name="T7" fmla="*/ 83 h 86"/>
                <a:gd name="T8" fmla="*/ 19 w 85"/>
                <a:gd name="T9" fmla="*/ 79 h 86"/>
                <a:gd name="T10" fmla="*/ 12 w 85"/>
                <a:gd name="T11" fmla="*/ 73 h 86"/>
                <a:gd name="T12" fmla="*/ 7 w 85"/>
                <a:gd name="T13" fmla="*/ 68 h 86"/>
                <a:gd name="T14" fmla="*/ 2 w 85"/>
                <a:gd name="T15" fmla="*/ 59 h 86"/>
                <a:gd name="T16" fmla="*/ 1 w 85"/>
                <a:gd name="T17" fmla="*/ 53 h 86"/>
                <a:gd name="T18" fmla="*/ 0 w 85"/>
                <a:gd name="T19" fmla="*/ 43 h 86"/>
                <a:gd name="T20" fmla="*/ 0 w 85"/>
                <a:gd name="T21" fmla="*/ 43 h 86"/>
                <a:gd name="T22" fmla="*/ 1 w 85"/>
                <a:gd name="T23" fmla="*/ 35 h 86"/>
                <a:gd name="T24" fmla="*/ 2 w 85"/>
                <a:gd name="T25" fmla="*/ 27 h 86"/>
                <a:gd name="T26" fmla="*/ 7 w 85"/>
                <a:gd name="T27" fmla="*/ 20 h 86"/>
                <a:gd name="T28" fmla="*/ 12 w 85"/>
                <a:gd name="T29" fmla="*/ 13 h 86"/>
                <a:gd name="T30" fmla="*/ 19 w 85"/>
                <a:gd name="T31" fmla="*/ 7 h 86"/>
                <a:gd name="T32" fmla="*/ 26 w 85"/>
                <a:gd name="T33" fmla="*/ 5 h 86"/>
                <a:gd name="T34" fmla="*/ 34 w 85"/>
                <a:gd name="T35" fmla="*/ 2 h 86"/>
                <a:gd name="T36" fmla="*/ 42 w 85"/>
                <a:gd name="T37" fmla="*/ 0 h 86"/>
                <a:gd name="T38" fmla="*/ 42 w 85"/>
                <a:gd name="T39" fmla="*/ 0 h 86"/>
                <a:gd name="T40" fmla="*/ 51 w 85"/>
                <a:gd name="T41" fmla="*/ 2 h 86"/>
                <a:gd name="T42" fmla="*/ 59 w 85"/>
                <a:gd name="T43" fmla="*/ 5 h 86"/>
                <a:gd name="T44" fmla="*/ 67 w 85"/>
                <a:gd name="T45" fmla="*/ 7 h 86"/>
                <a:gd name="T46" fmla="*/ 73 w 85"/>
                <a:gd name="T47" fmla="*/ 13 h 86"/>
                <a:gd name="T48" fmla="*/ 78 w 85"/>
                <a:gd name="T49" fmla="*/ 20 h 86"/>
                <a:gd name="T50" fmla="*/ 82 w 85"/>
                <a:gd name="T51" fmla="*/ 27 h 86"/>
                <a:gd name="T52" fmla="*/ 85 w 85"/>
                <a:gd name="T53" fmla="*/ 35 h 86"/>
                <a:gd name="T54" fmla="*/ 85 w 85"/>
                <a:gd name="T55" fmla="*/ 43 h 86"/>
                <a:gd name="T56" fmla="*/ 85 w 85"/>
                <a:gd name="T57" fmla="*/ 43 h 86"/>
                <a:gd name="T58" fmla="*/ 85 w 85"/>
                <a:gd name="T59" fmla="*/ 53 h 86"/>
                <a:gd name="T60" fmla="*/ 82 w 85"/>
                <a:gd name="T61" fmla="*/ 59 h 86"/>
                <a:gd name="T62" fmla="*/ 78 w 85"/>
                <a:gd name="T63" fmla="*/ 68 h 86"/>
                <a:gd name="T64" fmla="*/ 73 w 85"/>
                <a:gd name="T65" fmla="*/ 73 h 86"/>
                <a:gd name="T66" fmla="*/ 67 w 85"/>
                <a:gd name="T67" fmla="*/ 79 h 86"/>
                <a:gd name="T68" fmla="*/ 59 w 85"/>
                <a:gd name="T69" fmla="*/ 83 h 86"/>
                <a:gd name="T70" fmla="*/ 51 w 85"/>
                <a:gd name="T71" fmla="*/ 86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6"/>
                  </a:lnTo>
                  <a:lnTo>
                    <a:pt x="26" y="83"/>
                  </a:lnTo>
                  <a:lnTo>
                    <a:pt x="19" y="79"/>
                  </a:lnTo>
                  <a:lnTo>
                    <a:pt x="12" y="73"/>
                  </a:lnTo>
                  <a:lnTo>
                    <a:pt x="7" y="68"/>
                  </a:lnTo>
                  <a:lnTo>
                    <a:pt x="2" y="59"/>
                  </a:lnTo>
                  <a:lnTo>
                    <a:pt x="1" y="53"/>
                  </a:lnTo>
                  <a:lnTo>
                    <a:pt x="0" y="43"/>
                  </a:lnTo>
                  <a:lnTo>
                    <a:pt x="0" y="43"/>
                  </a:lnTo>
                  <a:lnTo>
                    <a:pt x="1" y="35"/>
                  </a:lnTo>
                  <a:lnTo>
                    <a:pt x="2" y="27"/>
                  </a:lnTo>
                  <a:lnTo>
                    <a:pt x="7" y="20"/>
                  </a:lnTo>
                  <a:lnTo>
                    <a:pt x="12" y="13"/>
                  </a:lnTo>
                  <a:lnTo>
                    <a:pt x="19" y="7"/>
                  </a:lnTo>
                  <a:lnTo>
                    <a:pt x="26" y="5"/>
                  </a:lnTo>
                  <a:lnTo>
                    <a:pt x="34" y="2"/>
                  </a:lnTo>
                  <a:lnTo>
                    <a:pt x="42" y="0"/>
                  </a:lnTo>
                  <a:lnTo>
                    <a:pt x="42" y="0"/>
                  </a:lnTo>
                  <a:lnTo>
                    <a:pt x="51" y="2"/>
                  </a:lnTo>
                  <a:lnTo>
                    <a:pt x="59" y="5"/>
                  </a:lnTo>
                  <a:lnTo>
                    <a:pt x="67" y="7"/>
                  </a:lnTo>
                  <a:lnTo>
                    <a:pt x="73" y="13"/>
                  </a:lnTo>
                  <a:lnTo>
                    <a:pt x="78" y="20"/>
                  </a:lnTo>
                  <a:lnTo>
                    <a:pt x="82" y="27"/>
                  </a:lnTo>
                  <a:lnTo>
                    <a:pt x="85" y="35"/>
                  </a:lnTo>
                  <a:lnTo>
                    <a:pt x="85" y="43"/>
                  </a:lnTo>
                  <a:lnTo>
                    <a:pt x="85" y="43"/>
                  </a:lnTo>
                  <a:lnTo>
                    <a:pt x="85" y="53"/>
                  </a:lnTo>
                  <a:lnTo>
                    <a:pt x="82" y="59"/>
                  </a:lnTo>
                  <a:lnTo>
                    <a:pt x="78" y="68"/>
                  </a:lnTo>
                  <a:lnTo>
                    <a:pt x="73" y="73"/>
                  </a:lnTo>
                  <a:lnTo>
                    <a:pt x="67" y="79"/>
                  </a:lnTo>
                  <a:lnTo>
                    <a:pt x="59" y="83"/>
                  </a:lnTo>
                  <a:lnTo>
                    <a:pt x="51" y="86"/>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9"/>
            <p:cNvSpPr>
              <a:spLocks/>
            </p:cNvSpPr>
            <p:nvPr userDrawn="1"/>
          </p:nvSpPr>
          <p:spPr bwMode="auto">
            <a:xfrm>
              <a:off x="3762" y="1060"/>
              <a:ext cx="43" cy="43"/>
            </a:xfrm>
            <a:custGeom>
              <a:avLst/>
              <a:gdLst>
                <a:gd name="T0" fmla="*/ 42 w 85"/>
                <a:gd name="T1" fmla="*/ 87 h 87"/>
                <a:gd name="T2" fmla="*/ 42 w 85"/>
                <a:gd name="T3" fmla="*/ 87 h 87"/>
                <a:gd name="T4" fmla="*/ 34 w 85"/>
                <a:gd name="T5" fmla="*/ 85 h 87"/>
                <a:gd name="T6" fmla="*/ 26 w 85"/>
                <a:gd name="T7" fmla="*/ 83 h 87"/>
                <a:gd name="T8" fmla="*/ 19 w 85"/>
                <a:gd name="T9" fmla="*/ 78 h 87"/>
                <a:gd name="T10" fmla="*/ 12 w 85"/>
                <a:gd name="T11" fmla="*/ 73 h 87"/>
                <a:gd name="T12" fmla="*/ 7 w 85"/>
                <a:gd name="T13" fmla="*/ 67 h 87"/>
                <a:gd name="T14" fmla="*/ 2 w 85"/>
                <a:gd name="T15" fmla="*/ 61 h 87"/>
                <a:gd name="T16" fmla="*/ 1 w 85"/>
                <a:gd name="T17" fmla="*/ 52 h 87"/>
                <a:gd name="T18" fmla="*/ 0 w 85"/>
                <a:gd name="T19" fmla="*/ 43 h 87"/>
                <a:gd name="T20" fmla="*/ 0 w 85"/>
                <a:gd name="T21" fmla="*/ 43 h 87"/>
                <a:gd name="T22" fmla="*/ 1 w 85"/>
                <a:gd name="T23" fmla="*/ 34 h 87"/>
                <a:gd name="T24" fmla="*/ 2 w 85"/>
                <a:gd name="T25" fmla="*/ 26 h 87"/>
                <a:gd name="T26" fmla="*/ 7 w 85"/>
                <a:gd name="T27" fmla="*/ 19 h 87"/>
                <a:gd name="T28" fmla="*/ 12 w 85"/>
                <a:gd name="T29" fmla="*/ 12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7 w 85"/>
                <a:gd name="T45" fmla="*/ 8 h 87"/>
                <a:gd name="T46" fmla="*/ 73 w 85"/>
                <a:gd name="T47" fmla="*/ 12 h 87"/>
                <a:gd name="T48" fmla="*/ 78 w 85"/>
                <a:gd name="T49" fmla="*/ 19 h 87"/>
                <a:gd name="T50" fmla="*/ 82 w 85"/>
                <a:gd name="T51" fmla="*/ 26 h 87"/>
                <a:gd name="T52" fmla="*/ 85 w 85"/>
                <a:gd name="T53" fmla="*/ 34 h 87"/>
                <a:gd name="T54" fmla="*/ 85 w 85"/>
                <a:gd name="T55" fmla="*/ 43 h 87"/>
                <a:gd name="T56" fmla="*/ 85 w 85"/>
                <a:gd name="T57" fmla="*/ 43 h 87"/>
                <a:gd name="T58" fmla="*/ 85 w 85"/>
                <a:gd name="T59" fmla="*/ 52 h 87"/>
                <a:gd name="T60" fmla="*/ 82 w 85"/>
                <a:gd name="T61" fmla="*/ 61 h 87"/>
                <a:gd name="T62" fmla="*/ 78 w 85"/>
                <a:gd name="T63" fmla="*/ 67 h 87"/>
                <a:gd name="T64" fmla="*/ 73 w 85"/>
                <a:gd name="T65" fmla="*/ 73 h 87"/>
                <a:gd name="T66" fmla="*/ 67 w 85"/>
                <a:gd name="T67" fmla="*/ 78 h 87"/>
                <a:gd name="T68" fmla="*/ 59 w 85"/>
                <a:gd name="T69" fmla="*/ 83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3"/>
                  </a:lnTo>
                  <a:lnTo>
                    <a:pt x="19" y="78"/>
                  </a:lnTo>
                  <a:lnTo>
                    <a:pt x="12" y="73"/>
                  </a:lnTo>
                  <a:lnTo>
                    <a:pt x="7" y="67"/>
                  </a:lnTo>
                  <a:lnTo>
                    <a:pt x="2" y="61"/>
                  </a:lnTo>
                  <a:lnTo>
                    <a:pt x="1" y="52"/>
                  </a:lnTo>
                  <a:lnTo>
                    <a:pt x="0" y="43"/>
                  </a:lnTo>
                  <a:lnTo>
                    <a:pt x="0" y="43"/>
                  </a:lnTo>
                  <a:lnTo>
                    <a:pt x="1" y="34"/>
                  </a:lnTo>
                  <a:lnTo>
                    <a:pt x="2" y="26"/>
                  </a:lnTo>
                  <a:lnTo>
                    <a:pt x="7" y="19"/>
                  </a:lnTo>
                  <a:lnTo>
                    <a:pt x="12" y="12"/>
                  </a:lnTo>
                  <a:lnTo>
                    <a:pt x="19" y="8"/>
                  </a:lnTo>
                  <a:lnTo>
                    <a:pt x="26" y="4"/>
                  </a:lnTo>
                  <a:lnTo>
                    <a:pt x="34" y="1"/>
                  </a:lnTo>
                  <a:lnTo>
                    <a:pt x="42" y="0"/>
                  </a:lnTo>
                  <a:lnTo>
                    <a:pt x="42" y="0"/>
                  </a:lnTo>
                  <a:lnTo>
                    <a:pt x="51" y="1"/>
                  </a:lnTo>
                  <a:lnTo>
                    <a:pt x="59" y="4"/>
                  </a:lnTo>
                  <a:lnTo>
                    <a:pt x="67" y="8"/>
                  </a:lnTo>
                  <a:lnTo>
                    <a:pt x="73" y="12"/>
                  </a:lnTo>
                  <a:lnTo>
                    <a:pt x="78" y="19"/>
                  </a:lnTo>
                  <a:lnTo>
                    <a:pt x="82" y="26"/>
                  </a:lnTo>
                  <a:lnTo>
                    <a:pt x="85" y="34"/>
                  </a:lnTo>
                  <a:lnTo>
                    <a:pt x="85" y="43"/>
                  </a:lnTo>
                  <a:lnTo>
                    <a:pt x="85" y="43"/>
                  </a:lnTo>
                  <a:lnTo>
                    <a:pt x="85" y="52"/>
                  </a:lnTo>
                  <a:lnTo>
                    <a:pt x="82" y="61"/>
                  </a:lnTo>
                  <a:lnTo>
                    <a:pt x="78" y="67"/>
                  </a:lnTo>
                  <a:lnTo>
                    <a:pt x="73" y="73"/>
                  </a:lnTo>
                  <a:lnTo>
                    <a:pt x="67" y="78"/>
                  </a:lnTo>
                  <a:lnTo>
                    <a:pt x="59" y="83"/>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0"/>
            <p:cNvSpPr>
              <a:spLocks/>
            </p:cNvSpPr>
            <p:nvPr userDrawn="1"/>
          </p:nvSpPr>
          <p:spPr bwMode="auto">
            <a:xfrm>
              <a:off x="3705" y="665"/>
              <a:ext cx="43" cy="43"/>
            </a:xfrm>
            <a:custGeom>
              <a:avLst/>
              <a:gdLst>
                <a:gd name="T0" fmla="*/ 42 w 85"/>
                <a:gd name="T1" fmla="*/ 87 h 87"/>
                <a:gd name="T2" fmla="*/ 42 w 85"/>
                <a:gd name="T3" fmla="*/ 87 h 87"/>
                <a:gd name="T4" fmla="*/ 34 w 85"/>
                <a:gd name="T5" fmla="*/ 85 h 87"/>
                <a:gd name="T6" fmla="*/ 26 w 85"/>
                <a:gd name="T7" fmla="*/ 82 h 87"/>
                <a:gd name="T8" fmla="*/ 19 w 85"/>
                <a:gd name="T9" fmla="*/ 80 h 87"/>
                <a:gd name="T10" fmla="*/ 12 w 85"/>
                <a:gd name="T11" fmla="*/ 74 h 87"/>
                <a:gd name="T12" fmla="*/ 7 w 85"/>
                <a:gd name="T13" fmla="*/ 67 h 87"/>
                <a:gd name="T14" fmla="*/ 3 w 85"/>
                <a:gd name="T15" fmla="*/ 60 h 87"/>
                <a:gd name="T16" fmla="*/ 0 w 85"/>
                <a:gd name="T17" fmla="*/ 52 h 87"/>
                <a:gd name="T18" fmla="*/ 0 w 85"/>
                <a:gd name="T19" fmla="*/ 44 h 87"/>
                <a:gd name="T20" fmla="*/ 0 w 85"/>
                <a:gd name="T21" fmla="*/ 44 h 87"/>
                <a:gd name="T22" fmla="*/ 0 w 85"/>
                <a:gd name="T23" fmla="*/ 34 h 87"/>
                <a:gd name="T24" fmla="*/ 3 w 85"/>
                <a:gd name="T25" fmla="*/ 27 h 87"/>
                <a:gd name="T26" fmla="*/ 7 w 85"/>
                <a:gd name="T27" fmla="*/ 19 h 87"/>
                <a:gd name="T28" fmla="*/ 12 w 85"/>
                <a:gd name="T29" fmla="*/ 14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6 w 85"/>
                <a:gd name="T45" fmla="*/ 8 h 87"/>
                <a:gd name="T46" fmla="*/ 73 w 85"/>
                <a:gd name="T47" fmla="*/ 14 h 87"/>
                <a:gd name="T48" fmla="*/ 78 w 85"/>
                <a:gd name="T49" fmla="*/ 19 h 87"/>
                <a:gd name="T50" fmla="*/ 82 w 85"/>
                <a:gd name="T51" fmla="*/ 27 h 87"/>
                <a:gd name="T52" fmla="*/ 85 w 85"/>
                <a:gd name="T53" fmla="*/ 34 h 87"/>
                <a:gd name="T54" fmla="*/ 85 w 85"/>
                <a:gd name="T55" fmla="*/ 44 h 87"/>
                <a:gd name="T56" fmla="*/ 85 w 85"/>
                <a:gd name="T57" fmla="*/ 44 h 87"/>
                <a:gd name="T58" fmla="*/ 85 w 85"/>
                <a:gd name="T59" fmla="*/ 52 h 87"/>
                <a:gd name="T60" fmla="*/ 82 w 85"/>
                <a:gd name="T61" fmla="*/ 60 h 87"/>
                <a:gd name="T62" fmla="*/ 78 w 85"/>
                <a:gd name="T63" fmla="*/ 67 h 87"/>
                <a:gd name="T64" fmla="*/ 73 w 85"/>
                <a:gd name="T65" fmla="*/ 74 h 87"/>
                <a:gd name="T66" fmla="*/ 66 w 85"/>
                <a:gd name="T67" fmla="*/ 80 h 87"/>
                <a:gd name="T68" fmla="*/ 59 w 85"/>
                <a:gd name="T69" fmla="*/ 82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2"/>
                  </a:lnTo>
                  <a:lnTo>
                    <a:pt x="19" y="80"/>
                  </a:lnTo>
                  <a:lnTo>
                    <a:pt x="12" y="74"/>
                  </a:lnTo>
                  <a:lnTo>
                    <a:pt x="7" y="67"/>
                  </a:lnTo>
                  <a:lnTo>
                    <a:pt x="3" y="60"/>
                  </a:lnTo>
                  <a:lnTo>
                    <a:pt x="0" y="52"/>
                  </a:lnTo>
                  <a:lnTo>
                    <a:pt x="0" y="44"/>
                  </a:lnTo>
                  <a:lnTo>
                    <a:pt x="0" y="44"/>
                  </a:lnTo>
                  <a:lnTo>
                    <a:pt x="0" y="34"/>
                  </a:lnTo>
                  <a:lnTo>
                    <a:pt x="3" y="27"/>
                  </a:lnTo>
                  <a:lnTo>
                    <a:pt x="7" y="19"/>
                  </a:lnTo>
                  <a:lnTo>
                    <a:pt x="12" y="14"/>
                  </a:lnTo>
                  <a:lnTo>
                    <a:pt x="19" y="8"/>
                  </a:lnTo>
                  <a:lnTo>
                    <a:pt x="26" y="4"/>
                  </a:lnTo>
                  <a:lnTo>
                    <a:pt x="34" y="1"/>
                  </a:lnTo>
                  <a:lnTo>
                    <a:pt x="42" y="0"/>
                  </a:lnTo>
                  <a:lnTo>
                    <a:pt x="42" y="0"/>
                  </a:lnTo>
                  <a:lnTo>
                    <a:pt x="51" y="1"/>
                  </a:lnTo>
                  <a:lnTo>
                    <a:pt x="59" y="4"/>
                  </a:lnTo>
                  <a:lnTo>
                    <a:pt x="66" y="8"/>
                  </a:lnTo>
                  <a:lnTo>
                    <a:pt x="73" y="14"/>
                  </a:lnTo>
                  <a:lnTo>
                    <a:pt x="78" y="19"/>
                  </a:lnTo>
                  <a:lnTo>
                    <a:pt x="82" y="27"/>
                  </a:lnTo>
                  <a:lnTo>
                    <a:pt x="85" y="34"/>
                  </a:lnTo>
                  <a:lnTo>
                    <a:pt x="85" y="44"/>
                  </a:lnTo>
                  <a:lnTo>
                    <a:pt x="85" y="44"/>
                  </a:lnTo>
                  <a:lnTo>
                    <a:pt x="85" y="52"/>
                  </a:lnTo>
                  <a:lnTo>
                    <a:pt x="82" y="60"/>
                  </a:lnTo>
                  <a:lnTo>
                    <a:pt x="78" y="67"/>
                  </a:lnTo>
                  <a:lnTo>
                    <a:pt x="73" y="74"/>
                  </a:lnTo>
                  <a:lnTo>
                    <a:pt x="66" y="80"/>
                  </a:lnTo>
                  <a:lnTo>
                    <a:pt x="59" y="82"/>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1"/>
            <p:cNvSpPr>
              <a:spLocks/>
            </p:cNvSpPr>
            <p:nvPr userDrawn="1"/>
          </p:nvSpPr>
          <p:spPr bwMode="auto">
            <a:xfrm>
              <a:off x="3705" y="891"/>
              <a:ext cx="43" cy="43"/>
            </a:xfrm>
            <a:custGeom>
              <a:avLst/>
              <a:gdLst>
                <a:gd name="T0" fmla="*/ 42 w 85"/>
                <a:gd name="T1" fmla="*/ 85 h 85"/>
                <a:gd name="T2" fmla="*/ 42 w 85"/>
                <a:gd name="T3" fmla="*/ 85 h 85"/>
                <a:gd name="T4" fmla="*/ 34 w 85"/>
                <a:gd name="T5" fmla="*/ 85 h 85"/>
                <a:gd name="T6" fmla="*/ 26 w 85"/>
                <a:gd name="T7" fmla="*/ 83 h 85"/>
                <a:gd name="T8" fmla="*/ 19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9 w 85"/>
                <a:gd name="T31" fmla="*/ 7 h 85"/>
                <a:gd name="T32" fmla="*/ 26 w 85"/>
                <a:gd name="T33" fmla="*/ 3 h 85"/>
                <a:gd name="T34" fmla="*/ 34 w 85"/>
                <a:gd name="T35" fmla="*/ 1 h 85"/>
                <a:gd name="T36" fmla="*/ 42 w 85"/>
                <a:gd name="T37" fmla="*/ 0 h 85"/>
                <a:gd name="T38" fmla="*/ 42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2 w 85"/>
                <a:gd name="T51" fmla="*/ 26 h 85"/>
                <a:gd name="T52" fmla="*/ 85 w 85"/>
                <a:gd name="T53" fmla="*/ 34 h 85"/>
                <a:gd name="T54" fmla="*/ 85 w 85"/>
                <a:gd name="T55" fmla="*/ 43 h 85"/>
                <a:gd name="T56" fmla="*/ 85 w 85"/>
                <a:gd name="T57" fmla="*/ 43 h 85"/>
                <a:gd name="T58" fmla="*/ 85 w 85"/>
                <a:gd name="T59" fmla="*/ 51 h 85"/>
                <a:gd name="T60" fmla="*/ 82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5"/>
                  </a:lnTo>
                  <a:lnTo>
                    <a:pt x="26" y="83"/>
                  </a:lnTo>
                  <a:lnTo>
                    <a:pt x="19" y="78"/>
                  </a:lnTo>
                  <a:lnTo>
                    <a:pt x="12" y="73"/>
                  </a:lnTo>
                  <a:lnTo>
                    <a:pt x="7" y="67"/>
                  </a:lnTo>
                  <a:lnTo>
                    <a:pt x="3" y="59"/>
                  </a:lnTo>
                  <a:lnTo>
                    <a:pt x="0" y="51"/>
                  </a:lnTo>
                  <a:lnTo>
                    <a:pt x="0" y="43"/>
                  </a:lnTo>
                  <a:lnTo>
                    <a:pt x="0" y="43"/>
                  </a:lnTo>
                  <a:lnTo>
                    <a:pt x="0" y="34"/>
                  </a:lnTo>
                  <a:lnTo>
                    <a:pt x="3" y="26"/>
                  </a:lnTo>
                  <a:lnTo>
                    <a:pt x="7" y="19"/>
                  </a:lnTo>
                  <a:lnTo>
                    <a:pt x="12" y="12"/>
                  </a:lnTo>
                  <a:lnTo>
                    <a:pt x="19" y="7"/>
                  </a:lnTo>
                  <a:lnTo>
                    <a:pt x="26" y="3"/>
                  </a:lnTo>
                  <a:lnTo>
                    <a:pt x="34" y="1"/>
                  </a:lnTo>
                  <a:lnTo>
                    <a:pt x="42" y="0"/>
                  </a:lnTo>
                  <a:lnTo>
                    <a:pt x="42" y="0"/>
                  </a:lnTo>
                  <a:lnTo>
                    <a:pt x="51" y="1"/>
                  </a:lnTo>
                  <a:lnTo>
                    <a:pt x="59" y="3"/>
                  </a:lnTo>
                  <a:lnTo>
                    <a:pt x="66" y="7"/>
                  </a:lnTo>
                  <a:lnTo>
                    <a:pt x="73" y="12"/>
                  </a:lnTo>
                  <a:lnTo>
                    <a:pt x="78" y="19"/>
                  </a:lnTo>
                  <a:lnTo>
                    <a:pt x="82" y="26"/>
                  </a:lnTo>
                  <a:lnTo>
                    <a:pt x="85" y="34"/>
                  </a:lnTo>
                  <a:lnTo>
                    <a:pt x="85" y="43"/>
                  </a:lnTo>
                  <a:lnTo>
                    <a:pt x="85" y="43"/>
                  </a:lnTo>
                  <a:lnTo>
                    <a:pt x="85" y="51"/>
                  </a:lnTo>
                  <a:lnTo>
                    <a:pt x="82" y="59"/>
                  </a:lnTo>
                  <a:lnTo>
                    <a:pt x="78" y="67"/>
                  </a:lnTo>
                  <a:lnTo>
                    <a:pt x="73" y="73"/>
                  </a:lnTo>
                  <a:lnTo>
                    <a:pt x="66" y="78"/>
                  </a:lnTo>
                  <a:lnTo>
                    <a:pt x="59" y="83"/>
                  </a:lnTo>
                  <a:lnTo>
                    <a:pt x="51" y="85"/>
                  </a:lnTo>
                  <a:lnTo>
                    <a:pt x="42" y="85"/>
                  </a:lnTo>
                  <a:lnTo>
                    <a:pt x="42"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2"/>
            <p:cNvSpPr>
              <a:spLocks/>
            </p:cNvSpPr>
            <p:nvPr userDrawn="1"/>
          </p:nvSpPr>
          <p:spPr bwMode="auto">
            <a:xfrm>
              <a:off x="3705" y="947"/>
              <a:ext cx="43" cy="43"/>
            </a:xfrm>
            <a:custGeom>
              <a:avLst/>
              <a:gdLst>
                <a:gd name="T0" fmla="*/ 42 w 85"/>
                <a:gd name="T1" fmla="*/ 85 h 85"/>
                <a:gd name="T2" fmla="*/ 42 w 85"/>
                <a:gd name="T3" fmla="*/ 85 h 85"/>
                <a:gd name="T4" fmla="*/ 34 w 85"/>
                <a:gd name="T5" fmla="*/ 85 h 85"/>
                <a:gd name="T6" fmla="*/ 26 w 85"/>
                <a:gd name="T7" fmla="*/ 82 h 85"/>
                <a:gd name="T8" fmla="*/ 19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9 w 85"/>
                <a:gd name="T31" fmla="*/ 7 h 85"/>
                <a:gd name="T32" fmla="*/ 26 w 85"/>
                <a:gd name="T33" fmla="*/ 2 h 85"/>
                <a:gd name="T34" fmla="*/ 34 w 85"/>
                <a:gd name="T35" fmla="*/ 1 h 85"/>
                <a:gd name="T36" fmla="*/ 42 w 85"/>
                <a:gd name="T37" fmla="*/ 0 h 85"/>
                <a:gd name="T38" fmla="*/ 42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2 w 85"/>
                <a:gd name="T51" fmla="*/ 26 h 85"/>
                <a:gd name="T52" fmla="*/ 85 w 85"/>
                <a:gd name="T53" fmla="*/ 34 h 85"/>
                <a:gd name="T54" fmla="*/ 85 w 85"/>
                <a:gd name="T55" fmla="*/ 42 h 85"/>
                <a:gd name="T56" fmla="*/ 85 w 85"/>
                <a:gd name="T57" fmla="*/ 42 h 85"/>
                <a:gd name="T58" fmla="*/ 85 w 85"/>
                <a:gd name="T59" fmla="*/ 51 h 85"/>
                <a:gd name="T60" fmla="*/ 82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5"/>
                  </a:lnTo>
                  <a:lnTo>
                    <a:pt x="26" y="82"/>
                  </a:lnTo>
                  <a:lnTo>
                    <a:pt x="19" y="78"/>
                  </a:lnTo>
                  <a:lnTo>
                    <a:pt x="12" y="73"/>
                  </a:lnTo>
                  <a:lnTo>
                    <a:pt x="7" y="67"/>
                  </a:lnTo>
                  <a:lnTo>
                    <a:pt x="3" y="59"/>
                  </a:lnTo>
                  <a:lnTo>
                    <a:pt x="0" y="51"/>
                  </a:lnTo>
                  <a:lnTo>
                    <a:pt x="0" y="42"/>
                  </a:lnTo>
                  <a:lnTo>
                    <a:pt x="0" y="42"/>
                  </a:lnTo>
                  <a:lnTo>
                    <a:pt x="0" y="34"/>
                  </a:lnTo>
                  <a:lnTo>
                    <a:pt x="3" y="26"/>
                  </a:lnTo>
                  <a:lnTo>
                    <a:pt x="7" y="19"/>
                  </a:lnTo>
                  <a:lnTo>
                    <a:pt x="12" y="12"/>
                  </a:lnTo>
                  <a:lnTo>
                    <a:pt x="19" y="7"/>
                  </a:lnTo>
                  <a:lnTo>
                    <a:pt x="26" y="2"/>
                  </a:lnTo>
                  <a:lnTo>
                    <a:pt x="34" y="1"/>
                  </a:lnTo>
                  <a:lnTo>
                    <a:pt x="42" y="0"/>
                  </a:lnTo>
                  <a:lnTo>
                    <a:pt x="42" y="0"/>
                  </a:lnTo>
                  <a:lnTo>
                    <a:pt x="51" y="1"/>
                  </a:lnTo>
                  <a:lnTo>
                    <a:pt x="59" y="2"/>
                  </a:lnTo>
                  <a:lnTo>
                    <a:pt x="66" y="7"/>
                  </a:lnTo>
                  <a:lnTo>
                    <a:pt x="73" y="12"/>
                  </a:lnTo>
                  <a:lnTo>
                    <a:pt x="78" y="19"/>
                  </a:lnTo>
                  <a:lnTo>
                    <a:pt x="82" y="26"/>
                  </a:lnTo>
                  <a:lnTo>
                    <a:pt x="85" y="34"/>
                  </a:lnTo>
                  <a:lnTo>
                    <a:pt x="85" y="42"/>
                  </a:lnTo>
                  <a:lnTo>
                    <a:pt x="85" y="42"/>
                  </a:lnTo>
                  <a:lnTo>
                    <a:pt x="85" y="51"/>
                  </a:lnTo>
                  <a:lnTo>
                    <a:pt x="82" y="59"/>
                  </a:lnTo>
                  <a:lnTo>
                    <a:pt x="78" y="67"/>
                  </a:lnTo>
                  <a:lnTo>
                    <a:pt x="73" y="73"/>
                  </a:lnTo>
                  <a:lnTo>
                    <a:pt x="66" y="78"/>
                  </a:lnTo>
                  <a:lnTo>
                    <a:pt x="59" y="82"/>
                  </a:lnTo>
                  <a:lnTo>
                    <a:pt x="51" y="85"/>
                  </a:lnTo>
                  <a:lnTo>
                    <a:pt x="42" y="85"/>
                  </a:lnTo>
                  <a:lnTo>
                    <a:pt x="42"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3"/>
            <p:cNvSpPr>
              <a:spLocks/>
            </p:cNvSpPr>
            <p:nvPr userDrawn="1"/>
          </p:nvSpPr>
          <p:spPr bwMode="auto">
            <a:xfrm>
              <a:off x="3705" y="1004"/>
              <a:ext cx="43" cy="42"/>
            </a:xfrm>
            <a:custGeom>
              <a:avLst/>
              <a:gdLst>
                <a:gd name="T0" fmla="*/ 42 w 85"/>
                <a:gd name="T1" fmla="*/ 86 h 86"/>
                <a:gd name="T2" fmla="*/ 42 w 85"/>
                <a:gd name="T3" fmla="*/ 86 h 86"/>
                <a:gd name="T4" fmla="*/ 34 w 85"/>
                <a:gd name="T5" fmla="*/ 86 h 86"/>
                <a:gd name="T6" fmla="*/ 26 w 85"/>
                <a:gd name="T7" fmla="*/ 83 h 86"/>
                <a:gd name="T8" fmla="*/ 19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9 w 85"/>
                <a:gd name="T31" fmla="*/ 7 h 86"/>
                <a:gd name="T32" fmla="*/ 26 w 85"/>
                <a:gd name="T33" fmla="*/ 5 h 86"/>
                <a:gd name="T34" fmla="*/ 34 w 85"/>
                <a:gd name="T35" fmla="*/ 2 h 86"/>
                <a:gd name="T36" fmla="*/ 42 w 85"/>
                <a:gd name="T37" fmla="*/ 0 h 86"/>
                <a:gd name="T38" fmla="*/ 42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2 w 85"/>
                <a:gd name="T51" fmla="*/ 27 h 86"/>
                <a:gd name="T52" fmla="*/ 85 w 85"/>
                <a:gd name="T53" fmla="*/ 35 h 86"/>
                <a:gd name="T54" fmla="*/ 85 w 85"/>
                <a:gd name="T55" fmla="*/ 43 h 86"/>
                <a:gd name="T56" fmla="*/ 85 w 85"/>
                <a:gd name="T57" fmla="*/ 43 h 86"/>
                <a:gd name="T58" fmla="*/ 85 w 85"/>
                <a:gd name="T59" fmla="*/ 53 h 86"/>
                <a:gd name="T60" fmla="*/ 82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6"/>
                  </a:lnTo>
                  <a:lnTo>
                    <a:pt x="26" y="83"/>
                  </a:lnTo>
                  <a:lnTo>
                    <a:pt x="19" y="79"/>
                  </a:lnTo>
                  <a:lnTo>
                    <a:pt x="12" y="73"/>
                  </a:lnTo>
                  <a:lnTo>
                    <a:pt x="7" y="68"/>
                  </a:lnTo>
                  <a:lnTo>
                    <a:pt x="3" y="59"/>
                  </a:lnTo>
                  <a:lnTo>
                    <a:pt x="0" y="53"/>
                  </a:lnTo>
                  <a:lnTo>
                    <a:pt x="0" y="43"/>
                  </a:lnTo>
                  <a:lnTo>
                    <a:pt x="0" y="43"/>
                  </a:lnTo>
                  <a:lnTo>
                    <a:pt x="0" y="35"/>
                  </a:lnTo>
                  <a:lnTo>
                    <a:pt x="3" y="27"/>
                  </a:lnTo>
                  <a:lnTo>
                    <a:pt x="7" y="20"/>
                  </a:lnTo>
                  <a:lnTo>
                    <a:pt x="12" y="13"/>
                  </a:lnTo>
                  <a:lnTo>
                    <a:pt x="19" y="7"/>
                  </a:lnTo>
                  <a:lnTo>
                    <a:pt x="26" y="5"/>
                  </a:lnTo>
                  <a:lnTo>
                    <a:pt x="34" y="2"/>
                  </a:lnTo>
                  <a:lnTo>
                    <a:pt x="42" y="0"/>
                  </a:lnTo>
                  <a:lnTo>
                    <a:pt x="42" y="0"/>
                  </a:lnTo>
                  <a:lnTo>
                    <a:pt x="51" y="2"/>
                  </a:lnTo>
                  <a:lnTo>
                    <a:pt x="59" y="5"/>
                  </a:lnTo>
                  <a:lnTo>
                    <a:pt x="66" y="7"/>
                  </a:lnTo>
                  <a:lnTo>
                    <a:pt x="73" y="13"/>
                  </a:lnTo>
                  <a:lnTo>
                    <a:pt x="78" y="20"/>
                  </a:lnTo>
                  <a:lnTo>
                    <a:pt x="82" y="27"/>
                  </a:lnTo>
                  <a:lnTo>
                    <a:pt x="85" y="35"/>
                  </a:lnTo>
                  <a:lnTo>
                    <a:pt x="85" y="43"/>
                  </a:lnTo>
                  <a:lnTo>
                    <a:pt x="85" y="43"/>
                  </a:lnTo>
                  <a:lnTo>
                    <a:pt x="85" y="53"/>
                  </a:lnTo>
                  <a:lnTo>
                    <a:pt x="82" y="59"/>
                  </a:lnTo>
                  <a:lnTo>
                    <a:pt x="78" y="68"/>
                  </a:lnTo>
                  <a:lnTo>
                    <a:pt x="73" y="73"/>
                  </a:lnTo>
                  <a:lnTo>
                    <a:pt x="66" y="79"/>
                  </a:lnTo>
                  <a:lnTo>
                    <a:pt x="59" y="83"/>
                  </a:lnTo>
                  <a:lnTo>
                    <a:pt x="51" y="86"/>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4"/>
            <p:cNvSpPr>
              <a:spLocks/>
            </p:cNvSpPr>
            <p:nvPr userDrawn="1"/>
          </p:nvSpPr>
          <p:spPr bwMode="auto">
            <a:xfrm>
              <a:off x="3705" y="1060"/>
              <a:ext cx="43" cy="43"/>
            </a:xfrm>
            <a:custGeom>
              <a:avLst/>
              <a:gdLst>
                <a:gd name="T0" fmla="*/ 42 w 85"/>
                <a:gd name="T1" fmla="*/ 87 h 87"/>
                <a:gd name="T2" fmla="*/ 42 w 85"/>
                <a:gd name="T3" fmla="*/ 87 h 87"/>
                <a:gd name="T4" fmla="*/ 34 w 85"/>
                <a:gd name="T5" fmla="*/ 85 h 87"/>
                <a:gd name="T6" fmla="*/ 26 w 85"/>
                <a:gd name="T7" fmla="*/ 83 h 87"/>
                <a:gd name="T8" fmla="*/ 19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2 w 85"/>
                <a:gd name="T51" fmla="*/ 26 h 87"/>
                <a:gd name="T52" fmla="*/ 85 w 85"/>
                <a:gd name="T53" fmla="*/ 34 h 87"/>
                <a:gd name="T54" fmla="*/ 85 w 85"/>
                <a:gd name="T55" fmla="*/ 43 h 87"/>
                <a:gd name="T56" fmla="*/ 85 w 85"/>
                <a:gd name="T57" fmla="*/ 43 h 87"/>
                <a:gd name="T58" fmla="*/ 85 w 85"/>
                <a:gd name="T59" fmla="*/ 52 h 87"/>
                <a:gd name="T60" fmla="*/ 82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3"/>
                  </a:lnTo>
                  <a:lnTo>
                    <a:pt x="19" y="78"/>
                  </a:lnTo>
                  <a:lnTo>
                    <a:pt x="12" y="73"/>
                  </a:lnTo>
                  <a:lnTo>
                    <a:pt x="7" y="67"/>
                  </a:lnTo>
                  <a:lnTo>
                    <a:pt x="3" y="61"/>
                  </a:lnTo>
                  <a:lnTo>
                    <a:pt x="0" y="52"/>
                  </a:lnTo>
                  <a:lnTo>
                    <a:pt x="0" y="43"/>
                  </a:lnTo>
                  <a:lnTo>
                    <a:pt x="0" y="43"/>
                  </a:lnTo>
                  <a:lnTo>
                    <a:pt x="0" y="34"/>
                  </a:lnTo>
                  <a:lnTo>
                    <a:pt x="3" y="26"/>
                  </a:lnTo>
                  <a:lnTo>
                    <a:pt x="7" y="19"/>
                  </a:lnTo>
                  <a:lnTo>
                    <a:pt x="12" y="12"/>
                  </a:lnTo>
                  <a:lnTo>
                    <a:pt x="19" y="8"/>
                  </a:lnTo>
                  <a:lnTo>
                    <a:pt x="26" y="4"/>
                  </a:lnTo>
                  <a:lnTo>
                    <a:pt x="34" y="1"/>
                  </a:lnTo>
                  <a:lnTo>
                    <a:pt x="42" y="0"/>
                  </a:lnTo>
                  <a:lnTo>
                    <a:pt x="42" y="0"/>
                  </a:lnTo>
                  <a:lnTo>
                    <a:pt x="51" y="1"/>
                  </a:lnTo>
                  <a:lnTo>
                    <a:pt x="59" y="4"/>
                  </a:lnTo>
                  <a:lnTo>
                    <a:pt x="66" y="8"/>
                  </a:lnTo>
                  <a:lnTo>
                    <a:pt x="73" y="12"/>
                  </a:lnTo>
                  <a:lnTo>
                    <a:pt x="78" y="19"/>
                  </a:lnTo>
                  <a:lnTo>
                    <a:pt x="82" y="26"/>
                  </a:lnTo>
                  <a:lnTo>
                    <a:pt x="85" y="34"/>
                  </a:lnTo>
                  <a:lnTo>
                    <a:pt x="85" y="43"/>
                  </a:lnTo>
                  <a:lnTo>
                    <a:pt x="85" y="43"/>
                  </a:lnTo>
                  <a:lnTo>
                    <a:pt x="85" y="52"/>
                  </a:lnTo>
                  <a:lnTo>
                    <a:pt x="82" y="61"/>
                  </a:lnTo>
                  <a:lnTo>
                    <a:pt x="78" y="67"/>
                  </a:lnTo>
                  <a:lnTo>
                    <a:pt x="73" y="73"/>
                  </a:lnTo>
                  <a:lnTo>
                    <a:pt x="66" y="78"/>
                  </a:lnTo>
                  <a:lnTo>
                    <a:pt x="59" y="83"/>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5"/>
            <p:cNvSpPr>
              <a:spLocks/>
            </p:cNvSpPr>
            <p:nvPr userDrawn="1"/>
          </p:nvSpPr>
          <p:spPr bwMode="auto">
            <a:xfrm>
              <a:off x="3705" y="1116"/>
              <a:ext cx="43" cy="44"/>
            </a:xfrm>
            <a:custGeom>
              <a:avLst/>
              <a:gdLst>
                <a:gd name="T0" fmla="*/ 42 w 85"/>
                <a:gd name="T1" fmla="*/ 86 h 86"/>
                <a:gd name="T2" fmla="*/ 42 w 85"/>
                <a:gd name="T3" fmla="*/ 86 h 86"/>
                <a:gd name="T4" fmla="*/ 34 w 85"/>
                <a:gd name="T5" fmla="*/ 85 h 86"/>
                <a:gd name="T6" fmla="*/ 26 w 85"/>
                <a:gd name="T7" fmla="*/ 82 h 86"/>
                <a:gd name="T8" fmla="*/ 19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9 w 85"/>
                <a:gd name="T31" fmla="*/ 8 h 86"/>
                <a:gd name="T32" fmla="*/ 26 w 85"/>
                <a:gd name="T33" fmla="*/ 4 h 86"/>
                <a:gd name="T34" fmla="*/ 34 w 85"/>
                <a:gd name="T35" fmla="*/ 1 h 86"/>
                <a:gd name="T36" fmla="*/ 42 w 85"/>
                <a:gd name="T37" fmla="*/ 0 h 86"/>
                <a:gd name="T38" fmla="*/ 42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2 w 85"/>
                <a:gd name="T51" fmla="*/ 26 h 86"/>
                <a:gd name="T52" fmla="*/ 85 w 85"/>
                <a:gd name="T53" fmla="*/ 34 h 86"/>
                <a:gd name="T54" fmla="*/ 85 w 85"/>
                <a:gd name="T55" fmla="*/ 44 h 86"/>
                <a:gd name="T56" fmla="*/ 85 w 85"/>
                <a:gd name="T57" fmla="*/ 44 h 86"/>
                <a:gd name="T58" fmla="*/ 85 w 85"/>
                <a:gd name="T59" fmla="*/ 52 h 86"/>
                <a:gd name="T60" fmla="*/ 82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5"/>
                  </a:lnTo>
                  <a:lnTo>
                    <a:pt x="26" y="82"/>
                  </a:lnTo>
                  <a:lnTo>
                    <a:pt x="19" y="78"/>
                  </a:lnTo>
                  <a:lnTo>
                    <a:pt x="12" y="74"/>
                  </a:lnTo>
                  <a:lnTo>
                    <a:pt x="7" y="67"/>
                  </a:lnTo>
                  <a:lnTo>
                    <a:pt x="3" y="60"/>
                  </a:lnTo>
                  <a:lnTo>
                    <a:pt x="0" y="52"/>
                  </a:lnTo>
                  <a:lnTo>
                    <a:pt x="0" y="44"/>
                  </a:lnTo>
                  <a:lnTo>
                    <a:pt x="0" y="44"/>
                  </a:lnTo>
                  <a:lnTo>
                    <a:pt x="0" y="34"/>
                  </a:lnTo>
                  <a:lnTo>
                    <a:pt x="3" y="26"/>
                  </a:lnTo>
                  <a:lnTo>
                    <a:pt x="7" y="19"/>
                  </a:lnTo>
                  <a:lnTo>
                    <a:pt x="12" y="12"/>
                  </a:lnTo>
                  <a:lnTo>
                    <a:pt x="19" y="8"/>
                  </a:lnTo>
                  <a:lnTo>
                    <a:pt x="26" y="4"/>
                  </a:lnTo>
                  <a:lnTo>
                    <a:pt x="34" y="1"/>
                  </a:lnTo>
                  <a:lnTo>
                    <a:pt x="42" y="0"/>
                  </a:lnTo>
                  <a:lnTo>
                    <a:pt x="42" y="0"/>
                  </a:lnTo>
                  <a:lnTo>
                    <a:pt x="51" y="1"/>
                  </a:lnTo>
                  <a:lnTo>
                    <a:pt x="59" y="4"/>
                  </a:lnTo>
                  <a:lnTo>
                    <a:pt x="66" y="8"/>
                  </a:lnTo>
                  <a:lnTo>
                    <a:pt x="73" y="12"/>
                  </a:lnTo>
                  <a:lnTo>
                    <a:pt x="78" y="19"/>
                  </a:lnTo>
                  <a:lnTo>
                    <a:pt x="82" y="26"/>
                  </a:lnTo>
                  <a:lnTo>
                    <a:pt x="85" y="34"/>
                  </a:lnTo>
                  <a:lnTo>
                    <a:pt x="85" y="44"/>
                  </a:lnTo>
                  <a:lnTo>
                    <a:pt x="85" y="44"/>
                  </a:lnTo>
                  <a:lnTo>
                    <a:pt x="85" y="52"/>
                  </a:lnTo>
                  <a:lnTo>
                    <a:pt x="82" y="60"/>
                  </a:lnTo>
                  <a:lnTo>
                    <a:pt x="78" y="67"/>
                  </a:lnTo>
                  <a:lnTo>
                    <a:pt x="73" y="74"/>
                  </a:lnTo>
                  <a:lnTo>
                    <a:pt x="66" y="78"/>
                  </a:lnTo>
                  <a:lnTo>
                    <a:pt x="59" y="82"/>
                  </a:lnTo>
                  <a:lnTo>
                    <a:pt x="51" y="85"/>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6"/>
            <p:cNvSpPr>
              <a:spLocks/>
            </p:cNvSpPr>
            <p:nvPr userDrawn="1"/>
          </p:nvSpPr>
          <p:spPr bwMode="auto">
            <a:xfrm>
              <a:off x="3649" y="722"/>
              <a:ext cx="43" cy="43"/>
            </a:xfrm>
            <a:custGeom>
              <a:avLst/>
              <a:gdLst>
                <a:gd name="T0" fmla="*/ 43 w 85"/>
                <a:gd name="T1" fmla="*/ 85 h 85"/>
                <a:gd name="T2" fmla="*/ 43 w 85"/>
                <a:gd name="T3" fmla="*/ 85 h 85"/>
                <a:gd name="T4" fmla="*/ 34 w 85"/>
                <a:gd name="T5" fmla="*/ 84 h 85"/>
                <a:gd name="T6" fmla="*/ 26 w 85"/>
                <a:gd name="T7" fmla="*/ 81 h 85"/>
                <a:gd name="T8" fmla="*/ 18 w 85"/>
                <a:gd name="T9" fmla="*/ 78 h 85"/>
                <a:gd name="T10" fmla="*/ 12 w 85"/>
                <a:gd name="T11" fmla="*/ 73 h 85"/>
                <a:gd name="T12" fmla="*/ 7 w 85"/>
                <a:gd name="T13" fmla="*/ 66 h 85"/>
                <a:gd name="T14" fmla="*/ 3 w 85"/>
                <a:gd name="T15" fmla="*/ 59 h 85"/>
                <a:gd name="T16" fmla="*/ 0 w 85"/>
                <a:gd name="T17" fmla="*/ 51 h 85"/>
                <a:gd name="T18" fmla="*/ 0 w 85"/>
                <a:gd name="T19" fmla="*/ 43 h 85"/>
                <a:gd name="T20" fmla="*/ 0 w 85"/>
                <a:gd name="T21" fmla="*/ 43 h 85"/>
                <a:gd name="T22" fmla="*/ 0 w 85"/>
                <a:gd name="T23" fmla="*/ 33 h 85"/>
                <a:gd name="T24" fmla="*/ 3 w 85"/>
                <a:gd name="T25" fmla="*/ 26 h 85"/>
                <a:gd name="T26" fmla="*/ 7 w 85"/>
                <a:gd name="T27" fmla="*/ 18 h 85"/>
                <a:gd name="T28" fmla="*/ 12 w 85"/>
                <a:gd name="T29" fmla="*/ 12 h 85"/>
                <a:gd name="T30" fmla="*/ 18 w 85"/>
                <a:gd name="T31" fmla="*/ 7 h 85"/>
                <a:gd name="T32" fmla="*/ 26 w 85"/>
                <a:gd name="T33" fmla="*/ 3 h 85"/>
                <a:gd name="T34" fmla="*/ 34 w 85"/>
                <a:gd name="T35" fmla="*/ 0 h 85"/>
                <a:gd name="T36" fmla="*/ 43 w 85"/>
                <a:gd name="T37" fmla="*/ 0 h 85"/>
                <a:gd name="T38" fmla="*/ 43 w 85"/>
                <a:gd name="T39" fmla="*/ 0 h 85"/>
                <a:gd name="T40" fmla="*/ 51 w 85"/>
                <a:gd name="T41" fmla="*/ 0 h 85"/>
                <a:gd name="T42" fmla="*/ 59 w 85"/>
                <a:gd name="T43" fmla="*/ 3 h 85"/>
                <a:gd name="T44" fmla="*/ 66 w 85"/>
                <a:gd name="T45" fmla="*/ 7 h 85"/>
                <a:gd name="T46" fmla="*/ 73 w 85"/>
                <a:gd name="T47" fmla="*/ 12 h 85"/>
                <a:gd name="T48" fmla="*/ 78 w 85"/>
                <a:gd name="T49" fmla="*/ 18 h 85"/>
                <a:gd name="T50" fmla="*/ 82 w 85"/>
                <a:gd name="T51" fmla="*/ 26 h 85"/>
                <a:gd name="T52" fmla="*/ 84 w 85"/>
                <a:gd name="T53" fmla="*/ 33 h 85"/>
                <a:gd name="T54" fmla="*/ 85 w 85"/>
                <a:gd name="T55" fmla="*/ 43 h 85"/>
                <a:gd name="T56" fmla="*/ 85 w 85"/>
                <a:gd name="T57" fmla="*/ 43 h 85"/>
                <a:gd name="T58" fmla="*/ 84 w 85"/>
                <a:gd name="T59" fmla="*/ 51 h 85"/>
                <a:gd name="T60" fmla="*/ 82 w 85"/>
                <a:gd name="T61" fmla="*/ 59 h 85"/>
                <a:gd name="T62" fmla="*/ 78 w 85"/>
                <a:gd name="T63" fmla="*/ 66 h 85"/>
                <a:gd name="T64" fmla="*/ 73 w 85"/>
                <a:gd name="T65" fmla="*/ 73 h 85"/>
                <a:gd name="T66" fmla="*/ 66 w 85"/>
                <a:gd name="T67" fmla="*/ 78 h 85"/>
                <a:gd name="T68" fmla="*/ 59 w 85"/>
                <a:gd name="T69" fmla="*/ 81 h 85"/>
                <a:gd name="T70" fmla="*/ 51 w 85"/>
                <a:gd name="T71" fmla="*/ 84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4"/>
                  </a:lnTo>
                  <a:lnTo>
                    <a:pt x="26" y="81"/>
                  </a:lnTo>
                  <a:lnTo>
                    <a:pt x="18" y="78"/>
                  </a:lnTo>
                  <a:lnTo>
                    <a:pt x="12" y="73"/>
                  </a:lnTo>
                  <a:lnTo>
                    <a:pt x="7" y="66"/>
                  </a:lnTo>
                  <a:lnTo>
                    <a:pt x="3" y="59"/>
                  </a:lnTo>
                  <a:lnTo>
                    <a:pt x="0" y="51"/>
                  </a:lnTo>
                  <a:lnTo>
                    <a:pt x="0" y="43"/>
                  </a:lnTo>
                  <a:lnTo>
                    <a:pt x="0" y="43"/>
                  </a:lnTo>
                  <a:lnTo>
                    <a:pt x="0" y="33"/>
                  </a:lnTo>
                  <a:lnTo>
                    <a:pt x="3" y="26"/>
                  </a:lnTo>
                  <a:lnTo>
                    <a:pt x="7" y="18"/>
                  </a:lnTo>
                  <a:lnTo>
                    <a:pt x="12" y="12"/>
                  </a:lnTo>
                  <a:lnTo>
                    <a:pt x="18" y="7"/>
                  </a:lnTo>
                  <a:lnTo>
                    <a:pt x="26" y="3"/>
                  </a:lnTo>
                  <a:lnTo>
                    <a:pt x="34" y="0"/>
                  </a:lnTo>
                  <a:lnTo>
                    <a:pt x="43" y="0"/>
                  </a:lnTo>
                  <a:lnTo>
                    <a:pt x="43" y="0"/>
                  </a:lnTo>
                  <a:lnTo>
                    <a:pt x="51" y="0"/>
                  </a:lnTo>
                  <a:lnTo>
                    <a:pt x="59" y="3"/>
                  </a:lnTo>
                  <a:lnTo>
                    <a:pt x="66" y="7"/>
                  </a:lnTo>
                  <a:lnTo>
                    <a:pt x="73" y="12"/>
                  </a:lnTo>
                  <a:lnTo>
                    <a:pt x="78" y="18"/>
                  </a:lnTo>
                  <a:lnTo>
                    <a:pt x="82" y="26"/>
                  </a:lnTo>
                  <a:lnTo>
                    <a:pt x="84" y="33"/>
                  </a:lnTo>
                  <a:lnTo>
                    <a:pt x="85" y="43"/>
                  </a:lnTo>
                  <a:lnTo>
                    <a:pt x="85" y="43"/>
                  </a:lnTo>
                  <a:lnTo>
                    <a:pt x="84" y="51"/>
                  </a:lnTo>
                  <a:lnTo>
                    <a:pt x="82" y="59"/>
                  </a:lnTo>
                  <a:lnTo>
                    <a:pt x="78" y="66"/>
                  </a:lnTo>
                  <a:lnTo>
                    <a:pt x="73" y="73"/>
                  </a:lnTo>
                  <a:lnTo>
                    <a:pt x="66" y="78"/>
                  </a:lnTo>
                  <a:lnTo>
                    <a:pt x="59" y="81"/>
                  </a:lnTo>
                  <a:lnTo>
                    <a:pt x="51" y="84"/>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p:cNvSpPr>
              <a:spLocks/>
            </p:cNvSpPr>
            <p:nvPr userDrawn="1"/>
          </p:nvSpPr>
          <p:spPr bwMode="auto">
            <a:xfrm>
              <a:off x="3649" y="778"/>
              <a:ext cx="43" cy="43"/>
            </a:xfrm>
            <a:custGeom>
              <a:avLst/>
              <a:gdLst>
                <a:gd name="T0" fmla="*/ 43 w 85"/>
                <a:gd name="T1" fmla="*/ 85 h 85"/>
                <a:gd name="T2" fmla="*/ 43 w 85"/>
                <a:gd name="T3" fmla="*/ 85 h 85"/>
                <a:gd name="T4" fmla="*/ 34 w 85"/>
                <a:gd name="T5" fmla="*/ 84 h 85"/>
                <a:gd name="T6" fmla="*/ 26 w 85"/>
                <a:gd name="T7" fmla="*/ 82 h 85"/>
                <a:gd name="T8" fmla="*/ 18 w 85"/>
                <a:gd name="T9" fmla="*/ 78 h 85"/>
                <a:gd name="T10" fmla="*/ 12 w 85"/>
                <a:gd name="T11" fmla="*/ 73 h 85"/>
                <a:gd name="T12" fmla="*/ 7 w 85"/>
                <a:gd name="T13" fmla="*/ 66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8 h 85"/>
                <a:gd name="T28" fmla="*/ 12 w 85"/>
                <a:gd name="T29" fmla="*/ 12 h 85"/>
                <a:gd name="T30" fmla="*/ 18 w 85"/>
                <a:gd name="T31" fmla="*/ 7 h 85"/>
                <a:gd name="T32" fmla="*/ 26 w 85"/>
                <a:gd name="T33" fmla="*/ 2 h 85"/>
                <a:gd name="T34" fmla="*/ 34 w 85"/>
                <a:gd name="T35" fmla="*/ 0 h 85"/>
                <a:gd name="T36" fmla="*/ 43 w 85"/>
                <a:gd name="T37" fmla="*/ 0 h 85"/>
                <a:gd name="T38" fmla="*/ 43 w 85"/>
                <a:gd name="T39" fmla="*/ 0 h 85"/>
                <a:gd name="T40" fmla="*/ 51 w 85"/>
                <a:gd name="T41" fmla="*/ 0 h 85"/>
                <a:gd name="T42" fmla="*/ 59 w 85"/>
                <a:gd name="T43" fmla="*/ 2 h 85"/>
                <a:gd name="T44" fmla="*/ 66 w 85"/>
                <a:gd name="T45" fmla="*/ 7 h 85"/>
                <a:gd name="T46" fmla="*/ 73 w 85"/>
                <a:gd name="T47" fmla="*/ 12 h 85"/>
                <a:gd name="T48" fmla="*/ 78 w 85"/>
                <a:gd name="T49" fmla="*/ 18 h 85"/>
                <a:gd name="T50" fmla="*/ 82 w 85"/>
                <a:gd name="T51" fmla="*/ 26 h 85"/>
                <a:gd name="T52" fmla="*/ 84 w 85"/>
                <a:gd name="T53" fmla="*/ 34 h 85"/>
                <a:gd name="T54" fmla="*/ 85 w 85"/>
                <a:gd name="T55" fmla="*/ 42 h 85"/>
                <a:gd name="T56" fmla="*/ 85 w 85"/>
                <a:gd name="T57" fmla="*/ 42 h 85"/>
                <a:gd name="T58" fmla="*/ 84 w 85"/>
                <a:gd name="T59" fmla="*/ 51 h 85"/>
                <a:gd name="T60" fmla="*/ 82 w 85"/>
                <a:gd name="T61" fmla="*/ 59 h 85"/>
                <a:gd name="T62" fmla="*/ 78 w 85"/>
                <a:gd name="T63" fmla="*/ 66 h 85"/>
                <a:gd name="T64" fmla="*/ 73 w 85"/>
                <a:gd name="T65" fmla="*/ 73 h 85"/>
                <a:gd name="T66" fmla="*/ 66 w 85"/>
                <a:gd name="T67" fmla="*/ 78 h 85"/>
                <a:gd name="T68" fmla="*/ 59 w 85"/>
                <a:gd name="T69" fmla="*/ 82 h 85"/>
                <a:gd name="T70" fmla="*/ 51 w 85"/>
                <a:gd name="T71" fmla="*/ 84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4"/>
                  </a:lnTo>
                  <a:lnTo>
                    <a:pt x="26" y="82"/>
                  </a:lnTo>
                  <a:lnTo>
                    <a:pt x="18" y="78"/>
                  </a:lnTo>
                  <a:lnTo>
                    <a:pt x="12" y="73"/>
                  </a:lnTo>
                  <a:lnTo>
                    <a:pt x="7" y="66"/>
                  </a:lnTo>
                  <a:lnTo>
                    <a:pt x="3" y="59"/>
                  </a:lnTo>
                  <a:lnTo>
                    <a:pt x="0" y="51"/>
                  </a:lnTo>
                  <a:lnTo>
                    <a:pt x="0" y="42"/>
                  </a:lnTo>
                  <a:lnTo>
                    <a:pt x="0" y="42"/>
                  </a:lnTo>
                  <a:lnTo>
                    <a:pt x="0" y="34"/>
                  </a:lnTo>
                  <a:lnTo>
                    <a:pt x="3" y="26"/>
                  </a:lnTo>
                  <a:lnTo>
                    <a:pt x="7" y="18"/>
                  </a:lnTo>
                  <a:lnTo>
                    <a:pt x="12" y="12"/>
                  </a:lnTo>
                  <a:lnTo>
                    <a:pt x="18" y="7"/>
                  </a:lnTo>
                  <a:lnTo>
                    <a:pt x="26" y="2"/>
                  </a:lnTo>
                  <a:lnTo>
                    <a:pt x="34" y="0"/>
                  </a:lnTo>
                  <a:lnTo>
                    <a:pt x="43" y="0"/>
                  </a:lnTo>
                  <a:lnTo>
                    <a:pt x="43" y="0"/>
                  </a:lnTo>
                  <a:lnTo>
                    <a:pt x="51" y="0"/>
                  </a:lnTo>
                  <a:lnTo>
                    <a:pt x="59" y="2"/>
                  </a:lnTo>
                  <a:lnTo>
                    <a:pt x="66" y="7"/>
                  </a:lnTo>
                  <a:lnTo>
                    <a:pt x="73" y="12"/>
                  </a:lnTo>
                  <a:lnTo>
                    <a:pt x="78" y="18"/>
                  </a:lnTo>
                  <a:lnTo>
                    <a:pt x="82" y="26"/>
                  </a:lnTo>
                  <a:lnTo>
                    <a:pt x="84" y="34"/>
                  </a:lnTo>
                  <a:lnTo>
                    <a:pt x="85" y="42"/>
                  </a:lnTo>
                  <a:lnTo>
                    <a:pt x="85" y="42"/>
                  </a:lnTo>
                  <a:lnTo>
                    <a:pt x="84" y="51"/>
                  </a:lnTo>
                  <a:lnTo>
                    <a:pt x="82" y="59"/>
                  </a:lnTo>
                  <a:lnTo>
                    <a:pt x="78" y="66"/>
                  </a:lnTo>
                  <a:lnTo>
                    <a:pt x="73" y="73"/>
                  </a:lnTo>
                  <a:lnTo>
                    <a:pt x="66" y="78"/>
                  </a:lnTo>
                  <a:lnTo>
                    <a:pt x="59" y="82"/>
                  </a:lnTo>
                  <a:lnTo>
                    <a:pt x="51" y="84"/>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8"/>
            <p:cNvSpPr>
              <a:spLocks/>
            </p:cNvSpPr>
            <p:nvPr userDrawn="1"/>
          </p:nvSpPr>
          <p:spPr bwMode="auto">
            <a:xfrm>
              <a:off x="3649" y="891"/>
              <a:ext cx="43" cy="43"/>
            </a:xfrm>
            <a:custGeom>
              <a:avLst/>
              <a:gdLst>
                <a:gd name="T0" fmla="*/ 43 w 85"/>
                <a:gd name="T1" fmla="*/ 85 h 85"/>
                <a:gd name="T2" fmla="*/ 43 w 85"/>
                <a:gd name="T3" fmla="*/ 85 h 85"/>
                <a:gd name="T4" fmla="*/ 34 w 85"/>
                <a:gd name="T5" fmla="*/ 85 h 85"/>
                <a:gd name="T6" fmla="*/ 26 w 85"/>
                <a:gd name="T7" fmla="*/ 83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3 h 85"/>
                <a:gd name="T34" fmla="*/ 34 w 85"/>
                <a:gd name="T35" fmla="*/ 1 h 85"/>
                <a:gd name="T36" fmla="*/ 43 w 85"/>
                <a:gd name="T37" fmla="*/ 0 h 85"/>
                <a:gd name="T38" fmla="*/ 43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2 w 85"/>
                <a:gd name="T51" fmla="*/ 26 h 85"/>
                <a:gd name="T52" fmla="*/ 84 w 85"/>
                <a:gd name="T53" fmla="*/ 34 h 85"/>
                <a:gd name="T54" fmla="*/ 85 w 85"/>
                <a:gd name="T55" fmla="*/ 43 h 85"/>
                <a:gd name="T56" fmla="*/ 85 w 85"/>
                <a:gd name="T57" fmla="*/ 43 h 85"/>
                <a:gd name="T58" fmla="*/ 84 w 85"/>
                <a:gd name="T59" fmla="*/ 51 h 85"/>
                <a:gd name="T60" fmla="*/ 82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3"/>
                  </a:lnTo>
                  <a:lnTo>
                    <a:pt x="18" y="78"/>
                  </a:lnTo>
                  <a:lnTo>
                    <a:pt x="12" y="73"/>
                  </a:lnTo>
                  <a:lnTo>
                    <a:pt x="7" y="67"/>
                  </a:lnTo>
                  <a:lnTo>
                    <a:pt x="3" y="59"/>
                  </a:lnTo>
                  <a:lnTo>
                    <a:pt x="0" y="51"/>
                  </a:lnTo>
                  <a:lnTo>
                    <a:pt x="0" y="43"/>
                  </a:lnTo>
                  <a:lnTo>
                    <a:pt x="0" y="43"/>
                  </a:lnTo>
                  <a:lnTo>
                    <a:pt x="0" y="34"/>
                  </a:lnTo>
                  <a:lnTo>
                    <a:pt x="3" y="26"/>
                  </a:lnTo>
                  <a:lnTo>
                    <a:pt x="7" y="19"/>
                  </a:lnTo>
                  <a:lnTo>
                    <a:pt x="12" y="12"/>
                  </a:lnTo>
                  <a:lnTo>
                    <a:pt x="18" y="7"/>
                  </a:lnTo>
                  <a:lnTo>
                    <a:pt x="26" y="3"/>
                  </a:lnTo>
                  <a:lnTo>
                    <a:pt x="34" y="1"/>
                  </a:lnTo>
                  <a:lnTo>
                    <a:pt x="43" y="0"/>
                  </a:lnTo>
                  <a:lnTo>
                    <a:pt x="43" y="0"/>
                  </a:lnTo>
                  <a:lnTo>
                    <a:pt x="51" y="1"/>
                  </a:lnTo>
                  <a:lnTo>
                    <a:pt x="59" y="3"/>
                  </a:lnTo>
                  <a:lnTo>
                    <a:pt x="66" y="7"/>
                  </a:lnTo>
                  <a:lnTo>
                    <a:pt x="73" y="12"/>
                  </a:lnTo>
                  <a:lnTo>
                    <a:pt x="78" y="19"/>
                  </a:lnTo>
                  <a:lnTo>
                    <a:pt x="82" y="26"/>
                  </a:lnTo>
                  <a:lnTo>
                    <a:pt x="84" y="34"/>
                  </a:lnTo>
                  <a:lnTo>
                    <a:pt x="85" y="43"/>
                  </a:lnTo>
                  <a:lnTo>
                    <a:pt x="85" y="43"/>
                  </a:lnTo>
                  <a:lnTo>
                    <a:pt x="84" y="51"/>
                  </a:lnTo>
                  <a:lnTo>
                    <a:pt x="82" y="59"/>
                  </a:lnTo>
                  <a:lnTo>
                    <a:pt x="78" y="67"/>
                  </a:lnTo>
                  <a:lnTo>
                    <a:pt x="73" y="73"/>
                  </a:lnTo>
                  <a:lnTo>
                    <a:pt x="66" y="78"/>
                  </a:lnTo>
                  <a:lnTo>
                    <a:pt x="59" y="83"/>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9"/>
            <p:cNvSpPr>
              <a:spLocks/>
            </p:cNvSpPr>
            <p:nvPr userDrawn="1"/>
          </p:nvSpPr>
          <p:spPr bwMode="auto">
            <a:xfrm>
              <a:off x="3649" y="947"/>
              <a:ext cx="43" cy="43"/>
            </a:xfrm>
            <a:custGeom>
              <a:avLst/>
              <a:gdLst>
                <a:gd name="T0" fmla="*/ 43 w 85"/>
                <a:gd name="T1" fmla="*/ 85 h 85"/>
                <a:gd name="T2" fmla="*/ 43 w 85"/>
                <a:gd name="T3" fmla="*/ 85 h 85"/>
                <a:gd name="T4" fmla="*/ 34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4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2 w 85"/>
                <a:gd name="T51" fmla="*/ 26 h 85"/>
                <a:gd name="T52" fmla="*/ 84 w 85"/>
                <a:gd name="T53" fmla="*/ 34 h 85"/>
                <a:gd name="T54" fmla="*/ 85 w 85"/>
                <a:gd name="T55" fmla="*/ 42 h 85"/>
                <a:gd name="T56" fmla="*/ 85 w 85"/>
                <a:gd name="T57" fmla="*/ 42 h 85"/>
                <a:gd name="T58" fmla="*/ 84 w 85"/>
                <a:gd name="T59" fmla="*/ 51 h 85"/>
                <a:gd name="T60" fmla="*/ 82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4" y="1"/>
                  </a:lnTo>
                  <a:lnTo>
                    <a:pt x="43" y="0"/>
                  </a:lnTo>
                  <a:lnTo>
                    <a:pt x="43" y="0"/>
                  </a:lnTo>
                  <a:lnTo>
                    <a:pt x="51" y="1"/>
                  </a:lnTo>
                  <a:lnTo>
                    <a:pt x="59" y="2"/>
                  </a:lnTo>
                  <a:lnTo>
                    <a:pt x="66" y="7"/>
                  </a:lnTo>
                  <a:lnTo>
                    <a:pt x="73" y="12"/>
                  </a:lnTo>
                  <a:lnTo>
                    <a:pt x="78" y="19"/>
                  </a:lnTo>
                  <a:lnTo>
                    <a:pt x="82" y="26"/>
                  </a:lnTo>
                  <a:lnTo>
                    <a:pt x="84" y="34"/>
                  </a:lnTo>
                  <a:lnTo>
                    <a:pt x="85" y="42"/>
                  </a:lnTo>
                  <a:lnTo>
                    <a:pt x="85" y="42"/>
                  </a:lnTo>
                  <a:lnTo>
                    <a:pt x="84" y="51"/>
                  </a:lnTo>
                  <a:lnTo>
                    <a:pt x="82" y="59"/>
                  </a:lnTo>
                  <a:lnTo>
                    <a:pt x="78" y="67"/>
                  </a:lnTo>
                  <a:lnTo>
                    <a:pt x="73" y="73"/>
                  </a:lnTo>
                  <a:lnTo>
                    <a:pt x="66" y="78"/>
                  </a:lnTo>
                  <a:lnTo>
                    <a:pt x="59" y="82"/>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0"/>
            <p:cNvSpPr>
              <a:spLocks/>
            </p:cNvSpPr>
            <p:nvPr userDrawn="1"/>
          </p:nvSpPr>
          <p:spPr bwMode="auto">
            <a:xfrm>
              <a:off x="3649" y="1004"/>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4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2 w 85"/>
                <a:gd name="T51" fmla="*/ 27 h 86"/>
                <a:gd name="T52" fmla="*/ 84 w 85"/>
                <a:gd name="T53" fmla="*/ 35 h 86"/>
                <a:gd name="T54" fmla="*/ 85 w 85"/>
                <a:gd name="T55" fmla="*/ 43 h 86"/>
                <a:gd name="T56" fmla="*/ 85 w 85"/>
                <a:gd name="T57" fmla="*/ 43 h 86"/>
                <a:gd name="T58" fmla="*/ 84 w 85"/>
                <a:gd name="T59" fmla="*/ 53 h 86"/>
                <a:gd name="T60" fmla="*/ 82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4" y="2"/>
                  </a:lnTo>
                  <a:lnTo>
                    <a:pt x="43" y="0"/>
                  </a:lnTo>
                  <a:lnTo>
                    <a:pt x="43" y="0"/>
                  </a:lnTo>
                  <a:lnTo>
                    <a:pt x="51" y="2"/>
                  </a:lnTo>
                  <a:lnTo>
                    <a:pt x="59" y="5"/>
                  </a:lnTo>
                  <a:lnTo>
                    <a:pt x="66" y="7"/>
                  </a:lnTo>
                  <a:lnTo>
                    <a:pt x="73" y="13"/>
                  </a:lnTo>
                  <a:lnTo>
                    <a:pt x="78" y="20"/>
                  </a:lnTo>
                  <a:lnTo>
                    <a:pt x="82" y="27"/>
                  </a:lnTo>
                  <a:lnTo>
                    <a:pt x="84" y="35"/>
                  </a:lnTo>
                  <a:lnTo>
                    <a:pt x="85" y="43"/>
                  </a:lnTo>
                  <a:lnTo>
                    <a:pt x="85" y="43"/>
                  </a:lnTo>
                  <a:lnTo>
                    <a:pt x="84" y="53"/>
                  </a:lnTo>
                  <a:lnTo>
                    <a:pt x="82" y="59"/>
                  </a:lnTo>
                  <a:lnTo>
                    <a:pt x="78" y="68"/>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1"/>
            <p:cNvSpPr>
              <a:spLocks/>
            </p:cNvSpPr>
            <p:nvPr userDrawn="1"/>
          </p:nvSpPr>
          <p:spPr bwMode="auto">
            <a:xfrm>
              <a:off x="3649" y="1060"/>
              <a:ext cx="43" cy="43"/>
            </a:xfrm>
            <a:custGeom>
              <a:avLst/>
              <a:gdLst>
                <a:gd name="T0" fmla="*/ 43 w 85"/>
                <a:gd name="T1" fmla="*/ 87 h 87"/>
                <a:gd name="T2" fmla="*/ 43 w 85"/>
                <a:gd name="T3" fmla="*/ 87 h 87"/>
                <a:gd name="T4" fmla="*/ 34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4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2 w 85"/>
                <a:gd name="T51" fmla="*/ 26 h 87"/>
                <a:gd name="T52" fmla="*/ 84 w 85"/>
                <a:gd name="T53" fmla="*/ 34 h 87"/>
                <a:gd name="T54" fmla="*/ 85 w 85"/>
                <a:gd name="T55" fmla="*/ 43 h 87"/>
                <a:gd name="T56" fmla="*/ 85 w 85"/>
                <a:gd name="T57" fmla="*/ 43 h 87"/>
                <a:gd name="T58" fmla="*/ 84 w 85"/>
                <a:gd name="T59" fmla="*/ 52 h 87"/>
                <a:gd name="T60" fmla="*/ 82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4"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2" y="26"/>
                  </a:lnTo>
                  <a:lnTo>
                    <a:pt x="84" y="34"/>
                  </a:lnTo>
                  <a:lnTo>
                    <a:pt x="85" y="43"/>
                  </a:lnTo>
                  <a:lnTo>
                    <a:pt x="85" y="43"/>
                  </a:lnTo>
                  <a:lnTo>
                    <a:pt x="84" y="52"/>
                  </a:lnTo>
                  <a:lnTo>
                    <a:pt x="82" y="61"/>
                  </a:lnTo>
                  <a:lnTo>
                    <a:pt x="78" y="67"/>
                  </a:lnTo>
                  <a:lnTo>
                    <a:pt x="73" y="73"/>
                  </a:lnTo>
                  <a:lnTo>
                    <a:pt x="66" y="78"/>
                  </a:lnTo>
                  <a:lnTo>
                    <a:pt x="59" y="83"/>
                  </a:lnTo>
                  <a:lnTo>
                    <a:pt x="51" y="85"/>
                  </a:lnTo>
                  <a:lnTo>
                    <a:pt x="43" y="87"/>
                  </a:lnTo>
                  <a:lnTo>
                    <a:pt x="43"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
            <p:cNvSpPr>
              <a:spLocks/>
            </p:cNvSpPr>
            <p:nvPr userDrawn="1"/>
          </p:nvSpPr>
          <p:spPr bwMode="auto">
            <a:xfrm>
              <a:off x="3649" y="1116"/>
              <a:ext cx="43" cy="44"/>
            </a:xfrm>
            <a:custGeom>
              <a:avLst/>
              <a:gdLst>
                <a:gd name="T0" fmla="*/ 43 w 85"/>
                <a:gd name="T1" fmla="*/ 86 h 86"/>
                <a:gd name="T2" fmla="*/ 43 w 85"/>
                <a:gd name="T3" fmla="*/ 86 h 86"/>
                <a:gd name="T4" fmla="*/ 34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4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2 w 85"/>
                <a:gd name="T51" fmla="*/ 26 h 86"/>
                <a:gd name="T52" fmla="*/ 84 w 85"/>
                <a:gd name="T53" fmla="*/ 34 h 86"/>
                <a:gd name="T54" fmla="*/ 85 w 85"/>
                <a:gd name="T55" fmla="*/ 44 h 86"/>
                <a:gd name="T56" fmla="*/ 85 w 85"/>
                <a:gd name="T57" fmla="*/ 44 h 86"/>
                <a:gd name="T58" fmla="*/ 84 w 85"/>
                <a:gd name="T59" fmla="*/ 52 h 86"/>
                <a:gd name="T60" fmla="*/ 82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2" y="26"/>
                  </a:lnTo>
                  <a:lnTo>
                    <a:pt x="84" y="34"/>
                  </a:lnTo>
                  <a:lnTo>
                    <a:pt x="85" y="44"/>
                  </a:lnTo>
                  <a:lnTo>
                    <a:pt x="85" y="44"/>
                  </a:lnTo>
                  <a:lnTo>
                    <a:pt x="84" y="52"/>
                  </a:lnTo>
                  <a:lnTo>
                    <a:pt x="82" y="60"/>
                  </a:lnTo>
                  <a:lnTo>
                    <a:pt x="78" y="67"/>
                  </a:lnTo>
                  <a:lnTo>
                    <a:pt x="73" y="74"/>
                  </a:lnTo>
                  <a:lnTo>
                    <a:pt x="66" y="78"/>
                  </a:lnTo>
                  <a:lnTo>
                    <a:pt x="59" y="82"/>
                  </a:lnTo>
                  <a:lnTo>
                    <a:pt x="51"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3"/>
            <p:cNvSpPr>
              <a:spLocks/>
            </p:cNvSpPr>
            <p:nvPr userDrawn="1"/>
          </p:nvSpPr>
          <p:spPr bwMode="auto">
            <a:xfrm>
              <a:off x="3592" y="778"/>
              <a:ext cx="43" cy="43"/>
            </a:xfrm>
            <a:custGeom>
              <a:avLst/>
              <a:gdLst>
                <a:gd name="T0" fmla="*/ 43 w 85"/>
                <a:gd name="T1" fmla="*/ 85 h 85"/>
                <a:gd name="T2" fmla="*/ 43 w 85"/>
                <a:gd name="T3" fmla="*/ 85 h 85"/>
                <a:gd name="T4" fmla="*/ 34 w 85"/>
                <a:gd name="T5" fmla="*/ 84 h 85"/>
                <a:gd name="T6" fmla="*/ 26 w 85"/>
                <a:gd name="T7" fmla="*/ 82 h 85"/>
                <a:gd name="T8" fmla="*/ 18 w 85"/>
                <a:gd name="T9" fmla="*/ 78 h 85"/>
                <a:gd name="T10" fmla="*/ 12 w 85"/>
                <a:gd name="T11" fmla="*/ 73 h 85"/>
                <a:gd name="T12" fmla="*/ 7 w 85"/>
                <a:gd name="T13" fmla="*/ 66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8 h 85"/>
                <a:gd name="T28" fmla="*/ 12 w 85"/>
                <a:gd name="T29" fmla="*/ 12 h 85"/>
                <a:gd name="T30" fmla="*/ 18 w 85"/>
                <a:gd name="T31" fmla="*/ 7 h 85"/>
                <a:gd name="T32" fmla="*/ 26 w 85"/>
                <a:gd name="T33" fmla="*/ 2 h 85"/>
                <a:gd name="T34" fmla="*/ 34 w 85"/>
                <a:gd name="T35" fmla="*/ 0 h 85"/>
                <a:gd name="T36" fmla="*/ 43 w 85"/>
                <a:gd name="T37" fmla="*/ 0 h 85"/>
                <a:gd name="T38" fmla="*/ 43 w 85"/>
                <a:gd name="T39" fmla="*/ 0 h 85"/>
                <a:gd name="T40" fmla="*/ 51 w 85"/>
                <a:gd name="T41" fmla="*/ 0 h 85"/>
                <a:gd name="T42" fmla="*/ 59 w 85"/>
                <a:gd name="T43" fmla="*/ 2 h 85"/>
                <a:gd name="T44" fmla="*/ 66 w 85"/>
                <a:gd name="T45" fmla="*/ 7 h 85"/>
                <a:gd name="T46" fmla="*/ 73 w 85"/>
                <a:gd name="T47" fmla="*/ 12 h 85"/>
                <a:gd name="T48" fmla="*/ 78 w 85"/>
                <a:gd name="T49" fmla="*/ 18 h 85"/>
                <a:gd name="T50" fmla="*/ 83 w 85"/>
                <a:gd name="T51" fmla="*/ 26 h 85"/>
                <a:gd name="T52" fmla="*/ 84 w 85"/>
                <a:gd name="T53" fmla="*/ 34 h 85"/>
                <a:gd name="T54" fmla="*/ 85 w 85"/>
                <a:gd name="T55" fmla="*/ 42 h 85"/>
                <a:gd name="T56" fmla="*/ 85 w 85"/>
                <a:gd name="T57" fmla="*/ 42 h 85"/>
                <a:gd name="T58" fmla="*/ 84 w 85"/>
                <a:gd name="T59" fmla="*/ 51 h 85"/>
                <a:gd name="T60" fmla="*/ 83 w 85"/>
                <a:gd name="T61" fmla="*/ 59 h 85"/>
                <a:gd name="T62" fmla="*/ 78 w 85"/>
                <a:gd name="T63" fmla="*/ 66 h 85"/>
                <a:gd name="T64" fmla="*/ 73 w 85"/>
                <a:gd name="T65" fmla="*/ 73 h 85"/>
                <a:gd name="T66" fmla="*/ 66 w 85"/>
                <a:gd name="T67" fmla="*/ 78 h 85"/>
                <a:gd name="T68" fmla="*/ 59 w 85"/>
                <a:gd name="T69" fmla="*/ 82 h 85"/>
                <a:gd name="T70" fmla="*/ 51 w 85"/>
                <a:gd name="T71" fmla="*/ 84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4"/>
                  </a:lnTo>
                  <a:lnTo>
                    <a:pt x="26" y="82"/>
                  </a:lnTo>
                  <a:lnTo>
                    <a:pt x="18" y="78"/>
                  </a:lnTo>
                  <a:lnTo>
                    <a:pt x="12" y="73"/>
                  </a:lnTo>
                  <a:lnTo>
                    <a:pt x="7" y="66"/>
                  </a:lnTo>
                  <a:lnTo>
                    <a:pt x="3" y="59"/>
                  </a:lnTo>
                  <a:lnTo>
                    <a:pt x="0" y="51"/>
                  </a:lnTo>
                  <a:lnTo>
                    <a:pt x="0" y="42"/>
                  </a:lnTo>
                  <a:lnTo>
                    <a:pt x="0" y="42"/>
                  </a:lnTo>
                  <a:lnTo>
                    <a:pt x="0" y="34"/>
                  </a:lnTo>
                  <a:lnTo>
                    <a:pt x="3" y="26"/>
                  </a:lnTo>
                  <a:lnTo>
                    <a:pt x="7" y="18"/>
                  </a:lnTo>
                  <a:lnTo>
                    <a:pt x="12" y="12"/>
                  </a:lnTo>
                  <a:lnTo>
                    <a:pt x="18" y="7"/>
                  </a:lnTo>
                  <a:lnTo>
                    <a:pt x="26" y="2"/>
                  </a:lnTo>
                  <a:lnTo>
                    <a:pt x="34" y="0"/>
                  </a:lnTo>
                  <a:lnTo>
                    <a:pt x="43" y="0"/>
                  </a:lnTo>
                  <a:lnTo>
                    <a:pt x="43" y="0"/>
                  </a:lnTo>
                  <a:lnTo>
                    <a:pt x="51" y="0"/>
                  </a:lnTo>
                  <a:lnTo>
                    <a:pt x="59" y="2"/>
                  </a:lnTo>
                  <a:lnTo>
                    <a:pt x="66" y="7"/>
                  </a:lnTo>
                  <a:lnTo>
                    <a:pt x="73" y="12"/>
                  </a:lnTo>
                  <a:lnTo>
                    <a:pt x="78" y="18"/>
                  </a:lnTo>
                  <a:lnTo>
                    <a:pt x="83" y="26"/>
                  </a:lnTo>
                  <a:lnTo>
                    <a:pt x="84" y="34"/>
                  </a:lnTo>
                  <a:lnTo>
                    <a:pt x="85" y="42"/>
                  </a:lnTo>
                  <a:lnTo>
                    <a:pt x="85" y="42"/>
                  </a:lnTo>
                  <a:lnTo>
                    <a:pt x="84" y="51"/>
                  </a:lnTo>
                  <a:lnTo>
                    <a:pt x="83" y="59"/>
                  </a:lnTo>
                  <a:lnTo>
                    <a:pt x="78" y="66"/>
                  </a:lnTo>
                  <a:lnTo>
                    <a:pt x="73" y="73"/>
                  </a:lnTo>
                  <a:lnTo>
                    <a:pt x="66" y="78"/>
                  </a:lnTo>
                  <a:lnTo>
                    <a:pt x="59" y="82"/>
                  </a:lnTo>
                  <a:lnTo>
                    <a:pt x="51" y="84"/>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4"/>
            <p:cNvSpPr>
              <a:spLocks/>
            </p:cNvSpPr>
            <p:nvPr userDrawn="1"/>
          </p:nvSpPr>
          <p:spPr bwMode="auto">
            <a:xfrm>
              <a:off x="3592" y="835"/>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6 h 86"/>
                <a:gd name="T14" fmla="*/ 3 w 85"/>
                <a:gd name="T15" fmla="*/ 59 h 86"/>
                <a:gd name="T16" fmla="*/ 0 w 85"/>
                <a:gd name="T17" fmla="*/ 51 h 86"/>
                <a:gd name="T18" fmla="*/ 0 w 85"/>
                <a:gd name="T19" fmla="*/ 43 h 86"/>
                <a:gd name="T20" fmla="*/ 0 w 85"/>
                <a:gd name="T21" fmla="*/ 43 h 86"/>
                <a:gd name="T22" fmla="*/ 0 w 85"/>
                <a:gd name="T23" fmla="*/ 35 h 86"/>
                <a:gd name="T24" fmla="*/ 3 w 85"/>
                <a:gd name="T25" fmla="*/ 26 h 86"/>
                <a:gd name="T26" fmla="*/ 7 w 85"/>
                <a:gd name="T27" fmla="*/ 20 h 86"/>
                <a:gd name="T28" fmla="*/ 12 w 85"/>
                <a:gd name="T29" fmla="*/ 13 h 86"/>
                <a:gd name="T30" fmla="*/ 18 w 85"/>
                <a:gd name="T31" fmla="*/ 7 h 86"/>
                <a:gd name="T32" fmla="*/ 26 w 85"/>
                <a:gd name="T33" fmla="*/ 3 h 86"/>
                <a:gd name="T34" fmla="*/ 34 w 85"/>
                <a:gd name="T35" fmla="*/ 0 h 86"/>
                <a:gd name="T36" fmla="*/ 43 w 85"/>
                <a:gd name="T37" fmla="*/ 0 h 86"/>
                <a:gd name="T38" fmla="*/ 43 w 85"/>
                <a:gd name="T39" fmla="*/ 0 h 86"/>
                <a:gd name="T40" fmla="*/ 51 w 85"/>
                <a:gd name="T41" fmla="*/ 0 h 86"/>
                <a:gd name="T42" fmla="*/ 59 w 85"/>
                <a:gd name="T43" fmla="*/ 3 h 86"/>
                <a:gd name="T44" fmla="*/ 66 w 85"/>
                <a:gd name="T45" fmla="*/ 7 h 86"/>
                <a:gd name="T46" fmla="*/ 73 w 85"/>
                <a:gd name="T47" fmla="*/ 13 h 86"/>
                <a:gd name="T48" fmla="*/ 78 w 85"/>
                <a:gd name="T49" fmla="*/ 20 h 86"/>
                <a:gd name="T50" fmla="*/ 83 w 85"/>
                <a:gd name="T51" fmla="*/ 26 h 86"/>
                <a:gd name="T52" fmla="*/ 84 w 85"/>
                <a:gd name="T53" fmla="*/ 35 h 86"/>
                <a:gd name="T54" fmla="*/ 85 w 85"/>
                <a:gd name="T55" fmla="*/ 43 h 86"/>
                <a:gd name="T56" fmla="*/ 85 w 85"/>
                <a:gd name="T57" fmla="*/ 43 h 86"/>
                <a:gd name="T58" fmla="*/ 84 w 85"/>
                <a:gd name="T59" fmla="*/ 51 h 86"/>
                <a:gd name="T60" fmla="*/ 83 w 85"/>
                <a:gd name="T61" fmla="*/ 59 h 86"/>
                <a:gd name="T62" fmla="*/ 78 w 85"/>
                <a:gd name="T63" fmla="*/ 66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6"/>
                  </a:lnTo>
                  <a:lnTo>
                    <a:pt x="3" y="59"/>
                  </a:lnTo>
                  <a:lnTo>
                    <a:pt x="0" y="51"/>
                  </a:lnTo>
                  <a:lnTo>
                    <a:pt x="0" y="43"/>
                  </a:lnTo>
                  <a:lnTo>
                    <a:pt x="0" y="43"/>
                  </a:lnTo>
                  <a:lnTo>
                    <a:pt x="0" y="35"/>
                  </a:lnTo>
                  <a:lnTo>
                    <a:pt x="3" y="26"/>
                  </a:lnTo>
                  <a:lnTo>
                    <a:pt x="7" y="20"/>
                  </a:lnTo>
                  <a:lnTo>
                    <a:pt x="12" y="13"/>
                  </a:lnTo>
                  <a:lnTo>
                    <a:pt x="18" y="7"/>
                  </a:lnTo>
                  <a:lnTo>
                    <a:pt x="26" y="3"/>
                  </a:lnTo>
                  <a:lnTo>
                    <a:pt x="34" y="0"/>
                  </a:lnTo>
                  <a:lnTo>
                    <a:pt x="43" y="0"/>
                  </a:lnTo>
                  <a:lnTo>
                    <a:pt x="43" y="0"/>
                  </a:lnTo>
                  <a:lnTo>
                    <a:pt x="51" y="0"/>
                  </a:lnTo>
                  <a:lnTo>
                    <a:pt x="59" y="3"/>
                  </a:lnTo>
                  <a:lnTo>
                    <a:pt x="66" y="7"/>
                  </a:lnTo>
                  <a:lnTo>
                    <a:pt x="73" y="13"/>
                  </a:lnTo>
                  <a:lnTo>
                    <a:pt x="78" y="20"/>
                  </a:lnTo>
                  <a:lnTo>
                    <a:pt x="83" y="26"/>
                  </a:lnTo>
                  <a:lnTo>
                    <a:pt x="84" y="35"/>
                  </a:lnTo>
                  <a:lnTo>
                    <a:pt x="85" y="43"/>
                  </a:lnTo>
                  <a:lnTo>
                    <a:pt x="85" y="43"/>
                  </a:lnTo>
                  <a:lnTo>
                    <a:pt x="84" y="51"/>
                  </a:lnTo>
                  <a:lnTo>
                    <a:pt x="83" y="59"/>
                  </a:lnTo>
                  <a:lnTo>
                    <a:pt x="78" y="66"/>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5"/>
            <p:cNvSpPr>
              <a:spLocks/>
            </p:cNvSpPr>
            <p:nvPr userDrawn="1"/>
          </p:nvSpPr>
          <p:spPr bwMode="auto">
            <a:xfrm>
              <a:off x="3592" y="891"/>
              <a:ext cx="43" cy="43"/>
            </a:xfrm>
            <a:custGeom>
              <a:avLst/>
              <a:gdLst>
                <a:gd name="T0" fmla="*/ 43 w 85"/>
                <a:gd name="T1" fmla="*/ 85 h 85"/>
                <a:gd name="T2" fmla="*/ 43 w 85"/>
                <a:gd name="T3" fmla="*/ 85 h 85"/>
                <a:gd name="T4" fmla="*/ 34 w 85"/>
                <a:gd name="T5" fmla="*/ 85 h 85"/>
                <a:gd name="T6" fmla="*/ 26 w 85"/>
                <a:gd name="T7" fmla="*/ 83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3 h 85"/>
                <a:gd name="T34" fmla="*/ 34 w 85"/>
                <a:gd name="T35" fmla="*/ 1 h 85"/>
                <a:gd name="T36" fmla="*/ 43 w 85"/>
                <a:gd name="T37" fmla="*/ 0 h 85"/>
                <a:gd name="T38" fmla="*/ 43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3 w 85"/>
                <a:gd name="T51" fmla="*/ 26 h 85"/>
                <a:gd name="T52" fmla="*/ 84 w 85"/>
                <a:gd name="T53" fmla="*/ 34 h 85"/>
                <a:gd name="T54" fmla="*/ 85 w 85"/>
                <a:gd name="T55" fmla="*/ 43 h 85"/>
                <a:gd name="T56" fmla="*/ 85 w 85"/>
                <a:gd name="T57" fmla="*/ 43 h 85"/>
                <a:gd name="T58" fmla="*/ 84 w 85"/>
                <a:gd name="T59" fmla="*/ 51 h 85"/>
                <a:gd name="T60" fmla="*/ 83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3"/>
                  </a:lnTo>
                  <a:lnTo>
                    <a:pt x="18" y="78"/>
                  </a:lnTo>
                  <a:lnTo>
                    <a:pt x="12" y="73"/>
                  </a:lnTo>
                  <a:lnTo>
                    <a:pt x="7" y="67"/>
                  </a:lnTo>
                  <a:lnTo>
                    <a:pt x="3" y="59"/>
                  </a:lnTo>
                  <a:lnTo>
                    <a:pt x="0" y="51"/>
                  </a:lnTo>
                  <a:lnTo>
                    <a:pt x="0" y="43"/>
                  </a:lnTo>
                  <a:lnTo>
                    <a:pt x="0" y="43"/>
                  </a:lnTo>
                  <a:lnTo>
                    <a:pt x="0" y="34"/>
                  </a:lnTo>
                  <a:lnTo>
                    <a:pt x="3" y="26"/>
                  </a:lnTo>
                  <a:lnTo>
                    <a:pt x="7" y="19"/>
                  </a:lnTo>
                  <a:lnTo>
                    <a:pt x="12" y="12"/>
                  </a:lnTo>
                  <a:lnTo>
                    <a:pt x="18" y="7"/>
                  </a:lnTo>
                  <a:lnTo>
                    <a:pt x="26" y="3"/>
                  </a:lnTo>
                  <a:lnTo>
                    <a:pt x="34" y="1"/>
                  </a:lnTo>
                  <a:lnTo>
                    <a:pt x="43" y="0"/>
                  </a:lnTo>
                  <a:lnTo>
                    <a:pt x="43" y="0"/>
                  </a:lnTo>
                  <a:lnTo>
                    <a:pt x="51" y="1"/>
                  </a:lnTo>
                  <a:lnTo>
                    <a:pt x="59" y="3"/>
                  </a:lnTo>
                  <a:lnTo>
                    <a:pt x="66" y="7"/>
                  </a:lnTo>
                  <a:lnTo>
                    <a:pt x="73" y="12"/>
                  </a:lnTo>
                  <a:lnTo>
                    <a:pt x="78" y="19"/>
                  </a:lnTo>
                  <a:lnTo>
                    <a:pt x="83" y="26"/>
                  </a:lnTo>
                  <a:lnTo>
                    <a:pt x="84" y="34"/>
                  </a:lnTo>
                  <a:lnTo>
                    <a:pt x="85" y="43"/>
                  </a:lnTo>
                  <a:lnTo>
                    <a:pt x="85" y="43"/>
                  </a:lnTo>
                  <a:lnTo>
                    <a:pt x="84" y="51"/>
                  </a:lnTo>
                  <a:lnTo>
                    <a:pt x="83" y="59"/>
                  </a:lnTo>
                  <a:lnTo>
                    <a:pt x="78" y="67"/>
                  </a:lnTo>
                  <a:lnTo>
                    <a:pt x="73" y="73"/>
                  </a:lnTo>
                  <a:lnTo>
                    <a:pt x="66" y="78"/>
                  </a:lnTo>
                  <a:lnTo>
                    <a:pt x="59" y="83"/>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6"/>
            <p:cNvSpPr>
              <a:spLocks/>
            </p:cNvSpPr>
            <p:nvPr userDrawn="1"/>
          </p:nvSpPr>
          <p:spPr bwMode="auto">
            <a:xfrm>
              <a:off x="3592" y="947"/>
              <a:ext cx="43" cy="43"/>
            </a:xfrm>
            <a:custGeom>
              <a:avLst/>
              <a:gdLst>
                <a:gd name="T0" fmla="*/ 43 w 85"/>
                <a:gd name="T1" fmla="*/ 85 h 85"/>
                <a:gd name="T2" fmla="*/ 43 w 85"/>
                <a:gd name="T3" fmla="*/ 85 h 85"/>
                <a:gd name="T4" fmla="*/ 34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4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3 w 85"/>
                <a:gd name="T51" fmla="*/ 26 h 85"/>
                <a:gd name="T52" fmla="*/ 84 w 85"/>
                <a:gd name="T53" fmla="*/ 34 h 85"/>
                <a:gd name="T54" fmla="*/ 85 w 85"/>
                <a:gd name="T55" fmla="*/ 42 h 85"/>
                <a:gd name="T56" fmla="*/ 85 w 85"/>
                <a:gd name="T57" fmla="*/ 42 h 85"/>
                <a:gd name="T58" fmla="*/ 84 w 85"/>
                <a:gd name="T59" fmla="*/ 51 h 85"/>
                <a:gd name="T60" fmla="*/ 83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4" y="1"/>
                  </a:lnTo>
                  <a:lnTo>
                    <a:pt x="43" y="0"/>
                  </a:lnTo>
                  <a:lnTo>
                    <a:pt x="43" y="0"/>
                  </a:lnTo>
                  <a:lnTo>
                    <a:pt x="51" y="1"/>
                  </a:lnTo>
                  <a:lnTo>
                    <a:pt x="59" y="2"/>
                  </a:lnTo>
                  <a:lnTo>
                    <a:pt x="66" y="7"/>
                  </a:lnTo>
                  <a:lnTo>
                    <a:pt x="73" y="12"/>
                  </a:lnTo>
                  <a:lnTo>
                    <a:pt x="78" y="19"/>
                  </a:lnTo>
                  <a:lnTo>
                    <a:pt x="83" y="26"/>
                  </a:lnTo>
                  <a:lnTo>
                    <a:pt x="84" y="34"/>
                  </a:lnTo>
                  <a:lnTo>
                    <a:pt x="85" y="42"/>
                  </a:lnTo>
                  <a:lnTo>
                    <a:pt x="85" y="42"/>
                  </a:lnTo>
                  <a:lnTo>
                    <a:pt x="84" y="51"/>
                  </a:lnTo>
                  <a:lnTo>
                    <a:pt x="83" y="59"/>
                  </a:lnTo>
                  <a:lnTo>
                    <a:pt x="78" y="67"/>
                  </a:lnTo>
                  <a:lnTo>
                    <a:pt x="73" y="73"/>
                  </a:lnTo>
                  <a:lnTo>
                    <a:pt x="66" y="78"/>
                  </a:lnTo>
                  <a:lnTo>
                    <a:pt x="59" y="82"/>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7"/>
            <p:cNvSpPr>
              <a:spLocks/>
            </p:cNvSpPr>
            <p:nvPr userDrawn="1"/>
          </p:nvSpPr>
          <p:spPr bwMode="auto">
            <a:xfrm>
              <a:off x="3592" y="1004"/>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4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3 w 85"/>
                <a:gd name="T51" fmla="*/ 27 h 86"/>
                <a:gd name="T52" fmla="*/ 84 w 85"/>
                <a:gd name="T53" fmla="*/ 35 h 86"/>
                <a:gd name="T54" fmla="*/ 85 w 85"/>
                <a:gd name="T55" fmla="*/ 43 h 86"/>
                <a:gd name="T56" fmla="*/ 85 w 85"/>
                <a:gd name="T57" fmla="*/ 43 h 86"/>
                <a:gd name="T58" fmla="*/ 84 w 85"/>
                <a:gd name="T59" fmla="*/ 53 h 86"/>
                <a:gd name="T60" fmla="*/ 83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4" y="2"/>
                  </a:lnTo>
                  <a:lnTo>
                    <a:pt x="43" y="0"/>
                  </a:lnTo>
                  <a:lnTo>
                    <a:pt x="43" y="0"/>
                  </a:lnTo>
                  <a:lnTo>
                    <a:pt x="51" y="2"/>
                  </a:lnTo>
                  <a:lnTo>
                    <a:pt x="59" y="5"/>
                  </a:lnTo>
                  <a:lnTo>
                    <a:pt x="66" y="7"/>
                  </a:lnTo>
                  <a:lnTo>
                    <a:pt x="73" y="13"/>
                  </a:lnTo>
                  <a:lnTo>
                    <a:pt x="78" y="20"/>
                  </a:lnTo>
                  <a:lnTo>
                    <a:pt x="83" y="27"/>
                  </a:lnTo>
                  <a:lnTo>
                    <a:pt x="84" y="35"/>
                  </a:lnTo>
                  <a:lnTo>
                    <a:pt x="85" y="43"/>
                  </a:lnTo>
                  <a:lnTo>
                    <a:pt x="85" y="43"/>
                  </a:lnTo>
                  <a:lnTo>
                    <a:pt x="84" y="53"/>
                  </a:lnTo>
                  <a:lnTo>
                    <a:pt x="83" y="59"/>
                  </a:lnTo>
                  <a:lnTo>
                    <a:pt x="78" y="68"/>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8"/>
            <p:cNvSpPr>
              <a:spLocks/>
            </p:cNvSpPr>
            <p:nvPr userDrawn="1"/>
          </p:nvSpPr>
          <p:spPr bwMode="auto">
            <a:xfrm>
              <a:off x="3592" y="1060"/>
              <a:ext cx="43" cy="43"/>
            </a:xfrm>
            <a:custGeom>
              <a:avLst/>
              <a:gdLst>
                <a:gd name="T0" fmla="*/ 43 w 85"/>
                <a:gd name="T1" fmla="*/ 87 h 87"/>
                <a:gd name="T2" fmla="*/ 43 w 85"/>
                <a:gd name="T3" fmla="*/ 87 h 87"/>
                <a:gd name="T4" fmla="*/ 34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4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3 w 85"/>
                <a:gd name="T51" fmla="*/ 26 h 87"/>
                <a:gd name="T52" fmla="*/ 84 w 85"/>
                <a:gd name="T53" fmla="*/ 34 h 87"/>
                <a:gd name="T54" fmla="*/ 85 w 85"/>
                <a:gd name="T55" fmla="*/ 43 h 87"/>
                <a:gd name="T56" fmla="*/ 85 w 85"/>
                <a:gd name="T57" fmla="*/ 43 h 87"/>
                <a:gd name="T58" fmla="*/ 84 w 85"/>
                <a:gd name="T59" fmla="*/ 52 h 87"/>
                <a:gd name="T60" fmla="*/ 83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4"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3" y="26"/>
                  </a:lnTo>
                  <a:lnTo>
                    <a:pt x="84" y="34"/>
                  </a:lnTo>
                  <a:lnTo>
                    <a:pt x="85" y="43"/>
                  </a:lnTo>
                  <a:lnTo>
                    <a:pt x="85" y="43"/>
                  </a:lnTo>
                  <a:lnTo>
                    <a:pt x="84" y="52"/>
                  </a:lnTo>
                  <a:lnTo>
                    <a:pt x="83" y="61"/>
                  </a:lnTo>
                  <a:lnTo>
                    <a:pt x="78" y="67"/>
                  </a:lnTo>
                  <a:lnTo>
                    <a:pt x="73" y="73"/>
                  </a:lnTo>
                  <a:lnTo>
                    <a:pt x="66" y="78"/>
                  </a:lnTo>
                  <a:lnTo>
                    <a:pt x="59" y="83"/>
                  </a:lnTo>
                  <a:lnTo>
                    <a:pt x="51" y="85"/>
                  </a:lnTo>
                  <a:lnTo>
                    <a:pt x="43" y="87"/>
                  </a:lnTo>
                  <a:lnTo>
                    <a:pt x="43"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9"/>
            <p:cNvSpPr>
              <a:spLocks/>
            </p:cNvSpPr>
            <p:nvPr userDrawn="1"/>
          </p:nvSpPr>
          <p:spPr bwMode="auto">
            <a:xfrm>
              <a:off x="3592" y="1116"/>
              <a:ext cx="43" cy="44"/>
            </a:xfrm>
            <a:custGeom>
              <a:avLst/>
              <a:gdLst>
                <a:gd name="T0" fmla="*/ 43 w 85"/>
                <a:gd name="T1" fmla="*/ 86 h 86"/>
                <a:gd name="T2" fmla="*/ 43 w 85"/>
                <a:gd name="T3" fmla="*/ 86 h 86"/>
                <a:gd name="T4" fmla="*/ 34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4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3 w 85"/>
                <a:gd name="T51" fmla="*/ 26 h 86"/>
                <a:gd name="T52" fmla="*/ 84 w 85"/>
                <a:gd name="T53" fmla="*/ 34 h 86"/>
                <a:gd name="T54" fmla="*/ 85 w 85"/>
                <a:gd name="T55" fmla="*/ 44 h 86"/>
                <a:gd name="T56" fmla="*/ 85 w 85"/>
                <a:gd name="T57" fmla="*/ 44 h 86"/>
                <a:gd name="T58" fmla="*/ 84 w 85"/>
                <a:gd name="T59" fmla="*/ 52 h 86"/>
                <a:gd name="T60" fmla="*/ 83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3" y="26"/>
                  </a:lnTo>
                  <a:lnTo>
                    <a:pt x="84" y="34"/>
                  </a:lnTo>
                  <a:lnTo>
                    <a:pt x="85" y="44"/>
                  </a:lnTo>
                  <a:lnTo>
                    <a:pt x="85" y="44"/>
                  </a:lnTo>
                  <a:lnTo>
                    <a:pt x="84" y="52"/>
                  </a:lnTo>
                  <a:lnTo>
                    <a:pt x="83" y="60"/>
                  </a:lnTo>
                  <a:lnTo>
                    <a:pt x="78" y="67"/>
                  </a:lnTo>
                  <a:lnTo>
                    <a:pt x="73" y="74"/>
                  </a:lnTo>
                  <a:lnTo>
                    <a:pt x="66" y="78"/>
                  </a:lnTo>
                  <a:lnTo>
                    <a:pt x="59" y="82"/>
                  </a:lnTo>
                  <a:lnTo>
                    <a:pt x="51"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30"/>
            <p:cNvSpPr>
              <a:spLocks/>
            </p:cNvSpPr>
            <p:nvPr userDrawn="1"/>
          </p:nvSpPr>
          <p:spPr bwMode="auto">
            <a:xfrm>
              <a:off x="3536" y="835"/>
              <a:ext cx="43" cy="42"/>
            </a:xfrm>
            <a:custGeom>
              <a:avLst/>
              <a:gdLst>
                <a:gd name="T0" fmla="*/ 43 w 85"/>
                <a:gd name="T1" fmla="*/ 86 h 86"/>
                <a:gd name="T2" fmla="*/ 43 w 85"/>
                <a:gd name="T3" fmla="*/ 86 h 86"/>
                <a:gd name="T4" fmla="*/ 33 w 85"/>
                <a:gd name="T5" fmla="*/ 86 h 86"/>
                <a:gd name="T6" fmla="*/ 26 w 85"/>
                <a:gd name="T7" fmla="*/ 83 h 86"/>
                <a:gd name="T8" fmla="*/ 18 w 85"/>
                <a:gd name="T9" fmla="*/ 79 h 86"/>
                <a:gd name="T10" fmla="*/ 12 w 85"/>
                <a:gd name="T11" fmla="*/ 73 h 86"/>
                <a:gd name="T12" fmla="*/ 7 w 85"/>
                <a:gd name="T13" fmla="*/ 66 h 86"/>
                <a:gd name="T14" fmla="*/ 3 w 85"/>
                <a:gd name="T15" fmla="*/ 59 h 86"/>
                <a:gd name="T16" fmla="*/ 0 w 85"/>
                <a:gd name="T17" fmla="*/ 51 h 86"/>
                <a:gd name="T18" fmla="*/ 0 w 85"/>
                <a:gd name="T19" fmla="*/ 43 h 86"/>
                <a:gd name="T20" fmla="*/ 0 w 85"/>
                <a:gd name="T21" fmla="*/ 43 h 86"/>
                <a:gd name="T22" fmla="*/ 0 w 85"/>
                <a:gd name="T23" fmla="*/ 35 h 86"/>
                <a:gd name="T24" fmla="*/ 3 w 85"/>
                <a:gd name="T25" fmla="*/ 26 h 86"/>
                <a:gd name="T26" fmla="*/ 7 w 85"/>
                <a:gd name="T27" fmla="*/ 20 h 86"/>
                <a:gd name="T28" fmla="*/ 12 w 85"/>
                <a:gd name="T29" fmla="*/ 13 h 86"/>
                <a:gd name="T30" fmla="*/ 18 w 85"/>
                <a:gd name="T31" fmla="*/ 7 h 86"/>
                <a:gd name="T32" fmla="*/ 26 w 85"/>
                <a:gd name="T33" fmla="*/ 3 h 86"/>
                <a:gd name="T34" fmla="*/ 33 w 85"/>
                <a:gd name="T35" fmla="*/ 0 h 86"/>
                <a:gd name="T36" fmla="*/ 43 w 85"/>
                <a:gd name="T37" fmla="*/ 0 h 86"/>
                <a:gd name="T38" fmla="*/ 43 w 85"/>
                <a:gd name="T39" fmla="*/ 0 h 86"/>
                <a:gd name="T40" fmla="*/ 51 w 85"/>
                <a:gd name="T41" fmla="*/ 0 h 86"/>
                <a:gd name="T42" fmla="*/ 59 w 85"/>
                <a:gd name="T43" fmla="*/ 3 h 86"/>
                <a:gd name="T44" fmla="*/ 66 w 85"/>
                <a:gd name="T45" fmla="*/ 7 h 86"/>
                <a:gd name="T46" fmla="*/ 73 w 85"/>
                <a:gd name="T47" fmla="*/ 13 h 86"/>
                <a:gd name="T48" fmla="*/ 78 w 85"/>
                <a:gd name="T49" fmla="*/ 20 h 86"/>
                <a:gd name="T50" fmla="*/ 81 w 85"/>
                <a:gd name="T51" fmla="*/ 26 h 86"/>
                <a:gd name="T52" fmla="*/ 84 w 85"/>
                <a:gd name="T53" fmla="*/ 35 h 86"/>
                <a:gd name="T54" fmla="*/ 85 w 85"/>
                <a:gd name="T55" fmla="*/ 43 h 86"/>
                <a:gd name="T56" fmla="*/ 85 w 85"/>
                <a:gd name="T57" fmla="*/ 43 h 86"/>
                <a:gd name="T58" fmla="*/ 84 w 85"/>
                <a:gd name="T59" fmla="*/ 51 h 86"/>
                <a:gd name="T60" fmla="*/ 81 w 85"/>
                <a:gd name="T61" fmla="*/ 59 h 86"/>
                <a:gd name="T62" fmla="*/ 78 w 85"/>
                <a:gd name="T63" fmla="*/ 66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6"/>
                  </a:lnTo>
                  <a:lnTo>
                    <a:pt x="26" y="83"/>
                  </a:lnTo>
                  <a:lnTo>
                    <a:pt x="18" y="79"/>
                  </a:lnTo>
                  <a:lnTo>
                    <a:pt x="12" y="73"/>
                  </a:lnTo>
                  <a:lnTo>
                    <a:pt x="7" y="66"/>
                  </a:lnTo>
                  <a:lnTo>
                    <a:pt x="3" y="59"/>
                  </a:lnTo>
                  <a:lnTo>
                    <a:pt x="0" y="51"/>
                  </a:lnTo>
                  <a:lnTo>
                    <a:pt x="0" y="43"/>
                  </a:lnTo>
                  <a:lnTo>
                    <a:pt x="0" y="43"/>
                  </a:lnTo>
                  <a:lnTo>
                    <a:pt x="0" y="35"/>
                  </a:lnTo>
                  <a:lnTo>
                    <a:pt x="3" y="26"/>
                  </a:lnTo>
                  <a:lnTo>
                    <a:pt x="7" y="20"/>
                  </a:lnTo>
                  <a:lnTo>
                    <a:pt x="12" y="13"/>
                  </a:lnTo>
                  <a:lnTo>
                    <a:pt x="18" y="7"/>
                  </a:lnTo>
                  <a:lnTo>
                    <a:pt x="26" y="3"/>
                  </a:lnTo>
                  <a:lnTo>
                    <a:pt x="33" y="0"/>
                  </a:lnTo>
                  <a:lnTo>
                    <a:pt x="43" y="0"/>
                  </a:lnTo>
                  <a:lnTo>
                    <a:pt x="43" y="0"/>
                  </a:lnTo>
                  <a:lnTo>
                    <a:pt x="51" y="0"/>
                  </a:lnTo>
                  <a:lnTo>
                    <a:pt x="59" y="3"/>
                  </a:lnTo>
                  <a:lnTo>
                    <a:pt x="66" y="7"/>
                  </a:lnTo>
                  <a:lnTo>
                    <a:pt x="73" y="13"/>
                  </a:lnTo>
                  <a:lnTo>
                    <a:pt x="78" y="20"/>
                  </a:lnTo>
                  <a:lnTo>
                    <a:pt x="81" y="26"/>
                  </a:lnTo>
                  <a:lnTo>
                    <a:pt x="84" y="35"/>
                  </a:lnTo>
                  <a:lnTo>
                    <a:pt x="85" y="43"/>
                  </a:lnTo>
                  <a:lnTo>
                    <a:pt x="85" y="43"/>
                  </a:lnTo>
                  <a:lnTo>
                    <a:pt x="84" y="51"/>
                  </a:lnTo>
                  <a:lnTo>
                    <a:pt x="81" y="59"/>
                  </a:lnTo>
                  <a:lnTo>
                    <a:pt x="78" y="66"/>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1"/>
            <p:cNvSpPr>
              <a:spLocks/>
            </p:cNvSpPr>
            <p:nvPr userDrawn="1"/>
          </p:nvSpPr>
          <p:spPr bwMode="auto">
            <a:xfrm>
              <a:off x="3536" y="891"/>
              <a:ext cx="43" cy="43"/>
            </a:xfrm>
            <a:custGeom>
              <a:avLst/>
              <a:gdLst>
                <a:gd name="T0" fmla="*/ 43 w 85"/>
                <a:gd name="T1" fmla="*/ 85 h 85"/>
                <a:gd name="T2" fmla="*/ 43 w 85"/>
                <a:gd name="T3" fmla="*/ 85 h 85"/>
                <a:gd name="T4" fmla="*/ 33 w 85"/>
                <a:gd name="T5" fmla="*/ 85 h 85"/>
                <a:gd name="T6" fmla="*/ 26 w 85"/>
                <a:gd name="T7" fmla="*/ 83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3 h 85"/>
                <a:gd name="T34" fmla="*/ 33 w 85"/>
                <a:gd name="T35" fmla="*/ 1 h 85"/>
                <a:gd name="T36" fmla="*/ 43 w 85"/>
                <a:gd name="T37" fmla="*/ 0 h 85"/>
                <a:gd name="T38" fmla="*/ 43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1 w 85"/>
                <a:gd name="T51" fmla="*/ 26 h 85"/>
                <a:gd name="T52" fmla="*/ 84 w 85"/>
                <a:gd name="T53" fmla="*/ 34 h 85"/>
                <a:gd name="T54" fmla="*/ 85 w 85"/>
                <a:gd name="T55" fmla="*/ 43 h 85"/>
                <a:gd name="T56" fmla="*/ 85 w 85"/>
                <a:gd name="T57" fmla="*/ 43 h 85"/>
                <a:gd name="T58" fmla="*/ 84 w 85"/>
                <a:gd name="T59" fmla="*/ 51 h 85"/>
                <a:gd name="T60" fmla="*/ 81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3" y="85"/>
                  </a:lnTo>
                  <a:lnTo>
                    <a:pt x="26" y="83"/>
                  </a:lnTo>
                  <a:lnTo>
                    <a:pt x="18" y="78"/>
                  </a:lnTo>
                  <a:lnTo>
                    <a:pt x="12" y="73"/>
                  </a:lnTo>
                  <a:lnTo>
                    <a:pt x="7" y="67"/>
                  </a:lnTo>
                  <a:lnTo>
                    <a:pt x="3" y="59"/>
                  </a:lnTo>
                  <a:lnTo>
                    <a:pt x="0" y="51"/>
                  </a:lnTo>
                  <a:lnTo>
                    <a:pt x="0" y="43"/>
                  </a:lnTo>
                  <a:lnTo>
                    <a:pt x="0" y="43"/>
                  </a:lnTo>
                  <a:lnTo>
                    <a:pt x="0" y="34"/>
                  </a:lnTo>
                  <a:lnTo>
                    <a:pt x="3" y="26"/>
                  </a:lnTo>
                  <a:lnTo>
                    <a:pt x="7" y="19"/>
                  </a:lnTo>
                  <a:lnTo>
                    <a:pt x="12" y="12"/>
                  </a:lnTo>
                  <a:lnTo>
                    <a:pt x="18" y="7"/>
                  </a:lnTo>
                  <a:lnTo>
                    <a:pt x="26" y="3"/>
                  </a:lnTo>
                  <a:lnTo>
                    <a:pt x="33" y="1"/>
                  </a:lnTo>
                  <a:lnTo>
                    <a:pt x="43" y="0"/>
                  </a:lnTo>
                  <a:lnTo>
                    <a:pt x="43" y="0"/>
                  </a:lnTo>
                  <a:lnTo>
                    <a:pt x="51" y="1"/>
                  </a:lnTo>
                  <a:lnTo>
                    <a:pt x="59" y="3"/>
                  </a:lnTo>
                  <a:lnTo>
                    <a:pt x="66" y="7"/>
                  </a:lnTo>
                  <a:lnTo>
                    <a:pt x="73" y="12"/>
                  </a:lnTo>
                  <a:lnTo>
                    <a:pt x="78" y="19"/>
                  </a:lnTo>
                  <a:lnTo>
                    <a:pt x="81" y="26"/>
                  </a:lnTo>
                  <a:lnTo>
                    <a:pt x="84" y="34"/>
                  </a:lnTo>
                  <a:lnTo>
                    <a:pt x="85" y="43"/>
                  </a:lnTo>
                  <a:lnTo>
                    <a:pt x="85" y="43"/>
                  </a:lnTo>
                  <a:lnTo>
                    <a:pt x="84" y="51"/>
                  </a:lnTo>
                  <a:lnTo>
                    <a:pt x="81" y="59"/>
                  </a:lnTo>
                  <a:lnTo>
                    <a:pt x="78" y="67"/>
                  </a:lnTo>
                  <a:lnTo>
                    <a:pt x="73" y="73"/>
                  </a:lnTo>
                  <a:lnTo>
                    <a:pt x="66" y="78"/>
                  </a:lnTo>
                  <a:lnTo>
                    <a:pt x="59" y="83"/>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2"/>
            <p:cNvSpPr>
              <a:spLocks/>
            </p:cNvSpPr>
            <p:nvPr userDrawn="1"/>
          </p:nvSpPr>
          <p:spPr bwMode="auto">
            <a:xfrm>
              <a:off x="3536" y="947"/>
              <a:ext cx="43" cy="43"/>
            </a:xfrm>
            <a:custGeom>
              <a:avLst/>
              <a:gdLst>
                <a:gd name="T0" fmla="*/ 43 w 85"/>
                <a:gd name="T1" fmla="*/ 85 h 85"/>
                <a:gd name="T2" fmla="*/ 43 w 85"/>
                <a:gd name="T3" fmla="*/ 85 h 85"/>
                <a:gd name="T4" fmla="*/ 33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3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1 w 85"/>
                <a:gd name="T51" fmla="*/ 26 h 85"/>
                <a:gd name="T52" fmla="*/ 84 w 85"/>
                <a:gd name="T53" fmla="*/ 34 h 85"/>
                <a:gd name="T54" fmla="*/ 85 w 85"/>
                <a:gd name="T55" fmla="*/ 42 h 85"/>
                <a:gd name="T56" fmla="*/ 85 w 85"/>
                <a:gd name="T57" fmla="*/ 42 h 85"/>
                <a:gd name="T58" fmla="*/ 84 w 85"/>
                <a:gd name="T59" fmla="*/ 51 h 85"/>
                <a:gd name="T60" fmla="*/ 81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3"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3" y="1"/>
                  </a:lnTo>
                  <a:lnTo>
                    <a:pt x="43" y="0"/>
                  </a:lnTo>
                  <a:lnTo>
                    <a:pt x="43" y="0"/>
                  </a:lnTo>
                  <a:lnTo>
                    <a:pt x="51" y="1"/>
                  </a:lnTo>
                  <a:lnTo>
                    <a:pt x="59" y="2"/>
                  </a:lnTo>
                  <a:lnTo>
                    <a:pt x="66" y="7"/>
                  </a:lnTo>
                  <a:lnTo>
                    <a:pt x="73" y="12"/>
                  </a:lnTo>
                  <a:lnTo>
                    <a:pt x="78" y="19"/>
                  </a:lnTo>
                  <a:lnTo>
                    <a:pt x="81" y="26"/>
                  </a:lnTo>
                  <a:lnTo>
                    <a:pt x="84" y="34"/>
                  </a:lnTo>
                  <a:lnTo>
                    <a:pt x="85" y="42"/>
                  </a:lnTo>
                  <a:lnTo>
                    <a:pt x="85" y="42"/>
                  </a:lnTo>
                  <a:lnTo>
                    <a:pt x="84" y="51"/>
                  </a:lnTo>
                  <a:lnTo>
                    <a:pt x="81" y="59"/>
                  </a:lnTo>
                  <a:lnTo>
                    <a:pt x="78" y="67"/>
                  </a:lnTo>
                  <a:lnTo>
                    <a:pt x="73" y="73"/>
                  </a:lnTo>
                  <a:lnTo>
                    <a:pt x="66" y="78"/>
                  </a:lnTo>
                  <a:lnTo>
                    <a:pt x="59" y="82"/>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3"/>
            <p:cNvSpPr>
              <a:spLocks/>
            </p:cNvSpPr>
            <p:nvPr userDrawn="1"/>
          </p:nvSpPr>
          <p:spPr bwMode="auto">
            <a:xfrm>
              <a:off x="3536" y="1004"/>
              <a:ext cx="43" cy="42"/>
            </a:xfrm>
            <a:custGeom>
              <a:avLst/>
              <a:gdLst>
                <a:gd name="T0" fmla="*/ 43 w 85"/>
                <a:gd name="T1" fmla="*/ 86 h 86"/>
                <a:gd name="T2" fmla="*/ 43 w 85"/>
                <a:gd name="T3" fmla="*/ 86 h 86"/>
                <a:gd name="T4" fmla="*/ 33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3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1 w 85"/>
                <a:gd name="T51" fmla="*/ 27 h 86"/>
                <a:gd name="T52" fmla="*/ 84 w 85"/>
                <a:gd name="T53" fmla="*/ 35 h 86"/>
                <a:gd name="T54" fmla="*/ 85 w 85"/>
                <a:gd name="T55" fmla="*/ 43 h 86"/>
                <a:gd name="T56" fmla="*/ 85 w 85"/>
                <a:gd name="T57" fmla="*/ 43 h 86"/>
                <a:gd name="T58" fmla="*/ 84 w 85"/>
                <a:gd name="T59" fmla="*/ 53 h 86"/>
                <a:gd name="T60" fmla="*/ 81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3" y="2"/>
                  </a:lnTo>
                  <a:lnTo>
                    <a:pt x="43" y="0"/>
                  </a:lnTo>
                  <a:lnTo>
                    <a:pt x="43" y="0"/>
                  </a:lnTo>
                  <a:lnTo>
                    <a:pt x="51" y="2"/>
                  </a:lnTo>
                  <a:lnTo>
                    <a:pt x="59" y="5"/>
                  </a:lnTo>
                  <a:lnTo>
                    <a:pt x="66" y="7"/>
                  </a:lnTo>
                  <a:lnTo>
                    <a:pt x="73" y="13"/>
                  </a:lnTo>
                  <a:lnTo>
                    <a:pt x="78" y="20"/>
                  </a:lnTo>
                  <a:lnTo>
                    <a:pt x="81" y="27"/>
                  </a:lnTo>
                  <a:lnTo>
                    <a:pt x="84" y="35"/>
                  </a:lnTo>
                  <a:lnTo>
                    <a:pt x="85" y="43"/>
                  </a:lnTo>
                  <a:lnTo>
                    <a:pt x="85" y="43"/>
                  </a:lnTo>
                  <a:lnTo>
                    <a:pt x="84" y="53"/>
                  </a:lnTo>
                  <a:lnTo>
                    <a:pt x="81" y="59"/>
                  </a:lnTo>
                  <a:lnTo>
                    <a:pt x="78" y="68"/>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4"/>
            <p:cNvSpPr>
              <a:spLocks/>
            </p:cNvSpPr>
            <p:nvPr userDrawn="1"/>
          </p:nvSpPr>
          <p:spPr bwMode="auto">
            <a:xfrm>
              <a:off x="3536" y="1060"/>
              <a:ext cx="43" cy="43"/>
            </a:xfrm>
            <a:custGeom>
              <a:avLst/>
              <a:gdLst>
                <a:gd name="T0" fmla="*/ 43 w 85"/>
                <a:gd name="T1" fmla="*/ 87 h 87"/>
                <a:gd name="T2" fmla="*/ 43 w 85"/>
                <a:gd name="T3" fmla="*/ 87 h 87"/>
                <a:gd name="T4" fmla="*/ 33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3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1 w 85"/>
                <a:gd name="T51" fmla="*/ 26 h 87"/>
                <a:gd name="T52" fmla="*/ 84 w 85"/>
                <a:gd name="T53" fmla="*/ 34 h 87"/>
                <a:gd name="T54" fmla="*/ 85 w 85"/>
                <a:gd name="T55" fmla="*/ 43 h 87"/>
                <a:gd name="T56" fmla="*/ 85 w 85"/>
                <a:gd name="T57" fmla="*/ 43 h 87"/>
                <a:gd name="T58" fmla="*/ 84 w 85"/>
                <a:gd name="T59" fmla="*/ 52 h 87"/>
                <a:gd name="T60" fmla="*/ 81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3"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3" y="1"/>
                  </a:lnTo>
                  <a:lnTo>
                    <a:pt x="43" y="0"/>
                  </a:lnTo>
                  <a:lnTo>
                    <a:pt x="43" y="0"/>
                  </a:lnTo>
                  <a:lnTo>
                    <a:pt x="51" y="1"/>
                  </a:lnTo>
                  <a:lnTo>
                    <a:pt x="59" y="4"/>
                  </a:lnTo>
                  <a:lnTo>
                    <a:pt x="66" y="8"/>
                  </a:lnTo>
                  <a:lnTo>
                    <a:pt x="73" y="12"/>
                  </a:lnTo>
                  <a:lnTo>
                    <a:pt x="78" y="19"/>
                  </a:lnTo>
                  <a:lnTo>
                    <a:pt x="81" y="26"/>
                  </a:lnTo>
                  <a:lnTo>
                    <a:pt x="84" y="34"/>
                  </a:lnTo>
                  <a:lnTo>
                    <a:pt x="85" y="43"/>
                  </a:lnTo>
                  <a:lnTo>
                    <a:pt x="85" y="43"/>
                  </a:lnTo>
                  <a:lnTo>
                    <a:pt x="84" y="52"/>
                  </a:lnTo>
                  <a:lnTo>
                    <a:pt x="81" y="61"/>
                  </a:lnTo>
                  <a:lnTo>
                    <a:pt x="78" y="67"/>
                  </a:lnTo>
                  <a:lnTo>
                    <a:pt x="73" y="73"/>
                  </a:lnTo>
                  <a:lnTo>
                    <a:pt x="66" y="78"/>
                  </a:lnTo>
                  <a:lnTo>
                    <a:pt x="59" y="83"/>
                  </a:lnTo>
                  <a:lnTo>
                    <a:pt x="51" y="85"/>
                  </a:lnTo>
                  <a:lnTo>
                    <a:pt x="43" y="87"/>
                  </a:lnTo>
                  <a:lnTo>
                    <a:pt x="43"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35"/>
            <p:cNvSpPr>
              <a:spLocks/>
            </p:cNvSpPr>
            <p:nvPr userDrawn="1"/>
          </p:nvSpPr>
          <p:spPr bwMode="auto">
            <a:xfrm>
              <a:off x="3536" y="1116"/>
              <a:ext cx="43" cy="44"/>
            </a:xfrm>
            <a:custGeom>
              <a:avLst/>
              <a:gdLst>
                <a:gd name="T0" fmla="*/ 43 w 85"/>
                <a:gd name="T1" fmla="*/ 86 h 86"/>
                <a:gd name="T2" fmla="*/ 43 w 85"/>
                <a:gd name="T3" fmla="*/ 86 h 86"/>
                <a:gd name="T4" fmla="*/ 33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3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1 w 85"/>
                <a:gd name="T51" fmla="*/ 26 h 86"/>
                <a:gd name="T52" fmla="*/ 84 w 85"/>
                <a:gd name="T53" fmla="*/ 34 h 86"/>
                <a:gd name="T54" fmla="*/ 85 w 85"/>
                <a:gd name="T55" fmla="*/ 44 h 86"/>
                <a:gd name="T56" fmla="*/ 85 w 85"/>
                <a:gd name="T57" fmla="*/ 44 h 86"/>
                <a:gd name="T58" fmla="*/ 84 w 85"/>
                <a:gd name="T59" fmla="*/ 52 h 86"/>
                <a:gd name="T60" fmla="*/ 81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3" y="1"/>
                  </a:lnTo>
                  <a:lnTo>
                    <a:pt x="43" y="0"/>
                  </a:lnTo>
                  <a:lnTo>
                    <a:pt x="43" y="0"/>
                  </a:lnTo>
                  <a:lnTo>
                    <a:pt x="51" y="1"/>
                  </a:lnTo>
                  <a:lnTo>
                    <a:pt x="59" y="4"/>
                  </a:lnTo>
                  <a:lnTo>
                    <a:pt x="66" y="8"/>
                  </a:lnTo>
                  <a:lnTo>
                    <a:pt x="73" y="12"/>
                  </a:lnTo>
                  <a:lnTo>
                    <a:pt x="78" y="19"/>
                  </a:lnTo>
                  <a:lnTo>
                    <a:pt x="81" y="26"/>
                  </a:lnTo>
                  <a:lnTo>
                    <a:pt x="84" y="34"/>
                  </a:lnTo>
                  <a:lnTo>
                    <a:pt x="85" y="44"/>
                  </a:lnTo>
                  <a:lnTo>
                    <a:pt x="85" y="44"/>
                  </a:lnTo>
                  <a:lnTo>
                    <a:pt x="84" y="52"/>
                  </a:lnTo>
                  <a:lnTo>
                    <a:pt x="81" y="60"/>
                  </a:lnTo>
                  <a:lnTo>
                    <a:pt x="78" y="67"/>
                  </a:lnTo>
                  <a:lnTo>
                    <a:pt x="73" y="74"/>
                  </a:lnTo>
                  <a:lnTo>
                    <a:pt x="66" y="78"/>
                  </a:lnTo>
                  <a:lnTo>
                    <a:pt x="59" y="82"/>
                  </a:lnTo>
                  <a:lnTo>
                    <a:pt x="51"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36"/>
            <p:cNvSpPr>
              <a:spLocks/>
            </p:cNvSpPr>
            <p:nvPr userDrawn="1"/>
          </p:nvSpPr>
          <p:spPr bwMode="auto">
            <a:xfrm>
              <a:off x="3762" y="947"/>
              <a:ext cx="43" cy="43"/>
            </a:xfrm>
            <a:custGeom>
              <a:avLst/>
              <a:gdLst>
                <a:gd name="T0" fmla="*/ 42 w 85"/>
                <a:gd name="T1" fmla="*/ 85 h 85"/>
                <a:gd name="T2" fmla="*/ 42 w 85"/>
                <a:gd name="T3" fmla="*/ 85 h 85"/>
                <a:gd name="T4" fmla="*/ 34 w 85"/>
                <a:gd name="T5" fmla="*/ 85 h 85"/>
                <a:gd name="T6" fmla="*/ 26 w 85"/>
                <a:gd name="T7" fmla="*/ 82 h 85"/>
                <a:gd name="T8" fmla="*/ 19 w 85"/>
                <a:gd name="T9" fmla="*/ 78 h 85"/>
                <a:gd name="T10" fmla="*/ 12 w 85"/>
                <a:gd name="T11" fmla="*/ 73 h 85"/>
                <a:gd name="T12" fmla="*/ 7 w 85"/>
                <a:gd name="T13" fmla="*/ 67 h 85"/>
                <a:gd name="T14" fmla="*/ 2 w 85"/>
                <a:gd name="T15" fmla="*/ 59 h 85"/>
                <a:gd name="T16" fmla="*/ 1 w 85"/>
                <a:gd name="T17" fmla="*/ 51 h 85"/>
                <a:gd name="T18" fmla="*/ 0 w 85"/>
                <a:gd name="T19" fmla="*/ 42 h 85"/>
                <a:gd name="T20" fmla="*/ 0 w 85"/>
                <a:gd name="T21" fmla="*/ 42 h 85"/>
                <a:gd name="T22" fmla="*/ 1 w 85"/>
                <a:gd name="T23" fmla="*/ 34 h 85"/>
                <a:gd name="T24" fmla="*/ 2 w 85"/>
                <a:gd name="T25" fmla="*/ 26 h 85"/>
                <a:gd name="T26" fmla="*/ 7 w 85"/>
                <a:gd name="T27" fmla="*/ 19 h 85"/>
                <a:gd name="T28" fmla="*/ 12 w 85"/>
                <a:gd name="T29" fmla="*/ 12 h 85"/>
                <a:gd name="T30" fmla="*/ 19 w 85"/>
                <a:gd name="T31" fmla="*/ 7 h 85"/>
                <a:gd name="T32" fmla="*/ 26 w 85"/>
                <a:gd name="T33" fmla="*/ 2 h 85"/>
                <a:gd name="T34" fmla="*/ 34 w 85"/>
                <a:gd name="T35" fmla="*/ 1 h 85"/>
                <a:gd name="T36" fmla="*/ 42 w 85"/>
                <a:gd name="T37" fmla="*/ 0 h 85"/>
                <a:gd name="T38" fmla="*/ 42 w 85"/>
                <a:gd name="T39" fmla="*/ 0 h 85"/>
                <a:gd name="T40" fmla="*/ 51 w 85"/>
                <a:gd name="T41" fmla="*/ 1 h 85"/>
                <a:gd name="T42" fmla="*/ 59 w 85"/>
                <a:gd name="T43" fmla="*/ 2 h 85"/>
                <a:gd name="T44" fmla="*/ 67 w 85"/>
                <a:gd name="T45" fmla="*/ 7 h 85"/>
                <a:gd name="T46" fmla="*/ 73 w 85"/>
                <a:gd name="T47" fmla="*/ 12 h 85"/>
                <a:gd name="T48" fmla="*/ 78 w 85"/>
                <a:gd name="T49" fmla="*/ 19 h 85"/>
                <a:gd name="T50" fmla="*/ 82 w 85"/>
                <a:gd name="T51" fmla="*/ 26 h 85"/>
                <a:gd name="T52" fmla="*/ 85 w 85"/>
                <a:gd name="T53" fmla="*/ 34 h 85"/>
                <a:gd name="T54" fmla="*/ 85 w 85"/>
                <a:gd name="T55" fmla="*/ 42 h 85"/>
                <a:gd name="T56" fmla="*/ 85 w 85"/>
                <a:gd name="T57" fmla="*/ 42 h 85"/>
                <a:gd name="T58" fmla="*/ 85 w 85"/>
                <a:gd name="T59" fmla="*/ 51 h 85"/>
                <a:gd name="T60" fmla="*/ 82 w 85"/>
                <a:gd name="T61" fmla="*/ 59 h 85"/>
                <a:gd name="T62" fmla="*/ 78 w 85"/>
                <a:gd name="T63" fmla="*/ 67 h 85"/>
                <a:gd name="T64" fmla="*/ 73 w 85"/>
                <a:gd name="T65" fmla="*/ 73 h 85"/>
                <a:gd name="T66" fmla="*/ 67 w 85"/>
                <a:gd name="T67" fmla="*/ 78 h 85"/>
                <a:gd name="T68" fmla="*/ 59 w 85"/>
                <a:gd name="T69" fmla="*/ 82 h 85"/>
                <a:gd name="T70" fmla="*/ 51 w 85"/>
                <a:gd name="T71" fmla="*/ 85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5"/>
                  </a:lnTo>
                  <a:lnTo>
                    <a:pt x="26" y="82"/>
                  </a:lnTo>
                  <a:lnTo>
                    <a:pt x="19" y="78"/>
                  </a:lnTo>
                  <a:lnTo>
                    <a:pt x="12" y="73"/>
                  </a:lnTo>
                  <a:lnTo>
                    <a:pt x="7" y="67"/>
                  </a:lnTo>
                  <a:lnTo>
                    <a:pt x="2" y="59"/>
                  </a:lnTo>
                  <a:lnTo>
                    <a:pt x="1" y="51"/>
                  </a:lnTo>
                  <a:lnTo>
                    <a:pt x="0" y="42"/>
                  </a:lnTo>
                  <a:lnTo>
                    <a:pt x="0" y="42"/>
                  </a:lnTo>
                  <a:lnTo>
                    <a:pt x="1" y="34"/>
                  </a:lnTo>
                  <a:lnTo>
                    <a:pt x="2" y="26"/>
                  </a:lnTo>
                  <a:lnTo>
                    <a:pt x="7" y="19"/>
                  </a:lnTo>
                  <a:lnTo>
                    <a:pt x="12" y="12"/>
                  </a:lnTo>
                  <a:lnTo>
                    <a:pt x="19" y="7"/>
                  </a:lnTo>
                  <a:lnTo>
                    <a:pt x="26" y="2"/>
                  </a:lnTo>
                  <a:lnTo>
                    <a:pt x="34" y="1"/>
                  </a:lnTo>
                  <a:lnTo>
                    <a:pt x="42" y="0"/>
                  </a:lnTo>
                  <a:lnTo>
                    <a:pt x="42" y="0"/>
                  </a:lnTo>
                  <a:lnTo>
                    <a:pt x="51" y="1"/>
                  </a:lnTo>
                  <a:lnTo>
                    <a:pt x="59" y="2"/>
                  </a:lnTo>
                  <a:lnTo>
                    <a:pt x="67" y="7"/>
                  </a:lnTo>
                  <a:lnTo>
                    <a:pt x="73" y="12"/>
                  </a:lnTo>
                  <a:lnTo>
                    <a:pt x="78" y="19"/>
                  </a:lnTo>
                  <a:lnTo>
                    <a:pt x="82" y="26"/>
                  </a:lnTo>
                  <a:lnTo>
                    <a:pt x="85" y="34"/>
                  </a:lnTo>
                  <a:lnTo>
                    <a:pt x="85" y="42"/>
                  </a:lnTo>
                  <a:lnTo>
                    <a:pt x="85" y="42"/>
                  </a:lnTo>
                  <a:lnTo>
                    <a:pt x="85" y="51"/>
                  </a:lnTo>
                  <a:lnTo>
                    <a:pt x="82" y="59"/>
                  </a:lnTo>
                  <a:lnTo>
                    <a:pt x="78" y="67"/>
                  </a:lnTo>
                  <a:lnTo>
                    <a:pt x="73" y="73"/>
                  </a:lnTo>
                  <a:lnTo>
                    <a:pt x="67" y="78"/>
                  </a:lnTo>
                  <a:lnTo>
                    <a:pt x="59" y="82"/>
                  </a:lnTo>
                  <a:lnTo>
                    <a:pt x="51" y="85"/>
                  </a:lnTo>
                  <a:lnTo>
                    <a:pt x="42" y="85"/>
                  </a:lnTo>
                  <a:lnTo>
                    <a:pt x="42"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37"/>
            <p:cNvSpPr>
              <a:spLocks/>
            </p:cNvSpPr>
            <p:nvPr userDrawn="1"/>
          </p:nvSpPr>
          <p:spPr bwMode="auto">
            <a:xfrm>
              <a:off x="3762" y="1004"/>
              <a:ext cx="43" cy="42"/>
            </a:xfrm>
            <a:custGeom>
              <a:avLst/>
              <a:gdLst>
                <a:gd name="T0" fmla="*/ 42 w 85"/>
                <a:gd name="T1" fmla="*/ 86 h 86"/>
                <a:gd name="T2" fmla="*/ 42 w 85"/>
                <a:gd name="T3" fmla="*/ 86 h 86"/>
                <a:gd name="T4" fmla="*/ 34 w 85"/>
                <a:gd name="T5" fmla="*/ 86 h 86"/>
                <a:gd name="T6" fmla="*/ 26 w 85"/>
                <a:gd name="T7" fmla="*/ 83 h 86"/>
                <a:gd name="T8" fmla="*/ 19 w 85"/>
                <a:gd name="T9" fmla="*/ 79 h 86"/>
                <a:gd name="T10" fmla="*/ 12 w 85"/>
                <a:gd name="T11" fmla="*/ 73 h 86"/>
                <a:gd name="T12" fmla="*/ 7 w 85"/>
                <a:gd name="T13" fmla="*/ 68 h 86"/>
                <a:gd name="T14" fmla="*/ 2 w 85"/>
                <a:gd name="T15" fmla="*/ 59 h 86"/>
                <a:gd name="T16" fmla="*/ 1 w 85"/>
                <a:gd name="T17" fmla="*/ 53 h 86"/>
                <a:gd name="T18" fmla="*/ 0 w 85"/>
                <a:gd name="T19" fmla="*/ 43 h 86"/>
                <a:gd name="T20" fmla="*/ 0 w 85"/>
                <a:gd name="T21" fmla="*/ 43 h 86"/>
                <a:gd name="T22" fmla="*/ 1 w 85"/>
                <a:gd name="T23" fmla="*/ 35 h 86"/>
                <a:gd name="T24" fmla="*/ 2 w 85"/>
                <a:gd name="T25" fmla="*/ 27 h 86"/>
                <a:gd name="T26" fmla="*/ 7 w 85"/>
                <a:gd name="T27" fmla="*/ 20 h 86"/>
                <a:gd name="T28" fmla="*/ 12 w 85"/>
                <a:gd name="T29" fmla="*/ 13 h 86"/>
                <a:gd name="T30" fmla="*/ 19 w 85"/>
                <a:gd name="T31" fmla="*/ 7 h 86"/>
                <a:gd name="T32" fmla="*/ 26 w 85"/>
                <a:gd name="T33" fmla="*/ 5 h 86"/>
                <a:gd name="T34" fmla="*/ 34 w 85"/>
                <a:gd name="T35" fmla="*/ 2 h 86"/>
                <a:gd name="T36" fmla="*/ 42 w 85"/>
                <a:gd name="T37" fmla="*/ 0 h 86"/>
                <a:gd name="T38" fmla="*/ 42 w 85"/>
                <a:gd name="T39" fmla="*/ 0 h 86"/>
                <a:gd name="T40" fmla="*/ 51 w 85"/>
                <a:gd name="T41" fmla="*/ 2 h 86"/>
                <a:gd name="T42" fmla="*/ 59 w 85"/>
                <a:gd name="T43" fmla="*/ 5 h 86"/>
                <a:gd name="T44" fmla="*/ 67 w 85"/>
                <a:gd name="T45" fmla="*/ 7 h 86"/>
                <a:gd name="T46" fmla="*/ 73 w 85"/>
                <a:gd name="T47" fmla="*/ 13 h 86"/>
                <a:gd name="T48" fmla="*/ 78 w 85"/>
                <a:gd name="T49" fmla="*/ 20 h 86"/>
                <a:gd name="T50" fmla="*/ 82 w 85"/>
                <a:gd name="T51" fmla="*/ 27 h 86"/>
                <a:gd name="T52" fmla="*/ 85 w 85"/>
                <a:gd name="T53" fmla="*/ 35 h 86"/>
                <a:gd name="T54" fmla="*/ 85 w 85"/>
                <a:gd name="T55" fmla="*/ 43 h 86"/>
                <a:gd name="T56" fmla="*/ 85 w 85"/>
                <a:gd name="T57" fmla="*/ 43 h 86"/>
                <a:gd name="T58" fmla="*/ 85 w 85"/>
                <a:gd name="T59" fmla="*/ 53 h 86"/>
                <a:gd name="T60" fmla="*/ 82 w 85"/>
                <a:gd name="T61" fmla="*/ 59 h 86"/>
                <a:gd name="T62" fmla="*/ 78 w 85"/>
                <a:gd name="T63" fmla="*/ 68 h 86"/>
                <a:gd name="T64" fmla="*/ 73 w 85"/>
                <a:gd name="T65" fmla="*/ 73 h 86"/>
                <a:gd name="T66" fmla="*/ 67 w 85"/>
                <a:gd name="T67" fmla="*/ 79 h 86"/>
                <a:gd name="T68" fmla="*/ 59 w 85"/>
                <a:gd name="T69" fmla="*/ 83 h 86"/>
                <a:gd name="T70" fmla="*/ 51 w 85"/>
                <a:gd name="T71" fmla="*/ 86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6"/>
                  </a:lnTo>
                  <a:lnTo>
                    <a:pt x="26" y="83"/>
                  </a:lnTo>
                  <a:lnTo>
                    <a:pt x="19" y="79"/>
                  </a:lnTo>
                  <a:lnTo>
                    <a:pt x="12" y="73"/>
                  </a:lnTo>
                  <a:lnTo>
                    <a:pt x="7" y="68"/>
                  </a:lnTo>
                  <a:lnTo>
                    <a:pt x="2" y="59"/>
                  </a:lnTo>
                  <a:lnTo>
                    <a:pt x="1" y="53"/>
                  </a:lnTo>
                  <a:lnTo>
                    <a:pt x="0" y="43"/>
                  </a:lnTo>
                  <a:lnTo>
                    <a:pt x="0" y="43"/>
                  </a:lnTo>
                  <a:lnTo>
                    <a:pt x="1" y="35"/>
                  </a:lnTo>
                  <a:lnTo>
                    <a:pt x="2" y="27"/>
                  </a:lnTo>
                  <a:lnTo>
                    <a:pt x="7" y="20"/>
                  </a:lnTo>
                  <a:lnTo>
                    <a:pt x="12" y="13"/>
                  </a:lnTo>
                  <a:lnTo>
                    <a:pt x="19" y="7"/>
                  </a:lnTo>
                  <a:lnTo>
                    <a:pt x="26" y="5"/>
                  </a:lnTo>
                  <a:lnTo>
                    <a:pt x="34" y="2"/>
                  </a:lnTo>
                  <a:lnTo>
                    <a:pt x="42" y="0"/>
                  </a:lnTo>
                  <a:lnTo>
                    <a:pt x="42" y="0"/>
                  </a:lnTo>
                  <a:lnTo>
                    <a:pt x="51" y="2"/>
                  </a:lnTo>
                  <a:lnTo>
                    <a:pt x="59" y="5"/>
                  </a:lnTo>
                  <a:lnTo>
                    <a:pt x="67" y="7"/>
                  </a:lnTo>
                  <a:lnTo>
                    <a:pt x="73" y="13"/>
                  </a:lnTo>
                  <a:lnTo>
                    <a:pt x="78" y="20"/>
                  </a:lnTo>
                  <a:lnTo>
                    <a:pt x="82" y="27"/>
                  </a:lnTo>
                  <a:lnTo>
                    <a:pt x="85" y="35"/>
                  </a:lnTo>
                  <a:lnTo>
                    <a:pt x="85" y="43"/>
                  </a:lnTo>
                  <a:lnTo>
                    <a:pt x="85" y="43"/>
                  </a:lnTo>
                  <a:lnTo>
                    <a:pt x="85" y="53"/>
                  </a:lnTo>
                  <a:lnTo>
                    <a:pt x="82" y="59"/>
                  </a:lnTo>
                  <a:lnTo>
                    <a:pt x="78" y="68"/>
                  </a:lnTo>
                  <a:lnTo>
                    <a:pt x="73" y="73"/>
                  </a:lnTo>
                  <a:lnTo>
                    <a:pt x="67" y="79"/>
                  </a:lnTo>
                  <a:lnTo>
                    <a:pt x="59" y="83"/>
                  </a:lnTo>
                  <a:lnTo>
                    <a:pt x="51" y="86"/>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38"/>
            <p:cNvSpPr>
              <a:spLocks/>
            </p:cNvSpPr>
            <p:nvPr userDrawn="1"/>
          </p:nvSpPr>
          <p:spPr bwMode="auto">
            <a:xfrm>
              <a:off x="3762" y="1060"/>
              <a:ext cx="43" cy="43"/>
            </a:xfrm>
            <a:custGeom>
              <a:avLst/>
              <a:gdLst>
                <a:gd name="T0" fmla="*/ 42 w 85"/>
                <a:gd name="T1" fmla="*/ 87 h 87"/>
                <a:gd name="T2" fmla="*/ 42 w 85"/>
                <a:gd name="T3" fmla="*/ 87 h 87"/>
                <a:gd name="T4" fmla="*/ 34 w 85"/>
                <a:gd name="T5" fmla="*/ 85 h 87"/>
                <a:gd name="T6" fmla="*/ 26 w 85"/>
                <a:gd name="T7" fmla="*/ 83 h 87"/>
                <a:gd name="T8" fmla="*/ 19 w 85"/>
                <a:gd name="T9" fmla="*/ 78 h 87"/>
                <a:gd name="T10" fmla="*/ 12 w 85"/>
                <a:gd name="T11" fmla="*/ 73 h 87"/>
                <a:gd name="T12" fmla="*/ 7 w 85"/>
                <a:gd name="T13" fmla="*/ 67 h 87"/>
                <a:gd name="T14" fmla="*/ 2 w 85"/>
                <a:gd name="T15" fmla="*/ 61 h 87"/>
                <a:gd name="T16" fmla="*/ 1 w 85"/>
                <a:gd name="T17" fmla="*/ 52 h 87"/>
                <a:gd name="T18" fmla="*/ 0 w 85"/>
                <a:gd name="T19" fmla="*/ 43 h 87"/>
                <a:gd name="T20" fmla="*/ 0 w 85"/>
                <a:gd name="T21" fmla="*/ 43 h 87"/>
                <a:gd name="T22" fmla="*/ 1 w 85"/>
                <a:gd name="T23" fmla="*/ 34 h 87"/>
                <a:gd name="T24" fmla="*/ 2 w 85"/>
                <a:gd name="T25" fmla="*/ 26 h 87"/>
                <a:gd name="T26" fmla="*/ 7 w 85"/>
                <a:gd name="T27" fmla="*/ 19 h 87"/>
                <a:gd name="T28" fmla="*/ 12 w 85"/>
                <a:gd name="T29" fmla="*/ 12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7 w 85"/>
                <a:gd name="T45" fmla="*/ 8 h 87"/>
                <a:gd name="T46" fmla="*/ 73 w 85"/>
                <a:gd name="T47" fmla="*/ 12 h 87"/>
                <a:gd name="T48" fmla="*/ 78 w 85"/>
                <a:gd name="T49" fmla="*/ 19 h 87"/>
                <a:gd name="T50" fmla="*/ 82 w 85"/>
                <a:gd name="T51" fmla="*/ 26 h 87"/>
                <a:gd name="T52" fmla="*/ 85 w 85"/>
                <a:gd name="T53" fmla="*/ 34 h 87"/>
                <a:gd name="T54" fmla="*/ 85 w 85"/>
                <a:gd name="T55" fmla="*/ 43 h 87"/>
                <a:gd name="T56" fmla="*/ 85 w 85"/>
                <a:gd name="T57" fmla="*/ 43 h 87"/>
                <a:gd name="T58" fmla="*/ 85 w 85"/>
                <a:gd name="T59" fmla="*/ 52 h 87"/>
                <a:gd name="T60" fmla="*/ 82 w 85"/>
                <a:gd name="T61" fmla="*/ 61 h 87"/>
                <a:gd name="T62" fmla="*/ 78 w 85"/>
                <a:gd name="T63" fmla="*/ 67 h 87"/>
                <a:gd name="T64" fmla="*/ 73 w 85"/>
                <a:gd name="T65" fmla="*/ 73 h 87"/>
                <a:gd name="T66" fmla="*/ 67 w 85"/>
                <a:gd name="T67" fmla="*/ 78 h 87"/>
                <a:gd name="T68" fmla="*/ 59 w 85"/>
                <a:gd name="T69" fmla="*/ 83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3"/>
                  </a:lnTo>
                  <a:lnTo>
                    <a:pt x="19" y="78"/>
                  </a:lnTo>
                  <a:lnTo>
                    <a:pt x="12" y="73"/>
                  </a:lnTo>
                  <a:lnTo>
                    <a:pt x="7" y="67"/>
                  </a:lnTo>
                  <a:lnTo>
                    <a:pt x="2" y="61"/>
                  </a:lnTo>
                  <a:lnTo>
                    <a:pt x="1" y="52"/>
                  </a:lnTo>
                  <a:lnTo>
                    <a:pt x="0" y="43"/>
                  </a:lnTo>
                  <a:lnTo>
                    <a:pt x="0" y="43"/>
                  </a:lnTo>
                  <a:lnTo>
                    <a:pt x="1" y="34"/>
                  </a:lnTo>
                  <a:lnTo>
                    <a:pt x="2" y="26"/>
                  </a:lnTo>
                  <a:lnTo>
                    <a:pt x="7" y="19"/>
                  </a:lnTo>
                  <a:lnTo>
                    <a:pt x="12" y="12"/>
                  </a:lnTo>
                  <a:lnTo>
                    <a:pt x="19" y="8"/>
                  </a:lnTo>
                  <a:lnTo>
                    <a:pt x="26" y="4"/>
                  </a:lnTo>
                  <a:lnTo>
                    <a:pt x="34" y="1"/>
                  </a:lnTo>
                  <a:lnTo>
                    <a:pt x="42" y="0"/>
                  </a:lnTo>
                  <a:lnTo>
                    <a:pt x="42" y="0"/>
                  </a:lnTo>
                  <a:lnTo>
                    <a:pt x="51" y="1"/>
                  </a:lnTo>
                  <a:lnTo>
                    <a:pt x="59" y="4"/>
                  </a:lnTo>
                  <a:lnTo>
                    <a:pt x="67" y="8"/>
                  </a:lnTo>
                  <a:lnTo>
                    <a:pt x="73" y="12"/>
                  </a:lnTo>
                  <a:lnTo>
                    <a:pt x="78" y="19"/>
                  </a:lnTo>
                  <a:lnTo>
                    <a:pt x="82" y="26"/>
                  </a:lnTo>
                  <a:lnTo>
                    <a:pt x="85" y="34"/>
                  </a:lnTo>
                  <a:lnTo>
                    <a:pt x="85" y="43"/>
                  </a:lnTo>
                  <a:lnTo>
                    <a:pt x="85" y="43"/>
                  </a:lnTo>
                  <a:lnTo>
                    <a:pt x="85" y="52"/>
                  </a:lnTo>
                  <a:lnTo>
                    <a:pt x="82" y="61"/>
                  </a:lnTo>
                  <a:lnTo>
                    <a:pt x="78" y="67"/>
                  </a:lnTo>
                  <a:lnTo>
                    <a:pt x="73" y="73"/>
                  </a:lnTo>
                  <a:lnTo>
                    <a:pt x="67" y="78"/>
                  </a:lnTo>
                  <a:lnTo>
                    <a:pt x="59" y="83"/>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39"/>
            <p:cNvSpPr>
              <a:spLocks/>
            </p:cNvSpPr>
            <p:nvPr userDrawn="1"/>
          </p:nvSpPr>
          <p:spPr bwMode="auto">
            <a:xfrm>
              <a:off x="3705" y="665"/>
              <a:ext cx="43" cy="43"/>
            </a:xfrm>
            <a:custGeom>
              <a:avLst/>
              <a:gdLst>
                <a:gd name="T0" fmla="*/ 42 w 85"/>
                <a:gd name="T1" fmla="*/ 87 h 87"/>
                <a:gd name="T2" fmla="*/ 42 w 85"/>
                <a:gd name="T3" fmla="*/ 87 h 87"/>
                <a:gd name="T4" fmla="*/ 34 w 85"/>
                <a:gd name="T5" fmla="*/ 85 h 87"/>
                <a:gd name="T6" fmla="*/ 26 w 85"/>
                <a:gd name="T7" fmla="*/ 82 h 87"/>
                <a:gd name="T8" fmla="*/ 19 w 85"/>
                <a:gd name="T9" fmla="*/ 80 h 87"/>
                <a:gd name="T10" fmla="*/ 12 w 85"/>
                <a:gd name="T11" fmla="*/ 74 h 87"/>
                <a:gd name="T12" fmla="*/ 7 w 85"/>
                <a:gd name="T13" fmla="*/ 67 h 87"/>
                <a:gd name="T14" fmla="*/ 3 w 85"/>
                <a:gd name="T15" fmla="*/ 60 h 87"/>
                <a:gd name="T16" fmla="*/ 0 w 85"/>
                <a:gd name="T17" fmla="*/ 52 h 87"/>
                <a:gd name="T18" fmla="*/ 0 w 85"/>
                <a:gd name="T19" fmla="*/ 44 h 87"/>
                <a:gd name="T20" fmla="*/ 0 w 85"/>
                <a:gd name="T21" fmla="*/ 44 h 87"/>
                <a:gd name="T22" fmla="*/ 0 w 85"/>
                <a:gd name="T23" fmla="*/ 34 h 87"/>
                <a:gd name="T24" fmla="*/ 3 w 85"/>
                <a:gd name="T25" fmla="*/ 27 h 87"/>
                <a:gd name="T26" fmla="*/ 7 w 85"/>
                <a:gd name="T27" fmla="*/ 19 h 87"/>
                <a:gd name="T28" fmla="*/ 12 w 85"/>
                <a:gd name="T29" fmla="*/ 14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6 w 85"/>
                <a:gd name="T45" fmla="*/ 8 h 87"/>
                <a:gd name="T46" fmla="*/ 73 w 85"/>
                <a:gd name="T47" fmla="*/ 14 h 87"/>
                <a:gd name="T48" fmla="*/ 78 w 85"/>
                <a:gd name="T49" fmla="*/ 19 h 87"/>
                <a:gd name="T50" fmla="*/ 82 w 85"/>
                <a:gd name="T51" fmla="*/ 27 h 87"/>
                <a:gd name="T52" fmla="*/ 85 w 85"/>
                <a:gd name="T53" fmla="*/ 34 h 87"/>
                <a:gd name="T54" fmla="*/ 85 w 85"/>
                <a:gd name="T55" fmla="*/ 44 h 87"/>
                <a:gd name="T56" fmla="*/ 85 w 85"/>
                <a:gd name="T57" fmla="*/ 44 h 87"/>
                <a:gd name="T58" fmla="*/ 85 w 85"/>
                <a:gd name="T59" fmla="*/ 52 h 87"/>
                <a:gd name="T60" fmla="*/ 82 w 85"/>
                <a:gd name="T61" fmla="*/ 60 h 87"/>
                <a:gd name="T62" fmla="*/ 78 w 85"/>
                <a:gd name="T63" fmla="*/ 67 h 87"/>
                <a:gd name="T64" fmla="*/ 73 w 85"/>
                <a:gd name="T65" fmla="*/ 74 h 87"/>
                <a:gd name="T66" fmla="*/ 66 w 85"/>
                <a:gd name="T67" fmla="*/ 80 h 87"/>
                <a:gd name="T68" fmla="*/ 59 w 85"/>
                <a:gd name="T69" fmla="*/ 82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2"/>
                  </a:lnTo>
                  <a:lnTo>
                    <a:pt x="19" y="80"/>
                  </a:lnTo>
                  <a:lnTo>
                    <a:pt x="12" y="74"/>
                  </a:lnTo>
                  <a:lnTo>
                    <a:pt x="7" y="67"/>
                  </a:lnTo>
                  <a:lnTo>
                    <a:pt x="3" y="60"/>
                  </a:lnTo>
                  <a:lnTo>
                    <a:pt x="0" y="52"/>
                  </a:lnTo>
                  <a:lnTo>
                    <a:pt x="0" y="44"/>
                  </a:lnTo>
                  <a:lnTo>
                    <a:pt x="0" y="44"/>
                  </a:lnTo>
                  <a:lnTo>
                    <a:pt x="0" y="34"/>
                  </a:lnTo>
                  <a:lnTo>
                    <a:pt x="3" y="27"/>
                  </a:lnTo>
                  <a:lnTo>
                    <a:pt x="7" y="19"/>
                  </a:lnTo>
                  <a:lnTo>
                    <a:pt x="12" y="14"/>
                  </a:lnTo>
                  <a:lnTo>
                    <a:pt x="19" y="8"/>
                  </a:lnTo>
                  <a:lnTo>
                    <a:pt x="26" y="4"/>
                  </a:lnTo>
                  <a:lnTo>
                    <a:pt x="34" y="1"/>
                  </a:lnTo>
                  <a:lnTo>
                    <a:pt x="42" y="0"/>
                  </a:lnTo>
                  <a:lnTo>
                    <a:pt x="42" y="0"/>
                  </a:lnTo>
                  <a:lnTo>
                    <a:pt x="51" y="1"/>
                  </a:lnTo>
                  <a:lnTo>
                    <a:pt x="59" y="4"/>
                  </a:lnTo>
                  <a:lnTo>
                    <a:pt x="66" y="8"/>
                  </a:lnTo>
                  <a:lnTo>
                    <a:pt x="73" y="14"/>
                  </a:lnTo>
                  <a:lnTo>
                    <a:pt x="78" y="19"/>
                  </a:lnTo>
                  <a:lnTo>
                    <a:pt x="82" y="27"/>
                  </a:lnTo>
                  <a:lnTo>
                    <a:pt x="85" y="34"/>
                  </a:lnTo>
                  <a:lnTo>
                    <a:pt x="85" y="44"/>
                  </a:lnTo>
                  <a:lnTo>
                    <a:pt x="85" y="44"/>
                  </a:lnTo>
                  <a:lnTo>
                    <a:pt x="85" y="52"/>
                  </a:lnTo>
                  <a:lnTo>
                    <a:pt x="82" y="60"/>
                  </a:lnTo>
                  <a:lnTo>
                    <a:pt x="78" y="67"/>
                  </a:lnTo>
                  <a:lnTo>
                    <a:pt x="73" y="74"/>
                  </a:lnTo>
                  <a:lnTo>
                    <a:pt x="66" y="80"/>
                  </a:lnTo>
                  <a:lnTo>
                    <a:pt x="59" y="82"/>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0"/>
            <p:cNvSpPr>
              <a:spLocks/>
            </p:cNvSpPr>
            <p:nvPr userDrawn="1"/>
          </p:nvSpPr>
          <p:spPr bwMode="auto">
            <a:xfrm>
              <a:off x="3705" y="947"/>
              <a:ext cx="43" cy="43"/>
            </a:xfrm>
            <a:custGeom>
              <a:avLst/>
              <a:gdLst>
                <a:gd name="T0" fmla="*/ 42 w 85"/>
                <a:gd name="T1" fmla="*/ 85 h 85"/>
                <a:gd name="T2" fmla="*/ 42 w 85"/>
                <a:gd name="T3" fmla="*/ 85 h 85"/>
                <a:gd name="T4" fmla="*/ 34 w 85"/>
                <a:gd name="T5" fmla="*/ 85 h 85"/>
                <a:gd name="T6" fmla="*/ 26 w 85"/>
                <a:gd name="T7" fmla="*/ 82 h 85"/>
                <a:gd name="T8" fmla="*/ 19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9 w 85"/>
                <a:gd name="T31" fmla="*/ 7 h 85"/>
                <a:gd name="T32" fmla="*/ 26 w 85"/>
                <a:gd name="T33" fmla="*/ 2 h 85"/>
                <a:gd name="T34" fmla="*/ 34 w 85"/>
                <a:gd name="T35" fmla="*/ 1 h 85"/>
                <a:gd name="T36" fmla="*/ 42 w 85"/>
                <a:gd name="T37" fmla="*/ 0 h 85"/>
                <a:gd name="T38" fmla="*/ 42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2 w 85"/>
                <a:gd name="T51" fmla="*/ 26 h 85"/>
                <a:gd name="T52" fmla="*/ 85 w 85"/>
                <a:gd name="T53" fmla="*/ 34 h 85"/>
                <a:gd name="T54" fmla="*/ 85 w 85"/>
                <a:gd name="T55" fmla="*/ 42 h 85"/>
                <a:gd name="T56" fmla="*/ 85 w 85"/>
                <a:gd name="T57" fmla="*/ 42 h 85"/>
                <a:gd name="T58" fmla="*/ 85 w 85"/>
                <a:gd name="T59" fmla="*/ 51 h 85"/>
                <a:gd name="T60" fmla="*/ 82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5"/>
                  </a:lnTo>
                  <a:lnTo>
                    <a:pt x="26" y="82"/>
                  </a:lnTo>
                  <a:lnTo>
                    <a:pt x="19" y="78"/>
                  </a:lnTo>
                  <a:lnTo>
                    <a:pt x="12" y="73"/>
                  </a:lnTo>
                  <a:lnTo>
                    <a:pt x="7" y="67"/>
                  </a:lnTo>
                  <a:lnTo>
                    <a:pt x="3" y="59"/>
                  </a:lnTo>
                  <a:lnTo>
                    <a:pt x="0" y="51"/>
                  </a:lnTo>
                  <a:lnTo>
                    <a:pt x="0" y="42"/>
                  </a:lnTo>
                  <a:lnTo>
                    <a:pt x="0" y="42"/>
                  </a:lnTo>
                  <a:lnTo>
                    <a:pt x="0" y="34"/>
                  </a:lnTo>
                  <a:lnTo>
                    <a:pt x="3" y="26"/>
                  </a:lnTo>
                  <a:lnTo>
                    <a:pt x="7" y="19"/>
                  </a:lnTo>
                  <a:lnTo>
                    <a:pt x="12" y="12"/>
                  </a:lnTo>
                  <a:lnTo>
                    <a:pt x="19" y="7"/>
                  </a:lnTo>
                  <a:lnTo>
                    <a:pt x="26" y="2"/>
                  </a:lnTo>
                  <a:lnTo>
                    <a:pt x="34" y="1"/>
                  </a:lnTo>
                  <a:lnTo>
                    <a:pt x="42" y="0"/>
                  </a:lnTo>
                  <a:lnTo>
                    <a:pt x="42" y="0"/>
                  </a:lnTo>
                  <a:lnTo>
                    <a:pt x="51" y="1"/>
                  </a:lnTo>
                  <a:lnTo>
                    <a:pt x="59" y="2"/>
                  </a:lnTo>
                  <a:lnTo>
                    <a:pt x="66" y="7"/>
                  </a:lnTo>
                  <a:lnTo>
                    <a:pt x="73" y="12"/>
                  </a:lnTo>
                  <a:lnTo>
                    <a:pt x="78" y="19"/>
                  </a:lnTo>
                  <a:lnTo>
                    <a:pt x="82" y="26"/>
                  </a:lnTo>
                  <a:lnTo>
                    <a:pt x="85" y="34"/>
                  </a:lnTo>
                  <a:lnTo>
                    <a:pt x="85" y="42"/>
                  </a:lnTo>
                  <a:lnTo>
                    <a:pt x="85" y="42"/>
                  </a:lnTo>
                  <a:lnTo>
                    <a:pt x="85" y="51"/>
                  </a:lnTo>
                  <a:lnTo>
                    <a:pt x="82" y="59"/>
                  </a:lnTo>
                  <a:lnTo>
                    <a:pt x="78" y="67"/>
                  </a:lnTo>
                  <a:lnTo>
                    <a:pt x="73" y="73"/>
                  </a:lnTo>
                  <a:lnTo>
                    <a:pt x="66" y="78"/>
                  </a:lnTo>
                  <a:lnTo>
                    <a:pt x="59" y="82"/>
                  </a:lnTo>
                  <a:lnTo>
                    <a:pt x="51" y="85"/>
                  </a:lnTo>
                  <a:lnTo>
                    <a:pt x="42" y="85"/>
                  </a:lnTo>
                  <a:lnTo>
                    <a:pt x="42"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41"/>
            <p:cNvSpPr>
              <a:spLocks/>
            </p:cNvSpPr>
            <p:nvPr userDrawn="1"/>
          </p:nvSpPr>
          <p:spPr bwMode="auto">
            <a:xfrm>
              <a:off x="3705" y="1004"/>
              <a:ext cx="43" cy="42"/>
            </a:xfrm>
            <a:custGeom>
              <a:avLst/>
              <a:gdLst>
                <a:gd name="T0" fmla="*/ 42 w 85"/>
                <a:gd name="T1" fmla="*/ 86 h 86"/>
                <a:gd name="T2" fmla="*/ 42 w 85"/>
                <a:gd name="T3" fmla="*/ 86 h 86"/>
                <a:gd name="T4" fmla="*/ 34 w 85"/>
                <a:gd name="T5" fmla="*/ 86 h 86"/>
                <a:gd name="T6" fmla="*/ 26 w 85"/>
                <a:gd name="T7" fmla="*/ 83 h 86"/>
                <a:gd name="T8" fmla="*/ 19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9 w 85"/>
                <a:gd name="T31" fmla="*/ 7 h 86"/>
                <a:gd name="T32" fmla="*/ 26 w 85"/>
                <a:gd name="T33" fmla="*/ 5 h 86"/>
                <a:gd name="T34" fmla="*/ 34 w 85"/>
                <a:gd name="T35" fmla="*/ 2 h 86"/>
                <a:gd name="T36" fmla="*/ 42 w 85"/>
                <a:gd name="T37" fmla="*/ 0 h 86"/>
                <a:gd name="T38" fmla="*/ 42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2 w 85"/>
                <a:gd name="T51" fmla="*/ 27 h 86"/>
                <a:gd name="T52" fmla="*/ 85 w 85"/>
                <a:gd name="T53" fmla="*/ 35 h 86"/>
                <a:gd name="T54" fmla="*/ 85 w 85"/>
                <a:gd name="T55" fmla="*/ 43 h 86"/>
                <a:gd name="T56" fmla="*/ 85 w 85"/>
                <a:gd name="T57" fmla="*/ 43 h 86"/>
                <a:gd name="T58" fmla="*/ 85 w 85"/>
                <a:gd name="T59" fmla="*/ 53 h 86"/>
                <a:gd name="T60" fmla="*/ 82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6"/>
                  </a:lnTo>
                  <a:lnTo>
                    <a:pt x="26" y="83"/>
                  </a:lnTo>
                  <a:lnTo>
                    <a:pt x="19" y="79"/>
                  </a:lnTo>
                  <a:lnTo>
                    <a:pt x="12" y="73"/>
                  </a:lnTo>
                  <a:lnTo>
                    <a:pt x="7" y="68"/>
                  </a:lnTo>
                  <a:lnTo>
                    <a:pt x="3" y="59"/>
                  </a:lnTo>
                  <a:lnTo>
                    <a:pt x="0" y="53"/>
                  </a:lnTo>
                  <a:lnTo>
                    <a:pt x="0" y="43"/>
                  </a:lnTo>
                  <a:lnTo>
                    <a:pt x="0" y="43"/>
                  </a:lnTo>
                  <a:lnTo>
                    <a:pt x="0" y="35"/>
                  </a:lnTo>
                  <a:lnTo>
                    <a:pt x="3" y="27"/>
                  </a:lnTo>
                  <a:lnTo>
                    <a:pt x="7" y="20"/>
                  </a:lnTo>
                  <a:lnTo>
                    <a:pt x="12" y="13"/>
                  </a:lnTo>
                  <a:lnTo>
                    <a:pt x="19" y="7"/>
                  </a:lnTo>
                  <a:lnTo>
                    <a:pt x="26" y="5"/>
                  </a:lnTo>
                  <a:lnTo>
                    <a:pt x="34" y="2"/>
                  </a:lnTo>
                  <a:lnTo>
                    <a:pt x="42" y="0"/>
                  </a:lnTo>
                  <a:lnTo>
                    <a:pt x="42" y="0"/>
                  </a:lnTo>
                  <a:lnTo>
                    <a:pt x="51" y="2"/>
                  </a:lnTo>
                  <a:lnTo>
                    <a:pt x="59" y="5"/>
                  </a:lnTo>
                  <a:lnTo>
                    <a:pt x="66" y="7"/>
                  </a:lnTo>
                  <a:lnTo>
                    <a:pt x="73" y="13"/>
                  </a:lnTo>
                  <a:lnTo>
                    <a:pt x="78" y="20"/>
                  </a:lnTo>
                  <a:lnTo>
                    <a:pt x="82" y="27"/>
                  </a:lnTo>
                  <a:lnTo>
                    <a:pt x="85" y="35"/>
                  </a:lnTo>
                  <a:lnTo>
                    <a:pt x="85" y="43"/>
                  </a:lnTo>
                  <a:lnTo>
                    <a:pt x="85" y="43"/>
                  </a:lnTo>
                  <a:lnTo>
                    <a:pt x="85" y="53"/>
                  </a:lnTo>
                  <a:lnTo>
                    <a:pt x="82" y="59"/>
                  </a:lnTo>
                  <a:lnTo>
                    <a:pt x="78" y="68"/>
                  </a:lnTo>
                  <a:lnTo>
                    <a:pt x="73" y="73"/>
                  </a:lnTo>
                  <a:lnTo>
                    <a:pt x="66" y="79"/>
                  </a:lnTo>
                  <a:lnTo>
                    <a:pt x="59" y="83"/>
                  </a:lnTo>
                  <a:lnTo>
                    <a:pt x="51" y="86"/>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2"/>
            <p:cNvSpPr>
              <a:spLocks/>
            </p:cNvSpPr>
            <p:nvPr userDrawn="1"/>
          </p:nvSpPr>
          <p:spPr bwMode="auto">
            <a:xfrm>
              <a:off x="3705" y="1060"/>
              <a:ext cx="43" cy="43"/>
            </a:xfrm>
            <a:custGeom>
              <a:avLst/>
              <a:gdLst>
                <a:gd name="T0" fmla="*/ 42 w 85"/>
                <a:gd name="T1" fmla="*/ 87 h 87"/>
                <a:gd name="T2" fmla="*/ 42 w 85"/>
                <a:gd name="T3" fmla="*/ 87 h 87"/>
                <a:gd name="T4" fmla="*/ 34 w 85"/>
                <a:gd name="T5" fmla="*/ 85 h 87"/>
                <a:gd name="T6" fmla="*/ 26 w 85"/>
                <a:gd name="T7" fmla="*/ 83 h 87"/>
                <a:gd name="T8" fmla="*/ 19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2 w 85"/>
                <a:gd name="T51" fmla="*/ 26 h 87"/>
                <a:gd name="T52" fmla="*/ 85 w 85"/>
                <a:gd name="T53" fmla="*/ 34 h 87"/>
                <a:gd name="T54" fmla="*/ 85 w 85"/>
                <a:gd name="T55" fmla="*/ 43 h 87"/>
                <a:gd name="T56" fmla="*/ 85 w 85"/>
                <a:gd name="T57" fmla="*/ 43 h 87"/>
                <a:gd name="T58" fmla="*/ 85 w 85"/>
                <a:gd name="T59" fmla="*/ 52 h 87"/>
                <a:gd name="T60" fmla="*/ 82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3"/>
                  </a:lnTo>
                  <a:lnTo>
                    <a:pt x="19" y="78"/>
                  </a:lnTo>
                  <a:lnTo>
                    <a:pt x="12" y="73"/>
                  </a:lnTo>
                  <a:lnTo>
                    <a:pt x="7" y="67"/>
                  </a:lnTo>
                  <a:lnTo>
                    <a:pt x="3" y="61"/>
                  </a:lnTo>
                  <a:lnTo>
                    <a:pt x="0" y="52"/>
                  </a:lnTo>
                  <a:lnTo>
                    <a:pt x="0" y="43"/>
                  </a:lnTo>
                  <a:lnTo>
                    <a:pt x="0" y="43"/>
                  </a:lnTo>
                  <a:lnTo>
                    <a:pt x="0" y="34"/>
                  </a:lnTo>
                  <a:lnTo>
                    <a:pt x="3" y="26"/>
                  </a:lnTo>
                  <a:lnTo>
                    <a:pt x="7" y="19"/>
                  </a:lnTo>
                  <a:lnTo>
                    <a:pt x="12" y="12"/>
                  </a:lnTo>
                  <a:lnTo>
                    <a:pt x="19" y="8"/>
                  </a:lnTo>
                  <a:lnTo>
                    <a:pt x="26" y="4"/>
                  </a:lnTo>
                  <a:lnTo>
                    <a:pt x="34" y="1"/>
                  </a:lnTo>
                  <a:lnTo>
                    <a:pt x="42" y="0"/>
                  </a:lnTo>
                  <a:lnTo>
                    <a:pt x="42" y="0"/>
                  </a:lnTo>
                  <a:lnTo>
                    <a:pt x="51" y="1"/>
                  </a:lnTo>
                  <a:lnTo>
                    <a:pt x="59" y="4"/>
                  </a:lnTo>
                  <a:lnTo>
                    <a:pt x="66" y="8"/>
                  </a:lnTo>
                  <a:lnTo>
                    <a:pt x="73" y="12"/>
                  </a:lnTo>
                  <a:lnTo>
                    <a:pt x="78" y="19"/>
                  </a:lnTo>
                  <a:lnTo>
                    <a:pt x="82" y="26"/>
                  </a:lnTo>
                  <a:lnTo>
                    <a:pt x="85" y="34"/>
                  </a:lnTo>
                  <a:lnTo>
                    <a:pt x="85" y="43"/>
                  </a:lnTo>
                  <a:lnTo>
                    <a:pt x="85" y="43"/>
                  </a:lnTo>
                  <a:lnTo>
                    <a:pt x="85" y="52"/>
                  </a:lnTo>
                  <a:lnTo>
                    <a:pt x="82" y="61"/>
                  </a:lnTo>
                  <a:lnTo>
                    <a:pt x="78" y="67"/>
                  </a:lnTo>
                  <a:lnTo>
                    <a:pt x="73" y="73"/>
                  </a:lnTo>
                  <a:lnTo>
                    <a:pt x="66" y="78"/>
                  </a:lnTo>
                  <a:lnTo>
                    <a:pt x="59" y="83"/>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3"/>
            <p:cNvSpPr>
              <a:spLocks/>
            </p:cNvSpPr>
            <p:nvPr userDrawn="1"/>
          </p:nvSpPr>
          <p:spPr bwMode="auto">
            <a:xfrm>
              <a:off x="3705" y="1116"/>
              <a:ext cx="43" cy="44"/>
            </a:xfrm>
            <a:custGeom>
              <a:avLst/>
              <a:gdLst>
                <a:gd name="T0" fmla="*/ 42 w 85"/>
                <a:gd name="T1" fmla="*/ 86 h 86"/>
                <a:gd name="T2" fmla="*/ 42 w 85"/>
                <a:gd name="T3" fmla="*/ 86 h 86"/>
                <a:gd name="T4" fmla="*/ 34 w 85"/>
                <a:gd name="T5" fmla="*/ 85 h 86"/>
                <a:gd name="T6" fmla="*/ 26 w 85"/>
                <a:gd name="T7" fmla="*/ 82 h 86"/>
                <a:gd name="T8" fmla="*/ 19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9 w 85"/>
                <a:gd name="T31" fmla="*/ 8 h 86"/>
                <a:gd name="T32" fmla="*/ 26 w 85"/>
                <a:gd name="T33" fmla="*/ 4 h 86"/>
                <a:gd name="T34" fmla="*/ 34 w 85"/>
                <a:gd name="T35" fmla="*/ 1 h 86"/>
                <a:gd name="T36" fmla="*/ 42 w 85"/>
                <a:gd name="T37" fmla="*/ 0 h 86"/>
                <a:gd name="T38" fmla="*/ 42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2 w 85"/>
                <a:gd name="T51" fmla="*/ 26 h 86"/>
                <a:gd name="T52" fmla="*/ 85 w 85"/>
                <a:gd name="T53" fmla="*/ 34 h 86"/>
                <a:gd name="T54" fmla="*/ 85 w 85"/>
                <a:gd name="T55" fmla="*/ 44 h 86"/>
                <a:gd name="T56" fmla="*/ 85 w 85"/>
                <a:gd name="T57" fmla="*/ 44 h 86"/>
                <a:gd name="T58" fmla="*/ 85 w 85"/>
                <a:gd name="T59" fmla="*/ 52 h 86"/>
                <a:gd name="T60" fmla="*/ 82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5"/>
                  </a:lnTo>
                  <a:lnTo>
                    <a:pt x="26" y="82"/>
                  </a:lnTo>
                  <a:lnTo>
                    <a:pt x="19" y="78"/>
                  </a:lnTo>
                  <a:lnTo>
                    <a:pt x="12" y="74"/>
                  </a:lnTo>
                  <a:lnTo>
                    <a:pt x="7" y="67"/>
                  </a:lnTo>
                  <a:lnTo>
                    <a:pt x="3" y="60"/>
                  </a:lnTo>
                  <a:lnTo>
                    <a:pt x="0" y="52"/>
                  </a:lnTo>
                  <a:lnTo>
                    <a:pt x="0" y="44"/>
                  </a:lnTo>
                  <a:lnTo>
                    <a:pt x="0" y="44"/>
                  </a:lnTo>
                  <a:lnTo>
                    <a:pt x="0" y="34"/>
                  </a:lnTo>
                  <a:lnTo>
                    <a:pt x="3" y="26"/>
                  </a:lnTo>
                  <a:lnTo>
                    <a:pt x="7" y="19"/>
                  </a:lnTo>
                  <a:lnTo>
                    <a:pt x="12" y="12"/>
                  </a:lnTo>
                  <a:lnTo>
                    <a:pt x="19" y="8"/>
                  </a:lnTo>
                  <a:lnTo>
                    <a:pt x="26" y="4"/>
                  </a:lnTo>
                  <a:lnTo>
                    <a:pt x="34" y="1"/>
                  </a:lnTo>
                  <a:lnTo>
                    <a:pt x="42" y="0"/>
                  </a:lnTo>
                  <a:lnTo>
                    <a:pt x="42" y="0"/>
                  </a:lnTo>
                  <a:lnTo>
                    <a:pt x="51" y="1"/>
                  </a:lnTo>
                  <a:lnTo>
                    <a:pt x="59" y="4"/>
                  </a:lnTo>
                  <a:lnTo>
                    <a:pt x="66" y="8"/>
                  </a:lnTo>
                  <a:lnTo>
                    <a:pt x="73" y="12"/>
                  </a:lnTo>
                  <a:lnTo>
                    <a:pt x="78" y="19"/>
                  </a:lnTo>
                  <a:lnTo>
                    <a:pt x="82" y="26"/>
                  </a:lnTo>
                  <a:lnTo>
                    <a:pt x="85" y="34"/>
                  </a:lnTo>
                  <a:lnTo>
                    <a:pt x="85" y="44"/>
                  </a:lnTo>
                  <a:lnTo>
                    <a:pt x="85" y="44"/>
                  </a:lnTo>
                  <a:lnTo>
                    <a:pt x="85" y="52"/>
                  </a:lnTo>
                  <a:lnTo>
                    <a:pt x="82" y="60"/>
                  </a:lnTo>
                  <a:lnTo>
                    <a:pt x="78" y="67"/>
                  </a:lnTo>
                  <a:lnTo>
                    <a:pt x="73" y="74"/>
                  </a:lnTo>
                  <a:lnTo>
                    <a:pt x="66" y="78"/>
                  </a:lnTo>
                  <a:lnTo>
                    <a:pt x="59" y="82"/>
                  </a:lnTo>
                  <a:lnTo>
                    <a:pt x="51" y="85"/>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44"/>
            <p:cNvSpPr>
              <a:spLocks/>
            </p:cNvSpPr>
            <p:nvPr userDrawn="1"/>
          </p:nvSpPr>
          <p:spPr bwMode="auto">
            <a:xfrm>
              <a:off x="3649" y="722"/>
              <a:ext cx="43" cy="43"/>
            </a:xfrm>
            <a:custGeom>
              <a:avLst/>
              <a:gdLst>
                <a:gd name="T0" fmla="*/ 43 w 85"/>
                <a:gd name="T1" fmla="*/ 85 h 85"/>
                <a:gd name="T2" fmla="*/ 43 w 85"/>
                <a:gd name="T3" fmla="*/ 85 h 85"/>
                <a:gd name="T4" fmla="*/ 34 w 85"/>
                <a:gd name="T5" fmla="*/ 84 h 85"/>
                <a:gd name="T6" fmla="*/ 26 w 85"/>
                <a:gd name="T7" fmla="*/ 81 h 85"/>
                <a:gd name="T8" fmla="*/ 18 w 85"/>
                <a:gd name="T9" fmla="*/ 78 h 85"/>
                <a:gd name="T10" fmla="*/ 12 w 85"/>
                <a:gd name="T11" fmla="*/ 73 h 85"/>
                <a:gd name="T12" fmla="*/ 7 w 85"/>
                <a:gd name="T13" fmla="*/ 66 h 85"/>
                <a:gd name="T14" fmla="*/ 3 w 85"/>
                <a:gd name="T15" fmla="*/ 59 h 85"/>
                <a:gd name="T16" fmla="*/ 0 w 85"/>
                <a:gd name="T17" fmla="*/ 51 h 85"/>
                <a:gd name="T18" fmla="*/ 0 w 85"/>
                <a:gd name="T19" fmla="*/ 43 h 85"/>
                <a:gd name="T20" fmla="*/ 0 w 85"/>
                <a:gd name="T21" fmla="*/ 43 h 85"/>
                <a:gd name="T22" fmla="*/ 0 w 85"/>
                <a:gd name="T23" fmla="*/ 33 h 85"/>
                <a:gd name="T24" fmla="*/ 3 w 85"/>
                <a:gd name="T25" fmla="*/ 26 h 85"/>
                <a:gd name="T26" fmla="*/ 7 w 85"/>
                <a:gd name="T27" fmla="*/ 18 h 85"/>
                <a:gd name="T28" fmla="*/ 12 w 85"/>
                <a:gd name="T29" fmla="*/ 12 h 85"/>
                <a:gd name="T30" fmla="*/ 18 w 85"/>
                <a:gd name="T31" fmla="*/ 7 h 85"/>
                <a:gd name="T32" fmla="*/ 26 w 85"/>
                <a:gd name="T33" fmla="*/ 3 h 85"/>
                <a:gd name="T34" fmla="*/ 34 w 85"/>
                <a:gd name="T35" fmla="*/ 0 h 85"/>
                <a:gd name="T36" fmla="*/ 43 w 85"/>
                <a:gd name="T37" fmla="*/ 0 h 85"/>
                <a:gd name="T38" fmla="*/ 43 w 85"/>
                <a:gd name="T39" fmla="*/ 0 h 85"/>
                <a:gd name="T40" fmla="*/ 51 w 85"/>
                <a:gd name="T41" fmla="*/ 0 h 85"/>
                <a:gd name="T42" fmla="*/ 59 w 85"/>
                <a:gd name="T43" fmla="*/ 3 h 85"/>
                <a:gd name="T44" fmla="*/ 66 w 85"/>
                <a:gd name="T45" fmla="*/ 7 h 85"/>
                <a:gd name="T46" fmla="*/ 73 w 85"/>
                <a:gd name="T47" fmla="*/ 12 h 85"/>
                <a:gd name="T48" fmla="*/ 78 w 85"/>
                <a:gd name="T49" fmla="*/ 18 h 85"/>
                <a:gd name="T50" fmla="*/ 82 w 85"/>
                <a:gd name="T51" fmla="*/ 26 h 85"/>
                <a:gd name="T52" fmla="*/ 84 w 85"/>
                <a:gd name="T53" fmla="*/ 33 h 85"/>
                <a:gd name="T54" fmla="*/ 85 w 85"/>
                <a:gd name="T55" fmla="*/ 43 h 85"/>
                <a:gd name="T56" fmla="*/ 85 w 85"/>
                <a:gd name="T57" fmla="*/ 43 h 85"/>
                <a:gd name="T58" fmla="*/ 84 w 85"/>
                <a:gd name="T59" fmla="*/ 51 h 85"/>
                <a:gd name="T60" fmla="*/ 82 w 85"/>
                <a:gd name="T61" fmla="*/ 59 h 85"/>
                <a:gd name="T62" fmla="*/ 78 w 85"/>
                <a:gd name="T63" fmla="*/ 66 h 85"/>
                <a:gd name="T64" fmla="*/ 73 w 85"/>
                <a:gd name="T65" fmla="*/ 73 h 85"/>
                <a:gd name="T66" fmla="*/ 66 w 85"/>
                <a:gd name="T67" fmla="*/ 78 h 85"/>
                <a:gd name="T68" fmla="*/ 59 w 85"/>
                <a:gd name="T69" fmla="*/ 81 h 85"/>
                <a:gd name="T70" fmla="*/ 51 w 85"/>
                <a:gd name="T71" fmla="*/ 84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4"/>
                  </a:lnTo>
                  <a:lnTo>
                    <a:pt x="26" y="81"/>
                  </a:lnTo>
                  <a:lnTo>
                    <a:pt x="18" y="78"/>
                  </a:lnTo>
                  <a:lnTo>
                    <a:pt x="12" y="73"/>
                  </a:lnTo>
                  <a:lnTo>
                    <a:pt x="7" y="66"/>
                  </a:lnTo>
                  <a:lnTo>
                    <a:pt x="3" y="59"/>
                  </a:lnTo>
                  <a:lnTo>
                    <a:pt x="0" y="51"/>
                  </a:lnTo>
                  <a:lnTo>
                    <a:pt x="0" y="43"/>
                  </a:lnTo>
                  <a:lnTo>
                    <a:pt x="0" y="43"/>
                  </a:lnTo>
                  <a:lnTo>
                    <a:pt x="0" y="33"/>
                  </a:lnTo>
                  <a:lnTo>
                    <a:pt x="3" y="26"/>
                  </a:lnTo>
                  <a:lnTo>
                    <a:pt x="7" y="18"/>
                  </a:lnTo>
                  <a:lnTo>
                    <a:pt x="12" y="12"/>
                  </a:lnTo>
                  <a:lnTo>
                    <a:pt x="18" y="7"/>
                  </a:lnTo>
                  <a:lnTo>
                    <a:pt x="26" y="3"/>
                  </a:lnTo>
                  <a:lnTo>
                    <a:pt x="34" y="0"/>
                  </a:lnTo>
                  <a:lnTo>
                    <a:pt x="43" y="0"/>
                  </a:lnTo>
                  <a:lnTo>
                    <a:pt x="43" y="0"/>
                  </a:lnTo>
                  <a:lnTo>
                    <a:pt x="51" y="0"/>
                  </a:lnTo>
                  <a:lnTo>
                    <a:pt x="59" y="3"/>
                  </a:lnTo>
                  <a:lnTo>
                    <a:pt x="66" y="7"/>
                  </a:lnTo>
                  <a:lnTo>
                    <a:pt x="73" y="12"/>
                  </a:lnTo>
                  <a:lnTo>
                    <a:pt x="78" y="18"/>
                  </a:lnTo>
                  <a:lnTo>
                    <a:pt x="82" y="26"/>
                  </a:lnTo>
                  <a:lnTo>
                    <a:pt x="84" y="33"/>
                  </a:lnTo>
                  <a:lnTo>
                    <a:pt x="85" y="43"/>
                  </a:lnTo>
                  <a:lnTo>
                    <a:pt x="85" y="43"/>
                  </a:lnTo>
                  <a:lnTo>
                    <a:pt x="84" y="51"/>
                  </a:lnTo>
                  <a:lnTo>
                    <a:pt x="82" y="59"/>
                  </a:lnTo>
                  <a:lnTo>
                    <a:pt x="78" y="66"/>
                  </a:lnTo>
                  <a:lnTo>
                    <a:pt x="73" y="73"/>
                  </a:lnTo>
                  <a:lnTo>
                    <a:pt x="66" y="78"/>
                  </a:lnTo>
                  <a:lnTo>
                    <a:pt x="59" y="81"/>
                  </a:lnTo>
                  <a:lnTo>
                    <a:pt x="51" y="84"/>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45"/>
            <p:cNvSpPr>
              <a:spLocks/>
            </p:cNvSpPr>
            <p:nvPr userDrawn="1"/>
          </p:nvSpPr>
          <p:spPr bwMode="auto">
            <a:xfrm>
              <a:off x="3649" y="947"/>
              <a:ext cx="43" cy="43"/>
            </a:xfrm>
            <a:custGeom>
              <a:avLst/>
              <a:gdLst>
                <a:gd name="T0" fmla="*/ 43 w 85"/>
                <a:gd name="T1" fmla="*/ 85 h 85"/>
                <a:gd name="T2" fmla="*/ 43 w 85"/>
                <a:gd name="T3" fmla="*/ 85 h 85"/>
                <a:gd name="T4" fmla="*/ 34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4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2 w 85"/>
                <a:gd name="T51" fmla="*/ 26 h 85"/>
                <a:gd name="T52" fmla="*/ 84 w 85"/>
                <a:gd name="T53" fmla="*/ 34 h 85"/>
                <a:gd name="T54" fmla="*/ 85 w 85"/>
                <a:gd name="T55" fmla="*/ 42 h 85"/>
                <a:gd name="T56" fmla="*/ 85 w 85"/>
                <a:gd name="T57" fmla="*/ 42 h 85"/>
                <a:gd name="T58" fmla="*/ 84 w 85"/>
                <a:gd name="T59" fmla="*/ 51 h 85"/>
                <a:gd name="T60" fmla="*/ 82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4" y="1"/>
                  </a:lnTo>
                  <a:lnTo>
                    <a:pt x="43" y="0"/>
                  </a:lnTo>
                  <a:lnTo>
                    <a:pt x="43" y="0"/>
                  </a:lnTo>
                  <a:lnTo>
                    <a:pt x="51" y="1"/>
                  </a:lnTo>
                  <a:lnTo>
                    <a:pt x="59" y="2"/>
                  </a:lnTo>
                  <a:lnTo>
                    <a:pt x="66" y="7"/>
                  </a:lnTo>
                  <a:lnTo>
                    <a:pt x="73" y="12"/>
                  </a:lnTo>
                  <a:lnTo>
                    <a:pt x="78" y="19"/>
                  </a:lnTo>
                  <a:lnTo>
                    <a:pt x="82" y="26"/>
                  </a:lnTo>
                  <a:lnTo>
                    <a:pt x="84" y="34"/>
                  </a:lnTo>
                  <a:lnTo>
                    <a:pt x="85" y="42"/>
                  </a:lnTo>
                  <a:lnTo>
                    <a:pt x="85" y="42"/>
                  </a:lnTo>
                  <a:lnTo>
                    <a:pt x="84" y="51"/>
                  </a:lnTo>
                  <a:lnTo>
                    <a:pt x="82" y="59"/>
                  </a:lnTo>
                  <a:lnTo>
                    <a:pt x="78" y="67"/>
                  </a:lnTo>
                  <a:lnTo>
                    <a:pt x="73" y="73"/>
                  </a:lnTo>
                  <a:lnTo>
                    <a:pt x="66" y="78"/>
                  </a:lnTo>
                  <a:lnTo>
                    <a:pt x="59" y="82"/>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6"/>
            <p:cNvSpPr>
              <a:spLocks/>
            </p:cNvSpPr>
            <p:nvPr userDrawn="1"/>
          </p:nvSpPr>
          <p:spPr bwMode="auto">
            <a:xfrm>
              <a:off x="3649" y="1004"/>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4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2 w 85"/>
                <a:gd name="T51" fmla="*/ 27 h 86"/>
                <a:gd name="T52" fmla="*/ 84 w 85"/>
                <a:gd name="T53" fmla="*/ 35 h 86"/>
                <a:gd name="T54" fmla="*/ 85 w 85"/>
                <a:gd name="T55" fmla="*/ 43 h 86"/>
                <a:gd name="T56" fmla="*/ 85 w 85"/>
                <a:gd name="T57" fmla="*/ 43 h 86"/>
                <a:gd name="T58" fmla="*/ 84 w 85"/>
                <a:gd name="T59" fmla="*/ 53 h 86"/>
                <a:gd name="T60" fmla="*/ 82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4" y="2"/>
                  </a:lnTo>
                  <a:lnTo>
                    <a:pt x="43" y="0"/>
                  </a:lnTo>
                  <a:lnTo>
                    <a:pt x="43" y="0"/>
                  </a:lnTo>
                  <a:lnTo>
                    <a:pt x="51" y="2"/>
                  </a:lnTo>
                  <a:lnTo>
                    <a:pt x="59" y="5"/>
                  </a:lnTo>
                  <a:lnTo>
                    <a:pt x="66" y="7"/>
                  </a:lnTo>
                  <a:lnTo>
                    <a:pt x="73" y="13"/>
                  </a:lnTo>
                  <a:lnTo>
                    <a:pt x="78" y="20"/>
                  </a:lnTo>
                  <a:lnTo>
                    <a:pt x="82" y="27"/>
                  </a:lnTo>
                  <a:lnTo>
                    <a:pt x="84" y="35"/>
                  </a:lnTo>
                  <a:lnTo>
                    <a:pt x="85" y="43"/>
                  </a:lnTo>
                  <a:lnTo>
                    <a:pt x="85" y="43"/>
                  </a:lnTo>
                  <a:lnTo>
                    <a:pt x="84" y="53"/>
                  </a:lnTo>
                  <a:lnTo>
                    <a:pt x="82" y="59"/>
                  </a:lnTo>
                  <a:lnTo>
                    <a:pt x="78" y="68"/>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7"/>
            <p:cNvSpPr>
              <a:spLocks/>
            </p:cNvSpPr>
            <p:nvPr userDrawn="1"/>
          </p:nvSpPr>
          <p:spPr bwMode="auto">
            <a:xfrm>
              <a:off x="3649" y="1060"/>
              <a:ext cx="43" cy="43"/>
            </a:xfrm>
            <a:custGeom>
              <a:avLst/>
              <a:gdLst>
                <a:gd name="T0" fmla="*/ 43 w 85"/>
                <a:gd name="T1" fmla="*/ 87 h 87"/>
                <a:gd name="T2" fmla="*/ 43 w 85"/>
                <a:gd name="T3" fmla="*/ 87 h 87"/>
                <a:gd name="T4" fmla="*/ 34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4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2 w 85"/>
                <a:gd name="T51" fmla="*/ 26 h 87"/>
                <a:gd name="T52" fmla="*/ 84 w 85"/>
                <a:gd name="T53" fmla="*/ 34 h 87"/>
                <a:gd name="T54" fmla="*/ 85 w 85"/>
                <a:gd name="T55" fmla="*/ 43 h 87"/>
                <a:gd name="T56" fmla="*/ 85 w 85"/>
                <a:gd name="T57" fmla="*/ 43 h 87"/>
                <a:gd name="T58" fmla="*/ 84 w 85"/>
                <a:gd name="T59" fmla="*/ 52 h 87"/>
                <a:gd name="T60" fmla="*/ 82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4"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2" y="26"/>
                  </a:lnTo>
                  <a:lnTo>
                    <a:pt x="84" y="34"/>
                  </a:lnTo>
                  <a:lnTo>
                    <a:pt x="85" y="43"/>
                  </a:lnTo>
                  <a:lnTo>
                    <a:pt x="85" y="43"/>
                  </a:lnTo>
                  <a:lnTo>
                    <a:pt x="84" y="52"/>
                  </a:lnTo>
                  <a:lnTo>
                    <a:pt x="82" y="61"/>
                  </a:lnTo>
                  <a:lnTo>
                    <a:pt x="78" y="67"/>
                  </a:lnTo>
                  <a:lnTo>
                    <a:pt x="73" y="73"/>
                  </a:lnTo>
                  <a:lnTo>
                    <a:pt x="66" y="78"/>
                  </a:lnTo>
                  <a:lnTo>
                    <a:pt x="59" y="83"/>
                  </a:lnTo>
                  <a:lnTo>
                    <a:pt x="51" y="85"/>
                  </a:lnTo>
                  <a:lnTo>
                    <a:pt x="43" y="87"/>
                  </a:lnTo>
                  <a:lnTo>
                    <a:pt x="43"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48"/>
            <p:cNvSpPr>
              <a:spLocks/>
            </p:cNvSpPr>
            <p:nvPr userDrawn="1"/>
          </p:nvSpPr>
          <p:spPr bwMode="auto">
            <a:xfrm>
              <a:off x="3649" y="1116"/>
              <a:ext cx="43" cy="44"/>
            </a:xfrm>
            <a:custGeom>
              <a:avLst/>
              <a:gdLst>
                <a:gd name="T0" fmla="*/ 43 w 85"/>
                <a:gd name="T1" fmla="*/ 86 h 86"/>
                <a:gd name="T2" fmla="*/ 43 w 85"/>
                <a:gd name="T3" fmla="*/ 86 h 86"/>
                <a:gd name="T4" fmla="*/ 34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4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2 w 85"/>
                <a:gd name="T51" fmla="*/ 26 h 86"/>
                <a:gd name="T52" fmla="*/ 84 w 85"/>
                <a:gd name="T53" fmla="*/ 34 h 86"/>
                <a:gd name="T54" fmla="*/ 85 w 85"/>
                <a:gd name="T55" fmla="*/ 44 h 86"/>
                <a:gd name="T56" fmla="*/ 85 w 85"/>
                <a:gd name="T57" fmla="*/ 44 h 86"/>
                <a:gd name="T58" fmla="*/ 84 w 85"/>
                <a:gd name="T59" fmla="*/ 52 h 86"/>
                <a:gd name="T60" fmla="*/ 82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2" y="26"/>
                  </a:lnTo>
                  <a:lnTo>
                    <a:pt x="84" y="34"/>
                  </a:lnTo>
                  <a:lnTo>
                    <a:pt x="85" y="44"/>
                  </a:lnTo>
                  <a:lnTo>
                    <a:pt x="85" y="44"/>
                  </a:lnTo>
                  <a:lnTo>
                    <a:pt x="84" y="52"/>
                  </a:lnTo>
                  <a:lnTo>
                    <a:pt x="82" y="60"/>
                  </a:lnTo>
                  <a:lnTo>
                    <a:pt x="78" y="67"/>
                  </a:lnTo>
                  <a:lnTo>
                    <a:pt x="73" y="74"/>
                  </a:lnTo>
                  <a:lnTo>
                    <a:pt x="66" y="78"/>
                  </a:lnTo>
                  <a:lnTo>
                    <a:pt x="59" y="82"/>
                  </a:lnTo>
                  <a:lnTo>
                    <a:pt x="51"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49"/>
            <p:cNvSpPr>
              <a:spLocks/>
            </p:cNvSpPr>
            <p:nvPr userDrawn="1"/>
          </p:nvSpPr>
          <p:spPr bwMode="auto">
            <a:xfrm>
              <a:off x="3592" y="778"/>
              <a:ext cx="43" cy="43"/>
            </a:xfrm>
            <a:custGeom>
              <a:avLst/>
              <a:gdLst>
                <a:gd name="T0" fmla="*/ 43 w 85"/>
                <a:gd name="T1" fmla="*/ 85 h 85"/>
                <a:gd name="T2" fmla="*/ 43 w 85"/>
                <a:gd name="T3" fmla="*/ 85 h 85"/>
                <a:gd name="T4" fmla="*/ 34 w 85"/>
                <a:gd name="T5" fmla="*/ 84 h 85"/>
                <a:gd name="T6" fmla="*/ 26 w 85"/>
                <a:gd name="T7" fmla="*/ 82 h 85"/>
                <a:gd name="T8" fmla="*/ 18 w 85"/>
                <a:gd name="T9" fmla="*/ 78 h 85"/>
                <a:gd name="T10" fmla="*/ 12 w 85"/>
                <a:gd name="T11" fmla="*/ 73 h 85"/>
                <a:gd name="T12" fmla="*/ 7 w 85"/>
                <a:gd name="T13" fmla="*/ 66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8 h 85"/>
                <a:gd name="T28" fmla="*/ 12 w 85"/>
                <a:gd name="T29" fmla="*/ 12 h 85"/>
                <a:gd name="T30" fmla="*/ 18 w 85"/>
                <a:gd name="T31" fmla="*/ 7 h 85"/>
                <a:gd name="T32" fmla="*/ 26 w 85"/>
                <a:gd name="T33" fmla="*/ 2 h 85"/>
                <a:gd name="T34" fmla="*/ 34 w 85"/>
                <a:gd name="T35" fmla="*/ 0 h 85"/>
                <a:gd name="T36" fmla="*/ 43 w 85"/>
                <a:gd name="T37" fmla="*/ 0 h 85"/>
                <a:gd name="T38" fmla="*/ 43 w 85"/>
                <a:gd name="T39" fmla="*/ 0 h 85"/>
                <a:gd name="T40" fmla="*/ 51 w 85"/>
                <a:gd name="T41" fmla="*/ 0 h 85"/>
                <a:gd name="T42" fmla="*/ 59 w 85"/>
                <a:gd name="T43" fmla="*/ 2 h 85"/>
                <a:gd name="T44" fmla="*/ 66 w 85"/>
                <a:gd name="T45" fmla="*/ 7 h 85"/>
                <a:gd name="T46" fmla="*/ 73 w 85"/>
                <a:gd name="T47" fmla="*/ 12 h 85"/>
                <a:gd name="T48" fmla="*/ 78 w 85"/>
                <a:gd name="T49" fmla="*/ 18 h 85"/>
                <a:gd name="T50" fmla="*/ 83 w 85"/>
                <a:gd name="T51" fmla="*/ 26 h 85"/>
                <a:gd name="T52" fmla="*/ 84 w 85"/>
                <a:gd name="T53" fmla="*/ 34 h 85"/>
                <a:gd name="T54" fmla="*/ 85 w 85"/>
                <a:gd name="T55" fmla="*/ 42 h 85"/>
                <a:gd name="T56" fmla="*/ 85 w 85"/>
                <a:gd name="T57" fmla="*/ 42 h 85"/>
                <a:gd name="T58" fmla="*/ 84 w 85"/>
                <a:gd name="T59" fmla="*/ 51 h 85"/>
                <a:gd name="T60" fmla="*/ 83 w 85"/>
                <a:gd name="T61" fmla="*/ 59 h 85"/>
                <a:gd name="T62" fmla="*/ 78 w 85"/>
                <a:gd name="T63" fmla="*/ 66 h 85"/>
                <a:gd name="T64" fmla="*/ 73 w 85"/>
                <a:gd name="T65" fmla="*/ 73 h 85"/>
                <a:gd name="T66" fmla="*/ 66 w 85"/>
                <a:gd name="T67" fmla="*/ 78 h 85"/>
                <a:gd name="T68" fmla="*/ 59 w 85"/>
                <a:gd name="T69" fmla="*/ 82 h 85"/>
                <a:gd name="T70" fmla="*/ 51 w 85"/>
                <a:gd name="T71" fmla="*/ 84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4"/>
                  </a:lnTo>
                  <a:lnTo>
                    <a:pt x="26" y="82"/>
                  </a:lnTo>
                  <a:lnTo>
                    <a:pt x="18" y="78"/>
                  </a:lnTo>
                  <a:lnTo>
                    <a:pt x="12" y="73"/>
                  </a:lnTo>
                  <a:lnTo>
                    <a:pt x="7" y="66"/>
                  </a:lnTo>
                  <a:lnTo>
                    <a:pt x="3" y="59"/>
                  </a:lnTo>
                  <a:lnTo>
                    <a:pt x="0" y="51"/>
                  </a:lnTo>
                  <a:lnTo>
                    <a:pt x="0" y="42"/>
                  </a:lnTo>
                  <a:lnTo>
                    <a:pt x="0" y="42"/>
                  </a:lnTo>
                  <a:lnTo>
                    <a:pt x="0" y="34"/>
                  </a:lnTo>
                  <a:lnTo>
                    <a:pt x="3" y="26"/>
                  </a:lnTo>
                  <a:lnTo>
                    <a:pt x="7" y="18"/>
                  </a:lnTo>
                  <a:lnTo>
                    <a:pt x="12" y="12"/>
                  </a:lnTo>
                  <a:lnTo>
                    <a:pt x="18" y="7"/>
                  </a:lnTo>
                  <a:lnTo>
                    <a:pt x="26" y="2"/>
                  </a:lnTo>
                  <a:lnTo>
                    <a:pt x="34" y="0"/>
                  </a:lnTo>
                  <a:lnTo>
                    <a:pt x="43" y="0"/>
                  </a:lnTo>
                  <a:lnTo>
                    <a:pt x="43" y="0"/>
                  </a:lnTo>
                  <a:lnTo>
                    <a:pt x="51" y="0"/>
                  </a:lnTo>
                  <a:lnTo>
                    <a:pt x="59" y="2"/>
                  </a:lnTo>
                  <a:lnTo>
                    <a:pt x="66" y="7"/>
                  </a:lnTo>
                  <a:lnTo>
                    <a:pt x="73" y="12"/>
                  </a:lnTo>
                  <a:lnTo>
                    <a:pt x="78" y="18"/>
                  </a:lnTo>
                  <a:lnTo>
                    <a:pt x="83" y="26"/>
                  </a:lnTo>
                  <a:lnTo>
                    <a:pt x="84" y="34"/>
                  </a:lnTo>
                  <a:lnTo>
                    <a:pt x="85" y="42"/>
                  </a:lnTo>
                  <a:lnTo>
                    <a:pt x="85" y="42"/>
                  </a:lnTo>
                  <a:lnTo>
                    <a:pt x="84" y="51"/>
                  </a:lnTo>
                  <a:lnTo>
                    <a:pt x="83" y="59"/>
                  </a:lnTo>
                  <a:lnTo>
                    <a:pt x="78" y="66"/>
                  </a:lnTo>
                  <a:lnTo>
                    <a:pt x="73" y="73"/>
                  </a:lnTo>
                  <a:lnTo>
                    <a:pt x="66" y="78"/>
                  </a:lnTo>
                  <a:lnTo>
                    <a:pt x="59" y="82"/>
                  </a:lnTo>
                  <a:lnTo>
                    <a:pt x="51" y="84"/>
                  </a:lnTo>
                  <a:lnTo>
                    <a:pt x="43" y="85"/>
                  </a:lnTo>
                  <a:lnTo>
                    <a:pt x="43" y="85"/>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50"/>
            <p:cNvSpPr>
              <a:spLocks/>
            </p:cNvSpPr>
            <p:nvPr userDrawn="1"/>
          </p:nvSpPr>
          <p:spPr bwMode="auto">
            <a:xfrm>
              <a:off x="3592" y="835"/>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6 h 86"/>
                <a:gd name="T14" fmla="*/ 3 w 85"/>
                <a:gd name="T15" fmla="*/ 59 h 86"/>
                <a:gd name="T16" fmla="*/ 0 w 85"/>
                <a:gd name="T17" fmla="*/ 51 h 86"/>
                <a:gd name="T18" fmla="*/ 0 w 85"/>
                <a:gd name="T19" fmla="*/ 43 h 86"/>
                <a:gd name="T20" fmla="*/ 0 w 85"/>
                <a:gd name="T21" fmla="*/ 43 h 86"/>
                <a:gd name="T22" fmla="*/ 0 w 85"/>
                <a:gd name="T23" fmla="*/ 35 h 86"/>
                <a:gd name="T24" fmla="*/ 3 w 85"/>
                <a:gd name="T25" fmla="*/ 26 h 86"/>
                <a:gd name="T26" fmla="*/ 7 w 85"/>
                <a:gd name="T27" fmla="*/ 20 h 86"/>
                <a:gd name="T28" fmla="*/ 12 w 85"/>
                <a:gd name="T29" fmla="*/ 13 h 86"/>
                <a:gd name="T30" fmla="*/ 18 w 85"/>
                <a:gd name="T31" fmla="*/ 7 h 86"/>
                <a:gd name="T32" fmla="*/ 26 w 85"/>
                <a:gd name="T33" fmla="*/ 3 h 86"/>
                <a:gd name="T34" fmla="*/ 34 w 85"/>
                <a:gd name="T35" fmla="*/ 0 h 86"/>
                <a:gd name="T36" fmla="*/ 43 w 85"/>
                <a:gd name="T37" fmla="*/ 0 h 86"/>
                <a:gd name="T38" fmla="*/ 43 w 85"/>
                <a:gd name="T39" fmla="*/ 0 h 86"/>
                <a:gd name="T40" fmla="*/ 51 w 85"/>
                <a:gd name="T41" fmla="*/ 0 h 86"/>
                <a:gd name="T42" fmla="*/ 59 w 85"/>
                <a:gd name="T43" fmla="*/ 3 h 86"/>
                <a:gd name="T44" fmla="*/ 66 w 85"/>
                <a:gd name="T45" fmla="*/ 7 h 86"/>
                <a:gd name="T46" fmla="*/ 73 w 85"/>
                <a:gd name="T47" fmla="*/ 13 h 86"/>
                <a:gd name="T48" fmla="*/ 78 w 85"/>
                <a:gd name="T49" fmla="*/ 20 h 86"/>
                <a:gd name="T50" fmla="*/ 83 w 85"/>
                <a:gd name="T51" fmla="*/ 26 h 86"/>
                <a:gd name="T52" fmla="*/ 84 w 85"/>
                <a:gd name="T53" fmla="*/ 35 h 86"/>
                <a:gd name="T54" fmla="*/ 85 w 85"/>
                <a:gd name="T55" fmla="*/ 43 h 86"/>
                <a:gd name="T56" fmla="*/ 85 w 85"/>
                <a:gd name="T57" fmla="*/ 43 h 86"/>
                <a:gd name="T58" fmla="*/ 84 w 85"/>
                <a:gd name="T59" fmla="*/ 51 h 86"/>
                <a:gd name="T60" fmla="*/ 83 w 85"/>
                <a:gd name="T61" fmla="*/ 59 h 86"/>
                <a:gd name="T62" fmla="*/ 78 w 85"/>
                <a:gd name="T63" fmla="*/ 66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6"/>
                  </a:lnTo>
                  <a:lnTo>
                    <a:pt x="3" y="59"/>
                  </a:lnTo>
                  <a:lnTo>
                    <a:pt x="0" y="51"/>
                  </a:lnTo>
                  <a:lnTo>
                    <a:pt x="0" y="43"/>
                  </a:lnTo>
                  <a:lnTo>
                    <a:pt x="0" y="43"/>
                  </a:lnTo>
                  <a:lnTo>
                    <a:pt x="0" y="35"/>
                  </a:lnTo>
                  <a:lnTo>
                    <a:pt x="3" y="26"/>
                  </a:lnTo>
                  <a:lnTo>
                    <a:pt x="7" y="20"/>
                  </a:lnTo>
                  <a:lnTo>
                    <a:pt x="12" y="13"/>
                  </a:lnTo>
                  <a:lnTo>
                    <a:pt x="18" y="7"/>
                  </a:lnTo>
                  <a:lnTo>
                    <a:pt x="26" y="3"/>
                  </a:lnTo>
                  <a:lnTo>
                    <a:pt x="34" y="0"/>
                  </a:lnTo>
                  <a:lnTo>
                    <a:pt x="43" y="0"/>
                  </a:lnTo>
                  <a:lnTo>
                    <a:pt x="43" y="0"/>
                  </a:lnTo>
                  <a:lnTo>
                    <a:pt x="51" y="0"/>
                  </a:lnTo>
                  <a:lnTo>
                    <a:pt x="59" y="3"/>
                  </a:lnTo>
                  <a:lnTo>
                    <a:pt x="66" y="7"/>
                  </a:lnTo>
                  <a:lnTo>
                    <a:pt x="73" y="13"/>
                  </a:lnTo>
                  <a:lnTo>
                    <a:pt x="78" y="20"/>
                  </a:lnTo>
                  <a:lnTo>
                    <a:pt x="83" y="26"/>
                  </a:lnTo>
                  <a:lnTo>
                    <a:pt x="84" y="35"/>
                  </a:lnTo>
                  <a:lnTo>
                    <a:pt x="85" y="43"/>
                  </a:lnTo>
                  <a:lnTo>
                    <a:pt x="85" y="43"/>
                  </a:lnTo>
                  <a:lnTo>
                    <a:pt x="84" y="51"/>
                  </a:lnTo>
                  <a:lnTo>
                    <a:pt x="83" y="59"/>
                  </a:lnTo>
                  <a:lnTo>
                    <a:pt x="78" y="66"/>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51"/>
            <p:cNvSpPr>
              <a:spLocks/>
            </p:cNvSpPr>
            <p:nvPr userDrawn="1"/>
          </p:nvSpPr>
          <p:spPr bwMode="auto">
            <a:xfrm>
              <a:off x="3592" y="891"/>
              <a:ext cx="43" cy="43"/>
            </a:xfrm>
            <a:custGeom>
              <a:avLst/>
              <a:gdLst>
                <a:gd name="T0" fmla="*/ 43 w 85"/>
                <a:gd name="T1" fmla="*/ 85 h 85"/>
                <a:gd name="T2" fmla="*/ 43 w 85"/>
                <a:gd name="T3" fmla="*/ 85 h 85"/>
                <a:gd name="T4" fmla="*/ 34 w 85"/>
                <a:gd name="T5" fmla="*/ 85 h 85"/>
                <a:gd name="T6" fmla="*/ 26 w 85"/>
                <a:gd name="T7" fmla="*/ 83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3 h 85"/>
                <a:gd name="T34" fmla="*/ 34 w 85"/>
                <a:gd name="T35" fmla="*/ 1 h 85"/>
                <a:gd name="T36" fmla="*/ 43 w 85"/>
                <a:gd name="T37" fmla="*/ 0 h 85"/>
                <a:gd name="T38" fmla="*/ 43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3 w 85"/>
                <a:gd name="T51" fmla="*/ 26 h 85"/>
                <a:gd name="T52" fmla="*/ 84 w 85"/>
                <a:gd name="T53" fmla="*/ 34 h 85"/>
                <a:gd name="T54" fmla="*/ 85 w 85"/>
                <a:gd name="T55" fmla="*/ 43 h 85"/>
                <a:gd name="T56" fmla="*/ 85 w 85"/>
                <a:gd name="T57" fmla="*/ 43 h 85"/>
                <a:gd name="T58" fmla="*/ 84 w 85"/>
                <a:gd name="T59" fmla="*/ 51 h 85"/>
                <a:gd name="T60" fmla="*/ 83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3"/>
                  </a:lnTo>
                  <a:lnTo>
                    <a:pt x="18" y="78"/>
                  </a:lnTo>
                  <a:lnTo>
                    <a:pt x="12" y="73"/>
                  </a:lnTo>
                  <a:lnTo>
                    <a:pt x="7" y="67"/>
                  </a:lnTo>
                  <a:lnTo>
                    <a:pt x="3" y="59"/>
                  </a:lnTo>
                  <a:lnTo>
                    <a:pt x="0" y="51"/>
                  </a:lnTo>
                  <a:lnTo>
                    <a:pt x="0" y="43"/>
                  </a:lnTo>
                  <a:lnTo>
                    <a:pt x="0" y="43"/>
                  </a:lnTo>
                  <a:lnTo>
                    <a:pt x="0" y="34"/>
                  </a:lnTo>
                  <a:lnTo>
                    <a:pt x="3" y="26"/>
                  </a:lnTo>
                  <a:lnTo>
                    <a:pt x="7" y="19"/>
                  </a:lnTo>
                  <a:lnTo>
                    <a:pt x="12" y="12"/>
                  </a:lnTo>
                  <a:lnTo>
                    <a:pt x="18" y="7"/>
                  </a:lnTo>
                  <a:lnTo>
                    <a:pt x="26" y="3"/>
                  </a:lnTo>
                  <a:lnTo>
                    <a:pt x="34" y="1"/>
                  </a:lnTo>
                  <a:lnTo>
                    <a:pt x="43" y="0"/>
                  </a:lnTo>
                  <a:lnTo>
                    <a:pt x="43" y="0"/>
                  </a:lnTo>
                  <a:lnTo>
                    <a:pt x="51" y="1"/>
                  </a:lnTo>
                  <a:lnTo>
                    <a:pt x="59" y="3"/>
                  </a:lnTo>
                  <a:lnTo>
                    <a:pt x="66" y="7"/>
                  </a:lnTo>
                  <a:lnTo>
                    <a:pt x="73" y="12"/>
                  </a:lnTo>
                  <a:lnTo>
                    <a:pt x="78" y="19"/>
                  </a:lnTo>
                  <a:lnTo>
                    <a:pt x="83" y="26"/>
                  </a:lnTo>
                  <a:lnTo>
                    <a:pt x="84" y="34"/>
                  </a:lnTo>
                  <a:lnTo>
                    <a:pt x="85" y="43"/>
                  </a:lnTo>
                  <a:lnTo>
                    <a:pt x="85" y="43"/>
                  </a:lnTo>
                  <a:lnTo>
                    <a:pt x="84" y="51"/>
                  </a:lnTo>
                  <a:lnTo>
                    <a:pt x="83" y="59"/>
                  </a:lnTo>
                  <a:lnTo>
                    <a:pt x="78" y="67"/>
                  </a:lnTo>
                  <a:lnTo>
                    <a:pt x="73" y="73"/>
                  </a:lnTo>
                  <a:lnTo>
                    <a:pt x="66" y="78"/>
                  </a:lnTo>
                  <a:lnTo>
                    <a:pt x="59" y="83"/>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52"/>
            <p:cNvSpPr>
              <a:spLocks/>
            </p:cNvSpPr>
            <p:nvPr userDrawn="1"/>
          </p:nvSpPr>
          <p:spPr bwMode="auto">
            <a:xfrm>
              <a:off x="3592" y="947"/>
              <a:ext cx="43" cy="43"/>
            </a:xfrm>
            <a:custGeom>
              <a:avLst/>
              <a:gdLst>
                <a:gd name="T0" fmla="*/ 43 w 85"/>
                <a:gd name="T1" fmla="*/ 85 h 85"/>
                <a:gd name="T2" fmla="*/ 43 w 85"/>
                <a:gd name="T3" fmla="*/ 85 h 85"/>
                <a:gd name="T4" fmla="*/ 34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4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3 w 85"/>
                <a:gd name="T51" fmla="*/ 26 h 85"/>
                <a:gd name="T52" fmla="*/ 84 w 85"/>
                <a:gd name="T53" fmla="*/ 34 h 85"/>
                <a:gd name="T54" fmla="*/ 85 w 85"/>
                <a:gd name="T55" fmla="*/ 42 h 85"/>
                <a:gd name="T56" fmla="*/ 85 w 85"/>
                <a:gd name="T57" fmla="*/ 42 h 85"/>
                <a:gd name="T58" fmla="*/ 84 w 85"/>
                <a:gd name="T59" fmla="*/ 51 h 85"/>
                <a:gd name="T60" fmla="*/ 83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4" y="1"/>
                  </a:lnTo>
                  <a:lnTo>
                    <a:pt x="43" y="0"/>
                  </a:lnTo>
                  <a:lnTo>
                    <a:pt x="43" y="0"/>
                  </a:lnTo>
                  <a:lnTo>
                    <a:pt x="51" y="1"/>
                  </a:lnTo>
                  <a:lnTo>
                    <a:pt x="59" y="2"/>
                  </a:lnTo>
                  <a:lnTo>
                    <a:pt x="66" y="7"/>
                  </a:lnTo>
                  <a:lnTo>
                    <a:pt x="73" y="12"/>
                  </a:lnTo>
                  <a:lnTo>
                    <a:pt x="78" y="19"/>
                  </a:lnTo>
                  <a:lnTo>
                    <a:pt x="83" y="26"/>
                  </a:lnTo>
                  <a:lnTo>
                    <a:pt x="84" y="34"/>
                  </a:lnTo>
                  <a:lnTo>
                    <a:pt x="85" y="42"/>
                  </a:lnTo>
                  <a:lnTo>
                    <a:pt x="85" y="42"/>
                  </a:lnTo>
                  <a:lnTo>
                    <a:pt x="84" y="51"/>
                  </a:lnTo>
                  <a:lnTo>
                    <a:pt x="83" y="59"/>
                  </a:lnTo>
                  <a:lnTo>
                    <a:pt x="78" y="67"/>
                  </a:lnTo>
                  <a:lnTo>
                    <a:pt x="73" y="73"/>
                  </a:lnTo>
                  <a:lnTo>
                    <a:pt x="66" y="78"/>
                  </a:lnTo>
                  <a:lnTo>
                    <a:pt x="59" y="82"/>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53"/>
            <p:cNvSpPr>
              <a:spLocks/>
            </p:cNvSpPr>
            <p:nvPr userDrawn="1"/>
          </p:nvSpPr>
          <p:spPr bwMode="auto">
            <a:xfrm>
              <a:off x="3592" y="1004"/>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4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3 w 85"/>
                <a:gd name="T51" fmla="*/ 27 h 86"/>
                <a:gd name="T52" fmla="*/ 84 w 85"/>
                <a:gd name="T53" fmla="*/ 35 h 86"/>
                <a:gd name="T54" fmla="*/ 85 w 85"/>
                <a:gd name="T55" fmla="*/ 43 h 86"/>
                <a:gd name="T56" fmla="*/ 85 w 85"/>
                <a:gd name="T57" fmla="*/ 43 h 86"/>
                <a:gd name="T58" fmla="*/ 84 w 85"/>
                <a:gd name="T59" fmla="*/ 53 h 86"/>
                <a:gd name="T60" fmla="*/ 83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4" y="2"/>
                  </a:lnTo>
                  <a:lnTo>
                    <a:pt x="43" y="0"/>
                  </a:lnTo>
                  <a:lnTo>
                    <a:pt x="43" y="0"/>
                  </a:lnTo>
                  <a:lnTo>
                    <a:pt x="51" y="2"/>
                  </a:lnTo>
                  <a:lnTo>
                    <a:pt x="59" y="5"/>
                  </a:lnTo>
                  <a:lnTo>
                    <a:pt x="66" y="7"/>
                  </a:lnTo>
                  <a:lnTo>
                    <a:pt x="73" y="13"/>
                  </a:lnTo>
                  <a:lnTo>
                    <a:pt x="78" y="20"/>
                  </a:lnTo>
                  <a:lnTo>
                    <a:pt x="83" y="27"/>
                  </a:lnTo>
                  <a:lnTo>
                    <a:pt x="84" y="35"/>
                  </a:lnTo>
                  <a:lnTo>
                    <a:pt x="85" y="43"/>
                  </a:lnTo>
                  <a:lnTo>
                    <a:pt x="85" y="43"/>
                  </a:lnTo>
                  <a:lnTo>
                    <a:pt x="84" y="53"/>
                  </a:lnTo>
                  <a:lnTo>
                    <a:pt x="83" y="59"/>
                  </a:lnTo>
                  <a:lnTo>
                    <a:pt x="78" y="68"/>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4"/>
            <p:cNvSpPr>
              <a:spLocks/>
            </p:cNvSpPr>
            <p:nvPr userDrawn="1"/>
          </p:nvSpPr>
          <p:spPr bwMode="auto">
            <a:xfrm>
              <a:off x="3592" y="1060"/>
              <a:ext cx="43" cy="43"/>
            </a:xfrm>
            <a:custGeom>
              <a:avLst/>
              <a:gdLst>
                <a:gd name="T0" fmla="*/ 43 w 85"/>
                <a:gd name="T1" fmla="*/ 87 h 87"/>
                <a:gd name="T2" fmla="*/ 43 w 85"/>
                <a:gd name="T3" fmla="*/ 87 h 87"/>
                <a:gd name="T4" fmla="*/ 34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4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3 w 85"/>
                <a:gd name="T51" fmla="*/ 26 h 87"/>
                <a:gd name="T52" fmla="*/ 84 w 85"/>
                <a:gd name="T53" fmla="*/ 34 h 87"/>
                <a:gd name="T54" fmla="*/ 85 w 85"/>
                <a:gd name="T55" fmla="*/ 43 h 87"/>
                <a:gd name="T56" fmla="*/ 85 w 85"/>
                <a:gd name="T57" fmla="*/ 43 h 87"/>
                <a:gd name="T58" fmla="*/ 84 w 85"/>
                <a:gd name="T59" fmla="*/ 52 h 87"/>
                <a:gd name="T60" fmla="*/ 83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4"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3" y="26"/>
                  </a:lnTo>
                  <a:lnTo>
                    <a:pt x="84" y="34"/>
                  </a:lnTo>
                  <a:lnTo>
                    <a:pt x="85" y="43"/>
                  </a:lnTo>
                  <a:lnTo>
                    <a:pt x="85" y="43"/>
                  </a:lnTo>
                  <a:lnTo>
                    <a:pt x="84" y="52"/>
                  </a:lnTo>
                  <a:lnTo>
                    <a:pt x="83" y="61"/>
                  </a:lnTo>
                  <a:lnTo>
                    <a:pt x="78" y="67"/>
                  </a:lnTo>
                  <a:lnTo>
                    <a:pt x="73" y="73"/>
                  </a:lnTo>
                  <a:lnTo>
                    <a:pt x="66" y="78"/>
                  </a:lnTo>
                  <a:lnTo>
                    <a:pt x="59" y="83"/>
                  </a:lnTo>
                  <a:lnTo>
                    <a:pt x="51" y="85"/>
                  </a:lnTo>
                  <a:lnTo>
                    <a:pt x="43" y="87"/>
                  </a:lnTo>
                  <a:lnTo>
                    <a:pt x="43"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55"/>
            <p:cNvSpPr>
              <a:spLocks/>
            </p:cNvSpPr>
            <p:nvPr userDrawn="1"/>
          </p:nvSpPr>
          <p:spPr bwMode="auto">
            <a:xfrm>
              <a:off x="3592" y="1116"/>
              <a:ext cx="43" cy="44"/>
            </a:xfrm>
            <a:custGeom>
              <a:avLst/>
              <a:gdLst>
                <a:gd name="T0" fmla="*/ 43 w 85"/>
                <a:gd name="T1" fmla="*/ 86 h 86"/>
                <a:gd name="T2" fmla="*/ 43 w 85"/>
                <a:gd name="T3" fmla="*/ 86 h 86"/>
                <a:gd name="T4" fmla="*/ 34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4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3 w 85"/>
                <a:gd name="T51" fmla="*/ 26 h 86"/>
                <a:gd name="T52" fmla="*/ 84 w 85"/>
                <a:gd name="T53" fmla="*/ 34 h 86"/>
                <a:gd name="T54" fmla="*/ 85 w 85"/>
                <a:gd name="T55" fmla="*/ 44 h 86"/>
                <a:gd name="T56" fmla="*/ 85 w 85"/>
                <a:gd name="T57" fmla="*/ 44 h 86"/>
                <a:gd name="T58" fmla="*/ 84 w 85"/>
                <a:gd name="T59" fmla="*/ 52 h 86"/>
                <a:gd name="T60" fmla="*/ 83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3" y="26"/>
                  </a:lnTo>
                  <a:lnTo>
                    <a:pt x="84" y="34"/>
                  </a:lnTo>
                  <a:lnTo>
                    <a:pt x="85" y="44"/>
                  </a:lnTo>
                  <a:lnTo>
                    <a:pt x="85" y="44"/>
                  </a:lnTo>
                  <a:lnTo>
                    <a:pt x="84" y="52"/>
                  </a:lnTo>
                  <a:lnTo>
                    <a:pt x="83" y="60"/>
                  </a:lnTo>
                  <a:lnTo>
                    <a:pt x="78" y="67"/>
                  </a:lnTo>
                  <a:lnTo>
                    <a:pt x="73" y="74"/>
                  </a:lnTo>
                  <a:lnTo>
                    <a:pt x="66" y="78"/>
                  </a:lnTo>
                  <a:lnTo>
                    <a:pt x="59" y="82"/>
                  </a:lnTo>
                  <a:lnTo>
                    <a:pt x="51"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56"/>
            <p:cNvSpPr>
              <a:spLocks/>
            </p:cNvSpPr>
            <p:nvPr userDrawn="1"/>
          </p:nvSpPr>
          <p:spPr bwMode="auto">
            <a:xfrm>
              <a:off x="3536" y="835"/>
              <a:ext cx="43" cy="42"/>
            </a:xfrm>
            <a:custGeom>
              <a:avLst/>
              <a:gdLst>
                <a:gd name="T0" fmla="*/ 43 w 85"/>
                <a:gd name="T1" fmla="*/ 86 h 86"/>
                <a:gd name="T2" fmla="*/ 43 w 85"/>
                <a:gd name="T3" fmla="*/ 86 h 86"/>
                <a:gd name="T4" fmla="*/ 33 w 85"/>
                <a:gd name="T5" fmla="*/ 86 h 86"/>
                <a:gd name="T6" fmla="*/ 26 w 85"/>
                <a:gd name="T7" fmla="*/ 83 h 86"/>
                <a:gd name="T8" fmla="*/ 18 w 85"/>
                <a:gd name="T9" fmla="*/ 79 h 86"/>
                <a:gd name="T10" fmla="*/ 12 w 85"/>
                <a:gd name="T11" fmla="*/ 73 h 86"/>
                <a:gd name="T12" fmla="*/ 7 w 85"/>
                <a:gd name="T13" fmla="*/ 66 h 86"/>
                <a:gd name="T14" fmla="*/ 3 w 85"/>
                <a:gd name="T15" fmla="*/ 59 h 86"/>
                <a:gd name="T16" fmla="*/ 0 w 85"/>
                <a:gd name="T17" fmla="*/ 51 h 86"/>
                <a:gd name="T18" fmla="*/ 0 w 85"/>
                <a:gd name="T19" fmla="*/ 43 h 86"/>
                <a:gd name="T20" fmla="*/ 0 w 85"/>
                <a:gd name="T21" fmla="*/ 43 h 86"/>
                <a:gd name="T22" fmla="*/ 0 w 85"/>
                <a:gd name="T23" fmla="*/ 35 h 86"/>
                <a:gd name="T24" fmla="*/ 3 w 85"/>
                <a:gd name="T25" fmla="*/ 26 h 86"/>
                <a:gd name="T26" fmla="*/ 7 w 85"/>
                <a:gd name="T27" fmla="*/ 20 h 86"/>
                <a:gd name="T28" fmla="*/ 12 w 85"/>
                <a:gd name="T29" fmla="*/ 13 h 86"/>
                <a:gd name="T30" fmla="*/ 18 w 85"/>
                <a:gd name="T31" fmla="*/ 7 h 86"/>
                <a:gd name="T32" fmla="*/ 26 w 85"/>
                <a:gd name="T33" fmla="*/ 3 h 86"/>
                <a:gd name="T34" fmla="*/ 33 w 85"/>
                <a:gd name="T35" fmla="*/ 0 h 86"/>
                <a:gd name="T36" fmla="*/ 43 w 85"/>
                <a:gd name="T37" fmla="*/ 0 h 86"/>
                <a:gd name="T38" fmla="*/ 43 w 85"/>
                <a:gd name="T39" fmla="*/ 0 h 86"/>
                <a:gd name="T40" fmla="*/ 51 w 85"/>
                <a:gd name="T41" fmla="*/ 0 h 86"/>
                <a:gd name="T42" fmla="*/ 59 w 85"/>
                <a:gd name="T43" fmla="*/ 3 h 86"/>
                <a:gd name="T44" fmla="*/ 66 w 85"/>
                <a:gd name="T45" fmla="*/ 7 h 86"/>
                <a:gd name="T46" fmla="*/ 73 w 85"/>
                <a:gd name="T47" fmla="*/ 13 h 86"/>
                <a:gd name="T48" fmla="*/ 78 w 85"/>
                <a:gd name="T49" fmla="*/ 20 h 86"/>
                <a:gd name="T50" fmla="*/ 81 w 85"/>
                <a:gd name="T51" fmla="*/ 26 h 86"/>
                <a:gd name="T52" fmla="*/ 84 w 85"/>
                <a:gd name="T53" fmla="*/ 35 h 86"/>
                <a:gd name="T54" fmla="*/ 85 w 85"/>
                <a:gd name="T55" fmla="*/ 43 h 86"/>
                <a:gd name="T56" fmla="*/ 85 w 85"/>
                <a:gd name="T57" fmla="*/ 43 h 86"/>
                <a:gd name="T58" fmla="*/ 84 w 85"/>
                <a:gd name="T59" fmla="*/ 51 h 86"/>
                <a:gd name="T60" fmla="*/ 81 w 85"/>
                <a:gd name="T61" fmla="*/ 59 h 86"/>
                <a:gd name="T62" fmla="*/ 78 w 85"/>
                <a:gd name="T63" fmla="*/ 66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6"/>
                  </a:lnTo>
                  <a:lnTo>
                    <a:pt x="26" y="83"/>
                  </a:lnTo>
                  <a:lnTo>
                    <a:pt x="18" y="79"/>
                  </a:lnTo>
                  <a:lnTo>
                    <a:pt x="12" y="73"/>
                  </a:lnTo>
                  <a:lnTo>
                    <a:pt x="7" y="66"/>
                  </a:lnTo>
                  <a:lnTo>
                    <a:pt x="3" y="59"/>
                  </a:lnTo>
                  <a:lnTo>
                    <a:pt x="0" y="51"/>
                  </a:lnTo>
                  <a:lnTo>
                    <a:pt x="0" y="43"/>
                  </a:lnTo>
                  <a:lnTo>
                    <a:pt x="0" y="43"/>
                  </a:lnTo>
                  <a:lnTo>
                    <a:pt x="0" y="35"/>
                  </a:lnTo>
                  <a:lnTo>
                    <a:pt x="3" y="26"/>
                  </a:lnTo>
                  <a:lnTo>
                    <a:pt x="7" y="20"/>
                  </a:lnTo>
                  <a:lnTo>
                    <a:pt x="12" y="13"/>
                  </a:lnTo>
                  <a:lnTo>
                    <a:pt x="18" y="7"/>
                  </a:lnTo>
                  <a:lnTo>
                    <a:pt x="26" y="3"/>
                  </a:lnTo>
                  <a:lnTo>
                    <a:pt x="33" y="0"/>
                  </a:lnTo>
                  <a:lnTo>
                    <a:pt x="43" y="0"/>
                  </a:lnTo>
                  <a:lnTo>
                    <a:pt x="43" y="0"/>
                  </a:lnTo>
                  <a:lnTo>
                    <a:pt x="51" y="0"/>
                  </a:lnTo>
                  <a:lnTo>
                    <a:pt x="59" y="3"/>
                  </a:lnTo>
                  <a:lnTo>
                    <a:pt x="66" y="7"/>
                  </a:lnTo>
                  <a:lnTo>
                    <a:pt x="73" y="13"/>
                  </a:lnTo>
                  <a:lnTo>
                    <a:pt x="78" y="20"/>
                  </a:lnTo>
                  <a:lnTo>
                    <a:pt x="81" y="26"/>
                  </a:lnTo>
                  <a:lnTo>
                    <a:pt x="84" y="35"/>
                  </a:lnTo>
                  <a:lnTo>
                    <a:pt x="85" y="43"/>
                  </a:lnTo>
                  <a:lnTo>
                    <a:pt x="85" y="43"/>
                  </a:lnTo>
                  <a:lnTo>
                    <a:pt x="84" y="51"/>
                  </a:lnTo>
                  <a:lnTo>
                    <a:pt x="81" y="59"/>
                  </a:lnTo>
                  <a:lnTo>
                    <a:pt x="78" y="66"/>
                  </a:lnTo>
                  <a:lnTo>
                    <a:pt x="73" y="73"/>
                  </a:lnTo>
                  <a:lnTo>
                    <a:pt x="66" y="79"/>
                  </a:lnTo>
                  <a:lnTo>
                    <a:pt x="59" y="83"/>
                  </a:lnTo>
                  <a:lnTo>
                    <a:pt x="51" y="86"/>
                  </a:lnTo>
                  <a:lnTo>
                    <a:pt x="43" y="86"/>
                  </a:lnTo>
                  <a:lnTo>
                    <a:pt x="43" y="86"/>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57"/>
            <p:cNvSpPr>
              <a:spLocks/>
            </p:cNvSpPr>
            <p:nvPr userDrawn="1"/>
          </p:nvSpPr>
          <p:spPr bwMode="auto">
            <a:xfrm>
              <a:off x="3536" y="891"/>
              <a:ext cx="43" cy="43"/>
            </a:xfrm>
            <a:custGeom>
              <a:avLst/>
              <a:gdLst>
                <a:gd name="T0" fmla="*/ 43 w 85"/>
                <a:gd name="T1" fmla="*/ 85 h 85"/>
                <a:gd name="T2" fmla="*/ 43 w 85"/>
                <a:gd name="T3" fmla="*/ 85 h 85"/>
                <a:gd name="T4" fmla="*/ 33 w 85"/>
                <a:gd name="T5" fmla="*/ 85 h 85"/>
                <a:gd name="T6" fmla="*/ 26 w 85"/>
                <a:gd name="T7" fmla="*/ 83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3 h 85"/>
                <a:gd name="T34" fmla="*/ 33 w 85"/>
                <a:gd name="T35" fmla="*/ 1 h 85"/>
                <a:gd name="T36" fmla="*/ 43 w 85"/>
                <a:gd name="T37" fmla="*/ 0 h 85"/>
                <a:gd name="T38" fmla="*/ 43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1 w 85"/>
                <a:gd name="T51" fmla="*/ 26 h 85"/>
                <a:gd name="T52" fmla="*/ 84 w 85"/>
                <a:gd name="T53" fmla="*/ 34 h 85"/>
                <a:gd name="T54" fmla="*/ 85 w 85"/>
                <a:gd name="T55" fmla="*/ 43 h 85"/>
                <a:gd name="T56" fmla="*/ 85 w 85"/>
                <a:gd name="T57" fmla="*/ 43 h 85"/>
                <a:gd name="T58" fmla="*/ 84 w 85"/>
                <a:gd name="T59" fmla="*/ 51 h 85"/>
                <a:gd name="T60" fmla="*/ 81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3" y="85"/>
                  </a:lnTo>
                  <a:lnTo>
                    <a:pt x="26" y="83"/>
                  </a:lnTo>
                  <a:lnTo>
                    <a:pt x="18" y="78"/>
                  </a:lnTo>
                  <a:lnTo>
                    <a:pt x="12" y="73"/>
                  </a:lnTo>
                  <a:lnTo>
                    <a:pt x="7" y="67"/>
                  </a:lnTo>
                  <a:lnTo>
                    <a:pt x="3" y="59"/>
                  </a:lnTo>
                  <a:lnTo>
                    <a:pt x="0" y="51"/>
                  </a:lnTo>
                  <a:lnTo>
                    <a:pt x="0" y="43"/>
                  </a:lnTo>
                  <a:lnTo>
                    <a:pt x="0" y="43"/>
                  </a:lnTo>
                  <a:lnTo>
                    <a:pt x="0" y="34"/>
                  </a:lnTo>
                  <a:lnTo>
                    <a:pt x="3" y="26"/>
                  </a:lnTo>
                  <a:lnTo>
                    <a:pt x="7" y="19"/>
                  </a:lnTo>
                  <a:lnTo>
                    <a:pt x="12" y="12"/>
                  </a:lnTo>
                  <a:lnTo>
                    <a:pt x="18" y="7"/>
                  </a:lnTo>
                  <a:lnTo>
                    <a:pt x="26" y="3"/>
                  </a:lnTo>
                  <a:lnTo>
                    <a:pt x="33" y="1"/>
                  </a:lnTo>
                  <a:lnTo>
                    <a:pt x="43" y="0"/>
                  </a:lnTo>
                  <a:lnTo>
                    <a:pt x="43" y="0"/>
                  </a:lnTo>
                  <a:lnTo>
                    <a:pt x="51" y="1"/>
                  </a:lnTo>
                  <a:lnTo>
                    <a:pt x="59" y="3"/>
                  </a:lnTo>
                  <a:lnTo>
                    <a:pt x="66" y="7"/>
                  </a:lnTo>
                  <a:lnTo>
                    <a:pt x="73" y="12"/>
                  </a:lnTo>
                  <a:lnTo>
                    <a:pt x="78" y="19"/>
                  </a:lnTo>
                  <a:lnTo>
                    <a:pt x="81" y="26"/>
                  </a:lnTo>
                  <a:lnTo>
                    <a:pt x="84" y="34"/>
                  </a:lnTo>
                  <a:lnTo>
                    <a:pt x="85" y="43"/>
                  </a:lnTo>
                  <a:lnTo>
                    <a:pt x="85" y="43"/>
                  </a:lnTo>
                  <a:lnTo>
                    <a:pt x="84" y="51"/>
                  </a:lnTo>
                  <a:lnTo>
                    <a:pt x="81" y="59"/>
                  </a:lnTo>
                  <a:lnTo>
                    <a:pt x="78" y="67"/>
                  </a:lnTo>
                  <a:lnTo>
                    <a:pt x="73" y="73"/>
                  </a:lnTo>
                  <a:lnTo>
                    <a:pt x="66" y="78"/>
                  </a:lnTo>
                  <a:lnTo>
                    <a:pt x="59" y="83"/>
                  </a:lnTo>
                  <a:lnTo>
                    <a:pt x="51" y="85"/>
                  </a:lnTo>
                  <a:lnTo>
                    <a:pt x="43" y="85"/>
                  </a:lnTo>
                  <a:lnTo>
                    <a:pt x="43" y="85"/>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58"/>
            <p:cNvSpPr>
              <a:spLocks/>
            </p:cNvSpPr>
            <p:nvPr userDrawn="1"/>
          </p:nvSpPr>
          <p:spPr bwMode="auto">
            <a:xfrm>
              <a:off x="3536" y="947"/>
              <a:ext cx="43" cy="43"/>
            </a:xfrm>
            <a:custGeom>
              <a:avLst/>
              <a:gdLst>
                <a:gd name="T0" fmla="*/ 43 w 85"/>
                <a:gd name="T1" fmla="*/ 85 h 85"/>
                <a:gd name="T2" fmla="*/ 43 w 85"/>
                <a:gd name="T3" fmla="*/ 85 h 85"/>
                <a:gd name="T4" fmla="*/ 33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3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1 w 85"/>
                <a:gd name="T51" fmla="*/ 26 h 85"/>
                <a:gd name="T52" fmla="*/ 84 w 85"/>
                <a:gd name="T53" fmla="*/ 34 h 85"/>
                <a:gd name="T54" fmla="*/ 85 w 85"/>
                <a:gd name="T55" fmla="*/ 42 h 85"/>
                <a:gd name="T56" fmla="*/ 85 w 85"/>
                <a:gd name="T57" fmla="*/ 42 h 85"/>
                <a:gd name="T58" fmla="*/ 84 w 85"/>
                <a:gd name="T59" fmla="*/ 51 h 85"/>
                <a:gd name="T60" fmla="*/ 81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3"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3" y="1"/>
                  </a:lnTo>
                  <a:lnTo>
                    <a:pt x="43" y="0"/>
                  </a:lnTo>
                  <a:lnTo>
                    <a:pt x="43" y="0"/>
                  </a:lnTo>
                  <a:lnTo>
                    <a:pt x="51" y="1"/>
                  </a:lnTo>
                  <a:lnTo>
                    <a:pt x="59" y="2"/>
                  </a:lnTo>
                  <a:lnTo>
                    <a:pt x="66" y="7"/>
                  </a:lnTo>
                  <a:lnTo>
                    <a:pt x="73" y="12"/>
                  </a:lnTo>
                  <a:lnTo>
                    <a:pt x="78" y="19"/>
                  </a:lnTo>
                  <a:lnTo>
                    <a:pt x="81" y="26"/>
                  </a:lnTo>
                  <a:lnTo>
                    <a:pt x="84" y="34"/>
                  </a:lnTo>
                  <a:lnTo>
                    <a:pt x="85" y="42"/>
                  </a:lnTo>
                  <a:lnTo>
                    <a:pt x="85" y="42"/>
                  </a:lnTo>
                  <a:lnTo>
                    <a:pt x="84" y="51"/>
                  </a:lnTo>
                  <a:lnTo>
                    <a:pt x="81" y="59"/>
                  </a:lnTo>
                  <a:lnTo>
                    <a:pt x="78" y="67"/>
                  </a:lnTo>
                  <a:lnTo>
                    <a:pt x="73" y="73"/>
                  </a:lnTo>
                  <a:lnTo>
                    <a:pt x="66" y="78"/>
                  </a:lnTo>
                  <a:lnTo>
                    <a:pt x="59" y="82"/>
                  </a:lnTo>
                  <a:lnTo>
                    <a:pt x="51" y="85"/>
                  </a:lnTo>
                  <a:lnTo>
                    <a:pt x="43" y="85"/>
                  </a:lnTo>
                  <a:lnTo>
                    <a:pt x="43" y="85"/>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59"/>
            <p:cNvSpPr>
              <a:spLocks/>
            </p:cNvSpPr>
            <p:nvPr userDrawn="1"/>
          </p:nvSpPr>
          <p:spPr bwMode="auto">
            <a:xfrm>
              <a:off x="3536" y="1004"/>
              <a:ext cx="43" cy="42"/>
            </a:xfrm>
            <a:custGeom>
              <a:avLst/>
              <a:gdLst>
                <a:gd name="T0" fmla="*/ 43 w 85"/>
                <a:gd name="T1" fmla="*/ 86 h 86"/>
                <a:gd name="T2" fmla="*/ 43 w 85"/>
                <a:gd name="T3" fmla="*/ 86 h 86"/>
                <a:gd name="T4" fmla="*/ 33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3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1 w 85"/>
                <a:gd name="T51" fmla="*/ 27 h 86"/>
                <a:gd name="T52" fmla="*/ 84 w 85"/>
                <a:gd name="T53" fmla="*/ 35 h 86"/>
                <a:gd name="T54" fmla="*/ 85 w 85"/>
                <a:gd name="T55" fmla="*/ 43 h 86"/>
                <a:gd name="T56" fmla="*/ 85 w 85"/>
                <a:gd name="T57" fmla="*/ 43 h 86"/>
                <a:gd name="T58" fmla="*/ 84 w 85"/>
                <a:gd name="T59" fmla="*/ 53 h 86"/>
                <a:gd name="T60" fmla="*/ 81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3" y="2"/>
                  </a:lnTo>
                  <a:lnTo>
                    <a:pt x="43" y="0"/>
                  </a:lnTo>
                  <a:lnTo>
                    <a:pt x="43" y="0"/>
                  </a:lnTo>
                  <a:lnTo>
                    <a:pt x="51" y="2"/>
                  </a:lnTo>
                  <a:lnTo>
                    <a:pt x="59" y="5"/>
                  </a:lnTo>
                  <a:lnTo>
                    <a:pt x="66" y="7"/>
                  </a:lnTo>
                  <a:lnTo>
                    <a:pt x="73" y="13"/>
                  </a:lnTo>
                  <a:lnTo>
                    <a:pt x="78" y="20"/>
                  </a:lnTo>
                  <a:lnTo>
                    <a:pt x="81" y="27"/>
                  </a:lnTo>
                  <a:lnTo>
                    <a:pt x="84" y="35"/>
                  </a:lnTo>
                  <a:lnTo>
                    <a:pt x="85" y="43"/>
                  </a:lnTo>
                  <a:lnTo>
                    <a:pt x="85" y="43"/>
                  </a:lnTo>
                  <a:lnTo>
                    <a:pt x="84" y="53"/>
                  </a:lnTo>
                  <a:lnTo>
                    <a:pt x="81" y="59"/>
                  </a:lnTo>
                  <a:lnTo>
                    <a:pt x="78" y="68"/>
                  </a:lnTo>
                  <a:lnTo>
                    <a:pt x="73" y="73"/>
                  </a:lnTo>
                  <a:lnTo>
                    <a:pt x="66" y="79"/>
                  </a:lnTo>
                  <a:lnTo>
                    <a:pt x="59" y="83"/>
                  </a:lnTo>
                  <a:lnTo>
                    <a:pt x="51" y="86"/>
                  </a:lnTo>
                  <a:lnTo>
                    <a:pt x="43" y="86"/>
                  </a:lnTo>
                  <a:lnTo>
                    <a:pt x="43" y="86"/>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60"/>
            <p:cNvSpPr>
              <a:spLocks/>
            </p:cNvSpPr>
            <p:nvPr userDrawn="1"/>
          </p:nvSpPr>
          <p:spPr bwMode="auto">
            <a:xfrm>
              <a:off x="3536" y="1060"/>
              <a:ext cx="43" cy="43"/>
            </a:xfrm>
            <a:custGeom>
              <a:avLst/>
              <a:gdLst>
                <a:gd name="T0" fmla="*/ 43 w 85"/>
                <a:gd name="T1" fmla="*/ 87 h 87"/>
                <a:gd name="T2" fmla="*/ 43 w 85"/>
                <a:gd name="T3" fmla="*/ 87 h 87"/>
                <a:gd name="T4" fmla="*/ 33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3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1 w 85"/>
                <a:gd name="T51" fmla="*/ 26 h 87"/>
                <a:gd name="T52" fmla="*/ 84 w 85"/>
                <a:gd name="T53" fmla="*/ 34 h 87"/>
                <a:gd name="T54" fmla="*/ 85 w 85"/>
                <a:gd name="T55" fmla="*/ 43 h 87"/>
                <a:gd name="T56" fmla="*/ 85 w 85"/>
                <a:gd name="T57" fmla="*/ 43 h 87"/>
                <a:gd name="T58" fmla="*/ 84 w 85"/>
                <a:gd name="T59" fmla="*/ 52 h 87"/>
                <a:gd name="T60" fmla="*/ 81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3"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3" y="1"/>
                  </a:lnTo>
                  <a:lnTo>
                    <a:pt x="43" y="0"/>
                  </a:lnTo>
                  <a:lnTo>
                    <a:pt x="43" y="0"/>
                  </a:lnTo>
                  <a:lnTo>
                    <a:pt x="51" y="1"/>
                  </a:lnTo>
                  <a:lnTo>
                    <a:pt x="59" y="4"/>
                  </a:lnTo>
                  <a:lnTo>
                    <a:pt x="66" y="8"/>
                  </a:lnTo>
                  <a:lnTo>
                    <a:pt x="73" y="12"/>
                  </a:lnTo>
                  <a:lnTo>
                    <a:pt x="78" y="19"/>
                  </a:lnTo>
                  <a:lnTo>
                    <a:pt x="81" y="26"/>
                  </a:lnTo>
                  <a:lnTo>
                    <a:pt x="84" y="34"/>
                  </a:lnTo>
                  <a:lnTo>
                    <a:pt x="85" y="43"/>
                  </a:lnTo>
                  <a:lnTo>
                    <a:pt x="85" y="43"/>
                  </a:lnTo>
                  <a:lnTo>
                    <a:pt x="84" y="52"/>
                  </a:lnTo>
                  <a:lnTo>
                    <a:pt x="81" y="61"/>
                  </a:lnTo>
                  <a:lnTo>
                    <a:pt x="78" y="67"/>
                  </a:lnTo>
                  <a:lnTo>
                    <a:pt x="73" y="73"/>
                  </a:lnTo>
                  <a:lnTo>
                    <a:pt x="66" y="78"/>
                  </a:lnTo>
                  <a:lnTo>
                    <a:pt x="59" y="83"/>
                  </a:lnTo>
                  <a:lnTo>
                    <a:pt x="51" y="85"/>
                  </a:lnTo>
                  <a:lnTo>
                    <a:pt x="43" y="87"/>
                  </a:lnTo>
                  <a:lnTo>
                    <a:pt x="43" y="87"/>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61"/>
            <p:cNvSpPr>
              <a:spLocks/>
            </p:cNvSpPr>
            <p:nvPr userDrawn="1"/>
          </p:nvSpPr>
          <p:spPr bwMode="auto">
            <a:xfrm>
              <a:off x="3536" y="1116"/>
              <a:ext cx="43" cy="44"/>
            </a:xfrm>
            <a:custGeom>
              <a:avLst/>
              <a:gdLst>
                <a:gd name="T0" fmla="*/ 43 w 85"/>
                <a:gd name="T1" fmla="*/ 86 h 86"/>
                <a:gd name="T2" fmla="*/ 43 w 85"/>
                <a:gd name="T3" fmla="*/ 86 h 86"/>
                <a:gd name="T4" fmla="*/ 33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3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1 w 85"/>
                <a:gd name="T51" fmla="*/ 26 h 86"/>
                <a:gd name="T52" fmla="*/ 84 w 85"/>
                <a:gd name="T53" fmla="*/ 34 h 86"/>
                <a:gd name="T54" fmla="*/ 85 w 85"/>
                <a:gd name="T55" fmla="*/ 44 h 86"/>
                <a:gd name="T56" fmla="*/ 85 w 85"/>
                <a:gd name="T57" fmla="*/ 44 h 86"/>
                <a:gd name="T58" fmla="*/ 84 w 85"/>
                <a:gd name="T59" fmla="*/ 52 h 86"/>
                <a:gd name="T60" fmla="*/ 81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3" y="1"/>
                  </a:lnTo>
                  <a:lnTo>
                    <a:pt x="43" y="0"/>
                  </a:lnTo>
                  <a:lnTo>
                    <a:pt x="43" y="0"/>
                  </a:lnTo>
                  <a:lnTo>
                    <a:pt x="51" y="1"/>
                  </a:lnTo>
                  <a:lnTo>
                    <a:pt x="59" y="4"/>
                  </a:lnTo>
                  <a:lnTo>
                    <a:pt x="66" y="8"/>
                  </a:lnTo>
                  <a:lnTo>
                    <a:pt x="73" y="12"/>
                  </a:lnTo>
                  <a:lnTo>
                    <a:pt x="78" y="19"/>
                  </a:lnTo>
                  <a:lnTo>
                    <a:pt x="81" y="26"/>
                  </a:lnTo>
                  <a:lnTo>
                    <a:pt x="84" y="34"/>
                  </a:lnTo>
                  <a:lnTo>
                    <a:pt x="85" y="44"/>
                  </a:lnTo>
                  <a:lnTo>
                    <a:pt x="85" y="44"/>
                  </a:lnTo>
                  <a:lnTo>
                    <a:pt x="84" y="52"/>
                  </a:lnTo>
                  <a:lnTo>
                    <a:pt x="81" y="60"/>
                  </a:lnTo>
                  <a:lnTo>
                    <a:pt x="78" y="67"/>
                  </a:lnTo>
                  <a:lnTo>
                    <a:pt x="73" y="74"/>
                  </a:lnTo>
                  <a:lnTo>
                    <a:pt x="66" y="78"/>
                  </a:lnTo>
                  <a:lnTo>
                    <a:pt x="59" y="82"/>
                  </a:lnTo>
                  <a:lnTo>
                    <a:pt x="51" y="85"/>
                  </a:lnTo>
                  <a:lnTo>
                    <a:pt x="43" y="86"/>
                  </a:lnTo>
                  <a:lnTo>
                    <a:pt x="43" y="86"/>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62"/>
            <p:cNvSpPr>
              <a:spLocks/>
            </p:cNvSpPr>
            <p:nvPr userDrawn="1"/>
          </p:nvSpPr>
          <p:spPr bwMode="auto">
            <a:xfrm>
              <a:off x="3875" y="1342"/>
              <a:ext cx="43" cy="43"/>
            </a:xfrm>
            <a:custGeom>
              <a:avLst/>
              <a:gdLst>
                <a:gd name="T0" fmla="*/ 42 w 86"/>
                <a:gd name="T1" fmla="*/ 0 h 85"/>
                <a:gd name="T2" fmla="*/ 42 w 86"/>
                <a:gd name="T3" fmla="*/ 0 h 85"/>
                <a:gd name="T4" fmla="*/ 52 w 86"/>
                <a:gd name="T5" fmla="*/ 0 h 85"/>
                <a:gd name="T6" fmla="*/ 59 w 86"/>
                <a:gd name="T7" fmla="*/ 3 h 85"/>
                <a:gd name="T8" fmla="*/ 67 w 86"/>
                <a:gd name="T9" fmla="*/ 7 h 85"/>
                <a:gd name="T10" fmla="*/ 73 w 86"/>
                <a:gd name="T11" fmla="*/ 12 h 85"/>
                <a:gd name="T12" fmla="*/ 78 w 86"/>
                <a:gd name="T13" fmla="*/ 18 h 85"/>
                <a:gd name="T14" fmla="*/ 82 w 86"/>
                <a:gd name="T15" fmla="*/ 26 h 85"/>
                <a:gd name="T16" fmla="*/ 85 w 86"/>
                <a:gd name="T17" fmla="*/ 34 h 85"/>
                <a:gd name="T18" fmla="*/ 86 w 86"/>
                <a:gd name="T19" fmla="*/ 42 h 85"/>
                <a:gd name="T20" fmla="*/ 86 w 86"/>
                <a:gd name="T21" fmla="*/ 42 h 85"/>
                <a:gd name="T22" fmla="*/ 85 w 86"/>
                <a:gd name="T23" fmla="*/ 51 h 85"/>
                <a:gd name="T24" fmla="*/ 82 w 86"/>
                <a:gd name="T25" fmla="*/ 59 h 85"/>
                <a:gd name="T26" fmla="*/ 78 w 86"/>
                <a:gd name="T27" fmla="*/ 66 h 85"/>
                <a:gd name="T28" fmla="*/ 73 w 86"/>
                <a:gd name="T29" fmla="*/ 73 h 85"/>
                <a:gd name="T30" fmla="*/ 67 w 86"/>
                <a:gd name="T31" fmla="*/ 78 h 85"/>
                <a:gd name="T32" fmla="*/ 59 w 86"/>
                <a:gd name="T33" fmla="*/ 82 h 85"/>
                <a:gd name="T34" fmla="*/ 52 w 86"/>
                <a:gd name="T35" fmla="*/ 84 h 85"/>
                <a:gd name="T36" fmla="*/ 42 w 86"/>
                <a:gd name="T37" fmla="*/ 85 h 85"/>
                <a:gd name="T38" fmla="*/ 42 w 86"/>
                <a:gd name="T39" fmla="*/ 85 h 85"/>
                <a:gd name="T40" fmla="*/ 34 w 86"/>
                <a:gd name="T41" fmla="*/ 84 h 85"/>
                <a:gd name="T42" fmla="*/ 26 w 86"/>
                <a:gd name="T43" fmla="*/ 82 h 85"/>
                <a:gd name="T44" fmla="*/ 19 w 86"/>
                <a:gd name="T45" fmla="*/ 78 h 85"/>
                <a:gd name="T46" fmla="*/ 12 w 86"/>
                <a:gd name="T47" fmla="*/ 73 h 85"/>
                <a:gd name="T48" fmla="*/ 6 w 86"/>
                <a:gd name="T49" fmla="*/ 66 h 85"/>
                <a:gd name="T50" fmla="*/ 4 w 86"/>
                <a:gd name="T51" fmla="*/ 59 h 85"/>
                <a:gd name="T52" fmla="*/ 1 w 86"/>
                <a:gd name="T53" fmla="*/ 51 h 85"/>
                <a:gd name="T54" fmla="*/ 0 w 86"/>
                <a:gd name="T55" fmla="*/ 42 h 85"/>
                <a:gd name="T56" fmla="*/ 0 w 86"/>
                <a:gd name="T57" fmla="*/ 42 h 85"/>
                <a:gd name="T58" fmla="*/ 1 w 86"/>
                <a:gd name="T59" fmla="*/ 34 h 85"/>
                <a:gd name="T60" fmla="*/ 4 w 86"/>
                <a:gd name="T61" fmla="*/ 26 h 85"/>
                <a:gd name="T62" fmla="*/ 6 w 86"/>
                <a:gd name="T63" fmla="*/ 18 h 85"/>
                <a:gd name="T64" fmla="*/ 12 w 86"/>
                <a:gd name="T65" fmla="*/ 12 h 85"/>
                <a:gd name="T66" fmla="*/ 19 w 86"/>
                <a:gd name="T67" fmla="*/ 7 h 85"/>
                <a:gd name="T68" fmla="*/ 26 w 86"/>
                <a:gd name="T69" fmla="*/ 3 h 85"/>
                <a:gd name="T70" fmla="*/ 34 w 86"/>
                <a:gd name="T71" fmla="*/ 0 h 85"/>
                <a:gd name="T72" fmla="*/ 42 w 86"/>
                <a:gd name="T73" fmla="*/ 0 h 85"/>
                <a:gd name="T74" fmla="*/ 42 w 86"/>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5">
                  <a:moveTo>
                    <a:pt x="42" y="0"/>
                  </a:moveTo>
                  <a:lnTo>
                    <a:pt x="42" y="0"/>
                  </a:lnTo>
                  <a:lnTo>
                    <a:pt x="52" y="0"/>
                  </a:lnTo>
                  <a:lnTo>
                    <a:pt x="59" y="3"/>
                  </a:lnTo>
                  <a:lnTo>
                    <a:pt x="67" y="7"/>
                  </a:lnTo>
                  <a:lnTo>
                    <a:pt x="73" y="12"/>
                  </a:lnTo>
                  <a:lnTo>
                    <a:pt x="78" y="18"/>
                  </a:lnTo>
                  <a:lnTo>
                    <a:pt x="82" y="26"/>
                  </a:lnTo>
                  <a:lnTo>
                    <a:pt x="85" y="34"/>
                  </a:lnTo>
                  <a:lnTo>
                    <a:pt x="86" y="42"/>
                  </a:lnTo>
                  <a:lnTo>
                    <a:pt x="86" y="42"/>
                  </a:lnTo>
                  <a:lnTo>
                    <a:pt x="85" y="51"/>
                  </a:lnTo>
                  <a:lnTo>
                    <a:pt x="82" y="59"/>
                  </a:lnTo>
                  <a:lnTo>
                    <a:pt x="78" y="66"/>
                  </a:lnTo>
                  <a:lnTo>
                    <a:pt x="73" y="73"/>
                  </a:lnTo>
                  <a:lnTo>
                    <a:pt x="67" y="78"/>
                  </a:lnTo>
                  <a:lnTo>
                    <a:pt x="59" y="82"/>
                  </a:lnTo>
                  <a:lnTo>
                    <a:pt x="52" y="84"/>
                  </a:lnTo>
                  <a:lnTo>
                    <a:pt x="42" y="85"/>
                  </a:lnTo>
                  <a:lnTo>
                    <a:pt x="42" y="85"/>
                  </a:lnTo>
                  <a:lnTo>
                    <a:pt x="34" y="84"/>
                  </a:lnTo>
                  <a:lnTo>
                    <a:pt x="26" y="82"/>
                  </a:lnTo>
                  <a:lnTo>
                    <a:pt x="19" y="78"/>
                  </a:lnTo>
                  <a:lnTo>
                    <a:pt x="12" y="73"/>
                  </a:lnTo>
                  <a:lnTo>
                    <a:pt x="6" y="66"/>
                  </a:lnTo>
                  <a:lnTo>
                    <a:pt x="4" y="59"/>
                  </a:lnTo>
                  <a:lnTo>
                    <a:pt x="1" y="51"/>
                  </a:lnTo>
                  <a:lnTo>
                    <a:pt x="0" y="42"/>
                  </a:lnTo>
                  <a:lnTo>
                    <a:pt x="0" y="42"/>
                  </a:lnTo>
                  <a:lnTo>
                    <a:pt x="1" y="34"/>
                  </a:lnTo>
                  <a:lnTo>
                    <a:pt x="4" y="26"/>
                  </a:lnTo>
                  <a:lnTo>
                    <a:pt x="6" y="18"/>
                  </a:lnTo>
                  <a:lnTo>
                    <a:pt x="12" y="12"/>
                  </a:lnTo>
                  <a:lnTo>
                    <a:pt x="19" y="7"/>
                  </a:lnTo>
                  <a:lnTo>
                    <a:pt x="26" y="3"/>
                  </a:lnTo>
                  <a:lnTo>
                    <a:pt x="34" y="0"/>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63"/>
            <p:cNvSpPr>
              <a:spLocks/>
            </p:cNvSpPr>
            <p:nvPr userDrawn="1"/>
          </p:nvSpPr>
          <p:spPr bwMode="auto">
            <a:xfrm>
              <a:off x="3875" y="1060"/>
              <a:ext cx="43" cy="43"/>
            </a:xfrm>
            <a:custGeom>
              <a:avLst/>
              <a:gdLst>
                <a:gd name="T0" fmla="*/ 42 w 86"/>
                <a:gd name="T1" fmla="*/ 0 h 87"/>
                <a:gd name="T2" fmla="*/ 42 w 86"/>
                <a:gd name="T3" fmla="*/ 0 h 87"/>
                <a:gd name="T4" fmla="*/ 52 w 86"/>
                <a:gd name="T5" fmla="*/ 1 h 87"/>
                <a:gd name="T6" fmla="*/ 59 w 86"/>
                <a:gd name="T7" fmla="*/ 4 h 87"/>
                <a:gd name="T8" fmla="*/ 67 w 86"/>
                <a:gd name="T9" fmla="*/ 8 h 87"/>
                <a:gd name="T10" fmla="*/ 73 w 86"/>
                <a:gd name="T11" fmla="*/ 12 h 87"/>
                <a:gd name="T12" fmla="*/ 78 w 86"/>
                <a:gd name="T13" fmla="*/ 19 h 87"/>
                <a:gd name="T14" fmla="*/ 82 w 86"/>
                <a:gd name="T15" fmla="*/ 26 h 87"/>
                <a:gd name="T16" fmla="*/ 85 w 86"/>
                <a:gd name="T17" fmla="*/ 34 h 87"/>
                <a:gd name="T18" fmla="*/ 86 w 86"/>
                <a:gd name="T19" fmla="*/ 43 h 87"/>
                <a:gd name="T20" fmla="*/ 86 w 86"/>
                <a:gd name="T21" fmla="*/ 43 h 87"/>
                <a:gd name="T22" fmla="*/ 85 w 86"/>
                <a:gd name="T23" fmla="*/ 52 h 87"/>
                <a:gd name="T24" fmla="*/ 82 w 86"/>
                <a:gd name="T25" fmla="*/ 61 h 87"/>
                <a:gd name="T26" fmla="*/ 78 w 86"/>
                <a:gd name="T27" fmla="*/ 67 h 87"/>
                <a:gd name="T28" fmla="*/ 73 w 86"/>
                <a:gd name="T29" fmla="*/ 73 h 87"/>
                <a:gd name="T30" fmla="*/ 67 w 86"/>
                <a:gd name="T31" fmla="*/ 78 h 87"/>
                <a:gd name="T32" fmla="*/ 59 w 86"/>
                <a:gd name="T33" fmla="*/ 83 h 87"/>
                <a:gd name="T34" fmla="*/ 52 w 86"/>
                <a:gd name="T35" fmla="*/ 85 h 87"/>
                <a:gd name="T36" fmla="*/ 42 w 86"/>
                <a:gd name="T37" fmla="*/ 87 h 87"/>
                <a:gd name="T38" fmla="*/ 42 w 86"/>
                <a:gd name="T39" fmla="*/ 87 h 87"/>
                <a:gd name="T40" fmla="*/ 34 w 86"/>
                <a:gd name="T41" fmla="*/ 85 h 87"/>
                <a:gd name="T42" fmla="*/ 26 w 86"/>
                <a:gd name="T43" fmla="*/ 83 h 87"/>
                <a:gd name="T44" fmla="*/ 19 w 86"/>
                <a:gd name="T45" fmla="*/ 78 h 87"/>
                <a:gd name="T46" fmla="*/ 12 w 86"/>
                <a:gd name="T47" fmla="*/ 73 h 87"/>
                <a:gd name="T48" fmla="*/ 6 w 86"/>
                <a:gd name="T49" fmla="*/ 67 h 87"/>
                <a:gd name="T50" fmla="*/ 4 w 86"/>
                <a:gd name="T51" fmla="*/ 61 h 87"/>
                <a:gd name="T52" fmla="*/ 1 w 86"/>
                <a:gd name="T53" fmla="*/ 52 h 87"/>
                <a:gd name="T54" fmla="*/ 0 w 86"/>
                <a:gd name="T55" fmla="*/ 43 h 87"/>
                <a:gd name="T56" fmla="*/ 0 w 86"/>
                <a:gd name="T57" fmla="*/ 43 h 87"/>
                <a:gd name="T58" fmla="*/ 1 w 86"/>
                <a:gd name="T59" fmla="*/ 34 h 87"/>
                <a:gd name="T60" fmla="*/ 4 w 86"/>
                <a:gd name="T61" fmla="*/ 26 h 87"/>
                <a:gd name="T62" fmla="*/ 6 w 86"/>
                <a:gd name="T63" fmla="*/ 19 h 87"/>
                <a:gd name="T64" fmla="*/ 12 w 86"/>
                <a:gd name="T65" fmla="*/ 12 h 87"/>
                <a:gd name="T66" fmla="*/ 19 w 86"/>
                <a:gd name="T67" fmla="*/ 8 h 87"/>
                <a:gd name="T68" fmla="*/ 26 w 86"/>
                <a:gd name="T69" fmla="*/ 4 h 87"/>
                <a:gd name="T70" fmla="*/ 34 w 86"/>
                <a:gd name="T71" fmla="*/ 1 h 87"/>
                <a:gd name="T72" fmla="*/ 42 w 86"/>
                <a:gd name="T73" fmla="*/ 0 h 87"/>
                <a:gd name="T74" fmla="*/ 42 w 86"/>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7">
                  <a:moveTo>
                    <a:pt x="42" y="0"/>
                  </a:moveTo>
                  <a:lnTo>
                    <a:pt x="42" y="0"/>
                  </a:lnTo>
                  <a:lnTo>
                    <a:pt x="52" y="1"/>
                  </a:lnTo>
                  <a:lnTo>
                    <a:pt x="59" y="4"/>
                  </a:lnTo>
                  <a:lnTo>
                    <a:pt x="67" y="8"/>
                  </a:lnTo>
                  <a:lnTo>
                    <a:pt x="73" y="12"/>
                  </a:lnTo>
                  <a:lnTo>
                    <a:pt x="78" y="19"/>
                  </a:lnTo>
                  <a:lnTo>
                    <a:pt x="82" y="26"/>
                  </a:lnTo>
                  <a:lnTo>
                    <a:pt x="85" y="34"/>
                  </a:lnTo>
                  <a:lnTo>
                    <a:pt x="86" y="43"/>
                  </a:lnTo>
                  <a:lnTo>
                    <a:pt x="86" y="43"/>
                  </a:lnTo>
                  <a:lnTo>
                    <a:pt x="85" y="52"/>
                  </a:lnTo>
                  <a:lnTo>
                    <a:pt x="82" y="61"/>
                  </a:lnTo>
                  <a:lnTo>
                    <a:pt x="78" y="67"/>
                  </a:lnTo>
                  <a:lnTo>
                    <a:pt x="73" y="73"/>
                  </a:lnTo>
                  <a:lnTo>
                    <a:pt x="67" y="78"/>
                  </a:lnTo>
                  <a:lnTo>
                    <a:pt x="59" y="83"/>
                  </a:lnTo>
                  <a:lnTo>
                    <a:pt x="52" y="85"/>
                  </a:lnTo>
                  <a:lnTo>
                    <a:pt x="42" y="87"/>
                  </a:lnTo>
                  <a:lnTo>
                    <a:pt x="42" y="87"/>
                  </a:lnTo>
                  <a:lnTo>
                    <a:pt x="34" y="85"/>
                  </a:lnTo>
                  <a:lnTo>
                    <a:pt x="26" y="83"/>
                  </a:lnTo>
                  <a:lnTo>
                    <a:pt x="19" y="78"/>
                  </a:lnTo>
                  <a:lnTo>
                    <a:pt x="12" y="73"/>
                  </a:lnTo>
                  <a:lnTo>
                    <a:pt x="6" y="67"/>
                  </a:lnTo>
                  <a:lnTo>
                    <a:pt x="4" y="61"/>
                  </a:lnTo>
                  <a:lnTo>
                    <a:pt x="1" y="52"/>
                  </a:lnTo>
                  <a:lnTo>
                    <a:pt x="0" y="43"/>
                  </a:lnTo>
                  <a:lnTo>
                    <a:pt x="0" y="43"/>
                  </a:lnTo>
                  <a:lnTo>
                    <a:pt x="1" y="34"/>
                  </a:lnTo>
                  <a:lnTo>
                    <a:pt x="4" y="26"/>
                  </a:lnTo>
                  <a:lnTo>
                    <a:pt x="6" y="19"/>
                  </a:lnTo>
                  <a:lnTo>
                    <a:pt x="12" y="12"/>
                  </a:lnTo>
                  <a:lnTo>
                    <a:pt x="19" y="8"/>
                  </a:lnTo>
                  <a:lnTo>
                    <a:pt x="26" y="4"/>
                  </a:lnTo>
                  <a:lnTo>
                    <a:pt x="34" y="1"/>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64"/>
            <p:cNvSpPr>
              <a:spLocks/>
            </p:cNvSpPr>
            <p:nvPr userDrawn="1"/>
          </p:nvSpPr>
          <p:spPr bwMode="auto">
            <a:xfrm>
              <a:off x="3875" y="1004"/>
              <a:ext cx="43" cy="42"/>
            </a:xfrm>
            <a:custGeom>
              <a:avLst/>
              <a:gdLst>
                <a:gd name="T0" fmla="*/ 42 w 86"/>
                <a:gd name="T1" fmla="*/ 0 h 86"/>
                <a:gd name="T2" fmla="*/ 42 w 86"/>
                <a:gd name="T3" fmla="*/ 0 h 86"/>
                <a:gd name="T4" fmla="*/ 52 w 86"/>
                <a:gd name="T5" fmla="*/ 2 h 86"/>
                <a:gd name="T6" fmla="*/ 59 w 86"/>
                <a:gd name="T7" fmla="*/ 5 h 86"/>
                <a:gd name="T8" fmla="*/ 67 w 86"/>
                <a:gd name="T9" fmla="*/ 7 h 86"/>
                <a:gd name="T10" fmla="*/ 73 w 86"/>
                <a:gd name="T11" fmla="*/ 13 h 86"/>
                <a:gd name="T12" fmla="*/ 78 w 86"/>
                <a:gd name="T13" fmla="*/ 20 h 86"/>
                <a:gd name="T14" fmla="*/ 82 w 86"/>
                <a:gd name="T15" fmla="*/ 27 h 86"/>
                <a:gd name="T16" fmla="*/ 85 w 86"/>
                <a:gd name="T17" fmla="*/ 35 h 86"/>
                <a:gd name="T18" fmla="*/ 86 w 86"/>
                <a:gd name="T19" fmla="*/ 43 h 86"/>
                <a:gd name="T20" fmla="*/ 86 w 86"/>
                <a:gd name="T21" fmla="*/ 43 h 86"/>
                <a:gd name="T22" fmla="*/ 85 w 86"/>
                <a:gd name="T23" fmla="*/ 53 h 86"/>
                <a:gd name="T24" fmla="*/ 82 w 86"/>
                <a:gd name="T25" fmla="*/ 59 h 86"/>
                <a:gd name="T26" fmla="*/ 78 w 86"/>
                <a:gd name="T27" fmla="*/ 68 h 86"/>
                <a:gd name="T28" fmla="*/ 73 w 86"/>
                <a:gd name="T29" fmla="*/ 73 h 86"/>
                <a:gd name="T30" fmla="*/ 67 w 86"/>
                <a:gd name="T31" fmla="*/ 79 h 86"/>
                <a:gd name="T32" fmla="*/ 59 w 86"/>
                <a:gd name="T33" fmla="*/ 83 h 86"/>
                <a:gd name="T34" fmla="*/ 52 w 86"/>
                <a:gd name="T35" fmla="*/ 86 h 86"/>
                <a:gd name="T36" fmla="*/ 42 w 86"/>
                <a:gd name="T37" fmla="*/ 86 h 86"/>
                <a:gd name="T38" fmla="*/ 42 w 86"/>
                <a:gd name="T39" fmla="*/ 86 h 86"/>
                <a:gd name="T40" fmla="*/ 34 w 86"/>
                <a:gd name="T41" fmla="*/ 86 h 86"/>
                <a:gd name="T42" fmla="*/ 26 w 86"/>
                <a:gd name="T43" fmla="*/ 83 h 86"/>
                <a:gd name="T44" fmla="*/ 19 w 86"/>
                <a:gd name="T45" fmla="*/ 79 h 86"/>
                <a:gd name="T46" fmla="*/ 12 w 86"/>
                <a:gd name="T47" fmla="*/ 73 h 86"/>
                <a:gd name="T48" fmla="*/ 6 w 86"/>
                <a:gd name="T49" fmla="*/ 68 h 86"/>
                <a:gd name="T50" fmla="*/ 4 w 86"/>
                <a:gd name="T51" fmla="*/ 59 h 86"/>
                <a:gd name="T52" fmla="*/ 1 w 86"/>
                <a:gd name="T53" fmla="*/ 53 h 86"/>
                <a:gd name="T54" fmla="*/ 0 w 86"/>
                <a:gd name="T55" fmla="*/ 43 h 86"/>
                <a:gd name="T56" fmla="*/ 0 w 86"/>
                <a:gd name="T57" fmla="*/ 43 h 86"/>
                <a:gd name="T58" fmla="*/ 1 w 86"/>
                <a:gd name="T59" fmla="*/ 35 h 86"/>
                <a:gd name="T60" fmla="*/ 4 w 86"/>
                <a:gd name="T61" fmla="*/ 27 h 86"/>
                <a:gd name="T62" fmla="*/ 6 w 86"/>
                <a:gd name="T63" fmla="*/ 20 h 86"/>
                <a:gd name="T64" fmla="*/ 12 w 86"/>
                <a:gd name="T65" fmla="*/ 13 h 86"/>
                <a:gd name="T66" fmla="*/ 19 w 86"/>
                <a:gd name="T67" fmla="*/ 7 h 86"/>
                <a:gd name="T68" fmla="*/ 26 w 86"/>
                <a:gd name="T69" fmla="*/ 5 h 86"/>
                <a:gd name="T70" fmla="*/ 34 w 86"/>
                <a:gd name="T71" fmla="*/ 2 h 86"/>
                <a:gd name="T72" fmla="*/ 42 w 86"/>
                <a:gd name="T73" fmla="*/ 0 h 86"/>
                <a:gd name="T74" fmla="*/ 42 w 86"/>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6">
                  <a:moveTo>
                    <a:pt x="42" y="0"/>
                  </a:moveTo>
                  <a:lnTo>
                    <a:pt x="42" y="0"/>
                  </a:lnTo>
                  <a:lnTo>
                    <a:pt x="52" y="2"/>
                  </a:lnTo>
                  <a:lnTo>
                    <a:pt x="59" y="5"/>
                  </a:lnTo>
                  <a:lnTo>
                    <a:pt x="67" y="7"/>
                  </a:lnTo>
                  <a:lnTo>
                    <a:pt x="73" y="13"/>
                  </a:lnTo>
                  <a:lnTo>
                    <a:pt x="78" y="20"/>
                  </a:lnTo>
                  <a:lnTo>
                    <a:pt x="82" y="27"/>
                  </a:lnTo>
                  <a:lnTo>
                    <a:pt x="85" y="35"/>
                  </a:lnTo>
                  <a:lnTo>
                    <a:pt x="86" y="43"/>
                  </a:lnTo>
                  <a:lnTo>
                    <a:pt x="86" y="43"/>
                  </a:lnTo>
                  <a:lnTo>
                    <a:pt x="85" y="53"/>
                  </a:lnTo>
                  <a:lnTo>
                    <a:pt x="82" y="59"/>
                  </a:lnTo>
                  <a:lnTo>
                    <a:pt x="78" y="68"/>
                  </a:lnTo>
                  <a:lnTo>
                    <a:pt x="73" y="73"/>
                  </a:lnTo>
                  <a:lnTo>
                    <a:pt x="67" y="79"/>
                  </a:lnTo>
                  <a:lnTo>
                    <a:pt x="59" y="83"/>
                  </a:lnTo>
                  <a:lnTo>
                    <a:pt x="52" y="86"/>
                  </a:lnTo>
                  <a:lnTo>
                    <a:pt x="42" y="86"/>
                  </a:lnTo>
                  <a:lnTo>
                    <a:pt x="42" y="86"/>
                  </a:lnTo>
                  <a:lnTo>
                    <a:pt x="34" y="86"/>
                  </a:lnTo>
                  <a:lnTo>
                    <a:pt x="26" y="83"/>
                  </a:lnTo>
                  <a:lnTo>
                    <a:pt x="19" y="79"/>
                  </a:lnTo>
                  <a:lnTo>
                    <a:pt x="12" y="73"/>
                  </a:lnTo>
                  <a:lnTo>
                    <a:pt x="6" y="68"/>
                  </a:lnTo>
                  <a:lnTo>
                    <a:pt x="4" y="59"/>
                  </a:lnTo>
                  <a:lnTo>
                    <a:pt x="1" y="53"/>
                  </a:lnTo>
                  <a:lnTo>
                    <a:pt x="0" y="43"/>
                  </a:lnTo>
                  <a:lnTo>
                    <a:pt x="0" y="43"/>
                  </a:lnTo>
                  <a:lnTo>
                    <a:pt x="1" y="35"/>
                  </a:lnTo>
                  <a:lnTo>
                    <a:pt x="4" y="27"/>
                  </a:lnTo>
                  <a:lnTo>
                    <a:pt x="6" y="20"/>
                  </a:lnTo>
                  <a:lnTo>
                    <a:pt x="12" y="13"/>
                  </a:lnTo>
                  <a:lnTo>
                    <a:pt x="19" y="7"/>
                  </a:lnTo>
                  <a:lnTo>
                    <a:pt x="26" y="5"/>
                  </a:lnTo>
                  <a:lnTo>
                    <a:pt x="34" y="2"/>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65"/>
            <p:cNvSpPr>
              <a:spLocks/>
            </p:cNvSpPr>
            <p:nvPr userDrawn="1"/>
          </p:nvSpPr>
          <p:spPr bwMode="auto">
            <a:xfrm>
              <a:off x="3875" y="947"/>
              <a:ext cx="43" cy="43"/>
            </a:xfrm>
            <a:custGeom>
              <a:avLst/>
              <a:gdLst>
                <a:gd name="T0" fmla="*/ 42 w 86"/>
                <a:gd name="T1" fmla="*/ 0 h 85"/>
                <a:gd name="T2" fmla="*/ 42 w 86"/>
                <a:gd name="T3" fmla="*/ 0 h 85"/>
                <a:gd name="T4" fmla="*/ 52 w 86"/>
                <a:gd name="T5" fmla="*/ 1 h 85"/>
                <a:gd name="T6" fmla="*/ 59 w 86"/>
                <a:gd name="T7" fmla="*/ 2 h 85"/>
                <a:gd name="T8" fmla="*/ 67 w 86"/>
                <a:gd name="T9" fmla="*/ 7 h 85"/>
                <a:gd name="T10" fmla="*/ 73 w 86"/>
                <a:gd name="T11" fmla="*/ 12 h 85"/>
                <a:gd name="T12" fmla="*/ 78 w 86"/>
                <a:gd name="T13" fmla="*/ 19 h 85"/>
                <a:gd name="T14" fmla="*/ 82 w 86"/>
                <a:gd name="T15" fmla="*/ 26 h 85"/>
                <a:gd name="T16" fmla="*/ 85 w 86"/>
                <a:gd name="T17" fmla="*/ 34 h 85"/>
                <a:gd name="T18" fmla="*/ 86 w 86"/>
                <a:gd name="T19" fmla="*/ 42 h 85"/>
                <a:gd name="T20" fmla="*/ 86 w 86"/>
                <a:gd name="T21" fmla="*/ 42 h 85"/>
                <a:gd name="T22" fmla="*/ 85 w 86"/>
                <a:gd name="T23" fmla="*/ 51 h 85"/>
                <a:gd name="T24" fmla="*/ 82 w 86"/>
                <a:gd name="T25" fmla="*/ 59 h 85"/>
                <a:gd name="T26" fmla="*/ 78 w 86"/>
                <a:gd name="T27" fmla="*/ 67 h 85"/>
                <a:gd name="T28" fmla="*/ 73 w 86"/>
                <a:gd name="T29" fmla="*/ 73 h 85"/>
                <a:gd name="T30" fmla="*/ 67 w 86"/>
                <a:gd name="T31" fmla="*/ 78 h 85"/>
                <a:gd name="T32" fmla="*/ 59 w 86"/>
                <a:gd name="T33" fmla="*/ 82 h 85"/>
                <a:gd name="T34" fmla="*/ 52 w 86"/>
                <a:gd name="T35" fmla="*/ 85 h 85"/>
                <a:gd name="T36" fmla="*/ 42 w 86"/>
                <a:gd name="T37" fmla="*/ 85 h 85"/>
                <a:gd name="T38" fmla="*/ 42 w 86"/>
                <a:gd name="T39" fmla="*/ 85 h 85"/>
                <a:gd name="T40" fmla="*/ 34 w 86"/>
                <a:gd name="T41" fmla="*/ 85 h 85"/>
                <a:gd name="T42" fmla="*/ 26 w 86"/>
                <a:gd name="T43" fmla="*/ 82 h 85"/>
                <a:gd name="T44" fmla="*/ 19 w 86"/>
                <a:gd name="T45" fmla="*/ 78 h 85"/>
                <a:gd name="T46" fmla="*/ 12 w 86"/>
                <a:gd name="T47" fmla="*/ 73 h 85"/>
                <a:gd name="T48" fmla="*/ 6 w 86"/>
                <a:gd name="T49" fmla="*/ 67 h 85"/>
                <a:gd name="T50" fmla="*/ 4 w 86"/>
                <a:gd name="T51" fmla="*/ 59 h 85"/>
                <a:gd name="T52" fmla="*/ 1 w 86"/>
                <a:gd name="T53" fmla="*/ 51 h 85"/>
                <a:gd name="T54" fmla="*/ 0 w 86"/>
                <a:gd name="T55" fmla="*/ 42 h 85"/>
                <a:gd name="T56" fmla="*/ 0 w 86"/>
                <a:gd name="T57" fmla="*/ 42 h 85"/>
                <a:gd name="T58" fmla="*/ 1 w 86"/>
                <a:gd name="T59" fmla="*/ 34 h 85"/>
                <a:gd name="T60" fmla="*/ 4 w 86"/>
                <a:gd name="T61" fmla="*/ 26 h 85"/>
                <a:gd name="T62" fmla="*/ 6 w 86"/>
                <a:gd name="T63" fmla="*/ 19 h 85"/>
                <a:gd name="T64" fmla="*/ 12 w 86"/>
                <a:gd name="T65" fmla="*/ 12 h 85"/>
                <a:gd name="T66" fmla="*/ 19 w 86"/>
                <a:gd name="T67" fmla="*/ 7 h 85"/>
                <a:gd name="T68" fmla="*/ 26 w 86"/>
                <a:gd name="T69" fmla="*/ 2 h 85"/>
                <a:gd name="T70" fmla="*/ 34 w 86"/>
                <a:gd name="T71" fmla="*/ 1 h 85"/>
                <a:gd name="T72" fmla="*/ 42 w 86"/>
                <a:gd name="T73" fmla="*/ 0 h 85"/>
                <a:gd name="T74" fmla="*/ 42 w 86"/>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5">
                  <a:moveTo>
                    <a:pt x="42" y="0"/>
                  </a:moveTo>
                  <a:lnTo>
                    <a:pt x="42" y="0"/>
                  </a:lnTo>
                  <a:lnTo>
                    <a:pt x="52" y="1"/>
                  </a:lnTo>
                  <a:lnTo>
                    <a:pt x="59" y="2"/>
                  </a:lnTo>
                  <a:lnTo>
                    <a:pt x="67" y="7"/>
                  </a:lnTo>
                  <a:lnTo>
                    <a:pt x="73" y="12"/>
                  </a:lnTo>
                  <a:lnTo>
                    <a:pt x="78" y="19"/>
                  </a:lnTo>
                  <a:lnTo>
                    <a:pt x="82" y="26"/>
                  </a:lnTo>
                  <a:lnTo>
                    <a:pt x="85" y="34"/>
                  </a:lnTo>
                  <a:lnTo>
                    <a:pt x="86" y="42"/>
                  </a:lnTo>
                  <a:lnTo>
                    <a:pt x="86" y="42"/>
                  </a:lnTo>
                  <a:lnTo>
                    <a:pt x="85" y="51"/>
                  </a:lnTo>
                  <a:lnTo>
                    <a:pt x="82" y="59"/>
                  </a:lnTo>
                  <a:lnTo>
                    <a:pt x="78" y="67"/>
                  </a:lnTo>
                  <a:lnTo>
                    <a:pt x="73" y="73"/>
                  </a:lnTo>
                  <a:lnTo>
                    <a:pt x="67" y="78"/>
                  </a:lnTo>
                  <a:lnTo>
                    <a:pt x="59" y="82"/>
                  </a:lnTo>
                  <a:lnTo>
                    <a:pt x="52" y="85"/>
                  </a:lnTo>
                  <a:lnTo>
                    <a:pt x="42" y="85"/>
                  </a:lnTo>
                  <a:lnTo>
                    <a:pt x="42" y="85"/>
                  </a:lnTo>
                  <a:lnTo>
                    <a:pt x="34" y="85"/>
                  </a:lnTo>
                  <a:lnTo>
                    <a:pt x="26" y="82"/>
                  </a:lnTo>
                  <a:lnTo>
                    <a:pt x="19" y="78"/>
                  </a:lnTo>
                  <a:lnTo>
                    <a:pt x="12" y="73"/>
                  </a:lnTo>
                  <a:lnTo>
                    <a:pt x="6" y="67"/>
                  </a:lnTo>
                  <a:lnTo>
                    <a:pt x="4" y="59"/>
                  </a:lnTo>
                  <a:lnTo>
                    <a:pt x="1" y="51"/>
                  </a:lnTo>
                  <a:lnTo>
                    <a:pt x="0" y="42"/>
                  </a:lnTo>
                  <a:lnTo>
                    <a:pt x="0" y="42"/>
                  </a:lnTo>
                  <a:lnTo>
                    <a:pt x="1" y="34"/>
                  </a:lnTo>
                  <a:lnTo>
                    <a:pt x="4" y="26"/>
                  </a:lnTo>
                  <a:lnTo>
                    <a:pt x="6" y="19"/>
                  </a:lnTo>
                  <a:lnTo>
                    <a:pt x="12" y="12"/>
                  </a:lnTo>
                  <a:lnTo>
                    <a:pt x="19" y="7"/>
                  </a:lnTo>
                  <a:lnTo>
                    <a:pt x="26" y="2"/>
                  </a:lnTo>
                  <a:lnTo>
                    <a:pt x="34" y="1"/>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66"/>
            <p:cNvSpPr>
              <a:spLocks/>
            </p:cNvSpPr>
            <p:nvPr userDrawn="1"/>
          </p:nvSpPr>
          <p:spPr bwMode="auto">
            <a:xfrm>
              <a:off x="3931" y="1342"/>
              <a:ext cx="44" cy="43"/>
            </a:xfrm>
            <a:custGeom>
              <a:avLst/>
              <a:gdLst>
                <a:gd name="T0" fmla="*/ 43 w 87"/>
                <a:gd name="T1" fmla="*/ 0 h 85"/>
                <a:gd name="T2" fmla="*/ 43 w 87"/>
                <a:gd name="T3" fmla="*/ 0 h 85"/>
                <a:gd name="T4" fmla="*/ 53 w 87"/>
                <a:gd name="T5" fmla="*/ 0 h 85"/>
                <a:gd name="T6" fmla="*/ 61 w 87"/>
                <a:gd name="T7" fmla="*/ 3 h 85"/>
                <a:gd name="T8" fmla="*/ 68 w 87"/>
                <a:gd name="T9" fmla="*/ 7 h 85"/>
                <a:gd name="T10" fmla="*/ 73 w 87"/>
                <a:gd name="T11" fmla="*/ 12 h 85"/>
                <a:gd name="T12" fmla="*/ 79 w 87"/>
                <a:gd name="T13" fmla="*/ 18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6 h 85"/>
                <a:gd name="T28" fmla="*/ 73 w 87"/>
                <a:gd name="T29" fmla="*/ 73 h 85"/>
                <a:gd name="T30" fmla="*/ 68 w 87"/>
                <a:gd name="T31" fmla="*/ 78 h 85"/>
                <a:gd name="T32" fmla="*/ 61 w 87"/>
                <a:gd name="T33" fmla="*/ 82 h 85"/>
                <a:gd name="T34" fmla="*/ 53 w 87"/>
                <a:gd name="T35" fmla="*/ 84 h 85"/>
                <a:gd name="T36" fmla="*/ 43 w 87"/>
                <a:gd name="T37" fmla="*/ 85 h 85"/>
                <a:gd name="T38" fmla="*/ 43 w 87"/>
                <a:gd name="T39" fmla="*/ 85 h 85"/>
                <a:gd name="T40" fmla="*/ 35 w 87"/>
                <a:gd name="T41" fmla="*/ 84 h 85"/>
                <a:gd name="T42" fmla="*/ 27 w 87"/>
                <a:gd name="T43" fmla="*/ 82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8 h 85"/>
                <a:gd name="T64" fmla="*/ 13 w 87"/>
                <a:gd name="T65" fmla="*/ 12 h 85"/>
                <a:gd name="T66" fmla="*/ 20 w 87"/>
                <a:gd name="T67" fmla="*/ 7 h 85"/>
                <a:gd name="T68" fmla="*/ 27 w 87"/>
                <a:gd name="T69" fmla="*/ 3 h 85"/>
                <a:gd name="T70" fmla="*/ 35 w 87"/>
                <a:gd name="T71" fmla="*/ 0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0"/>
                  </a:lnTo>
                  <a:lnTo>
                    <a:pt x="61" y="3"/>
                  </a:lnTo>
                  <a:lnTo>
                    <a:pt x="68" y="7"/>
                  </a:lnTo>
                  <a:lnTo>
                    <a:pt x="73" y="12"/>
                  </a:lnTo>
                  <a:lnTo>
                    <a:pt x="79" y="18"/>
                  </a:lnTo>
                  <a:lnTo>
                    <a:pt x="83" y="26"/>
                  </a:lnTo>
                  <a:lnTo>
                    <a:pt x="86" y="34"/>
                  </a:lnTo>
                  <a:lnTo>
                    <a:pt x="87" y="42"/>
                  </a:lnTo>
                  <a:lnTo>
                    <a:pt x="87" y="42"/>
                  </a:lnTo>
                  <a:lnTo>
                    <a:pt x="86" y="51"/>
                  </a:lnTo>
                  <a:lnTo>
                    <a:pt x="83" y="59"/>
                  </a:lnTo>
                  <a:lnTo>
                    <a:pt x="79" y="66"/>
                  </a:lnTo>
                  <a:lnTo>
                    <a:pt x="73" y="73"/>
                  </a:lnTo>
                  <a:lnTo>
                    <a:pt x="68" y="78"/>
                  </a:lnTo>
                  <a:lnTo>
                    <a:pt x="61" y="82"/>
                  </a:lnTo>
                  <a:lnTo>
                    <a:pt x="53" y="84"/>
                  </a:lnTo>
                  <a:lnTo>
                    <a:pt x="43" y="85"/>
                  </a:lnTo>
                  <a:lnTo>
                    <a:pt x="43" y="85"/>
                  </a:lnTo>
                  <a:lnTo>
                    <a:pt x="35" y="84"/>
                  </a:lnTo>
                  <a:lnTo>
                    <a:pt x="27" y="82"/>
                  </a:lnTo>
                  <a:lnTo>
                    <a:pt x="20" y="78"/>
                  </a:lnTo>
                  <a:lnTo>
                    <a:pt x="13" y="73"/>
                  </a:lnTo>
                  <a:lnTo>
                    <a:pt x="9" y="66"/>
                  </a:lnTo>
                  <a:lnTo>
                    <a:pt x="5" y="59"/>
                  </a:lnTo>
                  <a:lnTo>
                    <a:pt x="2" y="51"/>
                  </a:lnTo>
                  <a:lnTo>
                    <a:pt x="0" y="42"/>
                  </a:lnTo>
                  <a:lnTo>
                    <a:pt x="0" y="42"/>
                  </a:lnTo>
                  <a:lnTo>
                    <a:pt x="2" y="34"/>
                  </a:lnTo>
                  <a:lnTo>
                    <a:pt x="5" y="26"/>
                  </a:lnTo>
                  <a:lnTo>
                    <a:pt x="9" y="18"/>
                  </a:lnTo>
                  <a:lnTo>
                    <a:pt x="13" y="12"/>
                  </a:lnTo>
                  <a:lnTo>
                    <a:pt x="20" y="7"/>
                  </a:lnTo>
                  <a:lnTo>
                    <a:pt x="27" y="3"/>
                  </a:lnTo>
                  <a:lnTo>
                    <a:pt x="35" y="0"/>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67"/>
            <p:cNvSpPr>
              <a:spLocks/>
            </p:cNvSpPr>
            <p:nvPr userDrawn="1"/>
          </p:nvSpPr>
          <p:spPr bwMode="auto">
            <a:xfrm>
              <a:off x="3931" y="1286"/>
              <a:ext cx="44" cy="43"/>
            </a:xfrm>
            <a:custGeom>
              <a:avLst/>
              <a:gdLst>
                <a:gd name="T0" fmla="*/ 43 w 87"/>
                <a:gd name="T1" fmla="*/ 0 h 85"/>
                <a:gd name="T2" fmla="*/ 43 w 87"/>
                <a:gd name="T3" fmla="*/ 0 h 85"/>
                <a:gd name="T4" fmla="*/ 53 w 87"/>
                <a:gd name="T5" fmla="*/ 0 h 85"/>
                <a:gd name="T6" fmla="*/ 61 w 87"/>
                <a:gd name="T7" fmla="*/ 3 h 85"/>
                <a:gd name="T8" fmla="*/ 68 w 87"/>
                <a:gd name="T9" fmla="*/ 7 h 85"/>
                <a:gd name="T10" fmla="*/ 73 w 87"/>
                <a:gd name="T11" fmla="*/ 13 h 85"/>
                <a:gd name="T12" fmla="*/ 79 w 87"/>
                <a:gd name="T13" fmla="*/ 18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6 h 85"/>
                <a:gd name="T28" fmla="*/ 73 w 87"/>
                <a:gd name="T29" fmla="*/ 73 h 85"/>
                <a:gd name="T30" fmla="*/ 68 w 87"/>
                <a:gd name="T31" fmla="*/ 78 h 85"/>
                <a:gd name="T32" fmla="*/ 61 w 87"/>
                <a:gd name="T33" fmla="*/ 83 h 85"/>
                <a:gd name="T34" fmla="*/ 53 w 87"/>
                <a:gd name="T35" fmla="*/ 84 h 85"/>
                <a:gd name="T36" fmla="*/ 43 w 87"/>
                <a:gd name="T37" fmla="*/ 85 h 85"/>
                <a:gd name="T38" fmla="*/ 43 w 87"/>
                <a:gd name="T39" fmla="*/ 85 h 85"/>
                <a:gd name="T40" fmla="*/ 35 w 87"/>
                <a:gd name="T41" fmla="*/ 84 h 85"/>
                <a:gd name="T42" fmla="*/ 27 w 87"/>
                <a:gd name="T43" fmla="*/ 83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8 h 85"/>
                <a:gd name="T64" fmla="*/ 13 w 87"/>
                <a:gd name="T65" fmla="*/ 13 h 85"/>
                <a:gd name="T66" fmla="*/ 20 w 87"/>
                <a:gd name="T67" fmla="*/ 7 h 85"/>
                <a:gd name="T68" fmla="*/ 27 w 87"/>
                <a:gd name="T69" fmla="*/ 3 h 85"/>
                <a:gd name="T70" fmla="*/ 35 w 87"/>
                <a:gd name="T71" fmla="*/ 0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0"/>
                  </a:lnTo>
                  <a:lnTo>
                    <a:pt x="61" y="3"/>
                  </a:lnTo>
                  <a:lnTo>
                    <a:pt x="68" y="7"/>
                  </a:lnTo>
                  <a:lnTo>
                    <a:pt x="73" y="13"/>
                  </a:lnTo>
                  <a:lnTo>
                    <a:pt x="79" y="18"/>
                  </a:lnTo>
                  <a:lnTo>
                    <a:pt x="83" y="26"/>
                  </a:lnTo>
                  <a:lnTo>
                    <a:pt x="86" y="34"/>
                  </a:lnTo>
                  <a:lnTo>
                    <a:pt x="87" y="43"/>
                  </a:lnTo>
                  <a:lnTo>
                    <a:pt x="87" y="43"/>
                  </a:lnTo>
                  <a:lnTo>
                    <a:pt x="86" y="51"/>
                  </a:lnTo>
                  <a:lnTo>
                    <a:pt x="83" y="59"/>
                  </a:lnTo>
                  <a:lnTo>
                    <a:pt x="79" y="66"/>
                  </a:lnTo>
                  <a:lnTo>
                    <a:pt x="73" y="73"/>
                  </a:lnTo>
                  <a:lnTo>
                    <a:pt x="68" y="78"/>
                  </a:lnTo>
                  <a:lnTo>
                    <a:pt x="61" y="83"/>
                  </a:lnTo>
                  <a:lnTo>
                    <a:pt x="53" y="84"/>
                  </a:lnTo>
                  <a:lnTo>
                    <a:pt x="43" y="85"/>
                  </a:lnTo>
                  <a:lnTo>
                    <a:pt x="43" y="85"/>
                  </a:lnTo>
                  <a:lnTo>
                    <a:pt x="35" y="84"/>
                  </a:lnTo>
                  <a:lnTo>
                    <a:pt x="27" y="83"/>
                  </a:lnTo>
                  <a:lnTo>
                    <a:pt x="20" y="78"/>
                  </a:lnTo>
                  <a:lnTo>
                    <a:pt x="13" y="73"/>
                  </a:lnTo>
                  <a:lnTo>
                    <a:pt x="9" y="66"/>
                  </a:lnTo>
                  <a:lnTo>
                    <a:pt x="5" y="59"/>
                  </a:lnTo>
                  <a:lnTo>
                    <a:pt x="2" y="51"/>
                  </a:lnTo>
                  <a:lnTo>
                    <a:pt x="0" y="43"/>
                  </a:lnTo>
                  <a:lnTo>
                    <a:pt x="0" y="43"/>
                  </a:lnTo>
                  <a:lnTo>
                    <a:pt x="2" y="34"/>
                  </a:lnTo>
                  <a:lnTo>
                    <a:pt x="5" y="26"/>
                  </a:lnTo>
                  <a:lnTo>
                    <a:pt x="9" y="18"/>
                  </a:lnTo>
                  <a:lnTo>
                    <a:pt x="13" y="13"/>
                  </a:lnTo>
                  <a:lnTo>
                    <a:pt x="20" y="7"/>
                  </a:lnTo>
                  <a:lnTo>
                    <a:pt x="27" y="3"/>
                  </a:lnTo>
                  <a:lnTo>
                    <a:pt x="35" y="0"/>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68"/>
            <p:cNvSpPr>
              <a:spLocks/>
            </p:cNvSpPr>
            <p:nvPr userDrawn="1"/>
          </p:nvSpPr>
          <p:spPr bwMode="auto">
            <a:xfrm>
              <a:off x="3931" y="1060"/>
              <a:ext cx="44" cy="43"/>
            </a:xfrm>
            <a:custGeom>
              <a:avLst/>
              <a:gdLst>
                <a:gd name="T0" fmla="*/ 43 w 87"/>
                <a:gd name="T1" fmla="*/ 0 h 87"/>
                <a:gd name="T2" fmla="*/ 43 w 87"/>
                <a:gd name="T3" fmla="*/ 0 h 87"/>
                <a:gd name="T4" fmla="*/ 53 w 87"/>
                <a:gd name="T5" fmla="*/ 1 h 87"/>
                <a:gd name="T6" fmla="*/ 61 w 87"/>
                <a:gd name="T7" fmla="*/ 4 h 87"/>
                <a:gd name="T8" fmla="*/ 68 w 87"/>
                <a:gd name="T9" fmla="*/ 8 h 87"/>
                <a:gd name="T10" fmla="*/ 73 w 87"/>
                <a:gd name="T11" fmla="*/ 12 h 87"/>
                <a:gd name="T12" fmla="*/ 79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79 w 87"/>
                <a:gd name="T27" fmla="*/ 67 h 87"/>
                <a:gd name="T28" fmla="*/ 73 w 87"/>
                <a:gd name="T29" fmla="*/ 73 h 87"/>
                <a:gd name="T30" fmla="*/ 68 w 87"/>
                <a:gd name="T31" fmla="*/ 78 h 87"/>
                <a:gd name="T32" fmla="*/ 61 w 87"/>
                <a:gd name="T33" fmla="*/ 83 h 87"/>
                <a:gd name="T34" fmla="*/ 53 w 87"/>
                <a:gd name="T35" fmla="*/ 85 h 87"/>
                <a:gd name="T36" fmla="*/ 43 w 87"/>
                <a:gd name="T37" fmla="*/ 87 h 87"/>
                <a:gd name="T38" fmla="*/ 43 w 87"/>
                <a:gd name="T39" fmla="*/ 87 h 87"/>
                <a:gd name="T40" fmla="*/ 35 w 87"/>
                <a:gd name="T41" fmla="*/ 85 h 87"/>
                <a:gd name="T42" fmla="*/ 27 w 87"/>
                <a:gd name="T43" fmla="*/ 83 h 87"/>
                <a:gd name="T44" fmla="*/ 20 w 87"/>
                <a:gd name="T45" fmla="*/ 78 h 87"/>
                <a:gd name="T46" fmla="*/ 13 w 87"/>
                <a:gd name="T47" fmla="*/ 73 h 87"/>
                <a:gd name="T48" fmla="*/ 9 w 87"/>
                <a:gd name="T49" fmla="*/ 67 h 87"/>
                <a:gd name="T50" fmla="*/ 5 w 87"/>
                <a:gd name="T51" fmla="*/ 61 h 87"/>
                <a:gd name="T52" fmla="*/ 2 w 87"/>
                <a:gd name="T53" fmla="*/ 52 h 87"/>
                <a:gd name="T54" fmla="*/ 0 w 87"/>
                <a:gd name="T55" fmla="*/ 43 h 87"/>
                <a:gd name="T56" fmla="*/ 0 w 87"/>
                <a:gd name="T57" fmla="*/ 43 h 87"/>
                <a:gd name="T58" fmla="*/ 2 w 87"/>
                <a:gd name="T59" fmla="*/ 34 h 87"/>
                <a:gd name="T60" fmla="*/ 5 w 87"/>
                <a:gd name="T61" fmla="*/ 26 h 87"/>
                <a:gd name="T62" fmla="*/ 9 w 87"/>
                <a:gd name="T63" fmla="*/ 19 h 87"/>
                <a:gd name="T64" fmla="*/ 13 w 87"/>
                <a:gd name="T65" fmla="*/ 12 h 87"/>
                <a:gd name="T66" fmla="*/ 20 w 87"/>
                <a:gd name="T67" fmla="*/ 8 h 87"/>
                <a:gd name="T68" fmla="*/ 27 w 87"/>
                <a:gd name="T69" fmla="*/ 4 h 87"/>
                <a:gd name="T70" fmla="*/ 35 w 87"/>
                <a:gd name="T71" fmla="*/ 1 h 87"/>
                <a:gd name="T72" fmla="*/ 43 w 87"/>
                <a:gd name="T73" fmla="*/ 0 h 87"/>
                <a:gd name="T74" fmla="*/ 43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3" y="0"/>
                  </a:moveTo>
                  <a:lnTo>
                    <a:pt x="43" y="0"/>
                  </a:lnTo>
                  <a:lnTo>
                    <a:pt x="53" y="1"/>
                  </a:lnTo>
                  <a:lnTo>
                    <a:pt x="61" y="4"/>
                  </a:lnTo>
                  <a:lnTo>
                    <a:pt x="68" y="8"/>
                  </a:lnTo>
                  <a:lnTo>
                    <a:pt x="73" y="12"/>
                  </a:lnTo>
                  <a:lnTo>
                    <a:pt x="79" y="19"/>
                  </a:lnTo>
                  <a:lnTo>
                    <a:pt x="83" y="26"/>
                  </a:lnTo>
                  <a:lnTo>
                    <a:pt x="86" y="34"/>
                  </a:lnTo>
                  <a:lnTo>
                    <a:pt x="87" y="43"/>
                  </a:lnTo>
                  <a:lnTo>
                    <a:pt x="87" y="43"/>
                  </a:lnTo>
                  <a:lnTo>
                    <a:pt x="86" y="52"/>
                  </a:lnTo>
                  <a:lnTo>
                    <a:pt x="83" y="61"/>
                  </a:lnTo>
                  <a:lnTo>
                    <a:pt x="79" y="67"/>
                  </a:lnTo>
                  <a:lnTo>
                    <a:pt x="73" y="73"/>
                  </a:lnTo>
                  <a:lnTo>
                    <a:pt x="68" y="78"/>
                  </a:lnTo>
                  <a:lnTo>
                    <a:pt x="61" y="83"/>
                  </a:lnTo>
                  <a:lnTo>
                    <a:pt x="53" y="85"/>
                  </a:lnTo>
                  <a:lnTo>
                    <a:pt x="43" y="87"/>
                  </a:lnTo>
                  <a:lnTo>
                    <a:pt x="43" y="87"/>
                  </a:lnTo>
                  <a:lnTo>
                    <a:pt x="35" y="85"/>
                  </a:lnTo>
                  <a:lnTo>
                    <a:pt x="27" y="83"/>
                  </a:lnTo>
                  <a:lnTo>
                    <a:pt x="20" y="78"/>
                  </a:lnTo>
                  <a:lnTo>
                    <a:pt x="13" y="73"/>
                  </a:lnTo>
                  <a:lnTo>
                    <a:pt x="9" y="67"/>
                  </a:lnTo>
                  <a:lnTo>
                    <a:pt x="5" y="61"/>
                  </a:lnTo>
                  <a:lnTo>
                    <a:pt x="2" y="52"/>
                  </a:lnTo>
                  <a:lnTo>
                    <a:pt x="0" y="43"/>
                  </a:lnTo>
                  <a:lnTo>
                    <a:pt x="0" y="43"/>
                  </a:lnTo>
                  <a:lnTo>
                    <a:pt x="2" y="34"/>
                  </a:lnTo>
                  <a:lnTo>
                    <a:pt x="5" y="26"/>
                  </a:lnTo>
                  <a:lnTo>
                    <a:pt x="9" y="19"/>
                  </a:lnTo>
                  <a:lnTo>
                    <a:pt x="13" y="12"/>
                  </a:lnTo>
                  <a:lnTo>
                    <a:pt x="20" y="8"/>
                  </a:lnTo>
                  <a:lnTo>
                    <a:pt x="27" y="4"/>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69"/>
            <p:cNvSpPr>
              <a:spLocks/>
            </p:cNvSpPr>
            <p:nvPr userDrawn="1"/>
          </p:nvSpPr>
          <p:spPr bwMode="auto">
            <a:xfrm>
              <a:off x="3931" y="1004"/>
              <a:ext cx="44" cy="42"/>
            </a:xfrm>
            <a:custGeom>
              <a:avLst/>
              <a:gdLst>
                <a:gd name="T0" fmla="*/ 43 w 87"/>
                <a:gd name="T1" fmla="*/ 0 h 86"/>
                <a:gd name="T2" fmla="*/ 43 w 87"/>
                <a:gd name="T3" fmla="*/ 0 h 86"/>
                <a:gd name="T4" fmla="*/ 53 w 87"/>
                <a:gd name="T5" fmla="*/ 2 h 86"/>
                <a:gd name="T6" fmla="*/ 61 w 87"/>
                <a:gd name="T7" fmla="*/ 5 h 86"/>
                <a:gd name="T8" fmla="*/ 68 w 87"/>
                <a:gd name="T9" fmla="*/ 7 h 86"/>
                <a:gd name="T10" fmla="*/ 73 w 87"/>
                <a:gd name="T11" fmla="*/ 13 h 86"/>
                <a:gd name="T12" fmla="*/ 79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79 w 87"/>
                <a:gd name="T27" fmla="*/ 68 h 86"/>
                <a:gd name="T28" fmla="*/ 73 w 87"/>
                <a:gd name="T29" fmla="*/ 73 h 86"/>
                <a:gd name="T30" fmla="*/ 68 w 87"/>
                <a:gd name="T31" fmla="*/ 79 h 86"/>
                <a:gd name="T32" fmla="*/ 61 w 87"/>
                <a:gd name="T33" fmla="*/ 83 h 86"/>
                <a:gd name="T34" fmla="*/ 53 w 87"/>
                <a:gd name="T35" fmla="*/ 86 h 86"/>
                <a:gd name="T36" fmla="*/ 43 w 87"/>
                <a:gd name="T37" fmla="*/ 86 h 86"/>
                <a:gd name="T38" fmla="*/ 43 w 87"/>
                <a:gd name="T39" fmla="*/ 86 h 86"/>
                <a:gd name="T40" fmla="*/ 35 w 87"/>
                <a:gd name="T41" fmla="*/ 86 h 86"/>
                <a:gd name="T42" fmla="*/ 27 w 87"/>
                <a:gd name="T43" fmla="*/ 83 h 86"/>
                <a:gd name="T44" fmla="*/ 20 w 87"/>
                <a:gd name="T45" fmla="*/ 79 h 86"/>
                <a:gd name="T46" fmla="*/ 13 w 87"/>
                <a:gd name="T47" fmla="*/ 73 h 86"/>
                <a:gd name="T48" fmla="*/ 9 w 87"/>
                <a:gd name="T49" fmla="*/ 68 h 86"/>
                <a:gd name="T50" fmla="*/ 5 w 87"/>
                <a:gd name="T51" fmla="*/ 59 h 86"/>
                <a:gd name="T52" fmla="*/ 2 w 87"/>
                <a:gd name="T53" fmla="*/ 53 h 86"/>
                <a:gd name="T54" fmla="*/ 0 w 87"/>
                <a:gd name="T55" fmla="*/ 43 h 86"/>
                <a:gd name="T56" fmla="*/ 0 w 87"/>
                <a:gd name="T57" fmla="*/ 43 h 86"/>
                <a:gd name="T58" fmla="*/ 2 w 87"/>
                <a:gd name="T59" fmla="*/ 35 h 86"/>
                <a:gd name="T60" fmla="*/ 5 w 87"/>
                <a:gd name="T61" fmla="*/ 27 h 86"/>
                <a:gd name="T62" fmla="*/ 9 w 87"/>
                <a:gd name="T63" fmla="*/ 20 h 86"/>
                <a:gd name="T64" fmla="*/ 13 w 87"/>
                <a:gd name="T65" fmla="*/ 13 h 86"/>
                <a:gd name="T66" fmla="*/ 20 w 87"/>
                <a:gd name="T67" fmla="*/ 7 h 86"/>
                <a:gd name="T68" fmla="*/ 27 w 87"/>
                <a:gd name="T69" fmla="*/ 5 h 86"/>
                <a:gd name="T70" fmla="*/ 35 w 87"/>
                <a:gd name="T71" fmla="*/ 2 h 86"/>
                <a:gd name="T72" fmla="*/ 43 w 87"/>
                <a:gd name="T73" fmla="*/ 0 h 86"/>
                <a:gd name="T74" fmla="*/ 43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3" y="0"/>
                  </a:moveTo>
                  <a:lnTo>
                    <a:pt x="43" y="0"/>
                  </a:lnTo>
                  <a:lnTo>
                    <a:pt x="53" y="2"/>
                  </a:lnTo>
                  <a:lnTo>
                    <a:pt x="61" y="5"/>
                  </a:lnTo>
                  <a:lnTo>
                    <a:pt x="68" y="7"/>
                  </a:lnTo>
                  <a:lnTo>
                    <a:pt x="73" y="13"/>
                  </a:lnTo>
                  <a:lnTo>
                    <a:pt x="79" y="20"/>
                  </a:lnTo>
                  <a:lnTo>
                    <a:pt x="83" y="27"/>
                  </a:lnTo>
                  <a:lnTo>
                    <a:pt x="86" y="35"/>
                  </a:lnTo>
                  <a:lnTo>
                    <a:pt x="87" y="43"/>
                  </a:lnTo>
                  <a:lnTo>
                    <a:pt x="87" y="43"/>
                  </a:lnTo>
                  <a:lnTo>
                    <a:pt x="86" y="53"/>
                  </a:lnTo>
                  <a:lnTo>
                    <a:pt x="83" y="59"/>
                  </a:lnTo>
                  <a:lnTo>
                    <a:pt x="79" y="68"/>
                  </a:lnTo>
                  <a:lnTo>
                    <a:pt x="73" y="73"/>
                  </a:lnTo>
                  <a:lnTo>
                    <a:pt x="68" y="79"/>
                  </a:lnTo>
                  <a:lnTo>
                    <a:pt x="61" y="83"/>
                  </a:lnTo>
                  <a:lnTo>
                    <a:pt x="53" y="86"/>
                  </a:lnTo>
                  <a:lnTo>
                    <a:pt x="43" y="86"/>
                  </a:lnTo>
                  <a:lnTo>
                    <a:pt x="43" y="86"/>
                  </a:lnTo>
                  <a:lnTo>
                    <a:pt x="35" y="86"/>
                  </a:lnTo>
                  <a:lnTo>
                    <a:pt x="27" y="83"/>
                  </a:lnTo>
                  <a:lnTo>
                    <a:pt x="20" y="79"/>
                  </a:lnTo>
                  <a:lnTo>
                    <a:pt x="13" y="73"/>
                  </a:lnTo>
                  <a:lnTo>
                    <a:pt x="9" y="68"/>
                  </a:lnTo>
                  <a:lnTo>
                    <a:pt x="5" y="59"/>
                  </a:lnTo>
                  <a:lnTo>
                    <a:pt x="2" y="53"/>
                  </a:lnTo>
                  <a:lnTo>
                    <a:pt x="0" y="43"/>
                  </a:lnTo>
                  <a:lnTo>
                    <a:pt x="0" y="43"/>
                  </a:lnTo>
                  <a:lnTo>
                    <a:pt x="2" y="35"/>
                  </a:lnTo>
                  <a:lnTo>
                    <a:pt x="5" y="27"/>
                  </a:lnTo>
                  <a:lnTo>
                    <a:pt x="9" y="20"/>
                  </a:lnTo>
                  <a:lnTo>
                    <a:pt x="13" y="13"/>
                  </a:lnTo>
                  <a:lnTo>
                    <a:pt x="20" y="7"/>
                  </a:lnTo>
                  <a:lnTo>
                    <a:pt x="27" y="5"/>
                  </a:lnTo>
                  <a:lnTo>
                    <a:pt x="35" y="2"/>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70"/>
            <p:cNvSpPr>
              <a:spLocks/>
            </p:cNvSpPr>
            <p:nvPr userDrawn="1"/>
          </p:nvSpPr>
          <p:spPr bwMode="auto">
            <a:xfrm>
              <a:off x="3931" y="947"/>
              <a:ext cx="44" cy="43"/>
            </a:xfrm>
            <a:custGeom>
              <a:avLst/>
              <a:gdLst>
                <a:gd name="T0" fmla="*/ 43 w 87"/>
                <a:gd name="T1" fmla="*/ 0 h 85"/>
                <a:gd name="T2" fmla="*/ 43 w 87"/>
                <a:gd name="T3" fmla="*/ 0 h 85"/>
                <a:gd name="T4" fmla="*/ 53 w 87"/>
                <a:gd name="T5" fmla="*/ 1 h 85"/>
                <a:gd name="T6" fmla="*/ 61 w 87"/>
                <a:gd name="T7" fmla="*/ 2 h 85"/>
                <a:gd name="T8" fmla="*/ 68 w 87"/>
                <a:gd name="T9" fmla="*/ 7 h 85"/>
                <a:gd name="T10" fmla="*/ 73 w 87"/>
                <a:gd name="T11" fmla="*/ 12 h 85"/>
                <a:gd name="T12" fmla="*/ 79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7 h 85"/>
                <a:gd name="T28" fmla="*/ 73 w 87"/>
                <a:gd name="T29" fmla="*/ 73 h 85"/>
                <a:gd name="T30" fmla="*/ 68 w 87"/>
                <a:gd name="T31" fmla="*/ 78 h 85"/>
                <a:gd name="T32" fmla="*/ 61 w 87"/>
                <a:gd name="T33" fmla="*/ 82 h 85"/>
                <a:gd name="T34" fmla="*/ 53 w 87"/>
                <a:gd name="T35" fmla="*/ 85 h 85"/>
                <a:gd name="T36" fmla="*/ 43 w 87"/>
                <a:gd name="T37" fmla="*/ 85 h 85"/>
                <a:gd name="T38" fmla="*/ 43 w 87"/>
                <a:gd name="T39" fmla="*/ 85 h 85"/>
                <a:gd name="T40" fmla="*/ 35 w 87"/>
                <a:gd name="T41" fmla="*/ 85 h 85"/>
                <a:gd name="T42" fmla="*/ 27 w 87"/>
                <a:gd name="T43" fmla="*/ 82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2 h 85"/>
                <a:gd name="T70" fmla="*/ 35 w 87"/>
                <a:gd name="T71" fmla="*/ 1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1"/>
                  </a:lnTo>
                  <a:lnTo>
                    <a:pt x="61" y="2"/>
                  </a:lnTo>
                  <a:lnTo>
                    <a:pt x="68" y="7"/>
                  </a:lnTo>
                  <a:lnTo>
                    <a:pt x="73" y="12"/>
                  </a:lnTo>
                  <a:lnTo>
                    <a:pt x="79" y="19"/>
                  </a:lnTo>
                  <a:lnTo>
                    <a:pt x="83" y="26"/>
                  </a:lnTo>
                  <a:lnTo>
                    <a:pt x="86" y="34"/>
                  </a:lnTo>
                  <a:lnTo>
                    <a:pt x="87" y="42"/>
                  </a:lnTo>
                  <a:lnTo>
                    <a:pt x="87" y="42"/>
                  </a:lnTo>
                  <a:lnTo>
                    <a:pt x="86" y="51"/>
                  </a:lnTo>
                  <a:lnTo>
                    <a:pt x="83" y="59"/>
                  </a:lnTo>
                  <a:lnTo>
                    <a:pt x="79" y="67"/>
                  </a:lnTo>
                  <a:lnTo>
                    <a:pt x="73" y="73"/>
                  </a:lnTo>
                  <a:lnTo>
                    <a:pt x="68" y="78"/>
                  </a:lnTo>
                  <a:lnTo>
                    <a:pt x="61" y="82"/>
                  </a:lnTo>
                  <a:lnTo>
                    <a:pt x="53" y="85"/>
                  </a:lnTo>
                  <a:lnTo>
                    <a:pt x="43" y="85"/>
                  </a:lnTo>
                  <a:lnTo>
                    <a:pt x="43" y="85"/>
                  </a:lnTo>
                  <a:lnTo>
                    <a:pt x="35" y="85"/>
                  </a:lnTo>
                  <a:lnTo>
                    <a:pt x="27" y="82"/>
                  </a:lnTo>
                  <a:lnTo>
                    <a:pt x="20" y="78"/>
                  </a:lnTo>
                  <a:lnTo>
                    <a:pt x="13" y="73"/>
                  </a:lnTo>
                  <a:lnTo>
                    <a:pt x="9" y="67"/>
                  </a:lnTo>
                  <a:lnTo>
                    <a:pt x="5" y="59"/>
                  </a:lnTo>
                  <a:lnTo>
                    <a:pt x="2" y="51"/>
                  </a:lnTo>
                  <a:lnTo>
                    <a:pt x="0" y="42"/>
                  </a:lnTo>
                  <a:lnTo>
                    <a:pt x="0" y="42"/>
                  </a:lnTo>
                  <a:lnTo>
                    <a:pt x="2" y="34"/>
                  </a:lnTo>
                  <a:lnTo>
                    <a:pt x="5" y="26"/>
                  </a:lnTo>
                  <a:lnTo>
                    <a:pt x="9" y="19"/>
                  </a:lnTo>
                  <a:lnTo>
                    <a:pt x="13" y="12"/>
                  </a:lnTo>
                  <a:lnTo>
                    <a:pt x="20" y="7"/>
                  </a:lnTo>
                  <a:lnTo>
                    <a:pt x="27" y="2"/>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71"/>
            <p:cNvSpPr>
              <a:spLocks/>
            </p:cNvSpPr>
            <p:nvPr userDrawn="1"/>
          </p:nvSpPr>
          <p:spPr bwMode="auto">
            <a:xfrm>
              <a:off x="3931" y="891"/>
              <a:ext cx="44" cy="43"/>
            </a:xfrm>
            <a:custGeom>
              <a:avLst/>
              <a:gdLst>
                <a:gd name="T0" fmla="*/ 43 w 87"/>
                <a:gd name="T1" fmla="*/ 0 h 85"/>
                <a:gd name="T2" fmla="*/ 43 w 87"/>
                <a:gd name="T3" fmla="*/ 0 h 85"/>
                <a:gd name="T4" fmla="*/ 53 w 87"/>
                <a:gd name="T5" fmla="*/ 1 h 85"/>
                <a:gd name="T6" fmla="*/ 61 w 87"/>
                <a:gd name="T7" fmla="*/ 3 h 85"/>
                <a:gd name="T8" fmla="*/ 68 w 87"/>
                <a:gd name="T9" fmla="*/ 7 h 85"/>
                <a:gd name="T10" fmla="*/ 73 w 87"/>
                <a:gd name="T11" fmla="*/ 12 h 85"/>
                <a:gd name="T12" fmla="*/ 79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7 h 85"/>
                <a:gd name="T28" fmla="*/ 73 w 87"/>
                <a:gd name="T29" fmla="*/ 73 h 85"/>
                <a:gd name="T30" fmla="*/ 68 w 87"/>
                <a:gd name="T31" fmla="*/ 78 h 85"/>
                <a:gd name="T32" fmla="*/ 61 w 87"/>
                <a:gd name="T33" fmla="*/ 83 h 85"/>
                <a:gd name="T34" fmla="*/ 53 w 87"/>
                <a:gd name="T35" fmla="*/ 85 h 85"/>
                <a:gd name="T36" fmla="*/ 43 w 87"/>
                <a:gd name="T37" fmla="*/ 85 h 85"/>
                <a:gd name="T38" fmla="*/ 43 w 87"/>
                <a:gd name="T39" fmla="*/ 85 h 85"/>
                <a:gd name="T40" fmla="*/ 35 w 87"/>
                <a:gd name="T41" fmla="*/ 85 h 85"/>
                <a:gd name="T42" fmla="*/ 27 w 87"/>
                <a:gd name="T43" fmla="*/ 83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3 h 85"/>
                <a:gd name="T70" fmla="*/ 35 w 87"/>
                <a:gd name="T71" fmla="*/ 1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1"/>
                  </a:lnTo>
                  <a:lnTo>
                    <a:pt x="61" y="3"/>
                  </a:lnTo>
                  <a:lnTo>
                    <a:pt x="68" y="7"/>
                  </a:lnTo>
                  <a:lnTo>
                    <a:pt x="73" y="12"/>
                  </a:lnTo>
                  <a:lnTo>
                    <a:pt x="79" y="19"/>
                  </a:lnTo>
                  <a:lnTo>
                    <a:pt x="83" y="26"/>
                  </a:lnTo>
                  <a:lnTo>
                    <a:pt x="86" y="34"/>
                  </a:lnTo>
                  <a:lnTo>
                    <a:pt x="87" y="43"/>
                  </a:lnTo>
                  <a:lnTo>
                    <a:pt x="87" y="43"/>
                  </a:lnTo>
                  <a:lnTo>
                    <a:pt x="86" y="51"/>
                  </a:lnTo>
                  <a:lnTo>
                    <a:pt x="83" y="59"/>
                  </a:lnTo>
                  <a:lnTo>
                    <a:pt x="79" y="67"/>
                  </a:lnTo>
                  <a:lnTo>
                    <a:pt x="73" y="73"/>
                  </a:lnTo>
                  <a:lnTo>
                    <a:pt x="68" y="78"/>
                  </a:lnTo>
                  <a:lnTo>
                    <a:pt x="61" y="83"/>
                  </a:lnTo>
                  <a:lnTo>
                    <a:pt x="53" y="85"/>
                  </a:lnTo>
                  <a:lnTo>
                    <a:pt x="43" y="85"/>
                  </a:lnTo>
                  <a:lnTo>
                    <a:pt x="43" y="85"/>
                  </a:lnTo>
                  <a:lnTo>
                    <a:pt x="35" y="85"/>
                  </a:lnTo>
                  <a:lnTo>
                    <a:pt x="27" y="83"/>
                  </a:lnTo>
                  <a:lnTo>
                    <a:pt x="20" y="78"/>
                  </a:lnTo>
                  <a:lnTo>
                    <a:pt x="13" y="73"/>
                  </a:lnTo>
                  <a:lnTo>
                    <a:pt x="9" y="67"/>
                  </a:lnTo>
                  <a:lnTo>
                    <a:pt x="5" y="59"/>
                  </a:lnTo>
                  <a:lnTo>
                    <a:pt x="2" y="51"/>
                  </a:lnTo>
                  <a:lnTo>
                    <a:pt x="0" y="43"/>
                  </a:lnTo>
                  <a:lnTo>
                    <a:pt x="0" y="43"/>
                  </a:lnTo>
                  <a:lnTo>
                    <a:pt x="2" y="34"/>
                  </a:lnTo>
                  <a:lnTo>
                    <a:pt x="5" y="26"/>
                  </a:lnTo>
                  <a:lnTo>
                    <a:pt x="9" y="19"/>
                  </a:lnTo>
                  <a:lnTo>
                    <a:pt x="13" y="12"/>
                  </a:lnTo>
                  <a:lnTo>
                    <a:pt x="20" y="7"/>
                  </a:lnTo>
                  <a:lnTo>
                    <a:pt x="27" y="3"/>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72"/>
            <p:cNvSpPr>
              <a:spLocks/>
            </p:cNvSpPr>
            <p:nvPr userDrawn="1"/>
          </p:nvSpPr>
          <p:spPr bwMode="auto">
            <a:xfrm>
              <a:off x="3988" y="1286"/>
              <a:ext cx="43" cy="43"/>
            </a:xfrm>
            <a:custGeom>
              <a:avLst/>
              <a:gdLst>
                <a:gd name="T0" fmla="*/ 44 w 87"/>
                <a:gd name="T1" fmla="*/ 0 h 85"/>
                <a:gd name="T2" fmla="*/ 44 w 87"/>
                <a:gd name="T3" fmla="*/ 0 h 85"/>
                <a:gd name="T4" fmla="*/ 53 w 87"/>
                <a:gd name="T5" fmla="*/ 0 h 85"/>
                <a:gd name="T6" fmla="*/ 61 w 87"/>
                <a:gd name="T7" fmla="*/ 3 h 85"/>
                <a:gd name="T8" fmla="*/ 68 w 87"/>
                <a:gd name="T9" fmla="*/ 7 h 85"/>
                <a:gd name="T10" fmla="*/ 75 w 87"/>
                <a:gd name="T11" fmla="*/ 13 h 85"/>
                <a:gd name="T12" fmla="*/ 79 w 87"/>
                <a:gd name="T13" fmla="*/ 18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6 h 85"/>
                <a:gd name="T28" fmla="*/ 75 w 87"/>
                <a:gd name="T29" fmla="*/ 73 h 85"/>
                <a:gd name="T30" fmla="*/ 68 w 87"/>
                <a:gd name="T31" fmla="*/ 78 h 85"/>
                <a:gd name="T32" fmla="*/ 61 w 87"/>
                <a:gd name="T33" fmla="*/ 83 h 85"/>
                <a:gd name="T34" fmla="*/ 53 w 87"/>
                <a:gd name="T35" fmla="*/ 84 h 85"/>
                <a:gd name="T36" fmla="*/ 44 w 87"/>
                <a:gd name="T37" fmla="*/ 85 h 85"/>
                <a:gd name="T38" fmla="*/ 44 w 87"/>
                <a:gd name="T39" fmla="*/ 85 h 85"/>
                <a:gd name="T40" fmla="*/ 35 w 87"/>
                <a:gd name="T41" fmla="*/ 84 h 85"/>
                <a:gd name="T42" fmla="*/ 27 w 87"/>
                <a:gd name="T43" fmla="*/ 83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8 h 85"/>
                <a:gd name="T64" fmla="*/ 13 w 87"/>
                <a:gd name="T65" fmla="*/ 13 h 85"/>
                <a:gd name="T66" fmla="*/ 20 w 87"/>
                <a:gd name="T67" fmla="*/ 7 h 85"/>
                <a:gd name="T68" fmla="*/ 27 w 87"/>
                <a:gd name="T69" fmla="*/ 3 h 85"/>
                <a:gd name="T70" fmla="*/ 35 w 87"/>
                <a:gd name="T71" fmla="*/ 0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0"/>
                  </a:lnTo>
                  <a:lnTo>
                    <a:pt x="61" y="3"/>
                  </a:lnTo>
                  <a:lnTo>
                    <a:pt x="68" y="7"/>
                  </a:lnTo>
                  <a:lnTo>
                    <a:pt x="75" y="13"/>
                  </a:lnTo>
                  <a:lnTo>
                    <a:pt x="79" y="18"/>
                  </a:lnTo>
                  <a:lnTo>
                    <a:pt x="83" y="26"/>
                  </a:lnTo>
                  <a:lnTo>
                    <a:pt x="86" y="34"/>
                  </a:lnTo>
                  <a:lnTo>
                    <a:pt x="87" y="43"/>
                  </a:lnTo>
                  <a:lnTo>
                    <a:pt x="87" y="43"/>
                  </a:lnTo>
                  <a:lnTo>
                    <a:pt x="86" y="51"/>
                  </a:lnTo>
                  <a:lnTo>
                    <a:pt x="83" y="59"/>
                  </a:lnTo>
                  <a:lnTo>
                    <a:pt x="79" y="66"/>
                  </a:lnTo>
                  <a:lnTo>
                    <a:pt x="75" y="73"/>
                  </a:lnTo>
                  <a:lnTo>
                    <a:pt x="68" y="78"/>
                  </a:lnTo>
                  <a:lnTo>
                    <a:pt x="61" y="83"/>
                  </a:lnTo>
                  <a:lnTo>
                    <a:pt x="53" y="84"/>
                  </a:lnTo>
                  <a:lnTo>
                    <a:pt x="44" y="85"/>
                  </a:lnTo>
                  <a:lnTo>
                    <a:pt x="44" y="85"/>
                  </a:lnTo>
                  <a:lnTo>
                    <a:pt x="35" y="84"/>
                  </a:lnTo>
                  <a:lnTo>
                    <a:pt x="27" y="83"/>
                  </a:lnTo>
                  <a:lnTo>
                    <a:pt x="20" y="78"/>
                  </a:lnTo>
                  <a:lnTo>
                    <a:pt x="13" y="73"/>
                  </a:lnTo>
                  <a:lnTo>
                    <a:pt x="9" y="66"/>
                  </a:lnTo>
                  <a:lnTo>
                    <a:pt x="5" y="59"/>
                  </a:lnTo>
                  <a:lnTo>
                    <a:pt x="2" y="51"/>
                  </a:lnTo>
                  <a:lnTo>
                    <a:pt x="0" y="43"/>
                  </a:lnTo>
                  <a:lnTo>
                    <a:pt x="0" y="43"/>
                  </a:lnTo>
                  <a:lnTo>
                    <a:pt x="2" y="34"/>
                  </a:lnTo>
                  <a:lnTo>
                    <a:pt x="5" y="26"/>
                  </a:lnTo>
                  <a:lnTo>
                    <a:pt x="9" y="18"/>
                  </a:lnTo>
                  <a:lnTo>
                    <a:pt x="13" y="13"/>
                  </a:lnTo>
                  <a:lnTo>
                    <a:pt x="20" y="7"/>
                  </a:lnTo>
                  <a:lnTo>
                    <a:pt x="27" y="3"/>
                  </a:lnTo>
                  <a:lnTo>
                    <a:pt x="35" y="0"/>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73"/>
            <p:cNvSpPr>
              <a:spLocks/>
            </p:cNvSpPr>
            <p:nvPr userDrawn="1"/>
          </p:nvSpPr>
          <p:spPr bwMode="auto">
            <a:xfrm>
              <a:off x="3988" y="1230"/>
              <a:ext cx="43" cy="42"/>
            </a:xfrm>
            <a:custGeom>
              <a:avLst/>
              <a:gdLst>
                <a:gd name="T0" fmla="*/ 44 w 87"/>
                <a:gd name="T1" fmla="*/ 0 h 86"/>
                <a:gd name="T2" fmla="*/ 44 w 87"/>
                <a:gd name="T3" fmla="*/ 0 h 86"/>
                <a:gd name="T4" fmla="*/ 53 w 87"/>
                <a:gd name="T5" fmla="*/ 0 h 86"/>
                <a:gd name="T6" fmla="*/ 61 w 87"/>
                <a:gd name="T7" fmla="*/ 3 h 86"/>
                <a:gd name="T8" fmla="*/ 68 w 87"/>
                <a:gd name="T9" fmla="*/ 7 h 86"/>
                <a:gd name="T10" fmla="*/ 75 w 87"/>
                <a:gd name="T11" fmla="*/ 13 h 86"/>
                <a:gd name="T12" fmla="*/ 79 w 87"/>
                <a:gd name="T13" fmla="*/ 18 h 86"/>
                <a:gd name="T14" fmla="*/ 83 w 87"/>
                <a:gd name="T15" fmla="*/ 27 h 86"/>
                <a:gd name="T16" fmla="*/ 86 w 87"/>
                <a:gd name="T17" fmla="*/ 33 h 86"/>
                <a:gd name="T18" fmla="*/ 87 w 87"/>
                <a:gd name="T19" fmla="*/ 43 h 86"/>
                <a:gd name="T20" fmla="*/ 87 w 87"/>
                <a:gd name="T21" fmla="*/ 43 h 86"/>
                <a:gd name="T22" fmla="*/ 86 w 87"/>
                <a:gd name="T23" fmla="*/ 51 h 86"/>
                <a:gd name="T24" fmla="*/ 83 w 87"/>
                <a:gd name="T25" fmla="*/ 60 h 86"/>
                <a:gd name="T26" fmla="*/ 79 w 87"/>
                <a:gd name="T27" fmla="*/ 66 h 86"/>
                <a:gd name="T28" fmla="*/ 75 w 87"/>
                <a:gd name="T29" fmla="*/ 73 h 86"/>
                <a:gd name="T30" fmla="*/ 68 w 87"/>
                <a:gd name="T31" fmla="*/ 79 h 86"/>
                <a:gd name="T32" fmla="*/ 61 w 87"/>
                <a:gd name="T33" fmla="*/ 82 h 86"/>
                <a:gd name="T34" fmla="*/ 53 w 87"/>
                <a:gd name="T35" fmla="*/ 84 h 86"/>
                <a:gd name="T36" fmla="*/ 44 w 87"/>
                <a:gd name="T37" fmla="*/ 86 h 86"/>
                <a:gd name="T38" fmla="*/ 44 w 87"/>
                <a:gd name="T39" fmla="*/ 86 h 86"/>
                <a:gd name="T40" fmla="*/ 35 w 87"/>
                <a:gd name="T41" fmla="*/ 84 h 86"/>
                <a:gd name="T42" fmla="*/ 27 w 87"/>
                <a:gd name="T43" fmla="*/ 82 h 86"/>
                <a:gd name="T44" fmla="*/ 20 w 87"/>
                <a:gd name="T45" fmla="*/ 79 h 86"/>
                <a:gd name="T46" fmla="*/ 13 w 87"/>
                <a:gd name="T47" fmla="*/ 73 h 86"/>
                <a:gd name="T48" fmla="*/ 9 w 87"/>
                <a:gd name="T49" fmla="*/ 66 h 86"/>
                <a:gd name="T50" fmla="*/ 5 w 87"/>
                <a:gd name="T51" fmla="*/ 60 h 86"/>
                <a:gd name="T52" fmla="*/ 2 w 87"/>
                <a:gd name="T53" fmla="*/ 51 h 86"/>
                <a:gd name="T54" fmla="*/ 0 w 87"/>
                <a:gd name="T55" fmla="*/ 43 h 86"/>
                <a:gd name="T56" fmla="*/ 0 w 87"/>
                <a:gd name="T57" fmla="*/ 43 h 86"/>
                <a:gd name="T58" fmla="*/ 2 w 87"/>
                <a:gd name="T59" fmla="*/ 33 h 86"/>
                <a:gd name="T60" fmla="*/ 5 w 87"/>
                <a:gd name="T61" fmla="*/ 27 h 86"/>
                <a:gd name="T62" fmla="*/ 9 w 87"/>
                <a:gd name="T63" fmla="*/ 18 h 86"/>
                <a:gd name="T64" fmla="*/ 13 w 87"/>
                <a:gd name="T65" fmla="*/ 13 h 86"/>
                <a:gd name="T66" fmla="*/ 20 w 87"/>
                <a:gd name="T67" fmla="*/ 7 h 86"/>
                <a:gd name="T68" fmla="*/ 27 w 87"/>
                <a:gd name="T69" fmla="*/ 3 h 86"/>
                <a:gd name="T70" fmla="*/ 35 w 87"/>
                <a:gd name="T71" fmla="*/ 0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0"/>
                  </a:lnTo>
                  <a:lnTo>
                    <a:pt x="61" y="3"/>
                  </a:lnTo>
                  <a:lnTo>
                    <a:pt x="68" y="7"/>
                  </a:lnTo>
                  <a:lnTo>
                    <a:pt x="75" y="13"/>
                  </a:lnTo>
                  <a:lnTo>
                    <a:pt x="79" y="18"/>
                  </a:lnTo>
                  <a:lnTo>
                    <a:pt x="83" y="27"/>
                  </a:lnTo>
                  <a:lnTo>
                    <a:pt x="86" y="33"/>
                  </a:lnTo>
                  <a:lnTo>
                    <a:pt x="87" y="43"/>
                  </a:lnTo>
                  <a:lnTo>
                    <a:pt x="87" y="43"/>
                  </a:lnTo>
                  <a:lnTo>
                    <a:pt x="86" y="51"/>
                  </a:lnTo>
                  <a:lnTo>
                    <a:pt x="83" y="60"/>
                  </a:lnTo>
                  <a:lnTo>
                    <a:pt x="79" y="66"/>
                  </a:lnTo>
                  <a:lnTo>
                    <a:pt x="75" y="73"/>
                  </a:lnTo>
                  <a:lnTo>
                    <a:pt x="68" y="79"/>
                  </a:lnTo>
                  <a:lnTo>
                    <a:pt x="61" y="82"/>
                  </a:lnTo>
                  <a:lnTo>
                    <a:pt x="53" y="84"/>
                  </a:lnTo>
                  <a:lnTo>
                    <a:pt x="44" y="86"/>
                  </a:lnTo>
                  <a:lnTo>
                    <a:pt x="44" y="86"/>
                  </a:lnTo>
                  <a:lnTo>
                    <a:pt x="35" y="84"/>
                  </a:lnTo>
                  <a:lnTo>
                    <a:pt x="27" y="82"/>
                  </a:lnTo>
                  <a:lnTo>
                    <a:pt x="20" y="79"/>
                  </a:lnTo>
                  <a:lnTo>
                    <a:pt x="13" y="73"/>
                  </a:lnTo>
                  <a:lnTo>
                    <a:pt x="9" y="66"/>
                  </a:lnTo>
                  <a:lnTo>
                    <a:pt x="5" y="60"/>
                  </a:lnTo>
                  <a:lnTo>
                    <a:pt x="2" y="51"/>
                  </a:lnTo>
                  <a:lnTo>
                    <a:pt x="0" y="43"/>
                  </a:lnTo>
                  <a:lnTo>
                    <a:pt x="0" y="43"/>
                  </a:lnTo>
                  <a:lnTo>
                    <a:pt x="2" y="33"/>
                  </a:lnTo>
                  <a:lnTo>
                    <a:pt x="5" y="27"/>
                  </a:lnTo>
                  <a:lnTo>
                    <a:pt x="9" y="18"/>
                  </a:lnTo>
                  <a:lnTo>
                    <a:pt x="13" y="13"/>
                  </a:lnTo>
                  <a:lnTo>
                    <a:pt x="20" y="7"/>
                  </a:lnTo>
                  <a:lnTo>
                    <a:pt x="27" y="3"/>
                  </a:lnTo>
                  <a:lnTo>
                    <a:pt x="35" y="0"/>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74"/>
            <p:cNvSpPr>
              <a:spLocks/>
            </p:cNvSpPr>
            <p:nvPr userDrawn="1"/>
          </p:nvSpPr>
          <p:spPr bwMode="auto">
            <a:xfrm>
              <a:off x="3988" y="1060"/>
              <a:ext cx="43" cy="43"/>
            </a:xfrm>
            <a:custGeom>
              <a:avLst/>
              <a:gdLst>
                <a:gd name="T0" fmla="*/ 44 w 87"/>
                <a:gd name="T1" fmla="*/ 0 h 87"/>
                <a:gd name="T2" fmla="*/ 44 w 87"/>
                <a:gd name="T3" fmla="*/ 0 h 87"/>
                <a:gd name="T4" fmla="*/ 53 w 87"/>
                <a:gd name="T5" fmla="*/ 1 h 87"/>
                <a:gd name="T6" fmla="*/ 61 w 87"/>
                <a:gd name="T7" fmla="*/ 4 h 87"/>
                <a:gd name="T8" fmla="*/ 68 w 87"/>
                <a:gd name="T9" fmla="*/ 8 h 87"/>
                <a:gd name="T10" fmla="*/ 75 w 87"/>
                <a:gd name="T11" fmla="*/ 12 h 87"/>
                <a:gd name="T12" fmla="*/ 79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79 w 87"/>
                <a:gd name="T27" fmla="*/ 67 h 87"/>
                <a:gd name="T28" fmla="*/ 75 w 87"/>
                <a:gd name="T29" fmla="*/ 73 h 87"/>
                <a:gd name="T30" fmla="*/ 68 w 87"/>
                <a:gd name="T31" fmla="*/ 78 h 87"/>
                <a:gd name="T32" fmla="*/ 61 w 87"/>
                <a:gd name="T33" fmla="*/ 83 h 87"/>
                <a:gd name="T34" fmla="*/ 53 w 87"/>
                <a:gd name="T35" fmla="*/ 85 h 87"/>
                <a:gd name="T36" fmla="*/ 44 w 87"/>
                <a:gd name="T37" fmla="*/ 87 h 87"/>
                <a:gd name="T38" fmla="*/ 44 w 87"/>
                <a:gd name="T39" fmla="*/ 87 h 87"/>
                <a:gd name="T40" fmla="*/ 35 w 87"/>
                <a:gd name="T41" fmla="*/ 85 h 87"/>
                <a:gd name="T42" fmla="*/ 27 w 87"/>
                <a:gd name="T43" fmla="*/ 83 h 87"/>
                <a:gd name="T44" fmla="*/ 20 w 87"/>
                <a:gd name="T45" fmla="*/ 78 h 87"/>
                <a:gd name="T46" fmla="*/ 13 w 87"/>
                <a:gd name="T47" fmla="*/ 73 h 87"/>
                <a:gd name="T48" fmla="*/ 9 w 87"/>
                <a:gd name="T49" fmla="*/ 67 h 87"/>
                <a:gd name="T50" fmla="*/ 5 w 87"/>
                <a:gd name="T51" fmla="*/ 61 h 87"/>
                <a:gd name="T52" fmla="*/ 2 w 87"/>
                <a:gd name="T53" fmla="*/ 52 h 87"/>
                <a:gd name="T54" fmla="*/ 0 w 87"/>
                <a:gd name="T55" fmla="*/ 43 h 87"/>
                <a:gd name="T56" fmla="*/ 0 w 87"/>
                <a:gd name="T57" fmla="*/ 43 h 87"/>
                <a:gd name="T58" fmla="*/ 2 w 87"/>
                <a:gd name="T59" fmla="*/ 34 h 87"/>
                <a:gd name="T60" fmla="*/ 5 w 87"/>
                <a:gd name="T61" fmla="*/ 26 h 87"/>
                <a:gd name="T62" fmla="*/ 9 w 87"/>
                <a:gd name="T63" fmla="*/ 19 h 87"/>
                <a:gd name="T64" fmla="*/ 13 w 87"/>
                <a:gd name="T65" fmla="*/ 12 h 87"/>
                <a:gd name="T66" fmla="*/ 20 w 87"/>
                <a:gd name="T67" fmla="*/ 8 h 87"/>
                <a:gd name="T68" fmla="*/ 27 w 87"/>
                <a:gd name="T69" fmla="*/ 4 h 87"/>
                <a:gd name="T70" fmla="*/ 35 w 87"/>
                <a:gd name="T71" fmla="*/ 1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1"/>
                  </a:lnTo>
                  <a:lnTo>
                    <a:pt x="61" y="4"/>
                  </a:lnTo>
                  <a:lnTo>
                    <a:pt x="68" y="8"/>
                  </a:lnTo>
                  <a:lnTo>
                    <a:pt x="75" y="12"/>
                  </a:lnTo>
                  <a:lnTo>
                    <a:pt x="79" y="19"/>
                  </a:lnTo>
                  <a:lnTo>
                    <a:pt x="83" y="26"/>
                  </a:lnTo>
                  <a:lnTo>
                    <a:pt x="86" y="34"/>
                  </a:lnTo>
                  <a:lnTo>
                    <a:pt x="87" y="43"/>
                  </a:lnTo>
                  <a:lnTo>
                    <a:pt x="87" y="43"/>
                  </a:lnTo>
                  <a:lnTo>
                    <a:pt x="86" y="52"/>
                  </a:lnTo>
                  <a:lnTo>
                    <a:pt x="83" y="61"/>
                  </a:lnTo>
                  <a:lnTo>
                    <a:pt x="79" y="67"/>
                  </a:lnTo>
                  <a:lnTo>
                    <a:pt x="75" y="73"/>
                  </a:lnTo>
                  <a:lnTo>
                    <a:pt x="68" y="78"/>
                  </a:lnTo>
                  <a:lnTo>
                    <a:pt x="61" y="83"/>
                  </a:lnTo>
                  <a:lnTo>
                    <a:pt x="53" y="85"/>
                  </a:lnTo>
                  <a:lnTo>
                    <a:pt x="44" y="87"/>
                  </a:lnTo>
                  <a:lnTo>
                    <a:pt x="44" y="87"/>
                  </a:lnTo>
                  <a:lnTo>
                    <a:pt x="35" y="85"/>
                  </a:lnTo>
                  <a:lnTo>
                    <a:pt x="27" y="83"/>
                  </a:lnTo>
                  <a:lnTo>
                    <a:pt x="20" y="78"/>
                  </a:lnTo>
                  <a:lnTo>
                    <a:pt x="13" y="73"/>
                  </a:lnTo>
                  <a:lnTo>
                    <a:pt x="9" y="67"/>
                  </a:lnTo>
                  <a:lnTo>
                    <a:pt x="5" y="61"/>
                  </a:lnTo>
                  <a:lnTo>
                    <a:pt x="2" y="52"/>
                  </a:lnTo>
                  <a:lnTo>
                    <a:pt x="0" y="43"/>
                  </a:lnTo>
                  <a:lnTo>
                    <a:pt x="0" y="43"/>
                  </a:lnTo>
                  <a:lnTo>
                    <a:pt x="2" y="34"/>
                  </a:lnTo>
                  <a:lnTo>
                    <a:pt x="5" y="26"/>
                  </a:lnTo>
                  <a:lnTo>
                    <a:pt x="9" y="19"/>
                  </a:lnTo>
                  <a:lnTo>
                    <a:pt x="13" y="12"/>
                  </a:lnTo>
                  <a:lnTo>
                    <a:pt x="20" y="8"/>
                  </a:lnTo>
                  <a:lnTo>
                    <a:pt x="27"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75"/>
            <p:cNvSpPr>
              <a:spLocks/>
            </p:cNvSpPr>
            <p:nvPr userDrawn="1"/>
          </p:nvSpPr>
          <p:spPr bwMode="auto">
            <a:xfrm>
              <a:off x="3988" y="1004"/>
              <a:ext cx="43" cy="42"/>
            </a:xfrm>
            <a:custGeom>
              <a:avLst/>
              <a:gdLst>
                <a:gd name="T0" fmla="*/ 44 w 87"/>
                <a:gd name="T1" fmla="*/ 0 h 86"/>
                <a:gd name="T2" fmla="*/ 44 w 87"/>
                <a:gd name="T3" fmla="*/ 0 h 86"/>
                <a:gd name="T4" fmla="*/ 53 w 87"/>
                <a:gd name="T5" fmla="*/ 2 h 86"/>
                <a:gd name="T6" fmla="*/ 61 w 87"/>
                <a:gd name="T7" fmla="*/ 5 h 86"/>
                <a:gd name="T8" fmla="*/ 68 w 87"/>
                <a:gd name="T9" fmla="*/ 7 h 86"/>
                <a:gd name="T10" fmla="*/ 75 w 87"/>
                <a:gd name="T11" fmla="*/ 13 h 86"/>
                <a:gd name="T12" fmla="*/ 79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79 w 87"/>
                <a:gd name="T27" fmla="*/ 68 h 86"/>
                <a:gd name="T28" fmla="*/ 75 w 87"/>
                <a:gd name="T29" fmla="*/ 73 h 86"/>
                <a:gd name="T30" fmla="*/ 68 w 87"/>
                <a:gd name="T31" fmla="*/ 79 h 86"/>
                <a:gd name="T32" fmla="*/ 61 w 87"/>
                <a:gd name="T33" fmla="*/ 83 h 86"/>
                <a:gd name="T34" fmla="*/ 53 w 87"/>
                <a:gd name="T35" fmla="*/ 86 h 86"/>
                <a:gd name="T36" fmla="*/ 44 w 87"/>
                <a:gd name="T37" fmla="*/ 86 h 86"/>
                <a:gd name="T38" fmla="*/ 44 w 87"/>
                <a:gd name="T39" fmla="*/ 86 h 86"/>
                <a:gd name="T40" fmla="*/ 35 w 87"/>
                <a:gd name="T41" fmla="*/ 86 h 86"/>
                <a:gd name="T42" fmla="*/ 27 w 87"/>
                <a:gd name="T43" fmla="*/ 83 h 86"/>
                <a:gd name="T44" fmla="*/ 20 w 87"/>
                <a:gd name="T45" fmla="*/ 79 h 86"/>
                <a:gd name="T46" fmla="*/ 13 w 87"/>
                <a:gd name="T47" fmla="*/ 73 h 86"/>
                <a:gd name="T48" fmla="*/ 9 w 87"/>
                <a:gd name="T49" fmla="*/ 68 h 86"/>
                <a:gd name="T50" fmla="*/ 5 w 87"/>
                <a:gd name="T51" fmla="*/ 59 h 86"/>
                <a:gd name="T52" fmla="*/ 2 w 87"/>
                <a:gd name="T53" fmla="*/ 53 h 86"/>
                <a:gd name="T54" fmla="*/ 0 w 87"/>
                <a:gd name="T55" fmla="*/ 43 h 86"/>
                <a:gd name="T56" fmla="*/ 0 w 87"/>
                <a:gd name="T57" fmla="*/ 43 h 86"/>
                <a:gd name="T58" fmla="*/ 2 w 87"/>
                <a:gd name="T59" fmla="*/ 35 h 86"/>
                <a:gd name="T60" fmla="*/ 5 w 87"/>
                <a:gd name="T61" fmla="*/ 27 h 86"/>
                <a:gd name="T62" fmla="*/ 9 w 87"/>
                <a:gd name="T63" fmla="*/ 20 h 86"/>
                <a:gd name="T64" fmla="*/ 13 w 87"/>
                <a:gd name="T65" fmla="*/ 13 h 86"/>
                <a:gd name="T66" fmla="*/ 20 w 87"/>
                <a:gd name="T67" fmla="*/ 7 h 86"/>
                <a:gd name="T68" fmla="*/ 27 w 87"/>
                <a:gd name="T69" fmla="*/ 5 h 86"/>
                <a:gd name="T70" fmla="*/ 35 w 87"/>
                <a:gd name="T71" fmla="*/ 2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2"/>
                  </a:lnTo>
                  <a:lnTo>
                    <a:pt x="61" y="5"/>
                  </a:lnTo>
                  <a:lnTo>
                    <a:pt x="68" y="7"/>
                  </a:lnTo>
                  <a:lnTo>
                    <a:pt x="75" y="13"/>
                  </a:lnTo>
                  <a:lnTo>
                    <a:pt x="79" y="20"/>
                  </a:lnTo>
                  <a:lnTo>
                    <a:pt x="83" y="27"/>
                  </a:lnTo>
                  <a:lnTo>
                    <a:pt x="86" y="35"/>
                  </a:lnTo>
                  <a:lnTo>
                    <a:pt x="87" y="43"/>
                  </a:lnTo>
                  <a:lnTo>
                    <a:pt x="87" y="43"/>
                  </a:lnTo>
                  <a:lnTo>
                    <a:pt x="86" y="53"/>
                  </a:lnTo>
                  <a:lnTo>
                    <a:pt x="83" y="59"/>
                  </a:lnTo>
                  <a:lnTo>
                    <a:pt x="79" y="68"/>
                  </a:lnTo>
                  <a:lnTo>
                    <a:pt x="75" y="73"/>
                  </a:lnTo>
                  <a:lnTo>
                    <a:pt x="68" y="79"/>
                  </a:lnTo>
                  <a:lnTo>
                    <a:pt x="61" y="83"/>
                  </a:lnTo>
                  <a:lnTo>
                    <a:pt x="53" y="86"/>
                  </a:lnTo>
                  <a:lnTo>
                    <a:pt x="44" y="86"/>
                  </a:lnTo>
                  <a:lnTo>
                    <a:pt x="44" y="86"/>
                  </a:lnTo>
                  <a:lnTo>
                    <a:pt x="35" y="86"/>
                  </a:lnTo>
                  <a:lnTo>
                    <a:pt x="27" y="83"/>
                  </a:lnTo>
                  <a:lnTo>
                    <a:pt x="20" y="79"/>
                  </a:lnTo>
                  <a:lnTo>
                    <a:pt x="13" y="73"/>
                  </a:lnTo>
                  <a:lnTo>
                    <a:pt x="9" y="68"/>
                  </a:lnTo>
                  <a:lnTo>
                    <a:pt x="5" y="59"/>
                  </a:lnTo>
                  <a:lnTo>
                    <a:pt x="2" y="53"/>
                  </a:lnTo>
                  <a:lnTo>
                    <a:pt x="0" y="43"/>
                  </a:lnTo>
                  <a:lnTo>
                    <a:pt x="0" y="43"/>
                  </a:lnTo>
                  <a:lnTo>
                    <a:pt x="2" y="35"/>
                  </a:lnTo>
                  <a:lnTo>
                    <a:pt x="5" y="27"/>
                  </a:lnTo>
                  <a:lnTo>
                    <a:pt x="9" y="20"/>
                  </a:lnTo>
                  <a:lnTo>
                    <a:pt x="13" y="13"/>
                  </a:lnTo>
                  <a:lnTo>
                    <a:pt x="20" y="7"/>
                  </a:lnTo>
                  <a:lnTo>
                    <a:pt x="27"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76"/>
            <p:cNvSpPr>
              <a:spLocks/>
            </p:cNvSpPr>
            <p:nvPr userDrawn="1"/>
          </p:nvSpPr>
          <p:spPr bwMode="auto">
            <a:xfrm>
              <a:off x="3988" y="947"/>
              <a:ext cx="43" cy="43"/>
            </a:xfrm>
            <a:custGeom>
              <a:avLst/>
              <a:gdLst>
                <a:gd name="T0" fmla="*/ 44 w 87"/>
                <a:gd name="T1" fmla="*/ 0 h 85"/>
                <a:gd name="T2" fmla="*/ 44 w 87"/>
                <a:gd name="T3" fmla="*/ 0 h 85"/>
                <a:gd name="T4" fmla="*/ 53 w 87"/>
                <a:gd name="T5" fmla="*/ 1 h 85"/>
                <a:gd name="T6" fmla="*/ 61 w 87"/>
                <a:gd name="T7" fmla="*/ 2 h 85"/>
                <a:gd name="T8" fmla="*/ 68 w 87"/>
                <a:gd name="T9" fmla="*/ 7 h 85"/>
                <a:gd name="T10" fmla="*/ 75 w 87"/>
                <a:gd name="T11" fmla="*/ 12 h 85"/>
                <a:gd name="T12" fmla="*/ 79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7 h 85"/>
                <a:gd name="T28" fmla="*/ 75 w 87"/>
                <a:gd name="T29" fmla="*/ 73 h 85"/>
                <a:gd name="T30" fmla="*/ 68 w 87"/>
                <a:gd name="T31" fmla="*/ 78 h 85"/>
                <a:gd name="T32" fmla="*/ 61 w 87"/>
                <a:gd name="T33" fmla="*/ 82 h 85"/>
                <a:gd name="T34" fmla="*/ 53 w 87"/>
                <a:gd name="T35" fmla="*/ 85 h 85"/>
                <a:gd name="T36" fmla="*/ 44 w 87"/>
                <a:gd name="T37" fmla="*/ 85 h 85"/>
                <a:gd name="T38" fmla="*/ 44 w 87"/>
                <a:gd name="T39" fmla="*/ 85 h 85"/>
                <a:gd name="T40" fmla="*/ 35 w 87"/>
                <a:gd name="T41" fmla="*/ 85 h 85"/>
                <a:gd name="T42" fmla="*/ 27 w 87"/>
                <a:gd name="T43" fmla="*/ 82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2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2"/>
                  </a:lnTo>
                  <a:lnTo>
                    <a:pt x="68" y="7"/>
                  </a:lnTo>
                  <a:lnTo>
                    <a:pt x="75" y="12"/>
                  </a:lnTo>
                  <a:lnTo>
                    <a:pt x="79" y="19"/>
                  </a:lnTo>
                  <a:lnTo>
                    <a:pt x="83" y="26"/>
                  </a:lnTo>
                  <a:lnTo>
                    <a:pt x="86" y="34"/>
                  </a:lnTo>
                  <a:lnTo>
                    <a:pt x="87" y="42"/>
                  </a:lnTo>
                  <a:lnTo>
                    <a:pt x="87" y="42"/>
                  </a:lnTo>
                  <a:lnTo>
                    <a:pt x="86" y="51"/>
                  </a:lnTo>
                  <a:lnTo>
                    <a:pt x="83" y="59"/>
                  </a:lnTo>
                  <a:lnTo>
                    <a:pt x="79" y="67"/>
                  </a:lnTo>
                  <a:lnTo>
                    <a:pt x="75" y="73"/>
                  </a:lnTo>
                  <a:lnTo>
                    <a:pt x="68" y="78"/>
                  </a:lnTo>
                  <a:lnTo>
                    <a:pt x="61" y="82"/>
                  </a:lnTo>
                  <a:lnTo>
                    <a:pt x="53" y="85"/>
                  </a:lnTo>
                  <a:lnTo>
                    <a:pt x="44" y="85"/>
                  </a:lnTo>
                  <a:lnTo>
                    <a:pt x="44" y="85"/>
                  </a:lnTo>
                  <a:lnTo>
                    <a:pt x="35" y="85"/>
                  </a:lnTo>
                  <a:lnTo>
                    <a:pt x="27" y="82"/>
                  </a:lnTo>
                  <a:lnTo>
                    <a:pt x="20" y="78"/>
                  </a:lnTo>
                  <a:lnTo>
                    <a:pt x="13" y="73"/>
                  </a:lnTo>
                  <a:lnTo>
                    <a:pt x="9" y="67"/>
                  </a:lnTo>
                  <a:lnTo>
                    <a:pt x="5" y="59"/>
                  </a:lnTo>
                  <a:lnTo>
                    <a:pt x="2" y="51"/>
                  </a:lnTo>
                  <a:lnTo>
                    <a:pt x="0" y="42"/>
                  </a:lnTo>
                  <a:lnTo>
                    <a:pt x="0" y="42"/>
                  </a:lnTo>
                  <a:lnTo>
                    <a:pt x="2" y="34"/>
                  </a:lnTo>
                  <a:lnTo>
                    <a:pt x="5" y="26"/>
                  </a:lnTo>
                  <a:lnTo>
                    <a:pt x="9" y="19"/>
                  </a:lnTo>
                  <a:lnTo>
                    <a:pt x="13" y="12"/>
                  </a:lnTo>
                  <a:lnTo>
                    <a:pt x="20" y="7"/>
                  </a:lnTo>
                  <a:lnTo>
                    <a:pt x="27" y="2"/>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77"/>
            <p:cNvSpPr>
              <a:spLocks/>
            </p:cNvSpPr>
            <p:nvPr userDrawn="1"/>
          </p:nvSpPr>
          <p:spPr bwMode="auto">
            <a:xfrm>
              <a:off x="3988" y="891"/>
              <a:ext cx="43" cy="43"/>
            </a:xfrm>
            <a:custGeom>
              <a:avLst/>
              <a:gdLst>
                <a:gd name="T0" fmla="*/ 44 w 87"/>
                <a:gd name="T1" fmla="*/ 0 h 85"/>
                <a:gd name="T2" fmla="*/ 44 w 87"/>
                <a:gd name="T3" fmla="*/ 0 h 85"/>
                <a:gd name="T4" fmla="*/ 53 w 87"/>
                <a:gd name="T5" fmla="*/ 1 h 85"/>
                <a:gd name="T6" fmla="*/ 61 w 87"/>
                <a:gd name="T7" fmla="*/ 3 h 85"/>
                <a:gd name="T8" fmla="*/ 68 w 87"/>
                <a:gd name="T9" fmla="*/ 7 h 85"/>
                <a:gd name="T10" fmla="*/ 75 w 87"/>
                <a:gd name="T11" fmla="*/ 12 h 85"/>
                <a:gd name="T12" fmla="*/ 79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7 h 85"/>
                <a:gd name="T28" fmla="*/ 75 w 87"/>
                <a:gd name="T29" fmla="*/ 73 h 85"/>
                <a:gd name="T30" fmla="*/ 68 w 87"/>
                <a:gd name="T31" fmla="*/ 78 h 85"/>
                <a:gd name="T32" fmla="*/ 61 w 87"/>
                <a:gd name="T33" fmla="*/ 83 h 85"/>
                <a:gd name="T34" fmla="*/ 53 w 87"/>
                <a:gd name="T35" fmla="*/ 85 h 85"/>
                <a:gd name="T36" fmla="*/ 44 w 87"/>
                <a:gd name="T37" fmla="*/ 85 h 85"/>
                <a:gd name="T38" fmla="*/ 44 w 87"/>
                <a:gd name="T39" fmla="*/ 85 h 85"/>
                <a:gd name="T40" fmla="*/ 35 w 87"/>
                <a:gd name="T41" fmla="*/ 85 h 85"/>
                <a:gd name="T42" fmla="*/ 27 w 87"/>
                <a:gd name="T43" fmla="*/ 83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3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3"/>
                  </a:lnTo>
                  <a:lnTo>
                    <a:pt x="68" y="7"/>
                  </a:lnTo>
                  <a:lnTo>
                    <a:pt x="75" y="12"/>
                  </a:lnTo>
                  <a:lnTo>
                    <a:pt x="79" y="19"/>
                  </a:lnTo>
                  <a:lnTo>
                    <a:pt x="83" y="26"/>
                  </a:lnTo>
                  <a:lnTo>
                    <a:pt x="86" y="34"/>
                  </a:lnTo>
                  <a:lnTo>
                    <a:pt x="87" y="43"/>
                  </a:lnTo>
                  <a:lnTo>
                    <a:pt x="87" y="43"/>
                  </a:lnTo>
                  <a:lnTo>
                    <a:pt x="86" y="51"/>
                  </a:lnTo>
                  <a:lnTo>
                    <a:pt x="83" y="59"/>
                  </a:lnTo>
                  <a:lnTo>
                    <a:pt x="79" y="67"/>
                  </a:lnTo>
                  <a:lnTo>
                    <a:pt x="75" y="73"/>
                  </a:lnTo>
                  <a:lnTo>
                    <a:pt x="68" y="78"/>
                  </a:lnTo>
                  <a:lnTo>
                    <a:pt x="61" y="83"/>
                  </a:lnTo>
                  <a:lnTo>
                    <a:pt x="53" y="85"/>
                  </a:lnTo>
                  <a:lnTo>
                    <a:pt x="44" y="85"/>
                  </a:lnTo>
                  <a:lnTo>
                    <a:pt x="44" y="85"/>
                  </a:lnTo>
                  <a:lnTo>
                    <a:pt x="35" y="85"/>
                  </a:lnTo>
                  <a:lnTo>
                    <a:pt x="27" y="83"/>
                  </a:lnTo>
                  <a:lnTo>
                    <a:pt x="20" y="78"/>
                  </a:lnTo>
                  <a:lnTo>
                    <a:pt x="13" y="73"/>
                  </a:lnTo>
                  <a:lnTo>
                    <a:pt x="9" y="67"/>
                  </a:lnTo>
                  <a:lnTo>
                    <a:pt x="5" y="59"/>
                  </a:lnTo>
                  <a:lnTo>
                    <a:pt x="2" y="51"/>
                  </a:lnTo>
                  <a:lnTo>
                    <a:pt x="0" y="43"/>
                  </a:lnTo>
                  <a:lnTo>
                    <a:pt x="0" y="43"/>
                  </a:lnTo>
                  <a:lnTo>
                    <a:pt x="2" y="34"/>
                  </a:lnTo>
                  <a:lnTo>
                    <a:pt x="5" y="26"/>
                  </a:lnTo>
                  <a:lnTo>
                    <a:pt x="9" y="19"/>
                  </a:lnTo>
                  <a:lnTo>
                    <a:pt x="13" y="12"/>
                  </a:lnTo>
                  <a:lnTo>
                    <a:pt x="20" y="7"/>
                  </a:lnTo>
                  <a:lnTo>
                    <a:pt x="27" y="3"/>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78"/>
            <p:cNvSpPr>
              <a:spLocks/>
            </p:cNvSpPr>
            <p:nvPr userDrawn="1"/>
          </p:nvSpPr>
          <p:spPr bwMode="auto">
            <a:xfrm>
              <a:off x="4044" y="1230"/>
              <a:ext cx="44" cy="42"/>
            </a:xfrm>
            <a:custGeom>
              <a:avLst/>
              <a:gdLst>
                <a:gd name="T0" fmla="*/ 44 w 87"/>
                <a:gd name="T1" fmla="*/ 0 h 86"/>
                <a:gd name="T2" fmla="*/ 44 w 87"/>
                <a:gd name="T3" fmla="*/ 0 h 86"/>
                <a:gd name="T4" fmla="*/ 53 w 87"/>
                <a:gd name="T5" fmla="*/ 0 h 86"/>
                <a:gd name="T6" fmla="*/ 61 w 87"/>
                <a:gd name="T7" fmla="*/ 3 h 86"/>
                <a:gd name="T8" fmla="*/ 68 w 87"/>
                <a:gd name="T9" fmla="*/ 7 h 86"/>
                <a:gd name="T10" fmla="*/ 75 w 87"/>
                <a:gd name="T11" fmla="*/ 13 h 86"/>
                <a:gd name="T12" fmla="*/ 80 w 87"/>
                <a:gd name="T13" fmla="*/ 18 h 86"/>
                <a:gd name="T14" fmla="*/ 83 w 87"/>
                <a:gd name="T15" fmla="*/ 27 h 86"/>
                <a:gd name="T16" fmla="*/ 86 w 87"/>
                <a:gd name="T17" fmla="*/ 33 h 86"/>
                <a:gd name="T18" fmla="*/ 87 w 87"/>
                <a:gd name="T19" fmla="*/ 43 h 86"/>
                <a:gd name="T20" fmla="*/ 87 w 87"/>
                <a:gd name="T21" fmla="*/ 43 h 86"/>
                <a:gd name="T22" fmla="*/ 86 w 87"/>
                <a:gd name="T23" fmla="*/ 51 h 86"/>
                <a:gd name="T24" fmla="*/ 83 w 87"/>
                <a:gd name="T25" fmla="*/ 60 h 86"/>
                <a:gd name="T26" fmla="*/ 80 w 87"/>
                <a:gd name="T27" fmla="*/ 66 h 86"/>
                <a:gd name="T28" fmla="*/ 75 w 87"/>
                <a:gd name="T29" fmla="*/ 73 h 86"/>
                <a:gd name="T30" fmla="*/ 68 w 87"/>
                <a:gd name="T31" fmla="*/ 79 h 86"/>
                <a:gd name="T32" fmla="*/ 61 w 87"/>
                <a:gd name="T33" fmla="*/ 82 h 86"/>
                <a:gd name="T34" fmla="*/ 53 w 87"/>
                <a:gd name="T35" fmla="*/ 84 h 86"/>
                <a:gd name="T36" fmla="*/ 44 w 87"/>
                <a:gd name="T37" fmla="*/ 86 h 86"/>
                <a:gd name="T38" fmla="*/ 44 w 87"/>
                <a:gd name="T39" fmla="*/ 86 h 86"/>
                <a:gd name="T40" fmla="*/ 35 w 87"/>
                <a:gd name="T41" fmla="*/ 84 h 86"/>
                <a:gd name="T42" fmla="*/ 28 w 87"/>
                <a:gd name="T43" fmla="*/ 82 h 86"/>
                <a:gd name="T44" fmla="*/ 20 w 87"/>
                <a:gd name="T45" fmla="*/ 79 h 86"/>
                <a:gd name="T46" fmla="*/ 14 w 87"/>
                <a:gd name="T47" fmla="*/ 73 h 86"/>
                <a:gd name="T48" fmla="*/ 9 w 87"/>
                <a:gd name="T49" fmla="*/ 66 h 86"/>
                <a:gd name="T50" fmla="*/ 4 w 87"/>
                <a:gd name="T51" fmla="*/ 60 h 86"/>
                <a:gd name="T52" fmla="*/ 2 w 87"/>
                <a:gd name="T53" fmla="*/ 51 h 86"/>
                <a:gd name="T54" fmla="*/ 0 w 87"/>
                <a:gd name="T55" fmla="*/ 43 h 86"/>
                <a:gd name="T56" fmla="*/ 0 w 87"/>
                <a:gd name="T57" fmla="*/ 43 h 86"/>
                <a:gd name="T58" fmla="*/ 2 w 87"/>
                <a:gd name="T59" fmla="*/ 33 h 86"/>
                <a:gd name="T60" fmla="*/ 4 w 87"/>
                <a:gd name="T61" fmla="*/ 27 h 86"/>
                <a:gd name="T62" fmla="*/ 9 w 87"/>
                <a:gd name="T63" fmla="*/ 18 h 86"/>
                <a:gd name="T64" fmla="*/ 14 w 87"/>
                <a:gd name="T65" fmla="*/ 13 h 86"/>
                <a:gd name="T66" fmla="*/ 20 w 87"/>
                <a:gd name="T67" fmla="*/ 7 h 86"/>
                <a:gd name="T68" fmla="*/ 28 w 87"/>
                <a:gd name="T69" fmla="*/ 3 h 86"/>
                <a:gd name="T70" fmla="*/ 35 w 87"/>
                <a:gd name="T71" fmla="*/ 0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0"/>
                  </a:lnTo>
                  <a:lnTo>
                    <a:pt x="61" y="3"/>
                  </a:lnTo>
                  <a:lnTo>
                    <a:pt x="68" y="7"/>
                  </a:lnTo>
                  <a:lnTo>
                    <a:pt x="75" y="13"/>
                  </a:lnTo>
                  <a:lnTo>
                    <a:pt x="80" y="18"/>
                  </a:lnTo>
                  <a:lnTo>
                    <a:pt x="83" y="27"/>
                  </a:lnTo>
                  <a:lnTo>
                    <a:pt x="86" y="33"/>
                  </a:lnTo>
                  <a:lnTo>
                    <a:pt x="87" y="43"/>
                  </a:lnTo>
                  <a:lnTo>
                    <a:pt x="87" y="43"/>
                  </a:lnTo>
                  <a:lnTo>
                    <a:pt x="86" y="51"/>
                  </a:lnTo>
                  <a:lnTo>
                    <a:pt x="83" y="60"/>
                  </a:lnTo>
                  <a:lnTo>
                    <a:pt x="80" y="66"/>
                  </a:lnTo>
                  <a:lnTo>
                    <a:pt x="75" y="73"/>
                  </a:lnTo>
                  <a:lnTo>
                    <a:pt x="68" y="79"/>
                  </a:lnTo>
                  <a:lnTo>
                    <a:pt x="61" y="82"/>
                  </a:lnTo>
                  <a:lnTo>
                    <a:pt x="53" y="84"/>
                  </a:lnTo>
                  <a:lnTo>
                    <a:pt x="44" y="86"/>
                  </a:lnTo>
                  <a:lnTo>
                    <a:pt x="44" y="86"/>
                  </a:lnTo>
                  <a:lnTo>
                    <a:pt x="35" y="84"/>
                  </a:lnTo>
                  <a:lnTo>
                    <a:pt x="28" y="82"/>
                  </a:lnTo>
                  <a:lnTo>
                    <a:pt x="20" y="79"/>
                  </a:lnTo>
                  <a:lnTo>
                    <a:pt x="14" y="73"/>
                  </a:lnTo>
                  <a:lnTo>
                    <a:pt x="9" y="66"/>
                  </a:lnTo>
                  <a:lnTo>
                    <a:pt x="4" y="60"/>
                  </a:lnTo>
                  <a:lnTo>
                    <a:pt x="2" y="51"/>
                  </a:lnTo>
                  <a:lnTo>
                    <a:pt x="0" y="43"/>
                  </a:lnTo>
                  <a:lnTo>
                    <a:pt x="0" y="43"/>
                  </a:lnTo>
                  <a:lnTo>
                    <a:pt x="2" y="33"/>
                  </a:lnTo>
                  <a:lnTo>
                    <a:pt x="4" y="27"/>
                  </a:lnTo>
                  <a:lnTo>
                    <a:pt x="9" y="18"/>
                  </a:lnTo>
                  <a:lnTo>
                    <a:pt x="14" y="13"/>
                  </a:lnTo>
                  <a:lnTo>
                    <a:pt x="20" y="7"/>
                  </a:lnTo>
                  <a:lnTo>
                    <a:pt x="28" y="3"/>
                  </a:lnTo>
                  <a:lnTo>
                    <a:pt x="35" y="0"/>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79"/>
            <p:cNvSpPr>
              <a:spLocks/>
            </p:cNvSpPr>
            <p:nvPr userDrawn="1"/>
          </p:nvSpPr>
          <p:spPr bwMode="auto">
            <a:xfrm>
              <a:off x="4044" y="1173"/>
              <a:ext cx="44" cy="43"/>
            </a:xfrm>
            <a:custGeom>
              <a:avLst/>
              <a:gdLst>
                <a:gd name="T0" fmla="*/ 44 w 87"/>
                <a:gd name="T1" fmla="*/ 0 h 87"/>
                <a:gd name="T2" fmla="*/ 44 w 87"/>
                <a:gd name="T3" fmla="*/ 0 h 87"/>
                <a:gd name="T4" fmla="*/ 53 w 87"/>
                <a:gd name="T5" fmla="*/ 2 h 87"/>
                <a:gd name="T6" fmla="*/ 61 w 87"/>
                <a:gd name="T7" fmla="*/ 5 h 87"/>
                <a:gd name="T8" fmla="*/ 68 w 87"/>
                <a:gd name="T9" fmla="*/ 9 h 87"/>
                <a:gd name="T10" fmla="*/ 75 w 87"/>
                <a:gd name="T11" fmla="*/ 14 h 87"/>
                <a:gd name="T12" fmla="*/ 80 w 87"/>
                <a:gd name="T13" fmla="*/ 20 h 87"/>
                <a:gd name="T14" fmla="*/ 83 w 87"/>
                <a:gd name="T15" fmla="*/ 27 h 87"/>
                <a:gd name="T16" fmla="*/ 86 w 87"/>
                <a:gd name="T17" fmla="*/ 35 h 87"/>
                <a:gd name="T18" fmla="*/ 87 w 87"/>
                <a:gd name="T19" fmla="*/ 44 h 87"/>
                <a:gd name="T20" fmla="*/ 87 w 87"/>
                <a:gd name="T21" fmla="*/ 44 h 87"/>
                <a:gd name="T22" fmla="*/ 86 w 87"/>
                <a:gd name="T23" fmla="*/ 53 h 87"/>
                <a:gd name="T24" fmla="*/ 83 w 87"/>
                <a:gd name="T25" fmla="*/ 61 h 87"/>
                <a:gd name="T26" fmla="*/ 80 w 87"/>
                <a:gd name="T27" fmla="*/ 68 h 87"/>
                <a:gd name="T28" fmla="*/ 75 w 87"/>
                <a:gd name="T29" fmla="*/ 75 h 87"/>
                <a:gd name="T30" fmla="*/ 68 w 87"/>
                <a:gd name="T31" fmla="*/ 79 h 87"/>
                <a:gd name="T32" fmla="*/ 61 w 87"/>
                <a:gd name="T33" fmla="*/ 83 h 87"/>
                <a:gd name="T34" fmla="*/ 53 w 87"/>
                <a:gd name="T35" fmla="*/ 86 h 87"/>
                <a:gd name="T36" fmla="*/ 44 w 87"/>
                <a:gd name="T37" fmla="*/ 87 h 87"/>
                <a:gd name="T38" fmla="*/ 44 w 87"/>
                <a:gd name="T39" fmla="*/ 87 h 87"/>
                <a:gd name="T40" fmla="*/ 35 w 87"/>
                <a:gd name="T41" fmla="*/ 86 h 87"/>
                <a:gd name="T42" fmla="*/ 28 w 87"/>
                <a:gd name="T43" fmla="*/ 83 h 87"/>
                <a:gd name="T44" fmla="*/ 20 w 87"/>
                <a:gd name="T45" fmla="*/ 79 h 87"/>
                <a:gd name="T46" fmla="*/ 14 w 87"/>
                <a:gd name="T47" fmla="*/ 75 h 87"/>
                <a:gd name="T48" fmla="*/ 9 w 87"/>
                <a:gd name="T49" fmla="*/ 68 h 87"/>
                <a:gd name="T50" fmla="*/ 4 w 87"/>
                <a:gd name="T51" fmla="*/ 61 h 87"/>
                <a:gd name="T52" fmla="*/ 2 w 87"/>
                <a:gd name="T53" fmla="*/ 53 h 87"/>
                <a:gd name="T54" fmla="*/ 0 w 87"/>
                <a:gd name="T55" fmla="*/ 44 h 87"/>
                <a:gd name="T56" fmla="*/ 0 w 87"/>
                <a:gd name="T57" fmla="*/ 44 h 87"/>
                <a:gd name="T58" fmla="*/ 2 w 87"/>
                <a:gd name="T59" fmla="*/ 35 h 87"/>
                <a:gd name="T60" fmla="*/ 4 w 87"/>
                <a:gd name="T61" fmla="*/ 27 h 87"/>
                <a:gd name="T62" fmla="*/ 9 w 87"/>
                <a:gd name="T63" fmla="*/ 20 h 87"/>
                <a:gd name="T64" fmla="*/ 14 w 87"/>
                <a:gd name="T65" fmla="*/ 14 h 87"/>
                <a:gd name="T66" fmla="*/ 20 w 87"/>
                <a:gd name="T67" fmla="*/ 9 h 87"/>
                <a:gd name="T68" fmla="*/ 28 w 87"/>
                <a:gd name="T69" fmla="*/ 5 h 87"/>
                <a:gd name="T70" fmla="*/ 35 w 87"/>
                <a:gd name="T71" fmla="*/ 2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2"/>
                  </a:lnTo>
                  <a:lnTo>
                    <a:pt x="61" y="5"/>
                  </a:lnTo>
                  <a:lnTo>
                    <a:pt x="68" y="9"/>
                  </a:lnTo>
                  <a:lnTo>
                    <a:pt x="75" y="14"/>
                  </a:lnTo>
                  <a:lnTo>
                    <a:pt x="80" y="20"/>
                  </a:lnTo>
                  <a:lnTo>
                    <a:pt x="83" y="27"/>
                  </a:lnTo>
                  <a:lnTo>
                    <a:pt x="86" y="35"/>
                  </a:lnTo>
                  <a:lnTo>
                    <a:pt x="87" y="44"/>
                  </a:lnTo>
                  <a:lnTo>
                    <a:pt x="87" y="44"/>
                  </a:lnTo>
                  <a:lnTo>
                    <a:pt x="86" y="53"/>
                  </a:lnTo>
                  <a:lnTo>
                    <a:pt x="83" y="61"/>
                  </a:lnTo>
                  <a:lnTo>
                    <a:pt x="80" y="68"/>
                  </a:lnTo>
                  <a:lnTo>
                    <a:pt x="75" y="75"/>
                  </a:lnTo>
                  <a:lnTo>
                    <a:pt x="68" y="79"/>
                  </a:lnTo>
                  <a:lnTo>
                    <a:pt x="61" y="83"/>
                  </a:lnTo>
                  <a:lnTo>
                    <a:pt x="53" y="86"/>
                  </a:lnTo>
                  <a:lnTo>
                    <a:pt x="44" y="87"/>
                  </a:lnTo>
                  <a:lnTo>
                    <a:pt x="44" y="87"/>
                  </a:lnTo>
                  <a:lnTo>
                    <a:pt x="35" y="86"/>
                  </a:lnTo>
                  <a:lnTo>
                    <a:pt x="28" y="83"/>
                  </a:lnTo>
                  <a:lnTo>
                    <a:pt x="20" y="79"/>
                  </a:lnTo>
                  <a:lnTo>
                    <a:pt x="14" y="75"/>
                  </a:lnTo>
                  <a:lnTo>
                    <a:pt x="9" y="68"/>
                  </a:lnTo>
                  <a:lnTo>
                    <a:pt x="4" y="61"/>
                  </a:lnTo>
                  <a:lnTo>
                    <a:pt x="2" y="53"/>
                  </a:lnTo>
                  <a:lnTo>
                    <a:pt x="0" y="44"/>
                  </a:lnTo>
                  <a:lnTo>
                    <a:pt x="0" y="44"/>
                  </a:lnTo>
                  <a:lnTo>
                    <a:pt x="2" y="35"/>
                  </a:lnTo>
                  <a:lnTo>
                    <a:pt x="4" y="27"/>
                  </a:lnTo>
                  <a:lnTo>
                    <a:pt x="9" y="20"/>
                  </a:lnTo>
                  <a:lnTo>
                    <a:pt x="14" y="14"/>
                  </a:lnTo>
                  <a:lnTo>
                    <a:pt x="20" y="9"/>
                  </a:lnTo>
                  <a:lnTo>
                    <a:pt x="28"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80"/>
            <p:cNvSpPr>
              <a:spLocks/>
            </p:cNvSpPr>
            <p:nvPr userDrawn="1"/>
          </p:nvSpPr>
          <p:spPr bwMode="auto">
            <a:xfrm>
              <a:off x="4044" y="1116"/>
              <a:ext cx="44" cy="44"/>
            </a:xfrm>
            <a:custGeom>
              <a:avLst/>
              <a:gdLst>
                <a:gd name="T0" fmla="*/ 44 w 87"/>
                <a:gd name="T1" fmla="*/ 0 h 86"/>
                <a:gd name="T2" fmla="*/ 44 w 87"/>
                <a:gd name="T3" fmla="*/ 0 h 86"/>
                <a:gd name="T4" fmla="*/ 53 w 87"/>
                <a:gd name="T5" fmla="*/ 1 h 86"/>
                <a:gd name="T6" fmla="*/ 61 w 87"/>
                <a:gd name="T7" fmla="*/ 4 h 86"/>
                <a:gd name="T8" fmla="*/ 68 w 87"/>
                <a:gd name="T9" fmla="*/ 8 h 86"/>
                <a:gd name="T10" fmla="*/ 75 w 87"/>
                <a:gd name="T11" fmla="*/ 12 h 86"/>
                <a:gd name="T12" fmla="*/ 80 w 87"/>
                <a:gd name="T13" fmla="*/ 19 h 86"/>
                <a:gd name="T14" fmla="*/ 83 w 87"/>
                <a:gd name="T15" fmla="*/ 26 h 86"/>
                <a:gd name="T16" fmla="*/ 86 w 87"/>
                <a:gd name="T17" fmla="*/ 34 h 86"/>
                <a:gd name="T18" fmla="*/ 87 w 87"/>
                <a:gd name="T19" fmla="*/ 44 h 86"/>
                <a:gd name="T20" fmla="*/ 87 w 87"/>
                <a:gd name="T21" fmla="*/ 44 h 86"/>
                <a:gd name="T22" fmla="*/ 86 w 87"/>
                <a:gd name="T23" fmla="*/ 52 h 86"/>
                <a:gd name="T24" fmla="*/ 83 w 87"/>
                <a:gd name="T25" fmla="*/ 60 h 86"/>
                <a:gd name="T26" fmla="*/ 80 w 87"/>
                <a:gd name="T27" fmla="*/ 67 h 86"/>
                <a:gd name="T28" fmla="*/ 75 w 87"/>
                <a:gd name="T29" fmla="*/ 74 h 86"/>
                <a:gd name="T30" fmla="*/ 68 w 87"/>
                <a:gd name="T31" fmla="*/ 78 h 86"/>
                <a:gd name="T32" fmla="*/ 61 w 87"/>
                <a:gd name="T33" fmla="*/ 82 h 86"/>
                <a:gd name="T34" fmla="*/ 53 w 87"/>
                <a:gd name="T35" fmla="*/ 85 h 86"/>
                <a:gd name="T36" fmla="*/ 44 w 87"/>
                <a:gd name="T37" fmla="*/ 86 h 86"/>
                <a:gd name="T38" fmla="*/ 44 w 87"/>
                <a:gd name="T39" fmla="*/ 86 h 86"/>
                <a:gd name="T40" fmla="*/ 35 w 87"/>
                <a:gd name="T41" fmla="*/ 85 h 86"/>
                <a:gd name="T42" fmla="*/ 28 w 87"/>
                <a:gd name="T43" fmla="*/ 82 h 86"/>
                <a:gd name="T44" fmla="*/ 20 w 87"/>
                <a:gd name="T45" fmla="*/ 78 h 86"/>
                <a:gd name="T46" fmla="*/ 14 w 87"/>
                <a:gd name="T47" fmla="*/ 74 h 86"/>
                <a:gd name="T48" fmla="*/ 9 w 87"/>
                <a:gd name="T49" fmla="*/ 67 h 86"/>
                <a:gd name="T50" fmla="*/ 4 w 87"/>
                <a:gd name="T51" fmla="*/ 60 h 86"/>
                <a:gd name="T52" fmla="*/ 2 w 87"/>
                <a:gd name="T53" fmla="*/ 52 h 86"/>
                <a:gd name="T54" fmla="*/ 0 w 87"/>
                <a:gd name="T55" fmla="*/ 44 h 86"/>
                <a:gd name="T56" fmla="*/ 0 w 87"/>
                <a:gd name="T57" fmla="*/ 44 h 86"/>
                <a:gd name="T58" fmla="*/ 2 w 87"/>
                <a:gd name="T59" fmla="*/ 34 h 86"/>
                <a:gd name="T60" fmla="*/ 4 w 87"/>
                <a:gd name="T61" fmla="*/ 26 h 86"/>
                <a:gd name="T62" fmla="*/ 9 w 87"/>
                <a:gd name="T63" fmla="*/ 19 h 86"/>
                <a:gd name="T64" fmla="*/ 14 w 87"/>
                <a:gd name="T65" fmla="*/ 12 h 86"/>
                <a:gd name="T66" fmla="*/ 20 w 87"/>
                <a:gd name="T67" fmla="*/ 8 h 86"/>
                <a:gd name="T68" fmla="*/ 28 w 87"/>
                <a:gd name="T69" fmla="*/ 4 h 86"/>
                <a:gd name="T70" fmla="*/ 35 w 87"/>
                <a:gd name="T71" fmla="*/ 1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1"/>
                  </a:lnTo>
                  <a:lnTo>
                    <a:pt x="61" y="4"/>
                  </a:lnTo>
                  <a:lnTo>
                    <a:pt x="68" y="8"/>
                  </a:lnTo>
                  <a:lnTo>
                    <a:pt x="75" y="12"/>
                  </a:lnTo>
                  <a:lnTo>
                    <a:pt x="80" y="19"/>
                  </a:lnTo>
                  <a:lnTo>
                    <a:pt x="83" y="26"/>
                  </a:lnTo>
                  <a:lnTo>
                    <a:pt x="86" y="34"/>
                  </a:lnTo>
                  <a:lnTo>
                    <a:pt x="87" y="44"/>
                  </a:lnTo>
                  <a:lnTo>
                    <a:pt x="87" y="44"/>
                  </a:lnTo>
                  <a:lnTo>
                    <a:pt x="86" y="52"/>
                  </a:lnTo>
                  <a:lnTo>
                    <a:pt x="83" y="60"/>
                  </a:lnTo>
                  <a:lnTo>
                    <a:pt x="80" y="67"/>
                  </a:lnTo>
                  <a:lnTo>
                    <a:pt x="75" y="74"/>
                  </a:lnTo>
                  <a:lnTo>
                    <a:pt x="68" y="78"/>
                  </a:lnTo>
                  <a:lnTo>
                    <a:pt x="61" y="82"/>
                  </a:lnTo>
                  <a:lnTo>
                    <a:pt x="53" y="85"/>
                  </a:lnTo>
                  <a:lnTo>
                    <a:pt x="44" y="86"/>
                  </a:lnTo>
                  <a:lnTo>
                    <a:pt x="44" y="86"/>
                  </a:lnTo>
                  <a:lnTo>
                    <a:pt x="35" y="85"/>
                  </a:lnTo>
                  <a:lnTo>
                    <a:pt x="28" y="82"/>
                  </a:lnTo>
                  <a:lnTo>
                    <a:pt x="20" y="78"/>
                  </a:lnTo>
                  <a:lnTo>
                    <a:pt x="14" y="74"/>
                  </a:lnTo>
                  <a:lnTo>
                    <a:pt x="9" y="67"/>
                  </a:lnTo>
                  <a:lnTo>
                    <a:pt x="4" y="60"/>
                  </a:lnTo>
                  <a:lnTo>
                    <a:pt x="2" y="52"/>
                  </a:lnTo>
                  <a:lnTo>
                    <a:pt x="0" y="44"/>
                  </a:lnTo>
                  <a:lnTo>
                    <a:pt x="0" y="44"/>
                  </a:lnTo>
                  <a:lnTo>
                    <a:pt x="2" y="34"/>
                  </a:lnTo>
                  <a:lnTo>
                    <a:pt x="4" y="26"/>
                  </a:lnTo>
                  <a:lnTo>
                    <a:pt x="9" y="19"/>
                  </a:lnTo>
                  <a:lnTo>
                    <a:pt x="14" y="12"/>
                  </a:lnTo>
                  <a:lnTo>
                    <a:pt x="20" y="8"/>
                  </a:lnTo>
                  <a:lnTo>
                    <a:pt x="28"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81"/>
            <p:cNvSpPr>
              <a:spLocks/>
            </p:cNvSpPr>
            <p:nvPr userDrawn="1"/>
          </p:nvSpPr>
          <p:spPr bwMode="auto">
            <a:xfrm>
              <a:off x="4044" y="1060"/>
              <a:ext cx="44" cy="43"/>
            </a:xfrm>
            <a:custGeom>
              <a:avLst/>
              <a:gdLst>
                <a:gd name="T0" fmla="*/ 44 w 87"/>
                <a:gd name="T1" fmla="*/ 0 h 87"/>
                <a:gd name="T2" fmla="*/ 44 w 87"/>
                <a:gd name="T3" fmla="*/ 0 h 87"/>
                <a:gd name="T4" fmla="*/ 53 w 87"/>
                <a:gd name="T5" fmla="*/ 1 h 87"/>
                <a:gd name="T6" fmla="*/ 61 w 87"/>
                <a:gd name="T7" fmla="*/ 4 h 87"/>
                <a:gd name="T8" fmla="*/ 68 w 87"/>
                <a:gd name="T9" fmla="*/ 8 h 87"/>
                <a:gd name="T10" fmla="*/ 75 w 87"/>
                <a:gd name="T11" fmla="*/ 12 h 87"/>
                <a:gd name="T12" fmla="*/ 80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80 w 87"/>
                <a:gd name="T27" fmla="*/ 67 h 87"/>
                <a:gd name="T28" fmla="*/ 75 w 87"/>
                <a:gd name="T29" fmla="*/ 73 h 87"/>
                <a:gd name="T30" fmla="*/ 68 w 87"/>
                <a:gd name="T31" fmla="*/ 78 h 87"/>
                <a:gd name="T32" fmla="*/ 61 w 87"/>
                <a:gd name="T33" fmla="*/ 83 h 87"/>
                <a:gd name="T34" fmla="*/ 53 w 87"/>
                <a:gd name="T35" fmla="*/ 85 h 87"/>
                <a:gd name="T36" fmla="*/ 44 w 87"/>
                <a:gd name="T37" fmla="*/ 87 h 87"/>
                <a:gd name="T38" fmla="*/ 44 w 87"/>
                <a:gd name="T39" fmla="*/ 87 h 87"/>
                <a:gd name="T40" fmla="*/ 35 w 87"/>
                <a:gd name="T41" fmla="*/ 85 h 87"/>
                <a:gd name="T42" fmla="*/ 28 w 87"/>
                <a:gd name="T43" fmla="*/ 83 h 87"/>
                <a:gd name="T44" fmla="*/ 20 w 87"/>
                <a:gd name="T45" fmla="*/ 78 h 87"/>
                <a:gd name="T46" fmla="*/ 14 w 87"/>
                <a:gd name="T47" fmla="*/ 73 h 87"/>
                <a:gd name="T48" fmla="*/ 9 w 87"/>
                <a:gd name="T49" fmla="*/ 67 h 87"/>
                <a:gd name="T50" fmla="*/ 4 w 87"/>
                <a:gd name="T51" fmla="*/ 61 h 87"/>
                <a:gd name="T52" fmla="*/ 2 w 87"/>
                <a:gd name="T53" fmla="*/ 52 h 87"/>
                <a:gd name="T54" fmla="*/ 0 w 87"/>
                <a:gd name="T55" fmla="*/ 43 h 87"/>
                <a:gd name="T56" fmla="*/ 0 w 87"/>
                <a:gd name="T57" fmla="*/ 43 h 87"/>
                <a:gd name="T58" fmla="*/ 2 w 87"/>
                <a:gd name="T59" fmla="*/ 34 h 87"/>
                <a:gd name="T60" fmla="*/ 4 w 87"/>
                <a:gd name="T61" fmla="*/ 26 h 87"/>
                <a:gd name="T62" fmla="*/ 9 w 87"/>
                <a:gd name="T63" fmla="*/ 19 h 87"/>
                <a:gd name="T64" fmla="*/ 14 w 87"/>
                <a:gd name="T65" fmla="*/ 12 h 87"/>
                <a:gd name="T66" fmla="*/ 20 w 87"/>
                <a:gd name="T67" fmla="*/ 8 h 87"/>
                <a:gd name="T68" fmla="*/ 28 w 87"/>
                <a:gd name="T69" fmla="*/ 4 h 87"/>
                <a:gd name="T70" fmla="*/ 35 w 87"/>
                <a:gd name="T71" fmla="*/ 1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1"/>
                  </a:lnTo>
                  <a:lnTo>
                    <a:pt x="61" y="4"/>
                  </a:lnTo>
                  <a:lnTo>
                    <a:pt x="68" y="8"/>
                  </a:lnTo>
                  <a:lnTo>
                    <a:pt x="75" y="12"/>
                  </a:lnTo>
                  <a:lnTo>
                    <a:pt x="80" y="19"/>
                  </a:lnTo>
                  <a:lnTo>
                    <a:pt x="83" y="26"/>
                  </a:lnTo>
                  <a:lnTo>
                    <a:pt x="86" y="34"/>
                  </a:lnTo>
                  <a:lnTo>
                    <a:pt x="87" y="43"/>
                  </a:lnTo>
                  <a:lnTo>
                    <a:pt x="87" y="43"/>
                  </a:lnTo>
                  <a:lnTo>
                    <a:pt x="86" y="52"/>
                  </a:lnTo>
                  <a:lnTo>
                    <a:pt x="83" y="61"/>
                  </a:lnTo>
                  <a:lnTo>
                    <a:pt x="80" y="67"/>
                  </a:lnTo>
                  <a:lnTo>
                    <a:pt x="75" y="73"/>
                  </a:lnTo>
                  <a:lnTo>
                    <a:pt x="68" y="78"/>
                  </a:lnTo>
                  <a:lnTo>
                    <a:pt x="61" y="83"/>
                  </a:lnTo>
                  <a:lnTo>
                    <a:pt x="53" y="85"/>
                  </a:lnTo>
                  <a:lnTo>
                    <a:pt x="44" y="87"/>
                  </a:lnTo>
                  <a:lnTo>
                    <a:pt x="44" y="87"/>
                  </a:lnTo>
                  <a:lnTo>
                    <a:pt x="35" y="85"/>
                  </a:lnTo>
                  <a:lnTo>
                    <a:pt x="28" y="83"/>
                  </a:lnTo>
                  <a:lnTo>
                    <a:pt x="20" y="78"/>
                  </a:lnTo>
                  <a:lnTo>
                    <a:pt x="14" y="73"/>
                  </a:lnTo>
                  <a:lnTo>
                    <a:pt x="9" y="67"/>
                  </a:lnTo>
                  <a:lnTo>
                    <a:pt x="4" y="61"/>
                  </a:lnTo>
                  <a:lnTo>
                    <a:pt x="2" y="52"/>
                  </a:lnTo>
                  <a:lnTo>
                    <a:pt x="0" y="43"/>
                  </a:lnTo>
                  <a:lnTo>
                    <a:pt x="0" y="43"/>
                  </a:lnTo>
                  <a:lnTo>
                    <a:pt x="2" y="34"/>
                  </a:lnTo>
                  <a:lnTo>
                    <a:pt x="4" y="26"/>
                  </a:lnTo>
                  <a:lnTo>
                    <a:pt x="9" y="19"/>
                  </a:lnTo>
                  <a:lnTo>
                    <a:pt x="14" y="12"/>
                  </a:lnTo>
                  <a:lnTo>
                    <a:pt x="20" y="8"/>
                  </a:lnTo>
                  <a:lnTo>
                    <a:pt x="28"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82"/>
            <p:cNvSpPr>
              <a:spLocks/>
            </p:cNvSpPr>
            <p:nvPr userDrawn="1"/>
          </p:nvSpPr>
          <p:spPr bwMode="auto">
            <a:xfrm>
              <a:off x="4044" y="1004"/>
              <a:ext cx="44" cy="42"/>
            </a:xfrm>
            <a:custGeom>
              <a:avLst/>
              <a:gdLst>
                <a:gd name="T0" fmla="*/ 44 w 87"/>
                <a:gd name="T1" fmla="*/ 0 h 86"/>
                <a:gd name="T2" fmla="*/ 44 w 87"/>
                <a:gd name="T3" fmla="*/ 0 h 86"/>
                <a:gd name="T4" fmla="*/ 53 w 87"/>
                <a:gd name="T5" fmla="*/ 2 h 86"/>
                <a:gd name="T6" fmla="*/ 61 w 87"/>
                <a:gd name="T7" fmla="*/ 5 h 86"/>
                <a:gd name="T8" fmla="*/ 68 w 87"/>
                <a:gd name="T9" fmla="*/ 7 h 86"/>
                <a:gd name="T10" fmla="*/ 75 w 87"/>
                <a:gd name="T11" fmla="*/ 13 h 86"/>
                <a:gd name="T12" fmla="*/ 80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80 w 87"/>
                <a:gd name="T27" fmla="*/ 68 h 86"/>
                <a:gd name="T28" fmla="*/ 75 w 87"/>
                <a:gd name="T29" fmla="*/ 73 h 86"/>
                <a:gd name="T30" fmla="*/ 68 w 87"/>
                <a:gd name="T31" fmla="*/ 79 h 86"/>
                <a:gd name="T32" fmla="*/ 61 w 87"/>
                <a:gd name="T33" fmla="*/ 83 h 86"/>
                <a:gd name="T34" fmla="*/ 53 w 87"/>
                <a:gd name="T35" fmla="*/ 86 h 86"/>
                <a:gd name="T36" fmla="*/ 44 w 87"/>
                <a:gd name="T37" fmla="*/ 86 h 86"/>
                <a:gd name="T38" fmla="*/ 44 w 87"/>
                <a:gd name="T39" fmla="*/ 86 h 86"/>
                <a:gd name="T40" fmla="*/ 35 w 87"/>
                <a:gd name="T41" fmla="*/ 86 h 86"/>
                <a:gd name="T42" fmla="*/ 28 w 87"/>
                <a:gd name="T43" fmla="*/ 83 h 86"/>
                <a:gd name="T44" fmla="*/ 20 w 87"/>
                <a:gd name="T45" fmla="*/ 79 h 86"/>
                <a:gd name="T46" fmla="*/ 14 w 87"/>
                <a:gd name="T47" fmla="*/ 73 h 86"/>
                <a:gd name="T48" fmla="*/ 9 w 87"/>
                <a:gd name="T49" fmla="*/ 68 h 86"/>
                <a:gd name="T50" fmla="*/ 4 w 87"/>
                <a:gd name="T51" fmla="*/ 59 h 86"/>
                <a:gd name="T52" fmla="*/ 2 w 87"/>
                <a:gd name="T53" fmla="*/ 53 h 86"/>
                <a:gd name="T54" fmla="*/ 0 w 87"/>
                <a:gd name="T55" fmla="*/ 43 h 86"/>
                <a:gd name="T56" fmla="*/ 0 w 87"/>
                <a:gd name="T57" fmla="*/ 43 h 86"/>
                <a:gd name="T58" fmla="*/ 2 w 87"/>
                <a:gd name="T59" fmla="*/ 35 h 86"/>
                <a:gd name="T60" fmla="*/ 4 w 87"/>
                <a:gd name="T61" fmla="*/ 27 h 86"/>
                <a:gd name="T62" fmla="*/ 9 w 87"/>
                <a:gd name="T63" fmla="*/ 20 h 86"/>
                <a:gd name="T64" fmla="*/ 14 w 87"/>
                <a:gd name="T65" fmla="*/ 13 h 86"/>
                <a:gd name="T66" fmla="*/ 20 w 87"/>
                <a:gd name="T67" fmla="*/ 7 h 86"/>
                <a:gd name="T68" fmla="*/ 28 w 87"/>
                <a:gd name="T69" fmla="*/ 5 h 86"/>
                <a:gd name="T70" fmla="*/ 35 w 87"/>
                <a:gd name="T71" fmla="*/ 2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2"/>
                  </a:lnTo>
                  <a:lnTo>
                    <a:pt x="61" y="5"/>
                  </a:lnTo>
                  <a:lnTo>
                    <a:pt x="68" y="7"/>
                  </a:lnTo>
                  <a:lnTo>
                    <a:pt x="75" y="13"/>
                  </a:lnTo>
                  <a:lnTo>
                    <a:pt x="80" y="20"/>
                  </a:lnTo>
                  <a:lnTo>
                    <a:pt x="83" y="27"/>
                  </a:lnTo>
                  <a:lnTo>
                    <a:pt x="86" y="35"/>
                  </a:lnTo>
                  <a:lnTo>
                    <a:pt x="87" y="43"/>
                  </a:lnTo>
                  <a:lnTo>
                    <a:pt x="87" y="43"/>
                  </a:lnTo>
                  <a:lnTo>
                    <a:pt x="86" y="53"/>
                  </a:lnTo>
                  <a:lnTo>
                    <a:pt x="83" y="59"/>
                  </a:lnTo>
                  <a:lnTo>
                    <a:pt x="80" y="68"/>
                  </a:lnTo>
                  <a:lnTo>
                    <a:pt x="75" y="73"/>
                  </a:lnTo>
                  <a:lnTo>
                    <a:pt x="68" y="79"/>
                  </a:lnTo>
                  <a:lnTo>
                    <a:pt x="61" y="83"/>
                  </a:lnTo>
                  <a:lnTo>
                    <a:pt x="53" y="86"/>
                  </a:lnTo>
                  <a:lnTo>
                    <a:pt x="44" y="86"/>
                  </a:lnTo>
                  <a:lnTo>
                    <a:pt x="44" y="86"/>
                  </a:lnTo>
                  <a:lnTo>
                    <a:pt x="35" y="86"/>
                  </a:lnTo>
                  <a:lnTo>
                    <a:pt x="28" y="83"/>
                  </a:lnTo>
                  <a:lnTo>
                    <a:pt x="20" y="79"/>
                  </a:lnTo>
                  <a:lnTo>
                    <a:pt x="14" y="73"/>
                  </a:lnTo>
                  <a:lnTo>
                    <a:pt x="9" y="68"/>
                  </a:lnTo>
                  <a:lnTo>
                    <a:pt x="4" y="59"/>
                  </a:lnTo>
                  <a:lnTo>
                    <a:pt x="2" y="53"/>
                  </a:lnTo>
                  <a:lnTo>
                    <a:pt x="0" y="43"/>
                  </a:lnTo>
                  <a:lnTo>
                    <a:pt x="0" y="43"/>
                  </a:lnTo>
                  <a:lnTo>
                    <a:pt x="2" y="35"/>
                  </a:lnTo>
                  <a:lnTo>
                    <a:pt x="4" y="27"/>
                  </a:lnTo>
                  <a:lnTo>
                    <a:pt x="9" y="20"/>
                  </a:lnTo>
                  <a:lnTo>
                    <a:pt x="14" y="13"/>
                  </a:lnTo>
                  <a:lnTo>
                    <a:pt x="20" y="7"/>
                  </a:lnTo>
                  <a:lnTo>
                    <a:pt x="28"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83"/>
            <p:cNvSpPr>
              <a:spLocks/>
            </p:cNvSpPr>
            <p:nvPr userDrawn="1"/>
          </p:nvSpPr>
          <p:spPr bwMode="auto">
            <a:xfrm>
              <a:off x="4044" y="947"/>
              <a:ext cx="44" cy="43"/>
            </a:xfrm>
            <a:custGeom>
              <a:avLst/>
              <a:gdLst>
                <a:gd name="T0" fmla="*/ 44 w 87"/>
                <a:gd name="T1" fmla="*/ 0 h 85"/>
                <a:gd name="T2" fmla="*/ 44 w 87"/>
                <a:gd name="T3" fmla="*/ 0 h 85"/>
                <a:gd name="T4" fmla="*/ 53 w 87"/>
                <a:gd name="T5" fmla="*/ 1 h 85"/>
                <a:gd name="T6" fmla="*/ 61 w 87"/>
                <a:gd name="T7" fmla="*/ 2 h 85"/>
                <a:gd name="T8" fmla="*/ 68 w 87"/>
                <a:gd name="T9" fmla="*/ 7 h 85"/>
                <a:gd name="T10" fmla="*/ 75 w 87"/>
                <a:gd name="T11" fmla="*/ 12 h 85"/>
                <a:gd name="T12" fmla="*/ 80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80 w 87"/>
                <a:gd name="T27" fmla="*/ 67 h 85"/>
                <a:gd name="T28" fmla="*/ 75 w 87"/>
                <a:gd name="T29" fmla="*/ 73 h 85"/>
                <a:gd name="T30" fmla="*/ 68 w 87"/>
                <a:gd name="T31" fmla="*/ 78 h 85"/>
                <a:gd name="T32" fmla="*/ 61 w 87"/>
                <a:gd name="T33" fmla="*/ 82 h 85"/>
                <a:gd name="T34" fmla="*/ 53 w 87"/>
                <a:gd name="T35" fmla="*/ 85 h 85"/>
                <a:gd name="T36" fmla="*/ 44 w 87"/>
                <a:gd name="T37" fmla="*/ 85 h 85"/>
                <a:gd name="T38" fmla="*/ 44 w 87"/>
                <a:gd name="T39" fmla="*/ 85 h 85"/>
                <a:gd name="T40" fmla="*/ 35 w 87"/>
                <a:gd name="T41" fmla="*/ 85 h 85"/>
                <a:gd name="T42" fmla="*/ 28 w 87"/>
                <a:gd name="T43" fmla="*/ 82 h 85"/>
                <a:gd name="T44" fmla="*/ 20 w 87"/>
                <a:gd name="T45" fmla="*/ 78 h 85"/>
                <a:gd name="T46" fmla="*/ 14 w 87"/>
                <a:gd name="T47" fmla="*/ 73 h 85"/>
                <a:gd name="T48" fmla="*/ 9 w 87"/>
                <a:gd name="T49" fmla="*/ 67 h 85"/>
                <a:gd name="T50" fmla="*/ 4 w 87"/>
                <a:gd name="T51" fmla="*/ 59 h 85"/>
                <a:gd name="T52" fmla="*/ 2 w 87"/>
                <a:gd name="T53" fmla="*/ 51 h 85"/>
                <a:gd name="T54" fmla="*/ 0 w 87"/>
                <a:gd name="T55" fmla="*/ 42 h 85"/>
                <a:gd name="T56" fmla="*/ 0 w 87"/>
                <a:gd name="T57" fmla="*/ 42 h 85"/>
                <a:gd name="T58" fmla="*/ 2 w 87"/>
                <a:gd name="T59" fmla="*/ 34 h 85"/>
                <a:gd name="T60" fmla="*/ 4 w 87"/>
                <a:gd name="T61" fmla="*/ 26 h 85"/>
                <a:gd name="T62" fmla="*/ 9 w 87"/>
                <a:gd name="T63" fmla="*/ 19 h 85"/>
                <a:gd name="T64" fmla="*/ 14 w 87"/>
                <a:gd name="T65" fmla="*/ 12 h 85"/>
                <a:gd name="T66" fmla="*/ 20 w 87"/>
                <a:gd name="T67" fmla="*/ 7 h 85"/>
                <a:gd name="T68" fmla="*/ 28 w 87"/>
                <a:gd name="T69" fmla="*/ 2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2"/>
                  </a:lnTo>
                  <a:lnTo>
                    <a:pt x="68" y="7"/>
                  </a:lnTo>
                  <a:lnTo>
                    <a:pt x="75" y="12"/>
                  </a:lnTo>
                  <a:lnTo>
                    <a:pt x="80" y="19"/>
                  </a:lnTo>
                  <a:lnTo>
                    <a:pt x="83" y="26"/>
                  </a:lnTo>
                  <a:lnTo>
                    <a:pt x="86" y="34"/>
                  </a:lnTo>
                  <a:lnTo>
                    <a:pt x="87" y="42"/>
                  </a:lnTo>
                  <a:lnTo>
                    <a:pt x="87" y="42"/>
                  </a:lnTo>
                  <a:lnTo>
                    <a:pt x="86" y="51"/>
                  </a:lnTo>
                  <a:lnTo>
                    <a:pt x="83" y="59"/>
                  </a:lnTo>
                  <a:lnTo>
                    <a:pt x="80" y="67"/>
                  </a:lnTo>
                  <a:lnTo>
                    <a:pt x="75" y="73"/>
                  </a:lnTo>
                  <a:lnTo>
                    <a:pt x="68" y="78"/>
                  </a:lnTo>
                  <a:lnTo>
                    <a:pt x="61" y="82"/>
                  </a:lnTo>
                  <a:lnTo>
                    <a:pt x="53" y="85"/>
                  </a:lnTo>
                  <a:lnTo>
                    <a:pt x="44" y="85"/>
                  </a:lnTo>
                  <a:lnTo>
                    <a:pt x="44" y="85"/>
                  </a:lnTo>
                  <a:lnTo>
                    <a:pt x="35" y="85"/>
                  </a:lnTo>
                  <a:lnTo>
                    <a:pt x="28" y="82"/>
                  </a:lnTo>
                  <a:lnTo>
                    <a:pt x="20" y="78"/>
                  </a:lnTo>
                  <a:lnTo>
                    <a:pt x="14" y="73"/>
                  </a:lnTo>
                  <a:lnTo>
                    <a:pt x="9" y="67"/>
                  </a:lnTo>
                  <a:lnTo>
                    <a:pt x="4" y="59"/>
                  </a:lnTo>
                  <a:lnTo>
                    <a:pt x="2" y="51"/>
                  </a:lnTo>
                  <a:lnTo>
                    <a:pt x="0" y="42"/>
                  </a:lnTo>
                  <a:lnTo>
                    <a:pt x="0" y="42"/>
                  </a:lnTo>
                  <a:lnTo>
                    <a:pt x="2" y="34"/>
                  </a:lnTo>
                  <a:lnTo>
                    <a:pt x="4" y="26"/>
                  </a:lnTo>
                  <a:lnTo>
                    <a:pt x="9" y="19"/>
                  </a:lnTo>
                  <a:lnTo>
                    <a:pt x="14" y="12"/>
                  </a:lnTo>
                  <a:lnTo>
                    <a:pt x="20" y="7"/>
                  </a:lnTo>
                  <a:lnTo>
                    <a:pt x="28" y="2"/>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4"/>
            <p:cNvSpPr>
              <a:spLocks/>
            </p:cNvSpPr>
            <p:nvPr userDrawn="1"/>
          </p:nvSpPr>
          <p:spPr bwMode="auto">
            <a:xfrm>
              <a:off x="4044" y="891"/>
              <a:ext cx="44" cy="43"/>
            </a:xfrm>
            <a:custGeom>
              <a:avLst/>
              <a:gdLst>
                <a:gd name="T0" fmla="*/ 44 w 87"/>
                <a:gd name="T1" fmla="*/ 0 h 85"/>
                <a:gd name="T2" fmla="*/ 44 w 87"/>
                <a:gd name="T3" fmla="*/ 0 h 85"/>
                <a:gd name="T4" fmla="*/ 53 w 87"/>
                <a:gd name="T5" fmla="*/ 1 h 85"/>
                <a:gd name="T6" fmla="*/ 61 w 87"/>
                <a:gd name="T7" fmla="*/ 3 h 85"/>
                <a:gd name="T8" fmla="*/ 68 w 87"/>
                <a:gd name="T9" fmla="*/ 7 h 85"/>
                <a:gd name="T10" fmla="*/ 75 w 87"/>
                <a:gd name="T11" fmla="*/ 12 h 85"/>
                <a:gd name="T12" fmla="*/ 80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80 w 87"/>
                <a:gd name="T27" fmla="*/ 67 h 85"/>
                <a:gd name="T28" fmla="*/ 75 w 87"/>
                <a:gd name="T29" fmla="*/ 73 h 85"/>
                <a:gd name="T30" fmla="*/ 68 w 87"/>
                <a:gd name="T31" fmla="*/ 78 h 85"/>
                <a:gd name="T32" fmla="*/ 61 w 87"/>
                <a:gd name="T33" fmla="*/ 83 h 85"/>
                <a:gd name="T34" fmla="*/ 53 w 87"/>
                <a:gd name="T35" fmla="*/ 85 h 85"/>
                <a:gd name="T36" fmla="*/ 44 w 87"/>
                <a:gd name="T37" fmla="*/ 85 h 85"/>
                <a:gd name="T38" fmla="*/ 44 w 87"/>
                <a:gd name="T39" fmla="*/ 85 h 85"/>
                <a:gd name="T40" fmla="*/ 35 w 87"/>
                <a:gd name="T41" fmla="*/ 85 h 85"/>
                <a:gd name="T42" fmla="*/ 28 w 87"/>
                <a:gd name="T43" fmla="*/ 83 h 85"/>
                <a:gd name="T44" fmla="*/ 20 w 87"/>
                <a:gd name="T45" fmla="*/ 78 h 85"/>
                <a:gd name="T46" fmla="*/ 14 w 87"/>
                <a:gd name="T47" fmla="*/ 73 h 85"/>
                <a:gd name="T48" fmla="*/ 9 w 87"/>
                <a:gd name="T49" fmla="*/ 67 h 85"/>
                <a:gd name="T50" fmla="*/ 4 w 87"/>
                <a:gd name="T51" fmla="*/ 59 h 85"/>
                <a:gd name="T52" fmla="*/ 2 w 87"/>
                <a:gd name="T53" fmla="*/ 51 h 85"/>
                <a:gd name="T54" fmla="*/ 0 w 87"/>
                <a:gd name="T55" fmla="*/ 43 h 85"/>
                <a:gd name="T56" fmla="*/ 0 w 87"/>
                <a:gd name="T57" fmla="*/ 43 h 85"/>
                <a:gd name="T58" fmla="*/ 2 w 87"/>
                <a:gd name="T59" fmla="*/ 34 h 85"/>
                <a:gd name="T60" fmla="*/ 4 w 87"/>
                <a:gd name="T61" fmla="*/ 26 h 85"/>
                <a:gd name="T62" fmla="*/ 9 w 87"/>
                <a:gd name="T63" fmla="*/ 19 h 85"/>
                <a:gd name="T64" fmla="*/ 14 w 87"/>
                <a:gd name="T65" fmla="*/ 12 h 85"/>
                <a:gd name="T66" fmla="*/ 20 w 87"/>
                <a:gd name="T67" fmla="*/ 7 h 85"/>
                <a:gd name="T68" fmla="*/ 28 w 87"/>
                <a:gd name="T69" fmla="*/ 3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3"/>
                  </a:lnTo>
                  <a:lnTo>
                    <a:pt x="68" y="7"/>
                  </a:lnTo>
                  <a:lnTo>
                    <a:pt x="75" y="12"/>
                  </a:lnTo>
                  <a:lnTo>
                    <a:pt x="80" y="19"/>
                  </a:lnTo>
                  <a:lnTo>
                    <a:pt x="83" y="26"/>
                  </a:lnTo>
                  <a:lnTo>
                    <a:pt x="86" y="34"/>
                  </a:lnTo>
                  <a:lnTo>
                    <a:pt x="87" y="43"/>
                  </a:lnTo>
                  <a:lnTo>
                    <a:pt x="87" y="43"/>
                  </a:lnTo>
                  <a:lnTo>
                    <a:pt x="86" y="51"/>
                  </a:lnTo>
                  <a:lnTo>
                    <a:pt x="83" y="59"/>
                  </a:lnTo>
                  <a:lnTo>
                    <a:pt x="80" y="67"/>
                  </a:lnTo>
                  <a:lnTo>
                    <a:pt x="75" y="73"/>
                  </a:lnTo>
                  <a:lnTo>
                    <a:pt x="68" y="78"/>
                  </a:lnTo>
                  <a:lnTo>
                    <a:pt x="61" y="83"/>
                  </a:lnTo>
                  <a:lnTo>
                    <a:pt x="53" y="85"/>
                  </a:lnTo>
                  <a:lnTo>
                    <a:pt x="44" y="85"/>
                  </a:lnTo>
                  <a:lnTo>
                    <a:pt x="44" y="85"/>
                  </a:lnTo>
                  <a:lnTo>
                    <a:pt x="35" y="85"/>
                  </a:lnTo>
                  <a:lnTo>
                    <a:pt x="28" y="83"/>
                  </a:lnTo>
                  <a:lnTo>
                    <a:pt x="20" y="78"/>
                  </a:lnTo>
                  <a:lnTo>
                    <a:pt x="14" y="73"/>
                  </a:lnTo>
                  <a:lnTo>
                    <a:pt x="9" y="67"/>
                  </a:lnTo>
                  <a:lnTo>
                    <a:pt x="4" y="59"/>
                  </a:lnTo>
                  <a:lnTo>
                    <a:pt x="2" y="51"/>
                  </a:lnTo>
                  <a:lnTo>
                    <a:pt x="0" y="43"/>
                  </a:lnTo>
                  <a:lnTo>
                    <a:pt x="0" y="43"/>
                  </a:lnTo>
                  <a:lnTo>
                    <a:pt x="2" y="34"/>
                  </a:lnTo>
                  <a:lnTo>
                    <a:pt x="4" y="26"/>
                  </a:lnTo>
                  <a:lnTo>
                    <a:pt x="9" y="19"/>
                  </a:lnTo>
                  <a:lnTo>
                    <a:pt x="14" y="12"/>
                  </a:lnTo>
                  <a:lnTo>
                    <a:pt x="20" y="7"/>
                  </a:lnTo>
                  <a:lnTo>
                    <a:pt x="28" y="3"/>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85"/>
            <p:cNvSpPr>
              <a:spLocks/>
            </p:cNvSpPr>
            <p:nvPr userDrawn="1"/>
          </p:nvSpPr>
          <p:spPr bwMode="auto">
            <a:xfrm>
              <a:off x="3875" y="1342"/>
              <a:ext cx="43" cy="43"/>
            </a:xfrm>
            <a:custGeom>
              <a:avLst/>
              <a:gdLst>
                <a:gd name="T0" fmla="*/ 42 w 86"/>
                <a:gd name="T1" fmla="*/ 0 h 85"/>
                <a:gd name="T2" fmla="*/ 42 w 86"/>
                <a:gd name="T3" fmla="*/ 0 h 85"/>
                <a:gd name="T4" fmla="*/ 52 w 86"/>
                <a:gd name="T5" fmla="*/ 0 h 85"/>
                <a:gd name="T6" fmla="*/ 59 w 86"/>
                <a:gd name="T7" fmla="*/ 3 h 85"/>
                <a:gd name="T8" fmla="*/ 67 w 86"/>
                <a:gd name="T9" fmla="*/ 7 h 85"/>
                <a:gd name="T10" fmla="*/ 73 w 86"/>
                <a:gd name="T11" fmla="*/ 12 h 85"/>
                <a:gd name="T12" fmla="*/ 78 w 86"/>
                <a:gd name="T13" fmla="*/ 18 h 85"/>
                <a:gd name="T14" fmla="*/ 82 w 86"/>
                <a:gd name="T15" fmla="*/ 26 h 85"/>
                <a:gd name="T16" fmla="*/ 85 w 86"/>
                <a:gd name="T17" fmla="*/ 34 h 85"/>
                <a:gd name="T18" fmla="*/ 86 w 86"/>
                <a:gd name="T19" fmla="*/ 42 h 85"/>
                <a:gd name="T20" fmla="*/ 86 w 86"/>
                <a:gd name="T21" fmla="*/ 42 h 85"/>
                <a:gd name="T22" fmla="*/ 85 w 86"/>
                <a:gd name="T23" fmla="*/ 51 h 85"/>
                <a:gd name="T24" fmla="*/ 82 w 86"/>
                <a:gd name="T25" fmla="*/ 59 h 85"/>
                <a:gd name="T26" fmla="*/ 78 w 86"/>
                <a:gd name="T27" fmla="*/ 66 h 85"/>
                <a:gd name="T28" fmla="*/ 73 w 86"/>
                <a:gd name="T29" fmla="*/ 73 h 85"/>
                <a:gd name="T30" fmla="*/ 67 w 86"/>
                <a:gd name="T31" fmla="*/ 78 h 85"/>
                <a:gd name="T32" fmla="*/ 59 w 86"/>
                <a:gd name="T33" fmla="*/ 82 h 85"/>
                <a:gd name="T34" fmla="*/ 52 w 86"/>
                <a:gd name="T35" fmla="*/ 84 h 85"/>
                <a:gd name="T36" fmla="*/ 42 w 86"/>
                <a:gd name="T37" fmla="*/ 85 h 85"/>
                <a:gd name="T38" fmla="*/ 42 w 86"/>
                <a:gd name="T39" fmla="*/ 85 h 85"/>
                <a:gd name="T40" fmla="*/ 34 w 86"/>
                <a:gd name="T41" fmla="*/ 84 h 85"/>
                <a:gd name="T42" fmla="*/ 26 w 86"/>
                <a:gd name="T43" fmla="*/ 82 h 85"/>
                <a:gd name="T44" fmla="*/ 19 w 86"/>
                <a:gd name="T45" fmla="*/ 78 h 85"/>
                <a:gd name="T46" fmla="*/ 12 w 86"/>
                <a:gd name="T47" fmla="*/ 73 h 85"/>
                <a:gd name="T48" fmla="*/ 6 w 86"/>
                <a:gd name="T49" fmla="*/ 66 h 85"/>
                <a:gd name="T50" fmla="*/ 4 w 86"/>
                <a:gd name="T51" fmla="*/ 59 h 85"/>
                <a:gd name="T52" fmla="*/ 1 w 86"/>
                <a:gd name="T53" fmla="*/ 51 h 85"/>
                <a:gd name="T54" fmla="*/ 0 w 86"/>
                <a:gd name="T55" fmla="*/ 42 h 85"/>
                <a:gd name="T56" fmla="*/ 0 w 86"/>
                <a:gd name="T57" fmla="*/ 42 h 85"/>
                <a:gd name="T58" fmla="*/ 1 w 86"/>
                <a:gd name="T59" fmla="*/ 34 h 85"/>
                <a:gd name="T60" fmla="*/ 4 w 86"/>
                <a:gd name="T61" fmla="*/ 26 h 85"/>
                <a:gd name="T62" fmla="*/ 6 w 86"/>
                <a:gd name="T63" fmla="*/ 18 h 85"/>
                <a:gd name="T64" fmla="*/ 12 w 86"/>
                <a:gd name="T65" fmla="*/ 12 h 85"/>
                <a:gd name="T66" fmla="*/ 19 w 86"/>
                <a:gd name="T67" fmla="*/ 7 h 85"/>
                <a:gd name="T68" fmla="*/ 26 w 86"/>
                <a:gd name="T69" fmla="*/ 3 h 85"/>
                <a:gd name="T70" fmla="*/ 34 w 86"/>
                <a:gd name="T71" fmla="*/ 0 h 85"/>
                <a:gd name="T72" fmla="*/ 42 w 86"/>
                <a:gd name="T73" fmla="*/ 0 h 85"/>
                <a:gd name="T74" fmla="*/ 42 w 86"/>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5">
                  <a:moveTo>
                    <a:pt x="42" y="0"/>
                  </a:moveTo>
                  <a:lnTo>
                    <a:pt x="42" y="0"/>
                  </a:lnTo>
                  <a:lnTo>
                    <a:pt x="52" y="0"/>
                  </a:lnTo>
                  <a:lnTo>
                    <a:pt x="59" y="3"/>
                  </a:lnTo>
                  <a:lnTo>
                    <a:pt x="67" y="7"/>
                  </a:lnTo>
                  <a:lnTo>
                    <a:pt x="73" y="12"/>
                  </a:lnTo>
                  <a:lnTo>
                    <a:pt x="78" y="18"/>
                  </a:lnTo>
                  <a:lnTo>
                    <a:pt x="82" y="26"/>
                  </a:lnTo>
                  <a:lnTo>
                    <a:pt x="85" y="34"/>
                  </a:lnTo>
                  <a:lnTo>
                    <a:pt x="86" y="42"/>
                  </a:lnTo>
                  <a:lnTo>
                    <a:pt x="86" y="42"/>
                  </a:lnTo>
                  <a:lnTo>
                    <a:pt x="85" y="51"/>
                  </a:lnTo>
                  <a:lnTo>
                    <a:pt x="82" y="59"/>
                  </a:lnTo>
                  <a:lnTo>
                    <a:pt x="78" y="66"/>
                  </a:lnTo>
                  <a:lnTo>
                    <a:pt x="73" y="73"/>
                  </a:lnTo>
                  <a:lnTo>
                    <a:pt x="67" y="78"/>
                  </a:lnTo>
                  <a:lnTo>
                    <a:pt x="59" y="82"/>
                  </a:lnTo>
                  <a:lnTo>
                    <a:pt x="52" y="84"/>
                  </a:lnTo>
                  <a:lnTo>
                    <a:pt x="42" y="85"/>
                  </a:lnTo>
                  <a:lnTo>
                    <a:pt x="42" y="85"/>
                  </a:lnTo>
                  <a:lnTo>
                    <a:pt x="34" y="84"/>
                  </a:lnTo>
                  <a:lnTo>
                    <a:pt x="26" y="82"/>
                  </a:lnTo>
                  <a:lnTo>
                    <a:pt x="19" y="78"/>
                  </a:lnTo>
                  <a:lnTo>
                    <a:pt x="12" y="73"/>
                  </a:lnTo>
                  <a:lnTo>
                    <a:pt x="6" y="66"/>
                  </a:lnTo>
                  <a:lnTo>
                    <a:pt x="4" y="59"/>
                  </a:lnTo>
                  <a:lnTo>
                    <a:pt x="1" y="51"/>
                  </a:lnTo>
                  <a:lnTo>
                    <a:pt x="0" y="42"/>
                  </a:lnTo>
                  <a:lnTo>
                    <a:pt x="0" y="42"/>
                  </a:lnTo>
                  <a:lnTo>
                    <a:pt x="1" y="34"/>
                  </a:lnTo>
                  <a:lnTo>
                    <a:pt x="4" y="26"/>
                  </a:lnTo>
                  <a:lnTo>
                    <a:pt x="6" y="18"/>
                  </a:lnTo>
                  <a:lnTo>
                    <a:pt x="12" y="12"/>
                  </a:lnTo>
                  <a:lnTo>
                    <a:pt x="19" y="7"/>
                  </a:lnTo>
                  <a:lnTo>
                    <a:pt x="26" y="3"/>
                  </a:lnTo>
                  <a:lnTo>
                    <a:pt x="34" y="0"/>
                  </a:lnTo>
                  <a:lnTo>
                    <a:pt x="42" y="0"/>
                  </a:lnTo>
                  <a:lnTo>
                    <a:pt x="42" y="0"/>
                  </a:lnTo>
                  <a:close/>
                </a:path>
              </a:pathLst>
            </a:custGeom>
            <a:solidFill>
              <a:srgbClr val="8ED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86"/>
            <p:cNvSpPr>
              <a:spLocks/>
            </p:cNvSpPr>
            <p:nvPr userDrawn="1"/>
          </p:nvSpPr>
          <p:spPr bwMode="auto">
            <a:xfrm>
              <a:off x="3875" y="1060"/>
              <a:ext cx="43" cy="43"/>
            </a:xfrm>
            <a:custGeom>
              <a:avLst/>
              <a:gdLst>
                <a:gd name="T0" fmla="*/ 42 w 86"/>
                <a:gd name="T1" fmla="*/ 0 h 87"/>
                <a:gd name="T2" fmla="*/ 42 w 86"/>
                <a:gd name="T3" fmla="*/ 0 h 87"/>
                <a:gd name="T4" fmla="*/ 52 w 86"/>
                <a:gd name="T5" fmla="*/ 1 h 87"/>
                <a:gd name="T6" fmla="*/ 59 w 86"/>
                <a:gd name="T7" fmla="*/ 4 h 87"/>
                <a:gd name="T8" fmla="*/ 67 w 86"/>
                <a:gd name="T9" fmla="*/ 8 h 87"/>
                <a:gd name="T10" fmla="*/ 73 w 86"/>
                <a:gd name="T11" fmla="*/ 12 h 87"/>
                <a:gd name="T12" fmla="*/ 78 w 86"/>
                <a:gd name="T13" fmla="*/ 19 h 87"/>
                <a:gd name="T14" fmla="*/ 82 w 86"/>
                <a:gd name="T15" fmla="*/ 26 h 87"/>
                <a:gd name="T16" fmla="*/ 85 w 86"/>
                <a:gd name="T17" fmla="*/ 34 h 87"/>
                <a:gd name="T18" fmla="*/ 86 w 86"/>
                <a:gd name="T19" fmla="*/ 43 h 87"/>
                <a:gd name="T20" fmla="*/ 86 w 86"/>
                <a:gd name="T21" fmla="*/ 43 h 87"/>
                <a:gd name="T22" fmla="*/ 85 w 86"/>
                <a:gd name="T23" fmla="*/ 52 h 87"/>
                <a:gd name="T24" fmla="*/ 82 w 86"/>
                <a:gd name="T25" fmla="*/ 61 h 87"/>
                <a:gd name="T26" fmla="*/ 78 w 86"/>
                <a:gd name="T27" fmla="*/ 67 h 87"/>
                <a:gd name="T28" fmla="*/ 73 w 86"/>
                <a:gd name="T29" fmla="*/ 73 h 87"/>
                <a:gd name="T30" fmla="*/ 67 w 86"/>
                <a:gd name="T31" fmla="*/ 78 h 87"/>
                <a:gd name="T32" fmla="*/ 59 w 86"/>
                <a:gd name="T33" fmla="*/ 83 h 87"/>
                <a:gd name="T34" fmla="*/ 52 w 86"/>
                <a:gd name="T35" fmla="*/ 85 h 87"/>
                <a:gd name="T36" fmla="*/ 42 w 86"/>
                <a:gd name="T37" fmla="*/ 87 h 87"/>
                <a:gd name="T38" fmla="*/ 42 w 86"/>
                <a:gd name="T39" fmla="*/ 87 h 87"/>
                <a:gd name="T40" fmla="*/ 34 w 86"/>
                <a:gd name="T41" fmla="*/ 85 h 87"/>
                <a:gd name="T42" fmla="*/ 26 w 86"/>
                <a:gd name="T43" fmla="*/ 83 h 87"/>
                <a:gd name="T44" fmla="*/ 19 w 86"/>
                <a:gd name="T45" fmla="*/ 78 h 87"/>
                <a:gd name="T46" fmla="*/ 12 w 86"/>
                <a:gd name="T47" fmla="*/ 73 h 87"/>
                <a:gd name="T48" fmla="*/ 6 w 86"/>
                <a:gd name="T49" fmla="*/ 67 h 87"/>
                <a:gd name="T50" fmla="*/ 4 w 86"/>
                <a:gd name="T51" fmla="*/ 61 h 87"/>
                <a:gd name="T52" fmla="*/ 1 w 86"/>
                <a:gd name="T53" fmla="*/ 52 h 87"/>
                <a:gd name="T54" fmla="*/ 0 w 86"/>
                <a:gd name="T55" fmla="*/ 43 h 87"/>
                <a:gd name="T56" fmla="*/ 0 w 86"/>
                <a:gd name="T57" fmla="*/ 43 h 87"/>
                <a:gd name="T58" fmla="*/ 1 w 86"/>
                <a:gd name="T59" fmla="*/ 34 h 87"/>
                <a:gd name="T60" fmla="*/ 4 w 86"/>
                <a:gd name="T61" fmla="*/ 26 h 87"/>
                <a:gd name="T62" fmla="*/ 6 w 86"/>
                <a:gd name="T63" fmla="*/ 19 h 87"/>
                <a:gd name="T64" fmla="*/ 12 w 86"/>
                <a:gd name="T65" fmla="*/ 12 h 87"/>
                <a:gd name="T66" fmla="*/ 19 w 86"/>
                <a:gd name="T67" fmla="*/ 8 h 87"/>
                <a:gd name="T68" fmla="*/ 26 w 86"/>
                <a:gd name="T69" fmla="*/ 4 h 87"/>
                <a:gd name="T70" fmla="*/ 34 w 86"/>
                <a:gd name="T71" fmla="*/ 1 h 87"/>
                <a:gd name="T72" fmla="*/ 42 w 86"/>
                <a:gd name="T73" fmla="*/ 0 h 87"/>
                <a:gd name="T74" fmla="*/ 42 w 86"/>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7">
                  <a:moveTo>
                    <a:pt x="42" y="0"/>
                  </a:moveTo>
                  <a:lnTo>
                    <a:pt x="42" y="0"/>
                  </a:lnTo>
                  <a:lnTo>
                    <a:pt x="52" y="1"/>
                  </a:lnTo>
                  <a:lnTo>
                    <a:pt x="59" y="4"/>
                  </a:lnTo>
                  <a:lnTo>
                    <a:pt x="67" y="8"/>
                  </a:lnTo>
                  <a:lnTo>
                    <a:pt x="73" y="12"/>
                  </a:lnTo>
                  <a:lnTo>
                    <a:pt x="78" y="19"/>
                  </a:lnTo>
                  <a:lnTo>
                    <a:pt x="82" y="26"/>
                  </a:lnTo>
                  <a:lnTo>
                    <a:pt x="85" y="34"/>
                  </a:lnTo>
                  <a:lnTo>
                    <a:pt x="86" y="43"/>
                  </a:lnTo>
                  <a:lnTo>
                    <a:pt x="86" y="43"/>
                  </a:lnTo>
                  <a:lnTo>
                    <a:pt x="85" y="52"/>
                  </a:lnTo>
                  <a:lnTo>
                    <a:pt x="82" y="61"/>
                  </a:lnTo>
                  <a:lnTo>
                    <a:pt x="78" y="67"/>
                  </a:lnTo>
                  <a:lnTo>
                    <a:pt x="73" y="73"/>
                  </a:lnTo>
                  <a:lnTo>
                    <a:pt x="67" y="78"/>
                  </a:lnTo>
                  <a:lnTo>
                    <a:pt x="59" y="83"/>
                  </a:lnTo>
                  <a:lnTo>
                    <a:pt x="52" y="85"/>
                  </a:lnTo>
                  <a:lnTo>
                    <a:pt x="42" y="87"/>
                  </a:lnTo>
                  <a:lnTo>
                    <a:pt x="42" y="87"/>
                  </a:lnTo>
                  <a:lnTo>
                    <a:pt x="34" y="85"/>
                  </a:lnTo>
                  <a:lnTo>
                    <a:pt x="26" y="83"/>
                  </a:lnTo>
                  <a:lnTo>
                    <a:pt x="19" y="78"/>
                  </a:lnTo>
                  <a:lnTo>
                    <a:pt x="12" y="73"/>
                  </a:lnTo>
                  <a:lnTo>
                    <a:pt x="6" y="67"/>
                  </a:lnTo>
                  <a:lnTo>
                    <a:pt x="4" y="61"/>
                  </a:lnTo>
                  <a:lnTo>
                    <a:pt x="1" y="52"/>
                  </a:lnTo>
                  <a:lnTo>
                    <a:pt x="0" y="43"/>
                  </a:lnTo>
                  <a:lnTo>
                    <a:pt x="0" y="43"/>
                  </a:lnTo>
                  <a:lnTo>
                    <a:pt x="1" y="34"/>
                  </a:lnTo>
                  <a:lnTo>
                    <a:pt x="4" y="26"/>
                  </a:lnTo>
                  <a:lnTo>
                    <a:pt x="6" y="19"/>
                  </a:lnTo>
                  <a:lnTo>
                    <a:pt x="12" y="12"/>
                  </a:lnTo>
                  <a:lnTo>
                    <a:pt x="19" y="8"/>
                  </a:lnTo>
                  <a:lnTo>
                    <a:pt x="26" y="4"/>
                  </a:lnTo>
                  <a:lnTo>
                    <a:pt x="34" y="1"/>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87"/>
            <p:cNvSpPr>
              <a:spLocks/>
            </p:cNvSpPr>
            <p:nvPr userDrawn="1"/>
          </p:nvSpPr>
          <p:spPr bwMode="auto">
            <a:xfrm>
              <a:off x="3875" y="1004"/>
              <a:ext cx="43" cy="42"/>
            </a:xfrm>
            <a:custGeom>
              <a:avLst/>
              <a:gdLst>
                <a:gd name="T0" fmla="*/ 42 w 86"/>
                <a:gd name="T1" fmla="*/ 0 h 86"/>
                <a:gd name="T2" fmla="*/ 42 w 86"/>
                <a:gd name="T3" fmla="*/ 0 h 86"/>
                <a:gd name="T4" fmla="*/ 52 w 86"/>
                <a:gd name="T5" fmla="*/ 2 h 86"/>
                <a:gd name="T6" fmla="*/ 59 w 86"/>
                <a:gd name="T7" fmla="*/ 5 h 86"/>
                <a:gd name="T8" fmla="*/ 67 w 86"/>
                <a:gd name="T9" fmla="*/ 7 h 86"/>
                <a:gd name="T10" fmla="*/ 73 w 86"/>
                <a:gd name="T11" fmla="*/ 13 h 86"/>
                <a:gd name="T12" fmla="*/ 78 w 86"/>
                <a:gd name="T13" fmla="*/ 20 h 86"/>
                <a:gd name="T14" fmla="*/ 82 w 86"/>
                <a:gd name="T15" fmla="*/ 27 h 86"/>
                <a:gd name="T16" fmla="*/ 85 w 86"/>
                <a:gd name="T17" fmla="*/ 35 h 86"/>
                <a:gd name="T18" fmla="*/ 86 w 86"/>
                <a:gd name="T19" fmla="*/ 43 h 86"/>
                <a:gd name="T20" fmla="*/ 86 w 86"/>
                <a:gd name="T21" fmla="*/ 43 h 86"/>
                <a:gd name="T22" fmla="*/ 85 w 86"/>
                <a:gd name="T23" fmla="*/ 53 h 86"/>
                <a:gd name="T24" fmla="*/ 82 w 86"/>
                <a:gd name="T25" fmla="*/ 59 h 86"/>
                <a:gd name="T26" fmla="*/ 78 w 86"/>
                <a:gd name="T27" fmla="*/ 68 h 86"/>
                <a:gd name="T28" fmla="*/ 73 w 86"/>
                <a:gd name="T29" fmla="*/ 73 h 86"/>
                <a:gd name="T30" fmla="*/ 67 w 86"/>
                <a:gd name="T31" fmla="*/ 79 h 86"/>
                <a:gd name="T32" fmla="*/ 59 w 86"/>
                <a:gd name="T33" fmla="*/ 83 h 86"/>
                <a:gd name="T34" fmla="*/ 52 w 86"/>
                <a:gd name="T35" fmla="*/ 86 h 86"/>
                <a:gd name="T36" fmla="*/ 42 w 86"/>
                <a:gd name="T37" fmla="*/ 86 h 86"/>
                <a:gd name="T38" fmla="*/ 42 w 86"/>
                <a:gd name="T39" fmla="*/ 86 h 86"/>
                <a:gd name="T40" fmla="*/ 34 w 86"/>
                <a:gd name="T41" fmla="*/ 86 h 86"/>
                <a:gd name="T42" fmla="*/ 26 w 86"/>
                <a:gd name="T43" fmla="*/ 83 h 86"/>
                <a:gd name="T44" fmla="*/ 19 w 86"/>
                <a:gd name="T45" fmla="*/ 79 h 86"/>
                <a:gd name="T46" fmla="*/ 12 w 86"/>
                <a:gd name="T47" fmla="*/ 73 h 86"/>
                <a:gd name="T48" fmla="*/ 6 w 86"/>
                <a:gd name="T49" fmla="*/ 68 h 86"/>
                <a:gd name="T50" fmla="*/ 4 w 86"/>
                <a:gd name="T51" fmla="*/ 59 h 86"/>
                <a:gd name="T52" fmla="*/ 1 w 86"/>
                <a:gd name="T53" fmla="*/ 53 h 86"/>
                <a:gd name="T54" fmla="*/ 0 w 86"/>
                <a:gd name="T55" fmla="*/ 43 h 86"/>
                <a:gd name="T56" fmla="*/ 0 w 86"/>
                <a:gd name="T57" fmla="*/ 43 h 86"/>
                <a:gd name="T58" fmla="*/ 1 w 86"/>
                <a:gd name="T59" fmla="*/ 35 h 86"/>
                <a:gd name="T60" fmla="*/ 4 w 86"/>
                <a:gd name="T61" fmla="*/ 27 h 86"/>
                <a:gd name="T62" fmla="*/ 6 w 86"/>
                <a:gd name="T63" fmla="*/ 20 h 86"/>
                <a:gd name="T64" fmla="*/ 12 w 86"/>
                <a:gd name="T65" fmla="*/ 13 h 86"/>
                <a:gd name="T66" fmla="*/ 19 w 86"/>
                <a:gd name="T67" fmla="*/ 7 h 86"/>
                <a:gd name="T68" fmla="*/ 26 w 86"/>
                <a:gd name="T69" fmla="*/ 5 h 86"/>
                <a:gd name="T70" fmla="*/ 34 w 86"/>
                <a:gd name="T71" fmla="*/ 2 h 86"/>
                <a:gd name="T72" fmla="*/ 42 w 86"/>
                <a:gd name="T73" fmla="*/ 0 h 86"/>
                <a:gd name="T74" fmla="*/ 42 w 86"/>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6">
                  <a:moveTo>
                    <a:pt x="42" y="0"/>
                  </a:moveTo>
                  <a:lnTo>
                    <a:pt x="42" y="0"/>
                  </a:lnTo>
                  <a:lnTo>
                    <a:pt x="52" y="2"/>
                  </a:lnTo>
                  <a:lnTo>
                    <a:pt x="59" y="5"/>
                  </a:lnTo>
                  <a:lnTo>
                    <a:pt x="67" y="7"/>
                  </a:lnTo>
                  <a:lnTo>
                    <a:pt x="73" y="13"/>
                  </a:lnTo>
                  <a:lnTo>
                    <a:pt x="78" y="20"/>
                  </a:lnTo>
                  <a:lnTo>
                    <a:pt x="82" y="27"/>
                  </a:lnTo>
                  <a:lnTo>
                    <a:pt x="85" y="35"/>
                  </a:lnTo>
                  <a:lnTo>
                    <a:pt x="86" y="43"/>
                  </a:lnTo>
                  <a:lnTo>
                    <a:pt x="86" y="43"/>
                  </a:lnTo>
                  <a:lnTo>
                    <a:pt x="85" y="53"/>
                  </a:lnTo>
                  <a:lnTo>
                    <a:pt x="82" y="59"/>
                  </a:lnTo>
                  <a:lnTo>
                    <a:pt x="78" y="68"/>
                  </a:lnTo>
                  <a:lnTo>
                    <a:pt x="73" y="73"/>
                  </a:lnTo>
                  <a:lnTo>
                    <a:pt x="67" y="79"/>
                  </a:lnTo>
                  <a:lnTo>
                    <a:pt x="59" y="83"/>
                  </a:lnTo>
                  <a:lnTo>
                    <a:pt x="52" y="86"/>
                  </a:lnTo>
                  <a:lnTo>
                    <a:pt x="42" y="86"/>
                  </a:lnTo>
                  <a:lnTo>
                    <a:pt x="42" y="86"/>
                  </a:lnTo>
                  <a:lnTo>
                    <a:pt x="34" y="86"/>
                  </a:lnTo>
                  <a:lnTo>
                    <a:pt x="26" y="83"/>
                  </a:lnTo>
                  <a:lnTo>
                    <a:pt x="19" y="79"/>
                  </a:lnTo>
                  <a:lnTo>
                    <a:pt x="12" y="73"/>
                  </a:lnTo>
                  <a:lnTo>
                    <a:pt x="6" y="68"/>
                  </a:lnTo>
                  <a:lnTo>
                    <a:pt x="4" y="59"/>
                  </a:lnTo>
                  <a:lnTo>
                    <a:pt x="1" y="53"/>
                  </a:lnTo>
                  <a:lnTo>
                    <a:pt x="0" y="43"/>
                  </a:lnTo>
                  <a:lnTo>
                    <a:pt x="0" y="43"/>
                  </a:lnTo>
                  <a:lnTo>
                    <a:pt x="1" y="35"/>
                  </a:lnTo>
                  <a:lnTo>
                    <a:pt x="4" y="27"/>
                  </a:lnTo>
                  <a:lnTo>
                    <a:pt x="6" y="20"/>
                  </a:lnTo>
                  <a:lnTo>
                    <a:pt x="12" y="13"/>
                  </a:lnTo>
                  <a:lnTo>
                    <a:pt x="19" y="7"/>
                  </a:lnTo>
                  <a:lnTo>
                    <a:pt x="26" y="5"/>
                  </a:lnTo>
                  <a:lnTo>
                    <a:pt x="34" y="2"/>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88"/>
            <p:cNvSpPr>
              <a:spLocks/>
            </p:cNvSpPr>
            <p:nvPr userDrawn="1"/>
          </p:nvSpPr>
          <p:spPr bwMode="auto">
            <a:xfrm>
              <a:off x="3875" y="947"/>
              <a:ext cx="43" cy="43"/>
            </a:xfrm>
            <a:custGeom>
              <a:avLst/>
              <a:gdLst>
                <a:gd name="T0" fmla="*/ 42 w 86"/>
                <a:gd name="T1" fmla="*/ 0 h 85"/>
                <a:gd name="T2" fmla="*/ 42 w 86"/>
                <a:gd name="T3" fmla="*/ 0 h 85"/>
                <a:gd name="T4" fmla="*/ 52 w 86"/>
                <a:gd name="T5" fmla="*/ 1 h 85"/>
                <a:gd name="T6" fmla="*/ 59 w 86"/>
                <a:gd name="T7" fmla="*/ 2 h 85"/>
                <a:gd name="T8" fmla="*/ 67 w 86"/>
                <a:gd name="T9" fmla="*/ 7 h 85"/>
                <a:gd name="T10" fmla="*/ 73 w 86"/>
                <a:gd name="T11" fmla="*/ 12 h 85"/>
                <a:gd name="T12" fmla="*/ 78 w 86"/>
                <a:gd name="T13" fmla="*/ 19 h 85"/>
                <a:gd name="T14" fmla="*/ 82 w 86"/>
                <a:gd name="T15" fmla="*/ 26 h 85"/>
                <a:gd name="T16" fmla="*/ 85 w 86"/>
                <a:gd name="T17" fmla="*/ 34 h 85"/>
                <a:gd name="T18" fmla="*/ 86 w 86"/>
                <a:gd name="T19" fmla="*/ 42 h 85"/>
                <a:gd name="T20" fmla="*/ 86 w 86"/>
                <a:gd name="T21" fmla="*/ 42 h 85"/>
                <a:gd name="T22" fmla="*/ 85 w 86"/>
                <a:gd name="T23" fmla="*/ 51 h 85"/>
                <a:gd name="T24" fmla="*/ 82 w 86"/>
                <a:gd name="T25" fmla="*/ 59 h 85"/>
                <a:gd name="T26" fmla="*/ 78 w 86"/>
                <a:gd name="T27" fmla="*/ 67 h 85"/>
                <a:gd name="T28" fmla="*/ 73 w 86"/>
                <a:gd name="T29" fmla="*/ 73 h 85"/>
                <a:gd name="T30" fmla="*/ 67 w 86"/>
                <a:gd name="T31" fmla="*/ 78 h 85"/>
                <a:gd name="T32" fmla="*/ 59 w 86"/>
                <a:gd name="T33" fmla="*/ 82 h 85"/>
                <a:gd name="T34" fmla="*/ 52 w 86"/>
                <a:gd name="T35" fmla="*/ 85 h 85"/>
                <a:gd name="T36" fmla="*/ 42 w 86"/>
                <a:gd name="T37" fmla="*/ 85 h 85"/>
                <a:gd name="T38" fmla="*/ 42 w 86"/>
                <a:gd name="T39" fmla="*/ 85 h 85"/>
                <a:gd name="T40" fmla="*/ 34 w 86"/>
                <a:gd name="T41" fmla="*/ 85 h 85"/>
                <a:gd name="T42" fmla="*/ 26 w 86"/>
                <a:gd name="T43" fmla="*/ 82 h 85"/>
                <a:gd name="T44" fmla="*/ 19 w 86"/>
                <a:gd name="T45" fmla="*/ 78 h 85"/>
                <a:gd name="T46" fmla="*/ 12 w 86"/>
                <a:gd name="T47" fmla="*/ 73 h 85"/>
                <a:gd name="T48" fmla="*/ 6 w 86"/>
                <a:gd name="T49" fmla="*/ 67 h 85"/>
                <a:gd name="T50" fmla="*/ 4 w 86"/>
                <a:gd name="T51" fmla="*/ 59 h 85"/>
                <a:gd name="T52" fmla="*/ 1 w 86"/>
                <a:gd name="T53" fmla="*/ 51 h 85"/>
                <a:gd name="T54" fmla="*/ 0 w 86"/>
                <a:gd name="T55" fmla="*/ 42 h 85"/>
                <a:gd name="T56" fmla="*/ 0 w 86"/>
                <a:gd name="T57" fmla="*/ 42 h 85"/>
                <a:gd name="T58" fmla="*/ 1 w 86"/>
                <a:gd name="T59" fmla="*/ 34 h 85"/>
                <a:gd name="T60" fmla="*/ 4 w 86"/>
                <a:gd name="T61" fmla="*/ 26 h 85"/>
                <a:gd name="T62" fmla="*/ 6 w 86"/>
                <a:gd name="T63" fmla="*/ 19 h 85"/>
                <a:gd name="T64" fmla="*/ 12 w 86"/>
                <a:gd name="T65" fmla="*/ 12 h 85"/>
                <a:gd name="T66" fmla="*/ 19 w 86"/>
                <a:gd name="T67" fmla="*/ 7 h 85"/>
                <a:gd name="T68" fmla="*/ 26 w 86"/>
                <a:gd name="T69" fmla="*/ 2 h 85"/>
                <a:gd name="T70" fmla="*/ 34 w 86"/>
                <a:gd name="T71" fmla="*/ 1 h 85"/>
                <a:gd name="T72" fmla="*/ 42 w 86"/>
                <a:gd name="T73" fmla="*/ 0 h 85"/>
                <a:gd name="T74" fmla="*/ 42 w 86"/>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5">
                  <a:moveTo>
                    <a:pt x="42" y="0"/>
                  </a:moveTo>
                  <a:lnTo>
                    <a:pt x="42" y="0"/>
                  </a:lnTo>
                  <a:lnTo>
                    <a:pt x="52" y="1"/>
                  </a:lnTo>
                  <a:lnTo>
                    <a:pt x="59" y="2"/>
                  </a:lnTo>
                  <a:lnTo>
                    <a:pt x="67" y="7"/>
                  </a:lnTo>
                  <a:lnTo>
                    <a:pt x="73" y="12"/>
                  </a:lnTo>
                  <a:lnTo>
                    <a:pt x="78" y="19"/>
                  </a:lnTo>
                  <a:lnTo>
                    <a:pt x="82" y="26"/>
                  </a:lnTo>
                  <a:lnTo>
                    <a:pt x="85" y="34"/>
                  </a:lnTo>
                  <a:lnTo>
                    <a:pt x="86" y="42"/>
                  </a:lnTo>
                  <a:lnTo>
                    <a:pt x="86" y="42"/>
                  </a:lnTo>
                  <a:lnTo>
                    <a:pt x="85" y="51"/>
                  </a:lnTo>
                  <a:lnTo>
                    <a:pt x="82" y="59"/>
                  </a:lnTo>
                  <a:lnTo>
                    <a:pt x="78" y="67"/>
                  </a:lnTo>
                  <a:lnTo>
                    <a:pt x="73" y="73"/>
                  </a:lnTo>
                  <a:lnTo>
                    <a:pt x="67" y="78"/>
                  </a:lnTo>
                  <a:lnTo>
                    <a:pt x="59" y="82"/>
                  </a:lnTo>
                  <a:lnTo>
                    <a:pt x="52" y="85"/>
                  </a:lnTo>
                  <a:lnTo>
                    <a:pt x="42" y="85"/>
                  </a:lnTo>
                  <a:lnTo>
                    <a:pt x="42" y="85"/>
                  </a:lnTo>
                  <a:lnTo>
                    <a:pt x="34" y="85"/>
                  </a:lnTo>
                  <a:lnTo>
                    <a:pt x="26" y="82"/>
                  </a:lnTo>
                  <a:lnTo>
                    <a:pt x="19" y="78"/>
                  </a:lnTo>
                  <a:lnTo>
                    <a:pt x="12" y="73"/>
                  </a:lnTo>
                  <a:lnTo>
                    <a:pt x="6" y="67"/>
                  </a:lnTo>
                  <a:lnTo>
                    <a:pt x="4" y="59"/>
                  </a:lnTo>
                  <a:lnTo>
                    <a:pt x="1" y="51"/>
                  </a:lnTo>
                  <a:lnTo>
                    <a:pt x="0" y="42"/>
                  </a:lnTo>
                  <a:lnTo>
                    <a:pt x="0" y="42"/>
                  </a:lnTo>
                  <a:lnTo>
                    <a:pt x="1" y="34"/>
                  </a:lnTo>
                  <a:lnTo>
                    <a:pt x="4" y="26"/>
                  </a:lnTo>
                  <a:lnTo>
                    <a:pt x="6" y="19"/>
                  </a:lnTo>
                  <a:lnTo>
                    <a:pt x="12" y="12"/>
                  </a:lnTo>
                  <a:lnTo>
                    <a:pt x="19" y="7"/>
                  </a:lnTo>
                  <a:lnTo>
                    <a:pt x="26" y="2"/>
                  </a:lnTo>
                  <a:lnTo>
                    <a:pt x="34" y="1"/>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89"/>
            <p:cNvSpPr>
              <a:spLocks/>
            </p:cNvSpPr>
            <p:nvPr userDrawn="1"/>
          </p:nvSpPr>
          <p:spPr bwMode="auto">
            <a:xfrm>
              <a:off x="3931" y="1342"/>
              <a:ext cx="44" cy="43"/>
            </a:xfrm>
            <a:custGeom>
              <a:avLst/>
              <a:gdLst>
                <a:gd name="T0" fmla="*/ 43 w 87"/>
                <a:gd name="T1" fmla="*/ 0 h 85"/>
                <a:gd name="T2" fmla="*/ 43 w 87"/>
                <a:gd name="T3" fmla="*/ 0 h 85"/>
                <a:gd name="T4" fmla="*/ 53 w 87"/>
                <a:gd name="T5" fmla="*/ 0 h 85"/>
                <a:gd name="T6" fmla="*/ 61 w 87"/>
                <a:gd name="T7" fmla="*/ 3 h 85"/>
                <a:gd name="T8" fmla="*/ 68 w 87"/>
                <a:gd name="T9" fmla="*/ 7 h 85"/>
                <a:gd name="T10" fmla="*/ 73 w 87"/>
                <a:gd name="T11" fmla="*/ 12 h 85"/>
                <a:gd name="T12" fmla="*/ 79 w 87"/>
                <a:gd name="T13" fmla="*/ 18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6 h 85"/>
                <a:gd name="T28" fmla="*/ 73 w 87"/>
                <a:gd name="T29" fmla="*/ 73 h 85"/>
                <a:gd name="T30" fmla="*/ 68 w 87"/>
                <a:gd name="T31" fmla="*/ 78 h 85"/>
                <a:gd name="T32" fmla="*/ 61 w 87"/>
                <a:gd name="T33" fmla="*/ 82 h 85"/>
                <a:gd name="T34" fmla="*/ 53 w 87"/>
                <a:gd name="T35" fmla="*/ 84 h 85"/>
                <a:gd name="T36" fmla="*/ 43 w 87"/>
                <a:gd name="T37" fmla="*/ 85 h 85"/>
                <a:gd name="T38" fmla="*/ 43 w 87"/>
                <a:gd name="T39" fmla="*/ 85 h 85"/>
                <a:gd name="T40" fmla="*/ 35 w 87"/>
                <a:gd name="T41" fmla="*/ 84 h 85"/>
                <a:gd name="T42" fmla="*/ 27 w 87"/>
                <a:gd name="T43" fmla="*/ 82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8 h 85"/>
                <a:gd name="T64" fmla="*/ 13 w 87"/>
                <a:gd name="T65" fmla="*/ 12 h 85"/>
                <a:gd name="T66" fmla="*/ 20 w 87"/>
                <a:gd name="T67" fmla="*/ 7 h 85"/>
                <a:gd name="T68" fmla="*/ 27 w 87"/>
                <a:gd name="T69" fmla="*/ 3 h 85"/>
                <a:gd name="T70" fmla="*/ 35 w 87"/>
                <a:gd name="T71" fmla="*/ 0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0"/>
                  </a:lnTo>
                  <a:lnTo>
                    <a:pt x="61" y="3"/>
                  </a:lnTo>
                  <a:lnTo>
                    <a:pt x="68" y="7"/>
                  </a:lnTo>
                  <a:lnTo>
                    <a:pt x="73" y="12"/>
                  </a:lnTo>
                  <a:lnTo>
                    <a:pt x="79" y="18"/>
                  </a:lnTo>
                  <a:lnTo>
                    <a:pt x="83" y="26"/>
                  </a:lnTo>
                  <a:lnTo>
                    <a:pt x="86" y="34"/>
                  </a:lnTo>
                  <a:lnTo>
                    <a:pt x="87" y="42"/>
                  </a:lnTo>
                  <a:lnTo>
                    <a:pt x="87" y="42"/>
                  </a:lnTo>
                  <a:lnTo>
                    <a:pt x="86" y="51"/>
                  </a:lnTo>
                  <a:lnTo>
                    <a:pt x="83" y="59"/>
                  </a:lnTo>
                  <a:lnTo>
                    <a:pt x="79" y="66"/>
                  </a:lnTo>
                  <a:lnTo>
                    <a:pt x="73" y="73"/>
                  </a:lnTo>
                  <a:lnTo>
                    <a:pt x="68" y="78"/>
                  </a:lnTo>
                  <a:lnTo>
                    <a:pt x="61" y="82"/>
                  </a:lnTo>
                  <a:lnTo>
                    <a:pt x="53" y="84"/>
                  </a:lnTo>
                  <a:lnTo>
                    <a:pt x="43" y="85"/>
                  </a:lnTo>
                  <a:lnTo>
                    <a:pt x="43" y="85"/>
                  </a:lnTo>
                  <a:lnTo>
                    <a:pt x="35" y="84"/>
                  </a:lnTo>
                  <a:lnTo>
                    <a:pt x="27" y="82"/>
                  </a:lnTo>
                  <a:lnTo>
                    <a:pt x="20" y="78"/>
                  </a:lnTo>
                  <a:lnTo>
                    <a:pt x="13" y="73"/>
                  </a:lnTo>
                  <a:lnTo>
                    <a:pt x="9" y="66"/>
                  </a:lnTo>
                  <a:lnTo>
                    <a:pt x="5" y="59"/>
                  </a:lnTo>
                  <a:lnTo>
                    <a:pt x="2" y="51"/>
                  </a:lnTo>
                  <a:lnTo>
                    <a:pt x="0" y="42"/>
                  </a:lnTo>
                  <a:lnTo>
                    <a:pt x="0" y="42"/>
                  </a:lnTo>
                  <a:lnTo>
                    <a:pt x="2" y="34"/>
                  </a:lnTo>
                  <a:lnTo>
                    <a:pt x="5" y="26"/>
                  </a:lnTo>
                  <a:lnTo>
                    <a:pt x="9" y="18"/>
                  </a:lnTo>
                  <a:lnTo>
                    <a:pt x="13" y="12"/>
                  </a:lnTo>
                  <a:lnTo>
                    <a:pt x="20" y="7"/>
                  </a:lnTo>
                  <a:lnTo>
                    <a:pt x="27" y="3"/>
                  </a:lnTo>
                  <a:lnTo>
                    <a:pt x="35" y="0"/>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90"/>
            <p:cNvSpPr>
              <a:spLocks/>
            </p:cNvSpPr>
            <p:nvPr userDrawn="1"/>
          </p:nvSpPr>
          <p:spPr bwMode="auto">
            <a:xfrm>
              <a:off x="3931" y="1286"/>
              <a:ext cx="44" cy="43"/>
            </a:xfrm>
            <a:custGeom>
              <a:avLst/>
              <a:gdLst>
                <a:gd name="T0" fmla="*/ 43 w 87"/>
                <a:gd name="T1" fmla="*/ 0 h 85"/>
                <a:gd name="T2" fmla="*/ 43 w 87"/>
                <a:gd name="T3" fmla="*/ 0 h 85"/>
                <a:gd name="T4" fmla="*/ 53 w 87"/>
                <a:gd name="T5" fmla="*/ 0 h 85"/>
                <a:gd name="T6" fmla="*/ 61 w 87"/>
                <a:gd name="T7" fmla="*/ 3 h 85"/>
                <a:gd name="T8" fmla="*/ 68 w 87"/>
                <a:gd name="T9" fmla="*/ 7 h 85"/>
                <a:gd name="T10" fmla="*/ 73 w 87"/>
                <a:gd name="T11" fmla="*/ 13 h 85"/>
                <a:gd name="T12" fmla="*/ 79 w 87"/>
                <a:gd name="T13" fmla="*/ 18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6 h 85"/>
                <a:gd name="T28" fmla="*/ 73 w 87"/>
                <a:gd name="T29" fmla="*/ 73 h 85"/>
                <a:gd name="T30" fmla="*/ 68 w 87"/>
                <a:gd name="T31" fmla="*/ 78 h 85"/>
                <a:gd name="T32" fmla="*/ 61 w 87"/>
                <a:gd name="T33" fmla="*/ 83 h 85"/>
                <a:gd name="T34" fmla="*/ 53 w 87"/>
                <a:gd name="T35" fmla="*/ 84 h 85"/>
                <a:gd name="T36" fmla="*/ 43 w 87"/>
                <a:gd name="T37" fmla="*/ 85 h 85"/>
                <a:gd name="T38" fmla="*/ 43 w 87"/>
                <a:gd name="T39" fmla="*/ 85 h 85"/>
                <a:gd name="T40" fmla="*/ 35 w 87"/>
                <a:gd name="T41" fmla="*/ 84 h 85"/>
                <a:gd name="T42" fmla="*/ 27 w 87"/>
                <a:gd name="T43" fmla="*/ 83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8 h 85"/>
                <a:gd name="T64" fmla="*/ 13 w 87"/>
                <a:gd name="T65" fmla="*/ 13 h 85"/>
                <a:gd name="T66" fmla="*/ 20 w 87"/>
                <a:gd name="T67" fmla="*/ 7 h 85"/>
                <a:gd name="T68" fmla="*/ 27 w 87"/>
                <a:gd name="T69" fmla="*/ 3 h 85"/>
                <a:gd name="T70" fmla="*/ 35 w 87"/>
                <a:gd name="T71" fmla="*/ 0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0"/>
                  </a:lnTo>
                  <a:lnTo>
                    <a:pt x="61" y="3"/>
                  </a:lnTo>
                  <a:lnTo>
                    <a:pt x="68" y="7"/>
                  </a:lnTo>
                  <a:lnTo>
                    <a:pt x="73" y="13"/>
                  </a:lnTo>
                  <a:lnTo>
                    <a:pt x="79" y="18"/>
                  </a:lnTo>
                  <a:lnTo>
                    <a:pt x="83" y="26"/>
                  </a:lnTo>
                  <a:lnTo>
                    <a:pt x="86" y="34"/>
                  </a:lnTo>
                  <a:lnTo>
                    <a:pt x="87" y="43"/>
                  </a:lnTo>
                  <a:lnTo>
                    <a:pt x="87" y="43"/>
                  </a:lnTo>
                  <a:lnTo>
                    <a:pt x="86" y="51"/>
                  </a:lnTo>
                  <a:lnTo>
                    <a:pt x="83" y="59"/>
                  </a:lnTo>
                  <a:lnTo>
                    <a:pt x="79" y="66"/>
                  </a:lnTo>
                  <a:lnTo>
                    <a:pt x="73" y="73"/>
                  </a:lnTo>
                  <a:lnTo>
                    <a:pt x="68" y="78"/>
                  </a:lnTo>
                  <a:lnTo>
                    <a:pt x="61" y="83"/>
                  </a:lnTo>
                  <a:lnTo>
                    <a:pt x="53" y="84"/>
                  </a:lnTo>
                  <a:lnTo>
                    <a:pt x="43" y="85"/>
                  </a:lnTo>
                  <a:lnTo>
                    <a:pt x="43" y="85"/>
                  </a:lnTo>
                  <a:lnTo>
                    <a:pt x="35" y="84"/>
                  </a:lnTo>
                  <a:lnTo>
                    <a:pt x="27" y="83"/>
                  </a:lnTo>
                  <a:lnTo>
                    <a:pt x="20" y="78"/>
                  </a:lnTo>
                  <a:lnTo>
                    <a:pt x="13" y="73"/>
                  </a:lnTo>
                  <a:lnTo>
                    <a:pt x="9" y="66"/>
                  </a:lnTo>
                  <a:lnTo>
                    <a:pt x="5" y="59"/>
                  </a:lnTo>
                  <a:lnTo>
                    <a:pt x="2" y="51"/>
                  </a:lnTo>
                  <a:lnTo>
                    <a:pt x="0" y="43"/>
                  </a:lnTo>
                  <a:lnTo>
                    <a:pt x="0" y="43"/>
                  </a:lnTo>
                  <a:lnTo>
                    <a:pt x="2" y="34"/>
                  </a:lnTo>
                  <a:lnTo>
                    <a:pt x="5" y="26"/>
                  </a:lnTo>
                  <a:lnTo>
                    <a:pt x="9" y="18"/>
                  </a:lnTo>
                  <a:lnTo>
                    <a:pt x="13" y="13"/>
                  </a:lnTo>
                  <a:lnTo>
                    <a:pt x="20" y="7"/>
                  </a:lnTo>
                  <a:lnTo>
                    <a:pt x="27" y="3"/>
                  </a:lnTo>
                  <a:lnTo>
                    <a:pt x="35" y="0"/>
                  </a:lnTo>
                  <a:lnTo>
                    <a:pt x="43" y="0"/>
                  </a:lnTo>
                  <a:lnTo>
                    <a:pt x="43" y="0"/>
                  </a:lnTo>
                  <a:close/>
                </a:path>
              </a:pathLst>
            </a:custGeom>
            <a:solidFill>
              <a:srgbClr val="8ED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91"/>
            <p:cNvSpPr>
              <a:spLocks/>
            </p:cNvSpPr>
            <p:nvPr userDrawn="1"/>
          </p:nvSpPr>
          <p:spPr bwMode="auto">
            <a:xfrm>
              <a:off x="3931" y="1060"/>
              <a:ext cx="44" cy="43"/>
            </a:xfrm>
            <a:custGeom>
              <a:avLst/>
              <a:gdLst>
                <a:gd name="T0" fmla="*/ 43 w 87"/>
                <a:gd name="T1" fmla="*/ 0 h 87"/>
                <a:gd name="T2" fmla="*/ 43 w 87"/>
                <a:gd name="T3" fmla="*/ 0 h 87"/>
                <a:gd name="T4" fmla="*/ 53 w 87"/>
                <a:gd name="T5" fmla="*/ 1 h 87"/>
                <a:gd name="T6" fmla="*/ 61 w 87"/>
                <a:gd name="T7" fmla="*/ 4 h 87"/>
                <a:gd name="T8" fmla="*/ 68 w 87"/>
                <a:gd name="T9" fmla="*/ 8 h 87"/>
                <a:gd name="T10" fmla="*/ 73 w 87"/>
                <a:gd name="T11" fmla="*/ 12 h 87"/>
                <a:gd name="T12" fmla="*/ 79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79 w 87"/>
                <a:gd name="T27" fmla="*/ 67 h 87"/>
                <a:gd name="T28" fmla="*/ 73 w 87"/>
                <a:gd name="T29" fmla="*/ 73 h 87"/>
                <a:gd name="T30" fmla="*/ 68 w 87"/>
                <a:gd name="T31" fmla="*/ 78 h 87"/>
                <a:gd name="T32" fmla="*/ 61 w 87"/>
                <a:gd name="T33" fmla="*/ 83 h 87"/>
                <a:gd name="T34" fmla="*/ 53 w 87"/>
                <a:gd name="T35" fmla="*/ 85 h 87"/>
                <a:gd name="T36" fmla="*/ 43 w 87"/>
                <a:gd name="T37" fmla="*/ 87 h 87"/>
                <a:gd name="T38" fmla="*/ 43 w 87"/>
                <a:gd name="T39" fmla="*/ 87 h 87"/>
                <a:gd name="T40" fmla="*/ 35 w 87"/>
                <a:gd name="T41" fmla="*/ 85 h 87"/>
                <a:gd name="T42" fmla="*/ 27 w 87"/>
                <a:gd name="T43" fmla="*/ 83 h 87"/>
                <a:gd name="T44" fmla="*/ 20 w 87"/>
                <a:gd name="T45" fmla="*/ 78 h 87"/>
                <a:gd name="T46" fmla="*/ 13 w 87"/>
                <a:gd name="T47" fmla="*/ 73 h 87"/>
                <a:gd name="T48" fmla="*/ 9 w 87"/>
                <a:gd name="T49" fmla="*/ 67 h 87"/>
                <a:gd name="T50" fmla="*/ 5 w 87"/>
                <a:gd name="T51" fmla="*/ 61 h 87"/>
                <a:gd name="T52" fmla="*/ 2 w 87"/>
                <a:gd name="T53" fmla="*/ 52 h 87"/>
                <a:gd name="T54" fmla="*/ 0 w 87"/>
                <a:gd name="T55" fmla="*/ 43 h 87"/>
                <a:gd name="T56" fmla="*/ 0 w 87"/>
                <a:gd name="T57" fmla="*/ 43 h 87"/>
                <a:gd name="T58" fmla="*/ 2 w 87"/>
                <a:gd name="T59" fmla="*/ 34 h 87"/>
                <a:gd name="T60" fmla="*/ 5 w 87"/>
                <a:gd name="T61" fmla="*/ 26 h 87"/>
                <a:gd name="T62" fmla="*/ 9 w 87"/>
                <a:gd name="T63" fmla="*/ 19 h 87"/>
                <a:gd name="T64" fmla="*/ 13 w 87"/>
                <a:gd name="T65" fmla="*/ 12 h 87"/>
                <a:gd name="T66" fmla="*/ 20 w 87"/>
                <a:gd name="T67" fmla="*/ 8 h 87"/>
                <a:gd name="T68" fmla="*/ 27 w 87"/>
                <a:gd name="T69" fmla="*/ 4 h 87"/>
                <a:gd name="T70" fmla="*/ 35 w 87"/>
                <a:gd name="T71" fmla="*/ 1 h 87"/>
                <a:gd name="T72" fmla="*/ 43 w 87"/>
                <a:gd name="T73" fmla="*/ 0 h 87"/>
                <a:gd name="T74" fmla="*/ 43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3" y="0"/>
                  </a:moveTo>
                  <a:lnTo>
                    <a:pt x="43" y="0"/>
                  </a:lnTo>
                  <a:lnTo>
                    <a:pt x="53" y="1"/>
                  </a:lnTo>
                  <a:lnTo>
                    <a:pt x="61" y="4"/>
                  </a:lnTo>
                  <a:lnTo>
                    <a:pt x="68" y="8"/>
                  </a:lnTo>
                  <a:lnTo>
                    <a:pt x="73" y="12"/>
                  </a:lnTo>
                  <a:lnTo>
                    <a:pt x="79" y="19"/>
                  </a:lnTo>
                  <a:lnTo>
                    <a:pt x="83" y="26"/>
                  </a:lnTo>
                  <a:lnTo>
                    <a:pt x="86" y="34"/>
                  </a:lnTo>
                  <a:lnTo>
                    <a:pt x="87" y="43"/>
                  </a:lnTo>
                  <a:lnTo>
                    <a:pt x="87" y="43"/>
                  </a:lnTo>
                  <a:lnTo>
                    <a:pt x="86" y="52"/>
                  </a:lnTo>
                  <a:lnTo>
                    <a:pt x="83" y="61"/>
                  </a:lnTo>
                  <a:lnTo>
                    <a:pt x="79" y="67"/>
                  </a:lnTo>
                  <a:lnTo>
                    <a:pt x="73" y="73"/>
                  </a:lnTo>
                  <a:lnTo>
                    <a:pt x="68" y="78"/>
                  </a:lnTo>
                  <a:lnTo>
                    <a:pt x="61" y="83"/>
                  </a:lnTo>
                  <a:lnTo>
                    <a:pt x="53" y="85"/>
                  </a:lnTo>
                  <a:lnTo>
                    <a:pt x="43" y="87"/>
                  </a:lnTo>
                  <a:lnTo>
                    <a:pt x="43" y="87"/>
                  </a:lnTo>
                  <a:lnTo>
                    <a:pt x="35" y="85"/>
                  </a:lnTo>
                  <a:lnTo>
                    <a:pt x="27" y="83"/>
                  </a:lnTo>
                  <a:lnTo>
                    <a:pt x="20" y="78"/>
                  </a:lnTo>
                  <a:lnTo>
                    <a:pt x="13" y="73"/>
                  </a:lnTo>
                  <a:lnTo>
                    <a:pt x="9" y="67"/>
                  </a:lnTo>
                  <a:lnTo>
                    <a:pt x="5" y="61"/>
                  </a:lnTo>
                  <a:lnTo>
                    <a:pt x="2" y="52"/>
                  </a:lnTo>
                  <a:lnTo>
                    <a:pt x="0" y="43"/>
                  </a:lnTo>
                  <a:lnTo>
                    <a:pt x="0" y="43"/>
                  </a:lnTo>
                  <a:lnTo>
                    <a:pt x="2" y="34"/>
                  </a:lnTo>
                  <a:lnTo>
                    <a:pt x="5" y="26"/>
                  </a:lnTo>
                  <a:lnTo>
                    <a:pt x="9" y="19"/>
                  </a:lnTo>
                  <a:lnTo>
                    <a:pt x="13" y="12"/>
                  </a:lnTo>
                  <a:lnTo>
                    <a:pt x="20" y="8"/>
                  </a:lnTo>
                  <a:lnTo>
                    <a:pt x="27" y="4"/>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92"/>
            <p:cNvSpPr>
              <a:spLocks/>
            </p:cNvSpPr>
            <p:nvPr userDrawn="1"/>
          </p:nvSpPr>
          <p:spPr bwMode="auto">
            <a:xfrm>
              <a:off x="3931" y="1004"/>
              <a:ext cx="44" cy="42"/>
            </a:xfrm>
            <a:custGeom>
              <a:avLst/>
              <a:gdLst>
                <a:gd name="T0" fmla="*/ 43 w 87"/>
                <a:gd name="T1" fmla="*/ 0 h 86"/>
                <a:gd name="T2" fmla="*/ 43 w 87"/>
                <a:gd name="T3" fmla="*/ 0 h 86"/>
                <a:gd name="T4" fmla="*/ 53 w 87"/>
                <a:gd name="T5" fmla="*/ 2 h 86"/>
                <a:gd name="T6" fmla="*/ 61 w 87"/>
                <a:gd name="T7" fmla="*/ 5 h 86"/>
                <a:gd name="T8" fmla="*/ 68 w 87"/>
                <a:gd name="T9" fmla="*/ 7 h 86"/>
                <a:gd name="T10" fmla="*/ 73 w 87"/>
                <a:gd name="T11" fmla="*/ 13 h 86"/>
                <a:gd name="T12" fmla="*/ 79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79 w 87"/>
                <a:gd name="T27" fmla="*/ 68 h 86"/>
                <a:gd name="T28" fmla="*/ 73 w 87"/>
                <a:gd name="T29" fmla="*/ 73 h 86"/>
                <a:gd name="T30" fmla="*/ 68 w 87"/>
                <a:gd name="T31" fmla="*/ 79 h 86"/>
                <a:gd name="T32" fmla="*/ 61 w 87"/>
                <a:gd name="T33" fmla="*/ 83 h 86"/>
                <a:gd name="T34" fmla="*/ 53 w 87"/>
                <a:gd name="T35" fmla="*/ 86 h 86"/>
                <a:gd name="T36" fmla="*/ 43 w 87"/>
                <a:gd name="T37" fmla="*/ 86 h 86"/>
                <a:gd name="T38" fmla="*/ 43 w 87"/>
                <a:gd name="T39" fmla="*/ 86 h 86"/>
                <a:gd name="T40" fmla="*/ 35 w 87"/>
                <a:gd name="T41" fmla="*/ 86 h 86"/>
                <a:gd name="T42" fmla="*/ 27 w 87"/>
                <a:gd name="T43" fmla="*/ 83 h 86"/>
                <a:gd name="T44" fmla="*/ 20 w 87"/>
                <a:gd name="T45" fmla="*/ 79 h 86"/>
                <a:gd name="T46" fmla="*/ 13 w 87"/>
                <a:gd name="T47" fmla="*/ 73 h 86"/>
                <a:gd name="T48" fmla="*/ 9 w 87"/>
                <a:gd name="T49" fmla="*/ 68 h 86"/>
                <a:gd name="T50" fmla="*/ 5 w 87"/>
                <a:gd name="T51" fmla="*/ 59 h 86"/>
                <a:gd name="T52" fmla="*/ 2 w 87"/>
                <a:gd name="T53" fmla="*/ 53 h 86"/>
                <a:gd name="T54" fmla="*/ 0 w 87"/>
                <a:gd name="T55" fmla="*/ 43 h 86"/>
                <a:gd name="T56" fmla="*/ 0 w 87"/>
                <a:gd name="T57" fmla="*/ 43 h 86"/>
                <a:gd name="T58" fmla="*/ 2 w 87"/>
                <a:gd name="T59" fmla="*/ 35 h 86"/>
                <a:gd name="T60" fmla="*/ 5 w 87"/>
                <a:gd name="T61" fmla="*/ 27 h 86"/>
                <a:gd name="T62" fmla="*/ 9 w 87"/>
                <a:gd name="T63" fmla="*/ 20 h 86"/>
                <a:gd name="T64" fmla="*/ 13 w 87"/>
                <a:gd name="T65" fmla="*/ 13 h 86"/>
                <a:gd name="T66" fmla="*/ 20 w 87"/>
                <a:gd name="T67" fmla="*/ 7 h 86"/>
                <a:gd name="T68" fmla="*/ 27 w 87"/>
                <a:gd name="T69" fmla="*/ 5 h 86"/>
                <a:gd name="T70" fmla="*/ 35 w 87"/>
                <a:gd name="T71" fmla="*/ 2 h 86"/>
                <a:gd name="T72" fmla="*/ 43 w 87"/>
                <a:gd name="T73" fmla="*/ 0 h 86"/>
                <a:gd name="T74" fmla="*/ 43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3" y="0"/>
                  </a:moveTo>
                  <a:lnTo>
                    <a:pt x="43" y="0"/>
                  </a:lnTo>
                  <a:lnTo>
                    <a:pt x="53" y="2"/>
                  </a:lnTo>
                  <a:lnTo>
                    <a:pt x="61" y="5"/>
                  </a:lnTo>
                  <a:lnTo>
                    <a:pt x="68" y="7"/>
                  </a:lnTo>
                  <a:lnTo>
                    <a:pt x="73" y="13"/>
                  </a:lnTo>
                  <a:lnTo>
                    <a:pt x="79" y="20"/>
                  </a:lnTo>
                  <a:lnTo>
                    <a:pt x="83" y="27"/>
                  </a:lnTo>
                  <a:lnTo>
                    <a:pt x="86" y="35"/>
                  </a:lnTo>
                  <a:lnTo>
                    <a:pt x="87" y="43"/>
                  </a:lnTo>
                  <a:lnTo>
                    <a:pt x="87" y="43"/>
                  </a:lnTo>
                  <a:lnTo>
                    <a:pt x="86" y="53"/>
                  </a:lnTo>
                  <a:lnTo>
                    <a:pt x="83" y="59"/>
                  </a:lnTo>
                  <a:lnTo>
                    <a:pt x="79" y="68"/>
                  </a:lnTo>
                  <a:lnTo>
                    <a:pt x="73" y="73"/>
                  </a:lnTo>
                  <a:lnTo>
                    <a:pt x="68" y="79"/>
                  </a:lnTo>
                  <a:lnTo>
                    <a:pt x="61" y="83"/>
                  </a:lnTo>
                  <a:lnTo>
                    <a:pt x="53" y="86"/>
                  </a:lnTo>
                  <a:lnTo>
                    <a:pt x="43" y="86"/>
                  </a:lnTo>
                  <a:lnTo>
                    <a:pt x="43" y="86"/>
                  </a:lnTo>
                  <a:lnTo>
                    <a:pt x="35" y="86"/>
                  </a:lnTo>
                  <a:lnTo>
                    <a:pt x="27" y="83"/>
                  </a:lnTo>
                  <a:lnTo>
                    <a:pt x="20" y="79"/>
                  </a:lnTo>
                  <a:lnTo>
                    <a:pt x="13" y="73"/>
                  </a:lnTo>
                  <a:lnTo>
                    <a:pt x="9" y="68"/>
                  </a:lnTo>
                  <a:lnTo>
                    <a:pt x="5" y="59"/>
                  </a:lnTo>
                  <a:lnTo>
                    <a:pt x="2" y="53"/>
                  </a:lnTo>
                  <a:lnTo>
                    <a:pt x="0" y="43"/>
                  </a:lnTo>
                  <a:lnTo>
                    <a:pt x="0" y="43"/>
                  </a:lnTo>
                  <a:lnTo>
                    <a:pt x="2" y="35"/>
                  </a:lnTo>
                  <a:lnTo>
                    <a:pt x="5" y="27"/>
                  </a:lnTo>
                  <a:lnTo>
                    <a:pt x="9" y="20"/>
                  </a:lnTo>
                  <a:lnTo>
                    <a:pt x="13" y="13"/>
                  </a:lnTo>
                  <a:lnTo>
                    <a:pt x="20" y="7"/>
                  </a:lnTo>
                  <a:lnTo>
                    <a:pt x="27" y="5"/>
                  </a:lnTo>
                  <a:lnTo>
                    <a:pt x="35" y="2"/>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93"/>
            <p:cNvSpPr>
              <a:spLocks/>
            </p:cNvSpPr>
            <p:nvPr userDrawn="1"/>
          </p:nvSpPr>
          <p:spPr bwMode="auto">
            <a:xfrm>
              <a:off x="3931" y="947"/>
              <a:ext cx="44" cy="43"/>
            </a:xfrm>
            <a:custGeom>
              <a:avLst/>
              <a:gdLst>
                <a:gd name="T0" fmla="*/ 43 w 87"/>
                <a:gd name="T1" fmla="*/ 0 h 85"/>
                <a:gd name="T2" fmla="*/ 43 w 87"/>
                <a:gd name="T3" fmla="*/ 0 h 85"/>
                <a:gd name="T4" fmla="*/ 53 w 87"/>
                <a:gd name="T5" fmla="*/ 1 h 85"/>
                <a:gd name="T6" fmla="*/ 61 w 87"/>
                <a:gd name="T7" fmla="*/ 2 h 85"/>
                <a:gd name="T8" fmla="*/ 68 w 87"/>
                <a:gd name="T9" fmla="*/ 7 h 85"/>
                <a:gd name="T10" fmla="*/ 73 w 87"/>
                <a:gd name="T11" fmla="*/ 12 h 85"/>
                <a:gd name="T12" fmla="*/ 79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7 h 85"/>
                <a:gd name="T28" fmla="*/ 73 w 87"/>
                <a:gd name="T29" fmla="*/ 73 h 85"/>
                <a:gd name="T30" fmla="*/ 68 w 87"/>
                <a:gd name="T31" fmla="*/ 78 h 85"/>
                <a:gd name="T32" fmla="*/ 61 w 87"/>
                <a:gd name="T33" fmla="*/ 82 h 85"/>
                <a:gd name="T34" fmla="*/ 53 w 87"/>
                <a:gd name="T35" fmla="*/ 85 h 85"/>
                <a:gd name="T36" fmla="*/ 43 w 87"/>
                <a:gd name="T37" fmla="*/ 85 h 85"/>
                <a:gd name="T38" fmla="*/ 43 w 87"/>
                <a:gd name="T39" fmla="*/ 85 h 85"/>
                <a:gd name="T40" fmla="*/ 35 w 87"/>
                <a:gd name="T41" fmla="*/ 85 h 85"/>
                <a:gd name="T42" fmla="*/ 27 w 87"/>
                <a:gd name="T43" fmla="*/ 82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2 h 85"/>
                <a:gd name="T70" fmla="*/ 35 w 87"/>
                <a:gd name="T71" fmla="*/ 1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1"/>
                  </a:lnTo>
                  <a:lnTo>
                    <a:pt x="61" y="2"/>
                  </a:lnTo>
                  <a:lnTo>
                    <a:pt x="68" y="7"/>
                  </a:lnTo>
                  <a:lnTo>
                    <a:pt x="73" y="12"/>
                  </a:lnTo>
                  <a:lnTo>
                    <a:pt x="79" y="19"/>
                  </a:lnTo>
                  <a:lnTo>
                    <a:pt x="83" y="26"/>
                  </a:lnTo>
                  <a:lnTo>
                    <a:pt x="86" y="34"/>
                  </a:lnTo>
                  <a:lnTo>
                    <a:pt x="87" y="42"/>
                  </a:lnTo>
                  <a:lnTo>
                    <a:pt x="87" y="42"/>
                  </a:lnTo>
                  <a:lnTo>
                    <a:pt x="86" y="51"/>
                  </a:lnTo>
                  <a:lnTo>
                    <a:pt x="83" y="59"/>
                  </a:lnTo>
                  <a:lnTo>
                    <a:pt x="79" y="67"/>
                  </a:lnTo>
                  <a:lnTo>
                    <a:pt x="73" y="73"/>
                  </a:lnTo>
                  <a:lnTo>
                    <a:pt x="68" y="78"/>
                  </a:lnTo>
                  <a:lnTo>
                    <a:pt x="61" y="82"/>
                  </a:lnTo>
                  <a:lnTo>
                    <a:pt x="53" y="85"/>
                  </a:lnTo>
                  <a:lnTo>
                    <a:pt x="43" y="85"/>
                  </a:lnTo>
                  <a:lnTo>
                    <a:pt x="43" y="85"/>
                  </a:lnTo>
                  <a:lnTo>
                    <a:pt x="35" y="85"/>
                  </a:lnTo>
                  <a:lnTo>
                    <a:pt x="27" y="82"/>
                  </a:lnTo>
                  <a:lnTo>
                    <a:pt x="20" y="78"/>
                  </a:lnTo>
                  <a:lnTo>
                    <a:pt x="13" y="73"/>
                  </a:lnTo>
                  <a:lnTo>
                    <a:pt x="9" y="67"/>
                  </a:lnTo>
                  <a:lnTo>
                    <a:pt x="5" y="59"/>
                  </a:lnTo>
                  <a:lnTo>
                    <a:pt x="2" y="51"/>
                  </a:lnTo>
                  <a:lnTo>
                    <a:pt x="0" y="42"/>
                  </a:lnTo>
                  <a:lnTo>
                    <a:pt x="0" y="42"/>
                  </a:lnTo>
                  <a:lnTo>
                    <a:pt x="2" y="34"/>
                  </a:lnTo>
                  <a:lnTo>
                    <a:pt x="5" y="26"/>
                  </a:lnTo>
                  <a:lnTo>
                    <a:pt x="9" y="19"/>
                  </a:lnTo>
                  <a:lnTo>
                    <a:pt x="13" y="12"/>
                  </a:lnTo>
                  <a:lnTo>
                    <a:pt x="20" y="7"/>
                  </a:lnTo>
                  <a:lnTo>
                    <a:pt x="27" y="2"/>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94"/>
            <p:cNvSpPr>
              <a:spLocks/>
            </p:cNvSpPr>
            <p:nvPr userDrawn="1"/>
          </p:nvSpPr>
          <p:spPr bwMode="auto">
            <a:xfrm>
              <a:off x="3931" y="891"/>
              <a:ext cx="44" cy="43"/>
            </a:xfrm>
            <a:custGeom>
              <a:avLst/>
              <a:gdLst>
                <a:gd name="T0" fmla="*/ 43 w 87"/>
                <a:gd name="T1" fmla="*/ 0 h 85"/>
                <a:gd name="T2" fmla="*/ 43 w 87"/>
                <a:gd name="T3" fmla="*/ 0 h 85"/>
                <a:gd name="T4" fmla="*/ 53 w 87"/>
                <a:gd name="T5" fmla="*/ 1 h 85"/>
                <a:gd name="T6" fmla="*/ 61 w 87"/>
                <a:gd name="T7" fmla="*/ 3 h 85"/>
                <a:gd name="T8" fmla="*/ 68 w 87"/>
                <a:gd name="T9" fmla="*/ 7 h 85"/>
                <a:gd name="T10" fmla="*/ 73 w 87"/>
                <a:gd name="T11" fmla="*/ 12 h 85"/>
                <a:gd name="T12" fmla="*/ 79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7 h 85"/>
                <a:gd name="T28" fmla="*/ 73 w 87"/>
                <a:gd name="T29" fmla="*/ 73 h 85"/>
                <a:gd name="T30" fmla="*/ 68 w 87"/>
                <a:gd name="T31" fmla="*/ 78 h 85"/>
                <a:gd name="T32" fmla="*/ 61 w 87"/>
                <a:gd name="T33" fmla="*/ 83 h 85"/>
                <a:gd name="T34" fmla="*/ 53 w 87"/>
                <a:gd name="T35" fmla="*/ 85 h 85"/>
                <a:gd name="T36" fmla="*/ 43 w 87"/>
                <a:gd name="T37" fmla="*/ 85 h 85"/>
                <a:gd name="T38" fmla="*/ 43 w 87"/>
                <a:gd name="T39" fmla="*/ 85 h 85"/>
                <a:gd name="T40" fmla="*/ 35 w 87"/>
                <a:gd name="T41" fmla="*/ 85 h 85"/>
                <a:gd name="T42" fmla="*/ 27 w 87"/>
                <a:gd name="T43" fmla="*/ 83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3 h 85"/>
                <a:gd name="T70" fmla="*/ 35 w 87"/>
                <a:gd name="T71" fmla="*/ 1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1"/>
                  </a:lnTo>
                  <a:lnTo>
                    <a:pt x="61" y="3"/>
                  </a:lnTo>
                  <a:lnTo>
                    <a:pt x="68" y="7"/>
                  </a:lnTo>
                  <a:lnTo>
                    <a:pt x="73" y="12"/>
                  </a:lnTo>
                  <a:lnTo>
                    <a:pt x="79" y="19"/>
                  </a:lnTo>
                  <a:lnTo>
                    <a:pt x="83" y="26"/>
                  </a:lnTo>
                  <a:lnTo>
                    <a:pt x="86" y="34"/>
                  </a:lnTo>
                  <a:lnTo>
                    <a:pt x="87" y="43"/>
                  </a:lnTo>
                  <a:lnTo>
                    <a:pt x="87" y="43"/>
                  </a:lnTo>
                  <a:lnTo>
                    <a:pt x="86" y="51"/>
                  </a:lnTo>
                  <a:lnTo>
                    <a:pt x="83" y="59"/>
                  </a:lnTo>
                  <a:lnTo>
                    <a:pt x="79" y="67"/>
                  </a:lnTo>
                  <a:lnTo>
                    <a:pt x="73" y="73"/>
                  </a:lnTo>
                  <a:lnTo>
                    <a:pt x="68" y="78"/>
                  </a:lnTo>
                  <a:lnTo>
                    <a:pt x="61" y="83"/>
                  </a:lnTo>
                  <a:lnTo>
                    <a:pt x="53" y="85"/>
                  </a:lnTo>
                  <a:lnTo>
                    <a:pt x="43" y="85"/>
                  </a:lnTo>
                  <a:lnTo>
                    <a:pt x="43" y="85"/>
                  </a:lnTo>
                  <a:lnTo>
                    <a:pt x="35" y="85"/>
                  </a:lnTo>
                  <a:lnTo>
                    <a:pt x="27" y="83"/>
                  </a:lnTo>
                  <a:lnTo>
                    <a:pt x="20" y="78"/>
                  </a:lnTo>
                  <a:lnTo>
                    <a:pt x="13" y="73"/>
                  </a:lnTo>
                  <a:lnTo>
                    <a:pt x="9" y="67"/>
                  </a:lnTo>
                  <a:lnTo>
                    <a:pt x="5" y="59"/>
                  </a:lnTo>
                  <a:lnTo>
                    <a:pt x="2" y="51"/>
                  </a:lnTo>
                  <a:lnTo>
                    <a:pt x="0" y="43"/>
                  </a:lnTo>
                  <a:lnTo>
                    <a:pt x="0" y="43"/>
                  </a:lnTo>
                  <a:lnTo>
                    <a:pt x="2" y="34"/>
                  </a:lnTo>
                  <a:lnTo>
                    <a:pt x="5" y="26"/>
                  </a:lnTo>
                  <a:lnTo>
                    <a:pt x="9" y="19"/>
                  </a:lnTo>
                  <a:lnTo>
                    <a:pt x="13" y="12"/>
                  </a:lnTo>
                  <a:lnTo>
                    <a:pt x="20" y="7"/>
                  </a:lnTo>
                  <a:lnTo>
                    <a:pt x="27" y="3"/>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95"/>
            <p:cNvSpPr>
              <a:spLocks/>
            </p:cNvSpPr>
            <p:nvPr userDrawn="1"/>
          </p:nvSpPr>
          <p:spPr bwMode="auto">
            <a:xfrm>
              <a:off x="3988" y="1286"/>
              <a:ext cx="43" cy="43"/>
            </a:xfrm>
            <a:custGeom>
              <a:avLst/>
              <a:gdLst>
                <a:gd name="T0" fmla="*/ 44 w 87"/>
                <a:gd name="T1" fmla="*/ 0 h 85"/>
                <a:gd name="T2" fmla="*/ 44 w 87"/>
                <a:gd name="T3" fmla="*/ 0 h 85"/>
                <a:gd name="T4" fmla="*/ 53 w 87"/>
                <a:gd name="T5" fmla="*/ 0 h 85"/>
                <a:gd name="T6" fmla="*/ 61 w 87"/>
                <a:gd name="T7" fmla="*/ 3 h 85"/>
                <a:gd name="T8" fmla="*/ 68 w 87"/>
                <a:gd name="T9" fmla="*/ 7 h 85"/>
                <a:gd name="T10" fmla="*/ 75 w 87"/>
                <a:gd name="T11" fmla="*/ 13 h 85"/>
                <a:gd name="T12" fmla="*/ 79 w 87"/>
                <a:gd name="T13" fmla="*/ 18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6 h 85"/>
                <a:gd name="T28" fmla="*/ 75 w 87"/>
                <a:gd name="T29" fmla="*/ 73 h 85"/>
                <a:gd name="T30" fmla="*/ 68 w 87"/>
                <a:gd name="T31" fmla="*/ 78 h 85"/>
                <a:gd name="T32" fmla="*/ 61 w 87"/>
                <a:gd name="T33" fmla="*/ 83 h 85"/>
                <a:gd name="T34" fmla="*/ 53 w 87"/>
                <a:gd name="T35" fmla="*/ 84 h 85"/>
                <a:gd name="T36" fmla="*/ 44 w 87"/>
                <a:gd name="T37" fmla="*/ 85 h 85"/>
                <a:gd name="T38" fmla="*/ 44 w 87"/>
                <a:gd name="T39" fmla="*/ 85 h 85"/>
                <a:gd name="T40" fmla="*/ 35 w 87"/>
                <a:gd name="T41" fmla="*/ 84 h 85"/>
                <a:gd name="T42" fmla="*/ 27 w 87"/>
                <a:gd name="T43" fmla="*/ 83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8 h 85"/>
                <a:gd name="T64" fmla="*/ 13 w 87"/>
                <a:gd name="T65" fmla="*/ 13 h 85"/>
                <a:gd name="T66" fmla="*/ 20 w 87"/>
                <a:gd name="T67" fmla="*/ 7 h 85"/>
                <a:gd name="T68" fmla="*/ 27 w 87"/>
                <a:gd name="T69" fmla="*/ 3 h 85"/>
                <a:gd name="T70" fmla="*/ 35 w 87"/>
                <a:gd name="T71" fmla="*/ 0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0"/>
                  </a:lnTo>
                  <a:lnTo>
                    <a:pt x="61" y="3"/>
                  </a:lnTo>
                  <a:lnTo>
                    <a:pt x="68" y="7"/>
                  </a:lnTo>
                  <a:lnTo>
                    <a:pt x="75" y="13"/>
                  </a:lnTo>
                  <a:lnTo>
                    <a:pt x="79" y="18"/>
                  </a:lnTo>
                  <a:lnTo>
                    <a:pt x="83" y="26"/>
                  </a:lnTo>
                  <a:lnTo>
                    <a:pt x="86" y="34"/>
                  </a:lnTo>
                  <a:lnTo>
                    <a:pt x="87" y="43"/>
                  </a:lnTo>
                  <a:lnTo>
                    <a:pt x="87" y="43"/>
                  </a:lnTo>
                  <a:lnTo>
                    <a:pt x="86" y="51"/>
                  </a:lnTo>
                  <a:lnTo>
                    <a:pt x="83" y="59"/>
                  </a:lnTo>
                  <a:lnTo>
                    <a:pt x="79" y="66"/>
                  </a:lnTo>
                  <a:lnTo>
                    <a:pt x="75" y="73"/>
                  </a:lnTo>
                  <a:lnTo>
                    <a:pt x="68" y="78"/>
                  </a:lnTo>
                  <a:lnTo>
                    <a:pt x="61" y="83"/>
                  </a:lnTo>
                  <a:lnTo>
                    <a:pt x="53" y="84"/>
                  </a:lnTo>
                  <a:lnTo>
                    <a:pt x="44" y="85"/>
                  </a:lnTo>
                  <a:lnTo>
                    <a:pt x="44" y="85"/>
                  </a:lnTo>
                  <a:lnTo>
                    <a:pt x="35" y="84"/>
                  </a:lnTo>
                  <a:lnTo>
                    <a:pt x="27" y="83"/>
                  </a:lnTo>
                  <a:lnTo>
                    <a:pt x="20" y="78"/>
                  </a:lnTo>
                  <a:lnTo>
                    <a:pt x="13" y="73"/>
                  </a:lnTo>
                  <a:lnTo>
                    <a:pt x="9" y="66"/>
                  </a:lnTo>
                  <a:lnTo>
                    <a:pt x="5" y="59"/>
                  </a:lnTo>
                  <a:lnTo>
                    <a:pt x="2" y="51"/>
                  </a:lnTo>
                  <a:lnTo>
                    <a:pt x="0" y="43"/>
                  </a:lnTo>
                  <a:lnTo>
                    <a:pt x="0" y="43"/>
                  </a:lnTo>
                  <a:lnTo>
                    <a:pt x="2" y="34"/>
                  </a:lnTo>
                  <a:lnTo>
                    <a:pt x="5" y="26"/>
                  </a:lnTo>
                  <a:lnTo>
                    <a:pt x="9" y="18"/>
                  </a:lnTo>
                  <a:lnTo>
                    <a:pt x="13" y="13"/>
                  </a:lnTo>
                  <a:lnTo>
                    <a:pt x="20" y="7"/>
                  </a:lnTo>
                  <a:lnTo>
                    <a:pt x="27" y="3"/>
                  </a:lnTo>
                  <a:lnTo>
                    <a:pt x="35" y="0"/>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96"/>
            <p:cNvSpPr>
              <a:spLocks/>
            </p:cNvSpPr>
            <p:nvPr userDrawn="1"/>
          </p:nvSpPr>
          <p:spPr bwMode="auto">
            <a:xfrm>
              <a:off x="3988" y="1060"/>
              <a:ext cx="43" cy="43"/>
            </a:xfrm>
            <a:custGeom>
              <a:avLst/>
              <a:gdLst>
                <a:gd name="T0" fmla="*/ 44 w 87"/>
                <a:gd name="T1" fmla="*/ 0 h 87"/>
                <a:gd name="T2" fmla="*/ 44 w 87"/>
                <a:gd name="T3" fmla="*/ 0 h 87"/>
                <a:gd name="T4" fmla="*/ 53 w 87"/>
                <a:gd name="T5" fmla="*/ 1 h 87"/>
                <a:gd name="T6" fmla="*/ 61 w 87"/>
                <a:gd name="T7" fmla="*/ 4 h 87"/>
                <a:gd name="T8" fmla="*/ 68 w 87"/>
                <a:gd name="T9" fmla="*/ 8 h 87"/>
                <a:gd name="T10" fmla="*/ 75 w 87"/>
                <a:gd name="T11" fmla="*/ 12 h 87"/>
                <a:gd name="T12" fmla="*/ 79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79 w 87"/>
                <a:gd name="T27" fmla="*/ 67 h 87"/>
                <a:gd name="T28" fmla="*/ 75 w 87"/>
                <a:gd name="T29" fmla="*/ 73 h 87"/>
                <a:gd name="T30" fmla="*/ 68 w 87"/>
                <a:gd name="T31" fmla="*/ 78 h 87"/>
                <a:gd name="T32" fmla="*/ 61 w 87"/>
                <a:gd name="T33" fmla="*/ 83 h 87"/>
                <a:gd name="T34" fmla="*/ 53 w 87"/>
                <a:gd name="T35" fmla="*/ 85 h 87"/>
                <a:gd name="T36" fmla="*/ 44 w 87"/>
                <a:gd name="T37" fmla="*/ 87 h 87"/>
                <a:gd name="T38" fmla="*/ 44 w 87"/>
                <a:gd name="T39" fmla="*/ 87 h 87"/>
                <a:gd name="T40" fmla="*/ 35 w 87"/>
                <a:gd name="T41" fmla="*/ 85 h 87"/>
                <a:gd name="T42" fmla="*/ 27 w 87"/>
                <a:gd name="T43" fmla="*/ 83 h 87"/>
                <a:gd name="T44" fmla="*/ 20 w 87"/>
                <a:gd name="T45" fmla="*/ 78 h 87"/>
                <a:gd name="T46" fmla="*/ 13 w 87"/>
                <a:gd name="T47" fmla="*/ 73 h 87"/>
                <a:gd name="T48" fmla="*/ 9 w 87"/>
                <a:gd name="T49" fmla="*/ 67 h 87"/>
                <a:gd name="T50" fmla="*/ 5 w 87"/>
                <a:gd name="T51" fmla="*/ 61 h 87"/>
                <a:gd name="T52" fmla="*/ 2 w 87"/>
                <a:gd name="T53" fmla="*/ 52 h 87"/>
                <a:gd name="T54" fmla="*/ 0 w 87"/>
                <a:gd name="T55" fmla="*/ 43 h 87"/>
                <a:gd name="T56" fmla="*/ 0 w 87"/>
                <a:gd name="T57" fmla="*/ 43 h 87"/>
                <a:gd name="T58" fmla="*/ 2 w 87"/>
                <a:gd name="T59" fmla="*/ 34 h 87"/>
                <a:gd name="T60" fmla="*/ 5 w 87"/>
                <a:gd name="T61" fmla="*/ 26 h 87"/>
                <a:gd name="T62" fmla="*/ 9 w 87"/>
                <a:gd name="T63" fmla="*/ 19 h 87"/>
                <a:gd name="T64" fmla="*/ 13 w 87"/>
                <a:gd name="T65" fmla="*/ 12 h 87"/>
                <a:gd name="T66" fmla="*/ 20 w 87"/>
                <a:gd name="T67" fmla="*/ 8 h 87"/>
                <a:gd name="T68" fmla="*/ 27 w 87"/>
                <a:gd name="T69" fmla="*/ 4 h 87"/>
                <a:gd name="T70" fmla="*/ 35 w 87"/>
                <a:gd name="T71" fmla="*/ 1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1"/>
                  </a:lnTo>
                  <a:lnTo>
                    <a:pt x="61" y="4"/>
                  </a:lnTo>
                  <a:lnTo>
                    <a:pt x="68" y="8"/>
                  </a:lnTo>
                  <a:lnTo>
                    <a:pt x="75" y="12"/>
                  </a:lnTo>
                  <a:lnTo>
                    <a:pt x="79" y="19"/>
                  </a:lnTo>
                  <a:lnTo>
                    <a:pt x="83" y="26"/>
                  </a:lnTo>
                  <a:lnTo>
                    <a:pt x="86" y="34"/>
                  </a:lnTo>
                  <a:lnTo>
                    <a:pt x="87" y="43"/>
                  </a:lnTo>
                  <a:lnTo>
                    <a:pt x="87" y="43"/>
                  </a:lnTo>
                  <a:lnTo>
                    <a:pt x="86" y="52"/>
                  </a:lnTo>
                  <a:lnTo>
                    <a:pt x="83" y="61"/>
                  </a:lnTo>
                  <a:lnTo>
                    <a:pt x="79" y="67"/>
                  </a:lnTo>
                  <a:lnTo>
                    <a:pt x="75" y="73"/>
                  </a:lnTo>
                  <a:lnTo>
                    <a:pt x="68" y="78"/>
                  </a:lnTo>
                  <a:lnTo>
                    <a:pt x="61" y="83"/>
                  </a:lnTo>
                  <a:lnTo>
                    <a:pt x="53" y="85"/>
                  </a:lnTo>
                  <a:lnTo>
                    <a:pt x="44" y="87"/>
                  </a:lnTo>
                  <a:lnTo>
                    <a:pt x="44" y="87"/>
                  </a:lnTo>
                  <a:lnTo>
                    <a:pt x="35" y="85"/>
                  </a:lnTo>
                  <a:lnTo>
                    <a:pt x="27" y="83"/>
                  </a:lnTo>
                  <a:lnTo>
                    <a:pt x="20" y="78"/>
                  </a:lnTo>
                  <a:lnTo>
                    <a:pt x="13" y="73"/>
                  </a:lnTo>
                  <a:lnTo>
                    <a:pt x="9" y="67"/>
                  </a:lnTo>
                  <a:lnTo>
                    <a:pt x="5" y="61"/>
                  </a:lnTo>
                  <a:lnTo>
                    <a:pt x="2" y="52"/>
                  </a:lnTo>
                  <a:lnTo>
                    <a:pt x="0" y="43"/>
                  </a:lnTo>
                  <a:lnTo>
                    <a:pt x="0" y="43"/>
                  </a:lnTo>
                  <a:lnTo>
                    <a:pt x="2" y="34"/>
                  </a:lnTo>
                  <a:lnTo>
                    <a:pt x="5" y="26"/>
                  </a:lnTo>
                  <a:lnTo>
                    <a:pt x="9" y="19"/>
                  </a:lnTo>
                  <a:lnTo>
                    <a:pt x="13" y="12"/>
                  </a:lnTo>
                  <a:lnTo>
                    <a:pt x="20" y="8"/>
                  </a:lnTo>
                  <a:lnTo>
                    <a:pt x="27"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97"/>
            <p:cNvSpPr>
              <a:spLocks/>
            </p:cNvSpPr>
            <p:nvPr userDrawn="1"/>
          </p:nvSpPr>
          <p:spPr bwMode="auto">
            <a:xfrm>
              <a:off x="3988" y="1004"/>
              <a:ext cx="43" cy="42"/>
            </a:xfrm>
            <a:custGeom>
              <a:avLst/>
              <a:gdLst>
                <a:gd name="T0" fmla="*/ 44 w 87"/>
                <a:gd name="T1" fmla="*/ 0 h 86"/>
                <a:gd name="T2" fmla="*/ 44 w 87"/>
                <a:gd name="T3" fmla="*/ 0 h 86"/>
                <a:gd name="T4" fmla="*/ 53 w 87"/>
                <a:gd name="T5" fmla="*/ 2 h 86"/>
                <a:gd name="T6" fmla="*/ 61 w 87"/>
                <a:gd name="T7" fmla="*/ 5 h 86"/>
                <a:gd name="T8" fmla="*/ 68 w 87"/>
                <a:gd name="T9" fmla="*/ 7 h 86"/>
                <a:gd name="T10" fmla="*/ 75 w 87"/>
                <a:gd name="T11" fmla="*/ 13 h 86"/>
                <a:gd name="T12" fmla="*/ 79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79 w 87"/>
                <a:gd name="T27" fmla="*/ 68 h 86"/>
                <a:gd name="T28" fmla="*/ 75 w 87"/>
                <a:gd name="T29" fmla="*/ 73 h 86"/>
                <a:gd name="T30" fmla="*/ 68 w 87"/>
                <a:gd name="T31" fmla="*/ 79 h 86"/>
                <a:gd name="T32" fmla="*/ 61 w 87"/>
                <a:gd name="T33" fmla="*/ 83 h 86"/>
                <a:gd name="T34" fmla="*/ 53 w 87"/>
                <a:gd name="T35" fmla="*/ 86 h 86"/>
                <a:gd name="T36" fmla="*/ 44 w 87"/>
                <a:gd name="T37" fmla="*/ 86 h 86"/>
                <a:gd name="T38" fmla="*/ 44 w 87"/>
                <a:gd name="T39" fmla="*/ 86 h 86"/>
                <a:gd name="T40" fmla="*/ 35 w 87"/>
                <a:gd name="T41" fmla="*/ 86 h 86"/>
                <a:gd name="T42" fmla="*/ 27 w 87"/>
                <a:gd name="T43" fmla="*/ 83 h 86"/>
                <a:gd name="T44" fmla="*/ 20 w 87"/>
                <a:gd name="T45" fmla="*/ 79 h 86"/>
                <a:gd name="T46" fmla="*/ 13 w 87"/>
                <a:gd name="T47" fmla="*/ 73 h 86"/>
                <a:gd name="T48" fmla="*/ 9 w 87"/>
                <a:gd name="T49" fmla="*/ 68 h 86"/>
                <a:gd name="T50" fmla="*/ 5 w 87"/>
                <a:gd name="T51" fmla="*/ 59 h 86"/>
                <a:gd name="T52" fmla="*/ 2 w 87"/>
                <a:gd name="T53" fmla="*/ 53 h 86"/>
                <a:gd name="T54" fmla="*/ 0 w 87"/>
                <a:gd name="T55" fmla="*/ 43 h 86"/>
                <a:gd name="T56" fmla="*/ 0 w 87"/>
                <a:gd name="T57" fmla="*/ 43 h 86"/>
                <a:gd name="T58" fmla="*/ 2 w 87"/>
                <a:gd name="T59" fmla="*/ 35 h 86"/>
                <a:gd name="T60" fmla="*/ 5 w 87"/>
                <a:gd name="T61" fmla="*/ 27 h 86"/>
                <a:gd name="T62" fmla="*/ 9 w 87"/>
                <a:gd name="T63" fmla="*/ 20 h 86"/>
                <a:gd name="T64" fmla="*/ 13 w 87"/>
                <a:gd name="T65" fmla="*/ 13 h 86"/>
                <a:gd name="T66" fmla="*/ 20 w 87"/>
                <a:gd name="T67" fmla="*/ 7 h 86"/>
                <a:gd name="T68" fmla="*/ 27 w 87"/>
                <a:gd name="T69" fmla="*/ 5 h 86"/>
                <a:gd name="T70" fmla="*/ 35 w 87"/>
                <a:gd name="T71" fmla="*/ 2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2"/>
                  </a:lnTo>
                  <a:lnTo>
                    <a:pt x="61" y="5"/>
                  </a:lnTo>
                  <a:lnTo>
                    <a:pt x="68" y="7"/>
                  </a:lnTo>
                  <a:lnTo>
                    <a:pt x="75" y="13"/>
                  </a:lnTo>
                  <a:lnTo>
                    <a:pt x="79" y="20"/>
                  </a:lnTo>
                  <a:lnTo>
                    <a:pt x="83" y="27"/>
                  </a:lnTo>
                  <a:lnTo>
                    <a:pt x="86" y="35"/>
                  </a:lnTo>
                  <a:lnTo>
                    <a:pt x="87" y="43"/>
                  </a:lnTo>
                  <a:lnTo>
                    <a:pt x="87" y="43"/>
                  </a:lnTo>
                  <a:lnTo>
                    <a:pt x="86" y="53"/>
                  </a:lnTo>
                  <a:lnTo>
                    <a:pt x="83" y="59"/>
                  </a:lnTo>
                  <a:lnTo>
                    <a:pt x="79" y="68"/>
                  </a:lnTo>
                  <a:lnTo>
                    <a:pt x="75" y="73"/>
                  </a:lnTo>
                  <a:lnTo>
                    <a:pt x="68" y="79"/>
                  </a:lnTo>
                  <a:lnTo>
                    <a:pt x="61" y="83"/>
                  </a:lnTo>
                  <a:lnTo>
                    <a:pt x="53" y="86"/>
                  </a:lnTo>
                  <a:lnTo>
                    <a:pt x="44" y="86"/>
                  </a:lnTo>
                  <a:lnTo>
                    <a:pt x="44" y="86"/>
                  </a:lnTo>
                  <a:lnTo>
                    <a:pt x="35" y="86"/>
                  </a:lnTo>
                  <a:lnTo>
                    <a:pt x="27" y="83"/>
                  </a:lnTo>
                  <a:lnTo>
                    <a:pt x="20" y="79"/>
                  </a:lnTo>
                  <a:lnTo>
                    <a:pt x="13" y="73"/>
                  </a:lnTo>
                  <a:lnTo>
                    <a:pt x="9" y="68"/>
                  </a:lnTo>
                  <a:lnTo>
                    <a:pt x="5" y="59"/>
                  </a:lnTo>
                  <a:lnTo>
                    <a:pt x="2" y="53"/>
                  </a:lnTo>
                  <a:lnTo>
                    <a:pt x="0" y="43"/>
                  </a:lnTo>
                  <a:lnTo>
                    <a:pt x="0" y="43"/>
                  </a:lnTo>
                  <a:lnTo>
                    <a:pt x="2" y="35"/>
                  </a:lnTo>
                  <a:lnTo>
                    <a:pt x="5" y="27"/>
                  </a:lnTo>
                  <a:lnTo>
                    <a:pt x="9" y="20"/>
                  </a:lnTo>
                  <a:lnTo>
                    <a:pt x="13" y="13"/>
                  </a:lnTo>
                  <a:lnTo>
                    <a:pt x="20" y="7"/>
                  </a:lnTo>
                  <a:lnTo>
                    <a:pt x="27"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98"/>
            <p:cNvSpPr>
              <a:spLocks/>
            </p:cNvSpPr>
            <p:nvPr userDrawn="1"/>
          </p:nvSpPr>
          <p:spPr bwMode="auto">
            <a:xfrm>
              <a:off x="3988" y="947"/>
              <a:ext cx="43" cy="43"/>
            </a:xfrm>
            <a:custGeom>
              <a:avLst/>
              <a:gdLst>
                <a:gd name="T0" fmla="*/ 44 w 87"/>
                <a:gd name="T1" fmla="*/ 0 h 85"/>
                <a:gd name="T2" fmla="*/ 44 w 87"/>
                <a:gd name="T3" fmla="*/ 0 h 85"/>
                <a:gd name="T4" fmla="*/ 53 w 87"/>
                <a:gd name="T5" fmla="*/ 1 h 85"/>
                <a:gd name="T6" fmla="*/ 61 w 87"/>
                <a:gd name="T7" fmla="*/ 2 h 85"/>
                <a:gd name="T8" fmla="*/ 68 w 87"/>
                <a:gd name="T9" fmla="*/ 7 h 85"/>
                <a:gd name="T10" fmla="*/ 75 w 87"/>
                <a:gd name="T11" fmla="*/ 12 h 85"/>
                <a:gd name="T12" fmla="*/ 79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7 h 85"/>
                <a:gd name="T28" fmla="*/ 75 w 87"/>
                <a:gd name="T29" fmla="*/ 73 h 85"/>
                <a:gd name="T30" fmla="*/ 68 w 87"/>
                <a:gd name="T31" fmla="*/ 78 h 85"/>
                <a:gd name="T32" fmla="*/ 61 w 87"/>
                <a:gd name="T33" fmla="*/ 82 h 85"/>
                <a:gd name="T34" fmla="*/ 53 w 87"/>
                <a:gd name="T35" fmla="*/ 85 h 85"/>
                <a:gd name="T36" fmla="*/ 44 w 87"/>
                <a:gd name="T37" fmla="*/ 85 h 85"/>
                <a:gd name="T38" fmla="*/ 44 w 87"/>
                <a:gd name="T39" fmla="*/ 85 h 85"/>
                <a:gd name="T40" fmla="*/ 35 w 87"/>
                <a:gd name="T41" fmla="*/ 85 h 85"/>
                <a:gd name="T42" fmla="*/ 27 w 87"/>
                <a:gd name="T43" fmla="*/ 82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2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2"/>
                  </a:lnTo>
                  <a:lnTo>
                    <a:pt x="68" y="7"/>
                  </a:lnTo>
                  <a:lnTo>
                    <a:pt x="75" y="12"/>
                  </a:lnTo>
                  <a:lnTo>
                    <a:pt x="79" y="19"/>
                  </a:lnTo>
                  <a:lnTo>
                    <a:pt x="83" y="26"/>
                  </a:lnTo>
                  <a:lnTo>
                    <a:pt x="86" y="34"/>
                  </a:lnTo>
                  <a:lnTo>
                    <a:pt x="87" y="42"/>
                  </a:lnTo>
                  <a:lnTo>
                    <a:pt x="87" y="42"/>
                  </a:lnTo>
                  <a:lnTo>
                    <a:pt x="86" y="51"/>
                  </a:lnTo>
                  <a:lnTo>
                    <a:pt x="83" y="59"/>
                  </a:lnTo>
                  <a:lnTo>
                    <a:pt x="79" y="67"/>
                  </a:lnTo>
                  <a:lnTo>
                    <a:pt x="75" y="73"/>
                  </a:lnTo>
                  <a:lnTo>
                    <a:pt x="68" y="78"/>
                  </a:lnTo>
                  <a:lnTo>
                    <a:pt x="61" y="82"/>
                  </a:lnTo>
                  <a:lnTo>
                    <a:pt x="53" y="85"/>
                  </a:lnTo>
                  <a:lnTo>
                    <a:pt x="44" y="85"/>
                  </a:lnTo>
                  <a:lnTo>
                    <a:pt x="44" y="85"/>
                  </a:lnTo>
                  <a:lnTo>
                    <a:pt x="35" y="85"/>
                  </a:lnTo>
                  <a:lnTo>
                    <a:pt x="27" y="82"/>
                  </a:lnTo>
                  <a:lnTo>
                    <a:pt x="20" y="78"/>
                  </a:lnTo>
                  <a:lnTo>
                    <a:pt x="13" y="73"/>
                  </a:lnTo>
                  <a:lnTo>
                    <a:pt x="9" y="67"/>
                  </a:lnTo>
                  <a:lnTo>
                    <a:pt x="5" y="59"/>
                  </a:lnTo>
                  <a:lnTo>
                    <a:pt x="2" y="51"/>
                  </a:lnTo>
                  <a:lnTo>
                    <a:pt x="0" y="42"/>
                  </a:lnTo>
                  <a:lnTo>
                    <a:pt x="0" y="42"/>
                  </a:lnTo>
                  <a:lnTo>
                    <a:pt x="2" y="34"/>
                  </a:lnTo>
                  <a:lnTo>
                    <a:pt x="5" y="26"/>
                  </a:lnTo>
                  <a:lnTo>
                    <a:pt x="9" y="19"/>
                  </a:lnTo>
                  <a:lnTo>
                    <a:pt x="13" y="12"/>
                  </a:lnTo>
                  <a:lnTo>
                    <a:pt x="20" y="7"/>
                  </a:lnTo>
                  <a:lnTo>
                    <a:pt x="27" y="2"/>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99"/>
            <p:cNvSpPr>
              <a:spLocks/>
            </p:cNvSpPr>
            <p:nvPr userDrawn="1"/>
          </p:nvSpPr>
          <p:spPr bwMode="auto">
            <a:xfrm>
              <a:off x="3988" y="891"/>
              <a:ext cx="43" cy="43"/>
            </a:xfrm>
            <a:custGeom>
              <a:avLst/>
              <a:gdLst>
                <a:gd name="T0" fmla="*/ 44 w 87"/>
                <a:gd name="T1" fmla="*/ 0 h 85"/>
                <a:gd name="T2" fmla="*/ 44 w 87"/>
                <a:gd name="T3" fmla="*/ 0 h 85"/>
                <a:gd name="T4" fmla="*/ 53 w 87"/>
                <a:gd name="T5" fmla="*/ 1 h 85"/>
                <a:gd name="T6" fmla="*/ 61 w 87"/>
                <a:gd name="T7" fmla="*/ 3 h 85"/>
                <a:gd name="T8" fmla="*/ 68 w 87"/>
                <a:gd name="T9" fmla="*/ 7 h 85"/>
                <a:gd name="T10" fmla="*/ 75 w 87"/>
                <a:gd name="T11" fmla="*/ 12 h 85"/>
                <a:gd name="T12" fmla="*/ 79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7 h 85"/>
                <a:gd name="T28" fmla="*/ 75 w 87"/>
                <a:gd name="T29" fmla="*/ 73 h 85"/>
                <a:gd name="T30" fmla="*/ 68 w 87"/>
                <a:gd name="T31" fmla="*/ 78 h 85"/>
                <a:gd name="T32" fmla="*/ 61 w 87"/>
                <a:gd name="T33" fmla="*/ 83 h 85"/>
                <a:gd name="T34" fmla="*/ 53 w 87"/>
                <a:gd name="T35" fmla="*/ 85 h 85"/>
                <a:gd name="T36" fmla="*/ 44 w 87"/>
                <a:gd name="T37" fmla="*/ 85 h 85"/>
                <a:gd name="T38" fmla="*/ 44 w 87"/>
                <a:gd name="T39" fmla="*/ 85 h 85"/>
                <a:gd name="T40" fmla="*/ 35 w 87"/>
                <a:gd name="T41" fmla="*/ 85 h 85"/>
                <a:gd name="T42" fmla="*/ 27 w 87"/>
                <a:gd name="T43" fmla="*/ 83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3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3"/>
                  </a:lnTo>
                  <a:lnTo>
                    <a:pt x="68" y="7"/>
                  </a:lnTo>
                  <a:lnTo>
                    <a:pt x="75" y="12"/>
                  </a:lnTo>
                  <a:lnTo>
                    <a:pt x="79" y="19"/>
                  </a:lnTo>
                  <a:lnTo>
                    <a:pt x="83" y="26"/>
                  </a:lnTo>
                  <a:lnTo>
                    <a:pt x="86" y="34"/>
                  </a:lnTo>
                  <a:lnTo>
                    <a:pt x="87" y="43"/>
                  </a:lnTo>
                  <a:lnTo>
                    <a:pt x="87" y="43"/>
                  </a:lnTo>
                  <a:lnTo>
                    <a:pt x="86" y="51"/>
                  </a:lnTo>
                  <a:lnTo>
                    <a:pt x="83" y="59"/>
                  </a:lnTo>
                  <a:lnTo>
                    <a:pt x="79" y="67"/>
                  </a:lnTo>
                  <a:lnTo>
                    <a:pt x="75" y="73"/>
                  </a:lnTo>
                  <a:lnTo>
                    <a:pt x="68" y="78"/>
                  </a:lnTo>
                  <a:lnTo>
                    <a:pt x="61" y="83"/>
                  </a:lnTo>
                  <a:lnTo>
                    <a:pt x="53" y="85"/>
                  </a:lnTo>
                  <a:lnTo>
                    <a:pt x="44" y="85"/>
                  </a:lnTo>
                  <a:lnTo>
                    <a:pt x="44" y="85"/>
                  </a:lnTo>
                  <a:lnTo>
                    <a:pt x="35" y="85"/>
                  </a:lnTo>
                  <a:lnTo>
                    <a:pt x="27" y="83"/>
                  </a:lnTo>
                  <a:lnTo>
                    <a:pt x="20" y="78"/>
                  </a:lnTo>
                  <a:lnTo>
                    <a:pt x="13" y="73"/>
                  </a:lnTo>
                  <a:lnTo>
                    <a:pt x="9" y="67"/>
                  </a:lnTo>
                  <a:lnTo>
                    <a:pt x="5" y="59"/>
                  </a:lnTo>
                  <a:lnTo>
                    <a:pt x="2" y="51"/>
                  </a:lnTo>
                  <a:lnTo>
                    <a:pt x="0" y="43"/>
                  </a:lnTo>
                  <a:lnTo>
                    <a:pt x="0" y="43"/>
                  </a:lnTo>
                  <a:lnTo>
                    <a:pt x="2" y="34"/>
                  </a:lnTo>
                  <a:lnTo>
                    <a:pt x="5" y="26"/>
                  </a:lnTo>
                  <a:lnTo>
                    <a:pt x="9" y="19"/>
                  </a:lnTo>
                  <a:lnTo>
                    <a:pt x="13" y="12"/>
                  </a:lnTo>
                  <a:lnTo>
                    <a:pt x="20" y="7"/>
                  </a:lnTo>
                  <a:lnTo>
                    <a:pt x="27" y="3"/>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100"/>
            <p:cNvSpPr>
              <a:spLocks/>
            </p:cNvSpPr>
            <p:nvPr userDrawn="1"/>
          </p:nvSpPr>
          <p:spPr bwMode="auto">
            <a:xfrm>
              <a:off x="4044" y="1230"/>
              <a:ext cx="44" cy="42"/>
            </a:xfrm>
            <a:custGeom>
              <a:avLst/>
              <a:gdLst>
                <a:gd name="T0" fmla="*/ 44 w 87"/>
                <a:gd name="T1" fmla="*/ 0 h 86"/>
                <a:gd name="T2" fmla="*/ 44 w 87"/>
                <a:gd name="T3" fmla="*/ 0 h 86"/>
                <a:gd name="T4" fmla="*/ 53 w 87"/>
                <a:gd name="T5" fmla="*/ 0 h 86"/>
                <a:gd name="T6" fmla="*/ 61 w 87"/>
                <a:gd name="T7" fmla="*/ 3 h 86"/>
                <a:gd name="T8" fmla="*/ 68 w 87"/>
                <a:gd name="T9" fmla="*/ 7 h 86"/>
                <a:gd name="T10" fmla="*/ 75 w 87"/>
                <a:gd name="T11" fmla="*/ 13 h 86"/>
                <a:gd name="T12" fmla="*/ 80 w 87"/>
                <a:gd name="T13" fmla="*/ 18 h 86"/>
                <a:gd name="T14" fmla="*/ 83 w 87"/>
                <a:gd name="T15" fmla="*/ 27 h 86"/>
                <a:gd name="T16" fmla="*/ 86 w 87"/>
                <a:gd name="T17" fmla="*/ 33 h 86"/>
                <a:gd name="T18" fmla="*/ 87 w 87"/>
                <a:gd name="T19" fmla="*/ 43 h 86"/>
                <a:gd name="T20" fmla="*/ 87 w 87"/>
                <a:gd name="T21" fmla="*/ 43 h 86"/>
                <a:gd name="T22" fmla="*/ 86 w 87"/>
                <a:gd name="T23" fmla="*/ 51 h 86"/>
                <a:gd name="T24" fmla="*/ 83 w 87"/>
                <a:gd name="T25" fmla="*/ 60 h 86"/>
                <a:gd name="T26" fmla="*/ 80 w 87"/>
                <a:gd name="T27" fmla="*/ 66 h 86"/>
                <a:gd name="T28" fmla="*/ 75 w 87"/>
                <a:gd name="T29" fmla="*/ 73 h 86"/>
                <a:gd name="T30" fmla="*/ 68 w 87"/>
                <a:gd name="T31" fmla="*/ 79 h 86"/>
                <a:gd name="T32" fmla="*/ 61 w 87"/>
                <a:gd name="T33" fmla="*/ 82 h 86"/>
                <a:gd name="T34" fmla="*/ 53 w 87"/>
                <a:gd name="T35" fmla="*/ 84 h 86"/>
                <a:gd name="T36" fmla="*/ 44 w 87"/>
                <a:gd name="T37" fmla="*/ 86 h 86"/>
                <a:gd name="T38" fmla="*/ 44 w 87"/>
                <a:gd name="T39" fmla="*/ 86 h 86"/>
                <a:gd name="T40" fmla="*/ 35 w 87"/>
                <a:gd name="T41" fmla="*/ 84 h 86"/>
                <a:gd name="T42" fmla="*/ 28 w 87"/>
                <a:gd name="T43" fmla="*/ 82 h 86"/>
                <a:gd name="T44" fmla="*/ 20 w 87"/>
                <a:gd name="T45" fmla="*/ 79 h 86"/>
                <a:gd name="T46" fmla="*/ 14 w 87"/>
                <a:gd name="T47" fmla="*/ 73 h 86"/>
                <a:gd name="T48" fmla="*/ 9 w 87"/>
                <a:gd name="T49" fmla="*/ 66 h 86"/>
                <a:gd name="T50" fmla="*/ 4 w 87"/>
                <a:gd name="T51" fmla="*/ 60 h 86"/>
                <a:gd name="T52" fmla="*/ 2 w 87"/>
                <a:gd name="T53" fmla="*/ 51 h 86"/>
                <a:gd name="T54" fmla="*/ 0 w 87"/>
                <a:gd name="T55" fmla="*/ 43 h 86"/>
                <a:gd name="T56" fmla="*/ 0 w 87"/>
                <a:gd name="T57" fmla="*/ 43 h 86"/>
                <a:gd name="T58" fmla="*/ 2 w 87"/>
                <a:gd name="T59" fmla="*/ 33 h 86"/>
                <a:gd name="T60" fmla="*/ 4 w 87"/>
                <a:gd name="T61" fmla="*/ 27 h 86"/>
                <a:gd name="T62" fmla="*/ 9 w 87"/>
                <a:gd name="T63" fmla="*/ 18 h 86"/>
                <a:gd name="T64" fmla="*/ 14 w 87"/>
                <a:gd name="T65" fmla="*/ 13 h 86"/>
                <a:gd name="T66" fmla="*/ 20 w 87"/>
                <a:gd name="T67" fmla="*/ 7 h 86"/>
                <a:gd name="T68" fmla="*/ 28 w 87"/>
                <a:gd name="T69" fmla="*/ 3 h 86"/>
                <a:gd name="T70" fmla="*/ 35 w 87"/>
                <a:gd name="T71" fmla="*/ 0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0"/>
                  </a:lnTo>
                  <a:lnTo>
                    <a:pt x="61" y="3"/>
                  </a:lnTo>
                  <a:lnTo>
                    <a:pt x="68" y="7"/>
                  </a:lnTo>
                  <a:lnTo>
                    <a:pt x="75" y="13"/>
                  </a:lnTo>
                  <a:lnTo>
                    <a:pt x="80" y="18"/>
                  </a:lnTo>
                  <a:lnTo>
                    <a:pt x="83" y="27"/>
                  </a:lnTo>
                  <a:lnTo>
                    <a:pt x="86" y="33"/>
                  </a:lnTo>
                  <a:lnTo>
                    <a:pt x="87" y="43"/>
                  </a:lnTo>
                  <a:lnTo>
                    <a:pt x="87" y="43"/>
                  </a:lnTo>
                  <a:lnTo>
                    <a:pt x="86" y="51"/>
                  </a:lnTo>
                  <a:lnTo>
                    <a:pt x="83" y="60"/>
                  </a:lnTo>
                  <a:lnTo>
                    <a:pt x="80" y="66"/>
                  </a:lnTo>
                  <a:lnTo>
                    <a:pt x="75" y="73"/>
                  </a:lnTo>
                  <a:lnTo>
                    <a:pt x="68" y="79"/>
                  </a:lnTo>
                  <a:lnTo>
                    <a:pt x="61" y="82"/>
                  </a:lnTo>
                  <a:lnTo>
                    <a:pt x="53" y="84"/>
                  </a:lnTo>
                  <a:lnTo>
                    <a:pt x="44" y="86"/>
                  </a:lnTo>
                  <a:lnTo>
                    <a:pt x="44" y="86"/>
                  </a:lnTo>
                  <a:lnTo>
                    <a:pt x="35" y="84"/>
                  </a:lnTo>
                  <a:lnTo>
                    <a:pt x="28" y="82"/>
                  </a:lnTo>
                  <a:lnTo>
                    <a:pt x="20" y="79"/>
                  </a:lnTo>
                  <a:lnTo>
                    <a:pt x="14" y="73"/>
                  </a:lnTo>
                  <a:lnTo>
                    <a:pt x="9" y="66"/>
                  </a:lnTo>
                  <a:lnTo>
                    <a:pt x="4" y="60"/>
                  </a:lnTo>
                  <a:lnTo>
                    <a:pt x="2" y="51"/>
                  </a:lnTo>
                  <a:lnTo>
                    <a:pt x="0" y="43"/>
                  </a:lnTo>
                  <a:lnTo>
                    <a:pt x="0" y="43"/>
                  </a:lnTo>
                  <a:lnTo>
                    <a:pt x="2" y="33"/>
                  </a:lnTo>
                  <a:lnTo>
                    <a:pt x="4" y="27"/>
                  </a:lnTo>
                  <a:lnTo>
                    <a:pt x="9" y="18"/>
                  </a:lnTo>
                  <a:lnTo>
                    <a:pt x="14" y="13"/>
                  </a:lnTo>
                  <a:lnTo>
                    <a:pt x="20" y="7"/>
                  </a:lnTo>
                  <a:lnTo>
                    <a:pt x="28" y="3"/>
                  </a:lnTo>
                  <a:lnTo>
                    <a:pt x="35" y="0"/>
                  </a:lnTo>
                  <a:lnTo>
                    <a:pt x="44" y="0"/>
                  </a:lnTo>
                  <a:lnTo>
                    <a:pt x="44"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101"/>
            <p:cNvSpPr>
              <a:spLocks/>
            </p:cNvSpPr>
            <p:nvPr userDrawn="1"/>
          </p:nvSpPr>
          <p:spPr bwMode="auto">
            <a:xfrm>
              <a:off x="4044" y="1173"/>
              <a:ext cx="44" cy="43"/>
            </a:xfrm>
            <a:custGeom>
              <a:avLst/>
              <a:gdLst>
                <a:gd name="T0" fmla="*/ 44 w 87"/>
                <a:gd name="T1" fmla="*/ 0 h 87"/>
                <a:gd name="T2" fmla="*/ 44 w 87"/>
                <a:gd name="T3" fmla="*/ 0 h 87"/>
                <a:gd name="T4" fmla="*/ 53 w 87"/>
                <a:gd name="T5" fmla="*/ 2 h 87"/>
                <a:gd name="T6" fmla="*/ 61 w 87"/>
                <a:gd name="T7" fmla="*/ 5 h 87"/>
                <a:gd name="T8" fmla="*/ 68 w 87"/>
                <a:gd name="T9" fmla="*/ 9 h 87"/>
                <a:gd name="T10" fmla="*/ 75 w 87"/>
                <a:gd name="T11" fmla="*/ 14 h 87"/>
                <a:gd name="T12" fmla="*/ 80 w 87"/>
                <a:gd name="T13" fmla="*/ 20 h 87"/>
                <a:gd name="T14" fmla="*/ 83 w 87"/>
                <a:gd name="T15" fmla="*/ 27 h 87"/>
                <a:gd name="T16" fmla="*/ 86 w 87"/>
                <a:gd name="T17" fmla="*/ 35 h 87"/>
                <a:gd name="T18" fmla="*/ 87 w 87"/>
                <a:gd name="T19" fmla="*/ 44 h 87"/>
                <a:gd name="T20" fmla="*/ 87 w 87"/>
                <a:gd name="T21" fmla="*/ 44 h 87"/>
                <a:gd name="T22" fmla="*/ 86 w 87"/>
                <a:gd name="T23" fmla="*/ 53 h 87"/>
                <a:gd name="T24" fmla="*/ 83 w 87"/>
                <a:gd name="T25" fmla="*/ 61 h 87"/>
                <a:gd name="T26" fmla="*/ 80 w 87"/>
                <a:gd name="T27" fmla="*/ 68 h 87"/>
                <a:gd name="T28" fmla="*/ 75 w 87"/>
                <a:gd name="T29" fmla="*/ 75 h 87"/>
                <a:gd name="T30" fmla="*/ 68 w 87"/>
                <a:gd name="T31" fmla="*/ 79 h 87"/>
                <a:gd name="T32" fmla="*/ 61 w 87"/>
                <a:gd name="T33" fmla="*/ 83 h 87"/>
                <a:gd name="T34" fmla="*/ 53 w 87"/>
                <a:gd name="T35" fmla="*/ 86 h 87"/>
                <a:gd name="T36" fmla="*/ 44 w 87"/>
                <a:gd name="T37" fmla="*/ 87 h 87"/>
                <a:gd name="T38" fmla="*/ 44 w 87"/>
                <a:gd name="T39" fmla="*/ 87 h 87"/>
                <a:gd name="T40" fmla="*/ 35 w 87"/>
                <a:gd name="T41" fmla="*/ 86 h 87"/>
                <a:gd name="T42" fmla="*/ 28 w 87"/>
                <a:gd name="T43" fmla="*/ 83 h 87"/>
                <a:gd name="T44" fmla="*/ 20 w 87"/>
                <a:gd name="T45" fmla="*/ 79 h 87"/>
                <a:gd name="T46" fmla="*/ 14 w 87"/>
                <a:gd name="T47" fmla="*/ 75 h 87"/>
                <a:gd name="T48" fmla="*/ 9 w 87"/>
                <a:gd name="T49" fmla="*/ 68 h 87"/>
                <a:gd name="T50" fmla="*/ 4 w 87"/>
                <a:gd name="T51" fmla="*/ 61 h 87"/>
                <a:gd name="T52" fmla="*/ 2 w 87"/>
                <a:gd name="T53" fmla="*/ 53 h 87"/>
                <a:gd name="T54" fmla="*/ 0 w 87"/>
                <a:gd name="T55" fmla="*/ 44 h 87"/>
                <a:gd name="T56" fmla="*/ 0 w 87"/>
                <a:gd name="T57" fmla="*/ 44 h 87"/>
                <a:gd name="T58" fmla="*/ 2 w 87"/>
                <a:gd name="T59" fmla="*/ 35 h 87"/>
                <a:gd name="T60" fmla="*/ 4 w 87"/>
                <a:gd name="T61" fmla="*/ 27 h 87"/>
                <a:gd name="T62" fmla="*/ 9 w 87"/>
                <a:gd name="T63" fmla="*/ 20 h 87"/>
                <a:gd name="T64" fmla="*/ 14 w 87"/>
                <a:gd name="T65" fmla="*/ 14 h 87"/>
                <a:gd name="T66" fmla="*/ 20 w 87"/>
                <a:gd name="T67" fmla="*/ 9 h 87"/>
                <a:gd name="T68" fmla="*/ 28 w 87"/>
                <a:gd name="T69" fmla="*/ 5 h 87"/>
                <a:gd name="T70" fmla="*/ 35 w 87"/>
                <a:gd name="T71" fmla="*/ 2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2"/>
                  </a:lnTo>
                  <a:lnTo>
                    <a:pt x="61" y="5"/>
                  </a:lnTo>
                  <a:lnTo>
                    <a:pt x="68" y="9"/>
                  </a:lnTo>
                  <a:lnTo>
                    <a:pt x="75" y="14"/>
                  </a:lnTo>
                  <a:lnTo>
                    <a:pt x="80" y="20"/>
                  </a:lnTo>
                  <a:lnTo>
                    <a:pt x="83" y="27"/>
                  </a:lnTo>
                  <a:lnTo>
                    <a:pt x="86" y="35"/>
                  </a:lnTo>
                  <a:lnTo>
                    <a:pt x="87" y="44"/>
                  </a:lnTo>
                  <a:lnTo>
                    <a:pt x="87" y="44"/>
                  </a:lnTo>
                  <a:lnTo>
                    <a:pt x="86" y="53"/>
                  </a:lnTo>
                  <a:lnTo>
                    <a:pt x="83" y="61"/>
                  </a:lnTo>
                  <a:lnTo>
                    <a:pt x="80" y="68"/>
                  </a:lnTo>
                  <a:lnTo>
                    <a:pt x="75" y="75"/>
                  </a:lnTo>
                  <a:lnTo>
                    <a:pt x="68" y="79"/>
                  </a:lnTo>
                  <a:lnTo>
                    <a:pt x="61" y="83"/>
                  </a:lnTo>
                  <a:lnTo>
                    <a:pt x="53" y="86"/>
                  </a:lnTo>
                  <a:lnTo>
                    <a:pt x="44" y="87"/>
                  </a:lnTo>
                  <a:lnTo>
                    <a:pt x="44" y="87"/>
                  </a:lnTo>
                  <a:lnTo>
                    <a:pt x="35" y="86"/>
                  </a:lnTo>
                  <a:lnTo>
                    <a:pt x="28" y="83"/>
                  </a:lnTo>
                  <a:lnTo>
                    <a:pt x="20" y="79"/>
                  </a:lnTo>
                  <a:lnTo>
                    <a:pt x="14" y="75"/>
                  </a:lnTo>
                  <a:lnTo>
                    <a:pt x="9" y="68"/>
                  </a:lnTo>
                  <a:lnTo>
                    <a:pt x="4" y="61"/>
                  </a:lnTo>
                  <a:lnTo>
                    <a:pt x="2" y="53"/>
                  </a:lnTo>
                  <a:lnTo>
                    <a:pt x="0" y="44"/>
                  </a:lnTo>
                  <a:lnTo>
                    <a:pt x="0" y="44"/>
                  </a:lnTo>
                  <a:lnTo>
                    <a:pt x="2" y="35"/>
                  </a:lnTo>
                  <a:lnTo>
                    <a:pt x="4" y="27"/>
                  </a:lnTo>
                  <a:lnTo>
                    <a:pt x="9" y="20"/>
                  </a:lnTo>
                  <a:lnTo>
                    <a:pt x="14" y="14"/>
                  </a:lnTo>
                  <a:lnTo>
                    <a:pt x="20" y="9"/>
                  </a:lnTo>
                  <a:lnTo>
                    <a:pt x="28"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102"/>
            <p:cNvSpPr>
              <a:spLocks/>
            </p:cNvSpPr>
            <p:nvPr userDrawn="1"/>
          </p:nvSpPr>
          <p:spPr bwMode="auto">
            <a:xfrm>
              <a:off x="4044" y="1116"/>
              <a:ext cx="44" cy="44"/>
            </a:xfrm>
            <a:custGeom>
              <a:avLst/>
              <a:gdLst>
                <a:gd name="T0" fmla="*/ 44 w 87"/>
                <a:gd name="T1" fmla="*/ 0 h 86"/>
                <a:gd name="T2" fmla="*/ 44 w 87"/>
                <a:gd name="T3" fmla="*/ 0 h 86"/>
                <a:gd name="T4" fmla="*/ 53 w 87"/>
                <a:gd name="T5" fmla="*/ 1 h 86"/>
                <a:gd name="T6" fmla="*/ 61 w 87"/>
                <a:gd name="T7" fmla="*/ 4 h 86"/>
                <a:gd name="T8" fmla="*/ 68 w 87"/>
                <a:gd name="T9" fmla="*/ 8 h 86"/>
                <a:gd name="T10" fmla="*/ 75 w 87"/>
                <a:gd name="T11" fmla="*/ 12 h 86"/>
                <a:gd name="T12" fmla="*/ 80 w 87"/>
                <a:gd name="T13" fmla="*/ 19 h 86"/>
                <a:gd name="T14" fmla="*/ 83 w 87"/>
                <a:gd name="T15" fmla="*/ 26 h 86"/>
                <a:gd name="T16" fmla="*/ 86 w 87"/>
                <a:gd name="T17" fmla="*/ 34 h 86"/>
                <a:gd name="T18" fmla="*/ 87 w 87"/>
                <a:gd name="T19" fmla="*/ 44 h 86"/>
                <a:gd name="T20" fmla="*/ 87 w 87"/>
                <a:gd name="T21" fmla="*/ 44 h 86"/>
                <a:gd name="T22" fmla="*/ 86 w 87"/>
                <a:gd name="T23" fmla="*/ 52 h 86"/>
                <a:gd name="T24" fmla="*/ 83 w 87"/>
                <a:gd name="T25" fmla="*/ 60 h 86"/>
                <a:gd name="T26" fmla="*/ 80 w 87"/>
                <a:gd name="T27" fmla="*/ 67 h 86"/>
                <a:gd name="T28" fmla="*/ 75 w 87"/>
                <a:gd name="T29" fmla="*/ 74 h 86"/>
                <a:gd name="T30" fmla="*/ 68 w 87"/>
                <a:gd name="T31" fmla="*/ 78 h 86"/>
                <a:gd name="T32" fmla="*/ 61 w 87"/>
                <a:gd name="T33" fmla="*/ 82 h 86"/>
                <a:gd name="T34" fmla="*/ 53 w 87"/>
                <a:gd name="T35" fmla="*/ 85 h 86"/>
                <a:gd name="T36" fmla="*/ 44 w 87"/>
                <a:gd name="T37" fmla="*/ 86 h 86"/>
                <a:gd name="T38" fmla="*/ 44 w 87"/>
                <a:gd name="T39" fmla="*/ 86 h 86"/>
                <a:gd name="T40" fmla="*/ 35 w 87"/>
                <a:gd name="T41" fmla="*/ 85 h 86"/>
                <a:gd name="T42" fmla="*/ 28 w 87"/>
                <a:gd name="T43" fmla="*/ 82 h 86"/>
                <a:gd name="T44" fmla="*/ 20 w 87"/>
                <a:gd name="T45" fmla="*/ 78 h 86"/>
                <a:gd name="T46" fmla="*/ 14 w 87"/>
                <a:gd name="T47" fmla="*/ 74 h 86"/>
                <a:gd name="T48" fmla="*/ 9 w 87"/>
                <a:gd name="T49" fmla="*/ 67 h 86"/>
                <a:gd name="T50" fmla="*/ 4 w 87"/>
                <a:gd name="T51" fmla="*/ 60 h 86"/>
                <a:gd name="T52" fmla="*/ 2 w 87"/>
                <a:gd name="T53" fmla="*/ 52 h 86"/>
                <a:gd name="T54" fmla="*/ 0 w 87"/>
                <a:gd name="T55" fmla="*/ 44 h 86"/>
                <a:gd name="T56" fmla="*/ 0 w 87"/>
                <a:gd name="T57" fmla="*/ 44 h 86"/>
                <a:gd name="T58" fmla="*/ 2 w 87"/>
                <a:gd name="T59" fmla="*/ 34 h 86"/>
                <a:gd name="T60" fmla="*/ 4 w 87"/>
                <a:gd name="T61" fmla="*/ 26 h 86"/>
                <a:gd name="T62" fmla="*/ 9 w 87"/>
                <a:gd name="T63" fmla="*/ 19 h 86"/>
                <a:gd name="T64" fmla="*/ 14 w 87"/>
                <a:gd name="T65" fmla="*/ 12 h 86"/>
                <a:gd name="T66" fmla="*/ 20 w 87"/>
                <a:gd name="T67" fmla="*/ 8 h 86"/>
                <a:gd name="T68" fmla="*/ 28 w 87"/>
                <a:gd name="T69" fmla="*/ 4 h 86"/>
                <a:gd name="T70" fmla="*/ 35 w 87"/>
                <a:gd name="T71" fmla="*/ 1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1"/>
                  </a:lnTo>
                  <a:lnTo>
                    <a:pt x="61" y="4"/>
                  </a:lnTo>
                  <a:lnTo>
                    <a:pt x="68" y="8"/>
                  </a:lnTo>
                  <a:lnTo>
                    <a:pt x="75" y="12"/>
                  </a:lnTo>
                  <a:lnTo>
                    <a:pt x="80" y="19"/>
                  </a:lnTo>
                  <a:lnTo>
                    <a:pt x="83" y="26"/>
                  </a:lnTo>
                  <a:lnTo>
                    <a:pt x="86" y="34"/>
                  </a:lnTo>
                  <a:lnTo>
                    <a:pt x="87" y="44"/>
                  </a:lnTo>
                  <a:lnTo>
                    <a:pt x="87" y="44"/>
                  </a:lnTo>
                  <a:lnTo>
                    <a:pt x="86" y="52"/>
                  </a:lnTo>
                  <a:lnTo>
                    <a:pt x="83" y="60"/>
                  </a:lnTo>
                  <a:lnTo>
                    <a:pt x="80" y="67"/>
                  </a:lnTo>
                  <a:lnTo>
                    <a:pt x="75" y="74"/>
                  </a:lnTo>
                  <a:lnTo>
                    <a:pt x="68" y="78"/>
                  </a:lnTo>
                  <a:lnTo>
                    <a:pt x="61" y="82"/>
                  </a:lnTo>
                  <a:lnTo>
                    <a:pt x="53" y="85"/>
                  </a:lnTo>
                  <a:lnTo>
                    <a:pt x="44" y="86"/>
                  </a:lnTo>
                  <a:lnTo>
                    <a:pt x="44" y="86"/>
                  </a:lnTo>
                  <a:lnTo>
                    <a:pt x="35" y="85"/>
                  </a:lnTo>
                  <a:lnTo>
                    <a:pt x="28" y="82"/>
                  </a:lnTo>
                  <a:lnTo>
                    <a:pt x="20" y="78"/>
                  </a:lnTo>
                  <a:lnTo>
                    <a:pt x="14" y="74"/>
                  </a:lnTo>
                  <a:lnTo>
                    <a:pt x="9" y="67"/>
                  </a:lnTo>
                  <a:lnTo>
                    <a:pt x="4" y="60"/>
                  </a:lnTo>
                  <a:lnTo>
                    <a:pt x="2" y="52"/>
                  </a:lnTo>
                  <a:lnTo>
                    <a:pt x="0" y="44"/>
                  </a:lnTo>
                  <a:lnTo>
                    <a:pt x="0" y="44"/>
                  </a:lnTo>
                  <a:lnTo>
                    <a:pt x="2" y="34"/>
                  </a:lnTo>
                  <a:lnTo>
                    <a:pt x="4" y="26"/>
                  </a:lnTo>
                  <a:lnTo>
                    <a:pt x="9" y="19"/>
                  </a:lnTo>
                  <a:lnTo>
                    <a:pt x="14" y="12"/>
                  </a:lnTo>
                  <a:lnTo>
                    <a:pt x="20" y="8"/>
                  </a:lnTo>
                  <a:lnTo>
                    <a:pt x="28"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103"/>
            <p:cNvSpPr>
              <a:spLocks/>
            </p:cNvSpPr>
            <p:nvPr userDrawn="1"/>
          </p:nvSpPr>
          <p:spPr bwMode="auto">
            <a:xfrm>
              <a:off x="4044" y="1060"/>
              <a:ext cx="44" cy="43"/>
            </a:xfrm>
            <a:custGeom>
              <a:avLst/>
              <a:gdLst>
                <a:gd name="T0" fmla="*/ 44 w 87"/>
                <a:gd name="T1" fmla="*/ 0 h 87"/>
                <a:gd name="T2" fmla="*/ 44 w 87"/>
                <a:gd name="T3" fmla="*/ 0 h 87"/>
                <a:gd name="T4" fmla="*/ 53 w 87"/>
                <a:gd name="T5" fmla="*/ 1 h 87"/>
                <a:gd name="T6" fmla="*/ 61 w 87"/>
                <a:gd name="T7" fmla="*/ 4 h 87"/>
                <a:gd name="T8" fmla="*/ 68 w 87"/>
                <a:gd name="T9" fmla="*/ 8 h 87"/>
                <a:gd name="T10" fmla="*/ 75 w 87"/>
                <a:gd name="T11" fmla="*/ 12 h 87"/>
                <a:gd name="T12" fmla="*/ 80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80 w 87"/>
                <a:gd name="T27" fmla="*/ 67 h 87"/>
                <a:gd name="T28" fmla="*/ 75 w 87"/>
                <a:gd name="T29" fmla="*/ 73 h 87"/>
                <a:gd name="T30" fmla="*/ 68 w 87"/>
                <a:gd name="T31" fmla="*/ 78 h 87"/>
                <a:gd name="T32" fmla="*/ 61 w 87"/>
                <a:gd name="T33" fmla="*/ 83 h 87"/>
                <a:gd name="T34" fmla="*/ 53 w 87"/>
                <a:gd name="T35" fmla="*/ 85 h 87"/>
                <a:gd name="T36" fmla="*/ 44 w 87"/>
                <a:gd name="T37" fmla="*/ 87 h 87"/>
                <a:gd name="T38" fmla="*/ 44 w 87"/>
                <a:gd name="T39" fmla="*/ 87 h 87"/>
                <a:gd name="T40" fmla="*/ 35 w 87"/>
                <a:gd name="T41" fmla="*/ 85 h 87"/>
                <a:gd name="T42" fmla="*/ 28 w 87"/>
                <a:gd name="T43" fmla="*/ 83 h 87"/>
                <a:gd name="T44" fmla="*/ 20 w 87"/>
                <a:gd name="T45" fmla="*/ 78 h 87"/>
                <a:gd name="T46" fmla="*/ 14 w 87"/>
                <a:gd name="T47" fmla="*/ 73 h 87"/>
                <a:gd name="T48" fmla="*/ 9 w 87"/>
                <a:gd name="T49" fmla="*/ 67 h 87"/>
                <a:gd name="T50" fmla="*/ 4 w 87"/>
                <a:gd name="T51" fmla="*/ 61 h 87"/>
                <a:gd name="T52" fmla="*/ 2 w 87"/>
                <a:gd name="T53" fmla="*/ 52 h 87"/>
                <a:gd name="T54" fmla="*/ 0 w 87"/>
                <a:gd name="T55" fmla="*/ 43 h 87"/>
                <a:gd name="T56" fmla="*/ 0 w 87"/>
                <a:gd name="T57" fmla="*/ 43 h 87"/>
                <a:gd name="T58" fmla="*/ 2 w 87"/>
                <a:gd name="T59" fmla="*/ 34 h 87"/>
                <a:gd name="T60" fmla="*/ 4 w 87"/>
                <a:gd name="T61" fmla="*/ 26 h 87"/>
                <a:gd name="T62" fmla="*/ 9 w 87"/>
                <a:gd name="T63" fmla="*/ 19 h 87"/>
                <a:gd name="T64" fmla="*/ 14 w 87"/>
                <a:gd name="T65" fmla="*/ 12 h 87"/>
                <a:gd name="T66" fmla="*/ 20 w 87"/>
                <a:gd name="T67" fmla="*/ 8 h 87"/>
                <a:gd name="T68" fmla="*/ 28 w 87"/>
                <a:gd name="T69" fmla="*/ 4 h 87"/>
                <a:gd name="T70" fmla="*/ 35 w 87"/>
                <a:gd name="T71" fmla="*/ 1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1"/>
                  </a:lnTo>
                  <a:lnTo>
                    <a:pt x="61" y="4"/>
                  </a:lnTo>
                  <a:lnTo>
                    <a:pt x="68" y="8"/>
                  </a:lnTo>
                  <a:lnTo>
                    <a:pt x="75" y="12"/>
                  </a:lnTo>
                  <a:lnTo>
                    <a:pt x="80" y="19"/>
                  </a:lnTo>
                  <a:lnTo>
                    <a:pt x="83" y="26"/>
                  </a:lnTo>
                  <a:lnTo>
                    <a:pt x="86" y="34"/>
                  </a:lnTo>
                  <a:lnTo>
                    <a:pt x="87" y="43"/>
                  </a:lnTo>
                  <a:lnTo>
                    <a:pt x="87" y="43"/>
                  </a:lnTo>
                  <a:lnTo>
                    <a:pt x="86" y="52"/>
                  </a:lnTo>
                  <a:lnTo>
                    <a:pt x="83" y="61"/>
                  </a:lnTo>
                  <a:lnTo>
                    <a:pt x="80" y="67"/>
                  </a:lnTo>
                  <a:lnTo>
                    <a:pt x="75" y="73"/>
                  </a:lnTo>
                  <a:lnTo>
                    <a:pt x="68" y="78"/>
                  </a:lnTo>
                  <a:lnTo>
                    <a:pt x="61" y="83"/>
                  </a:lnTo>
                  <a:lnTo>
                    <a:pt x="53" y="85"/>
                  </a:lnTo>
                  <a:lnTo>
                    <a:pt x="44" y="87"/>
                  </a:lnTo>
                  <a:lnTo>
                    <a:pt x="44" y="87"/>
                  </a:lnTo>
                  <a:lnTo>
                    <a:pt x="35" y="85"/>
                  </a:lnTo>
                  <a:lnTo>
                    <a:pt x="28" y="83"/>
                  </a:lnTo>
                  <a:lnTo>
                    <a:pt x="20" y="78"/>
                  </a:lnTo>
                  <a:lnTo>
                    <a:pt x="14" y="73"/>
                  </a:lnTo>
                  <a:lnTo>
                    <a:pt x="9" y="67"/>
                  </a:lnTo>
                  <a:lnTo>
                    <a:pt x="4" y="61"/>
                  </a:lnTo>
                  <a:lnTo>
                    <a:pt x="2" y="52"/>
                  </a:lnTo>
                  <a:lnTo>
                    <a:pt x="0" y="43"/>
                  </a:lnTo>
                  <a:lnTo>
                    <a:pt x="0" y="43"/>
                  </a:lnTo>
                  <a:lnTo>
                    <a:pt x="2" y="34"/>
                  </a:lnTo>
                  <a:lnTo>
                    <a:pt x="4" y="26"/>
                  </a:lnTo>
                  <a:lnTo>
                    <a:pt x="9" y="19"/>
                  </a:lnTo>
                  <a:lnTo>
                    <a:pt x="14" y="12"/>
                  </a:lnTo>
                  <a:lnTo>
                    <a:pt x="20" y="8"/>
                  </a:lnTo>
                  <a:lnTo>
                    <a:pt x="28"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104"/>
            <p:cNvSpPr>
              <a:spLocks/>
            </p:cNvSpPr>
            <p:nvPr userDrawn="1"/>
          </p:nvSpPr>
          <p:spPr bwMode="auto">
            <a:xfrm>
              <a:off x="4044" y="1004"/>
              <a:ext cx="44" cy="42"/>
            </a:xfrm>
            <a:custGeom>
              <a:avLst/>
              <a:gdLst>
                <a:gd name="T0" fmla="*/ 44 w 87"/>
                <a:gd name="T1" fmla="*/ 0 h 86"/>
                <a:gd name="T2" fmla="*/ 44 w 87"/>
                <a:gd name="T3" fmla="*/ 0 h 86"/>
                <a:gd name="T4" fmla="*/ 53 w 87"/>
                <a:gd name="T5" fmla="*/ 2 h 86"/>
                <a:gd name="T6" fmla="*/ 61 w 87"/>
                <a:gd name="T7" fmla="*/ 5 h 86"/>
                <a:gd name="T8" fmla="*/ 68 w 87"/>
                <a:gd name="T9" fmla="*/ 7 h 86"/>
                <a:gd name="T10" fmla="*/ 75 w 87"/>
                <a:gd name="T11" fmla="*/ 13 h 86"/>
                <a:gd name="T12" fmla="*/ 80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80 w 87"/>
                <a:gd name="T27" fmla="*/ 68 h 86"/>
                <a:gd name="T28" fmla="*/ 75 w 87"/>
                <a:gd name="T29" fmla="*/ 73 h 86"/>
                <a:gd name="T30" fmla="*/ 68 w 87"/>
                <a:gd name="T31" fmla="*/ 79 h 86"/>
                <a:gd name="T32" fmla="*/ 61 w 87"/>
                <a:gd name="T33" fmla="*/ 83 h 86"/>
                <a:gd name="T34" fmla="*/ 53 w 87"/>
                <a:gd name="T35" fmla="*/ 86 h 86"/>
                <a:gd name="T36" fmla="*/ 44 w 87"/>
                <a:gd name="T37" fmla="*/ 86 h 86"/>
                <a:gd name="T38" fmla="*/ 44 w 87"/>
                <a:gd name="T39" fmla="*/ 86 h 86"/>
                <a:gd name="T40" fmla="*/ 35 w 87"/>
                <a:gd name="T41" fmla="*/ 86 h 86"/>
                <a:gd name="T42" fmla="*/ 28 w 87"/>
                <a:gd name="T43" fmla="*/ 83 h 86"/>
                <a:gd name="T44" fmla="*/ 20 w 87"/>
                <a:gd name="T45" fmla="*/ 79 h 86"/>
                <a:gd name="T46" fmla="*/ 14 w 87"/>
                <a:gd name="T47" fmla="*/ 73 h 86"/>
                <a:gd name="T48" fmla="*/ 9 w 87"/>
                <a:gd name="T49" fmla="*/ 68 h 86"/>
                <a:gd name="T50" fmla="*/ 4 w 87"/>
                <a:gd name="T51" fmla="*/ 59 h 86"/>
                <a:gd name="T52" fmla="*/ 2 w 87"/>
                <a:gd name="T53" fmla="*/ 53 h 86"/>
                <a:gd name="T54" fmla="*/ 0 w 87"/>
                <a:gd name="T55" fmla="*/ 43 h 86"/>
                <a:gd name="T56" fmla="*/ 0 w 87"/>
                <a:gd name="T57" fmla="*/ 43 h 86"/>
                <a:gd name="T58" fmla="*/ 2 w 87"/>
                <a:gd name="T59" fmla="*/ 35 h 86"/>
                <a:gd name="T60" fmla="*/ 4 w 87"/>
                <a:gd name="T61" fmla="*/ 27 h 86"/>
                <a:gd name="T62" fmla="*/ 9 w 87"/>
                <a:gd name="T63" fmla="*/ 20 h 86"/>
                <a:gd name="T64" fmla="*/ 14 w 87"/>
                <a:gd name="T65" fmla="*/ 13 h 86"/>
                <a:gd name="T66" fmla="*/ 20 w 87"/>
                <a:gd name="T67" fmla="*/ 7 h 86"/>
                <a:gd name="T68" fmla="*/ 28 w 87"/>
                <a:gd name="T69" fmla="*/ 5 h 86"/>
                <a:gd name="T70" fmla="*/ 35 w 87"/>
                <a:gd name="T71" fmla="*/ 2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2"/>
                  </a:lnTo>
                  <a:lnTo>
                    <a:pt x="61" y="5"/>
                  </a:lnTo>
                  <a:lnTo>
                    <a:pt x="68" y="7"/>
                  </a:lnTo>
                  <a:lnTo>
                    <a:pt x="75" y="13"/>
                  </a:lnTo>
                  <a:lnTo>
                    <a:pt x="80" y="20"/>
                  </a:lnTo>
                  <a:lnTo>
                    <a:pt x="83" y="27"/>
                  </a:lnTo>
                  <a:lnTo>
                    <a:pt x="86" y="35"/>
                  </a:lnTo>
                  <a:lnTo>
                    <a:pt x="87" y="43"/>
                  </a:lnTo>
                  <a:lnTo>
                    <a:pt x="87" y="43"/>
                  </a:lnTo>
                  <a:lnTo>
                    <a:pt x="86" y="53"/>
                  </a:lnTo>
                  <a:lnTo>
                    <a:pt x="83" y="59"/>
                  </a:lnTo>
                  <a:lnTo>
                    <a:pt x="80" y="68"/>
                  </a:lnTo>
                  <a:lnTo>
                    <a:pt x="75" y="73"/>
                  </a:lnTo>
                  <a:lnTo>
                    <a:pt x="68" y="79"/>
                  </a:lnTo>
                  <a:lnTo>
                    <a:pt x="61" y="83"/>
                  </a:lnTo>
                  <a:lnTo>
                    <a:pt x="53" y="86"/>
                  </a:lnTo>
                  <a:lnTo>
                    <a:pt x="44" y="86"/>
                  </a:lnTo>
                  <a:lnTo>
                    <a:pt x="44" y="86"/>
                  </a:lnTo>
                  <a:lnTo>
                    <a:pt x="35" y="86"/>
                  </a:lnTo>
                  <a:lnTo>
                    <a:pt x="28" y="83"/>
                  </a:lnTo>
                  <a:lnTo>
                    <a:pt x="20" y="79"/>
                  </a:lnTo>
                  <a:lnTo>
                    <a:pt x="14" y="73"/>
                  </a:lnTo>
                  <a:lnTo>
                    <a:pt x="9" y="68"/>
                  </a:lnTo>
                  <a:lnTo>
                    <a:pt x="4" y="59"/>
                  </a:lnTo>
                  <a:lnTo>
                    <a:pt x="2" y="53"/>
                  </a:lnTo>
                  <a:lnTo>
                    <a:pt x="0" y="43"/>
                  </a:lnTo>
                  <a:lnTo>
                    <a:pt x="0" y="43"/>
                  </a:lnTo>
                  <a:lnTo>
                    <a:pt x="2" y="35"/>
                  </a:lnTo>
                  <a:lnTo>
                    <a:pt x="4" y="27"/>
                  </a:lnTo>
                  <a:lnTo>
                    <a:pt x="9" y="20"/>
                  </a:lnTo>
                  <a:lnTo>
                    <a:pt x="14" y="13"/>
                  </a:lnTo>
                  <a:lnTo>
                    <a:pt x="20" y="7"/>
                  </a:lnTo>
                  <a:lnTo>
                    <a:pt x="28"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105"/>
            <p:cNvSpPr>
              <a:spLocks/>
            </p:cNvSpPr>
            <p:nvPr userDrawn="1"/>
          </p:nvSpPr>
          <p:spPr bwMode="auto">
            <a:xfrm>
              <a:off x="4044" y="947"/>
              <a:ext cx="44" cy="43"/>
            </a:xfrm>
            <a:custGeom>
              <a:avLst/>
              <a:gdLst>
                <a:gd name="T0" fmla="*/ 44 w 87"/>
                <a:gd name="T1" fmla="*/ 0 h 85"/>
                <a:gd name="T2" fmla="*/ 44 w 87"/>
                <a:gd name="T3" fmla="*/ 0 h 85"/>
                <a:gd name="T4" fmla="*/ 53 w 87"/>
                <a:gd name="T5" fmla="*/ 1 h 85"/>
                <a:gd name="T6" fmla="*/ 61 w 87"/>
                <a:gd name="T7" fmla="*/ 2 h 85"/>
                <a:gd name="T8" fmla="*/ 68 w 87"/>
                <a:gd name="T9" fmla="*/ 7 h 85"/>
                <a:gd name="T10" fmla="*/ 75 w 87"/>
                <a:gd name="T11" fmla="*/ 12 h 85"/>
                <a:gd name="T12" fmla="*/ 80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80 w 87"/>
                <a:gd name="T27" fmla="*/ 67 h 85"/>
                <a:gd name="T28" fmla="*/ 75 w 87"/>
                <a:gd name="T29" fmla="*/ 73 h 85"/>
                <a:gd name="T30" fmla="*/ 68 w 87"/>
                <a:gd name="T31" fmla="*/ 78 h 85"/>
                <a:gd name="T32" fmla="*/ 61 w 87"/>
                <a:gd name="T33" fmla="*/ 82 h 85"/>
                <a:gd name="T34" fmla="*/ 53 w 87"/>
                <a:gd name="T35" fmla="*/ 85 h 85"/>
                <a:gd name="T36" fmla="*/ 44 w 87"/>
                <a:gd name="T37" fmla="*/ 85 h 85"/>
                <a:gd name="T38" fmla="*/ 44 w 87"/>
                <a:gd name="T39" fmla="*/ 85 h 85"/>
                <a:gd name="T40" fmla="*/ 35 w 87"/>
                <a:gd name="T41" fmla="*/ 85 h 85"/>
                <a:gd name="T42" fmla="*/ 28 w 87"/>
                <a:gd name="T43" fmla="*/ 82 h 85"/>
                <a:gd name="T44" fmla="*/ 20 w 87"/>
                <a:gd name="T45" fmla="*/ 78 h 85"/>
                <a:gd name="T46" fmla="*/ 14 w 87"/>
                <a:gd name="T47" fmla="*/ 73 h 85"/>
                <a:gd name="T48" fmla="*/ 9 w 87"/>
                <a:gd name="T49" fmla="*/ 67 h 85"/>
                <a:gd name="T50" fmla="*/ 4 w 87"/>
                <a:gd name="T51" fmla="*/ 59 h 85"/>
                <a:gd name="T52" fmla="*/ 2 w 87"/>
                <a:gd name="T53" fmla="*/ 51 h 85"/>
                <a:gd name="T54" fmla="*/ 0 w 87"/>
                <a:gd name="T55" fmla="*/ 42 h 85"/>
                <a:gd name="T56" fmla="*/ 0 w 87"/>
                <a:gd name="T57" fmla="*/ 42 h 85"/>
                <a:gd name="T58" fmla="*/ 2 w 87"/>
                <a:gd name="T59" fmla="*/ 34 h 85"/>
                <a:gd name="T60" fmla="*/ 4 w 87"/>
                <a:gd name="T61" fmla="*/ 26 h 85"/>
                <a:gd name="T62" fmla="*/ 9 w 87"/>
                <a:gd name="T63" fmla="*/ 19 h 85"/>
                <a:gd name="T64" fmla="*/ 14 w 87"/>
                <a:gd name="T65" fmla="*/ 12 h 85"/>
                <a:gd name="T66" fmla="*/ 20 w 87"/>
                <a:gd name="T67" fmla="*/ 7 h 85"/>
                <a:gd name="T68" fmla="*/ 28 w 87"/>
                <a:gd name="T69" fmla="*/ 2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2"/>
                  </a:lnTo>
                  <a:lnTo>
                    <a:pt x="68" y="7"/>
                  </a:lnTo>
                  <a:lnTo>
                    <a:pt x="75" y="12"/>
                  </a:lnTo>
                  <a:lnTo>
                    <a:pt x="80" y="19"/>
                  </a:lnTo>
                  <a:lnTo>
                    <a:pt x="83" y="26"/>
                  </a:lnTo>
                  <a:lnTo>
                    <a:pt x="86" y="34"/>
                  </a:lnTo>
                  <a:lnTo>
                    <a:pt x="87" y="42"/>
                  </a:lnTo>
                  <a:lnTo>
                    <a:pt x="87" y="42"/>
                  </a:lnTo>
                  <a:lnTo>
                    <a:pt x="86" y="51"/>
                  </a:lnTo>
                  <a:lnTo>
                    <a:pt x="83" y="59"/>
                  </a:lnTo>
                  <a:lnTo>
                    <a:pt x="80" y="67"/>
                  </a:lnTo>
                  <a:lnTo>
                    <a:pt x="75" y="73"/>
                  </a:lnTo>
                  <a:lnTo>
                    <a:pt x="68" y="78"/>
                  </a:lnTo>
                  <a:lnTo>
                    <a:pt x="61" y="82"/>
                  </a:lnTo>
                  <a:lnTo>
                    <a:pt x="53" y="85"/>
                  </a:lnTo>
                  <a:lnTo>
                    <a:pt x="44" y="85"/>
                  </a:lnTo>
                  <a:lnTo>
                    <a:pt x="44" y="85"/>
                  </a:lnTo>
                  <a:lnTo>
                    <a:pt x="35" y="85"/>
                  </a:lnTo>
                  <a:lnTo>
                    <a:pt x="28" y="82"/>
                  </a:lnTo>
                  <a:lnTo>
                    <a:pt x="20" y="78"/>
                  </a:lnTo>
                  <a:lnTo>
                    <a:pt x="14" y="73"/>
                  </a:lnTo>
                  <a:lnTo>
                    <a:pt x="9" y="67"/>
                  </a:lnTo>
                  <a:lnTo>
                    <a:pt x="4" y="59"/>
                  </a:lnTo>
                  <a:lnTo>
                    <a:pt x="2" y="51"/>
                  </a:lnTo>
                  <a:lnTo>
                    <a:pt x="0" y="42"/>
                  </a:lnTo>
                  <a:lnTo>
                    <a:pt x="0" y="42"/>
                  </a:lnTo>
                  <a:lnTo>
                    <a:pt x="2" y="34"/>
                  </a:lnTo>
                  <a:lnTo>
                    <a:pt x="4" y="26"/>
                  </a:lnTo>
                  <a:lnTo>
                    <a:pt x="9" y="19"/>
                  </a:lnTo>
                  <a:lnTo>
                    <a:pt x="14" y="12"/>
                  </a:lnTo>
                  <a:lnTo>
                    <a:pt x="20" y="7"/>
                  </a:lnTo>
                  <a:lnTo>
                    <a:pt x="28" y="2"/>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106"/>
            <p:cNvSpPr>
              <a:spLocks/>
            </p:cNvSpPr>
            <p:nvPr userDrawn="1"/>
          </p:nvSpPr>
          <p:spPr bwMode="auto">
            <a:xfrm>
              <a:off x="4044" y="891"/>
              <a:ext cx="44" cy="43"/>
            </a:xfrm>
            <a:custGeom>
              <a:avLst/>
              <a:gdLst>
                <a:gd name="T0" fmla="*/ 44 w 87"/>
                <a:gd name="T1" fmla="*/ 0 h 85"/>
                <a:gd name="T2" fmla="*/ 44 w 87"/>
                <a:gd name="T3" fmla="*/ 0 h 85"/>
                <a:gd name="T4" fmla="*/ 53 w 87"/>
                <a:gd name="T5" fmla="*/ 1 h 85"/>
                <a:gd name="T6" fmla="*/ 61 w 87"/>
                <a:gd name="T7" fmla="*/ 3 h 85"/>
                <a:gd name="T8" fmla="*/ 68 w 87"/>
                <a:gd name="T9" fmla="*/ 7 h 85"/>
                <a:gd name="T10" fmla="*/ 75 w 87"/>
                <a:gd name="T11" fmla="*/ 12 h 85"/>
                <a:gd name="T12" fmla="*/ 80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80 w 87"/>
                <a:gd name="T27" fmla="*/ 67 h 85"/>
                <a:gd name="T28" fmla="*/ 75 w 87"/>
                <a:gd name="T29" fmla="*/ 73 h 85"/>
                <a:gd name="T30" fmla="*/ 68 w 87"/>
                <a:gd name="T31" fmla="*/ 78 h 85"/>
                <a:gd name="T32" fmla="*/ 61 w 87"/>
                <a:gd name="T33" fmla="*/ 83 h 85"/>
                <a:gd name="T34" fmla="*/ 53 w 87"/>
                <a:gd name="T35" fmla="*/ 85 h 85"/>
                <a:gd name="T36" fmla="*/ 44 w 87"/>
                <a:gd name="T37" fmla="*/ 85 h 85"/>
                <a:gd name="T38" fmla="*/ 44 w 87"/>
                <a:gd name="T39" fmla="*/ 85 h 85"/>
                <a:gd name="T40" fmla="*/ 35 w 87"/>
                <a:gd name="T41" fmla="*/ 85 h 85"/>
                <a:gd name="T42" fmla="*/ 28 w 87"/>
                <a:gd name="T43" fmla="*/ 83 h 85"/>
                <a:gd name="T44" fmla="*/ 20 w 87"/>
                <a:gd name="T45" fmla="*/ 78 h 85"/>
                <a:gd name="T46" fmla="*/ 14 w 87"/>
                <a:gd name="T47" fmla="*/ 73 h 85"/>
                <a:gd name="T48" fmla="*/ 9 w 87"/>
                <a:gd name="T49" fmla="*/ 67 h 85"/>
                <a:gd name="T50" fmla="*/ 4 w 87"/>
                <a:gd name="T51" fmla="*/ 59 h 85"/>
                <a:gd name="T52" fmla="*/ 2 w 87"/>
                <a:gd name="T53" fmla="*/ 51 h 85"/>
                <a:gd name="T54" fmla="*/ 0 w 87"/>
                <a:gd name="T55" fmla="*/ 43 h 85"/>
                <a:gd name="T56" fmla="*/ 0 w 87"/>
                <a:gd name="T57" fmla="*/ 43 h 85"/>
                <a:gd name="T58" fmla="*/ 2 w 87"/>
                <a:gd name="T59" fmla="*/ 34 h 85"/>
                <a:gd name="T60" fmla="*/ 4 w 87"/>
                <a:gd name="T61" fmla="*/ 26 h 85"/>
                <a:gd name="T62" fmla="*/ 9 w 87"/>
                <a:gd name="T63" fmla="*/ 19 h 85"/>
                <a:gd name="T64" fmla="*/ 14 w 87"/>
                <a:gd name="T65" fmla="*/ 12 h 85"/>
                <a:gd name="T66" fmla="*/ 20 w 87"/>
                <a:gd name="T67" fmla="*/ 7 h 85"/>
                <a:gd name="T68" fmla="*/ 28 w 87"/>
                <a:gd name="T69" fmla="*/ 3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3"/>
                  </a:lnTo>
                  <a:lnTo>
                    <a:pt x="68" y="7"/>
                  </a:lnTo>
                  <a:lnTo>
                    <a:pt x="75" y="12"/>
                  </a:lnTo>
                  <a:lnTo>
                    <a:pt x="80" y="19"/>
                  </a:lnTo>
                  <a:lnTo>
                    <a:pt x="83" y="26"/>
                  </a:lnTo>
                  <a:lnTo>
                    <a:pt x="86" y="34"/>
                  </a:lnTo>
                  <a:lnTo>
                    <a:pt x="87" y="43"/>
                  </a:lnTo>
                  <a:lnTo>
                    <a:pt x="87" y="43"/>
                  </a:lnTo>
                  <a:lnTo>
                    <a:pt x="86" y="51"/>
                  </a:lnTo>
                  <a:lnTo>
                    <a:pt x="83" y="59"/>
                  </a:lnTo>
                  <a:lnTo>
                    <a:pt x="80" y="67"/>
                  </a:lnTo>
                  <a:lnTo>
                    <a:pt x="75" y="73"/>
                  </a:lnTo>
                  <a:lnTo>
                    <a:pt x="68" y="78"/>
                  </a:lnTo>
                  <a:lnTo>
                    <a:pt x="61" y="83"/>
                  </a:lnTo>
                  <a:lnTo>
                    <a:pt x="53" y="85"/>
                  </a:lnTo>
                  <a:lnTo>
                    <a:pt x="44" y="85"/>
                  </a:lnTo>
                  <a:lnTo>
                    <a:pt x="44" y="85"/>
                  </a:lnTo>
                  <a:lnTo>
                    <a:pt x="35" y="85"/>
                  </a:lnTo>
                  <a:lnTo>
                    <a:pt x="28" y="83"/>
                  </a:lnTo>
                  <a:lnTo>
                    <a:pt x="20" y="78"/>
                  </a:lnTo>
                  <a:lnTo>
                    <a:pt x="14" y="73"/>
                  </a:lnTo>
                  <a:lnTo>
                    <a:pt x="9" y="67"/>
                  </a:lnTo>
                  <a:lnTo>
                    <a:pt x="4" y="59"/>
                  </a:lnTo>
                  <a:lnTo>
                    <a:pt x="2" y="51"/>
                  </a:lnTo>
                  <a:lnTo>
                    <a:pt x="0" y="43"/>
                  </a:lnTo>
                  <a:lnTo>
                    <a:pt x="0" y="43"/>
                  </a:lnTo>
                  <a:lnTo>
                    <a:pt x="2" y="34"/>
                  </a:lnTo>
                  <a:lnTo>
                    <a:pt x="4" y="26"/>
                  </a:lnTo>
                  <a:lnTo>
                    <a:pt x="9" y="19"/>
                  </a:lnTo>
                  <a:lnTo>
                    <a:pt x="14" y="12"/>
                  </a:lnTo>
                  <a:lnTo>
                    <a:pt x="20" y="7"/>
                  </a:lnTo>
                  <a:lnTo>
                    <a:pt x="28" y="3"/>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107"/>
            <p:cNvSpPr>
              <a:spLocks/>
            </p:cNvSpPr>
            <p:nvPr userDrawn="1"/>
          </p:nvSpPr>
          <p:spPr bwMode="auto">
            <a:xfrm>
              <a:off x="4101" y="1173"/>
              <a:ext cx="43" cy="43"/>
            </a:xfrm>
            <a:custGeom>
              <a:avLst/>
              <a:gdLst>
                <a:gd name="T0" fmla="*/ 42 w 85"/>
                <a:gd name="T1" fmla="*/ 0 h 87"/>
                <a:gd name="T2" fmla="*/ 42 w 85"/>
                <a:gd name="T3" fmla="*/ 0 h 87"/>
                <a:gd name="T4" fmla="*/ 51 w 85"/>
                <a:gd name="T5" fmla="*/ 2 h 87"/>
                <a:gd name="T6" fmla="*/ 59 w 85"/>
                <a:gd name="T7" fmla="*/ 5 h 87"/>
                <a:gd name="T8" fmla="*/ 66 w 85"/>
                <a:gd name="T9" fmla="*/ 9 h 87"/>
                <a:gd name="T10" fmla="*/ 73 w 85"/>
                <a:gd name="T11" fmla="*/ 14 h 87"/>
                <a:gd name="T12" fmla="*/ 78 w 85"/>
                <a:gd name="T13" fmla="*/ 20 h 87"/>
                <a:gd name="T14" fmla="*/ 81 w 85"/>
                <a:gd name="T15" fmla="*/ 27 h 87"/>
                <a:gd name="T16" fmla="*/ 84 w 85"/>
                <a:gd name="T17" fmla="*/ 35 h 87"/>
                <a:gd name="T18" fmla="*/ 85 w 85"/>
                <a:gd name="T19" fmla="*/ 44 h 87"/>
                <a:gd name="T20" fmla="*/ 85 w 85"/>
                <a:gd name="T21" fmla="*/ 44 h 87"/>
                <a:gd name="T22" fmla="*/ 84 w 85"/>
                <a:gd name="T23" fmla="*/ 53 h 87"/>
                <a:gd name="T24" fmla="*/ 81 w 85"/>
                <a:gd name="T25" fmla="*/ 61 h 87"/>
                <a:gd name="T26" fmla="*/ 78 w 85"/>
                <a:gd name="T27" fmla="*/ 68 h 87"/>
                <a:gd name="T28" fmla="*/ 73 w 85"/>
                <a:gd name="T29" fmla="*/ 75 h 87"/>
                <a:gd name="T30" fmla="*/ 66 w 85"/>
                <a:gd name="T31" fmla="*/ 79 h 87"/>
                <a:gd name="T32" fmla="*/ 59 w 85"/>
                <a:gd name="T33" fmla="*/ 83 h 87"/>
                <a:gd name="T34" fmla="*/ 51 w 85"/>
                <a:gd name="T35" fmla="*/ 86 h 87"/>
                <a:gd name="T36" fmla="*/ 42 w 85"/>
                <a:gd name="T37" fmla="*/ 87 h 87"/>
                <a:gd name="T38" fmla="*/ 42 w 85"/>
                <a:gd name="T39" fmla="*/ 87 h 87"/>
                <a:gd name="T40" fmla="*/ 33 w 85"/>
                <a:gd name="T41" fmla="*/ 86 h 87"/>
                <a:gd name="T42" fmla="*/ 26 w 85"/>
                <a:gd name="T43" fmla="*/ 83 h 87"/>
                <a:gd name="T44" fmla="*/ 18 w 85"/>
                <a:gd name="T45" fmla="*/ 79 h 87"/>
                <a:gd name="T46" fmla="*/ 12 w 85"/>
                <a:gd name="T47" fmla="*/ 75 h 87"/>
                <a:gd name="T48" fmla="*/ 7 w 85"/>
                <a:gd name="T49" fmla="*/ 68 h 87"/>
                <a:gd name="T50" fmla="*/ 2 w 85"/>
                <a:gd name="T51" fmla="*/ 61 h 87"/>
                <a:gd name="T52" fmla="*/ 0 w 85"/>
                <a:gd name="T53" fmla="*/ 53 h 87"/>
                <a:gd name="T54" fmla="*/ 0 w 85"/>
                <a:gd name="T55" fmla="*/ 44 h 87"/>
                <a:gd name="T56" fmla="*/ 0 w 85"/>
                <a:gd name="T57" fmla="*/ 44 h 87"/>
                <a:gd name="T58" fmla="*/ 0 w 85"/>
                <a:gd name="T59" fmla="*/ 35 h 87"/>
                <a:gd name="T60" fmla="*/ 2 w 85"/>
                <a:gd name="T61" fmla="*/ 27 h 87"/>
                <a:gd name="T62" fmla="*/ 7 w 85"/>
                <a:gd name="T63" fmla="*/ 20 h 87"/>
                <a:gd name="T64" fmla="*/ 12 w 85"/>
                <a:gd name="T65" fmla="*/ 14 h 87"/>
                <a:gd name="T66" fmla="*/ 18 w 85"/>
                <a:gd name="T67" fmla="*/ 9 h 87"/>
                <a:gd name="T68" fmla="*/ 26 w 85"/>
                <a:gd name="T69" fmla="*/ 5 h 87"/>
                <a:gd name="T70" fmla="*/ 33 w 85"/>
                <a:gd name="T71" fmla="*/ 2 h 87"/>
                <a:gd name="T72" fmla="*/ 42 w 85"/>
                <a:gd name="T73" fmla="*/ 0 h 87"/>
                <a:gd name="T74" fmla="*/ 42 w 85"/>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0"/>
                  </a:moveTo>
                  <a:lnTo>
                    <a:pt x="42" y="0"/>
                  </a:lnTo>
                  <a:lnTo>
                    <a:pt x="51" y="2"/>
                  </a:lnTo>
                  <a:lnTo>
                    <a:pt x="59" y="5"/>
                  </a:lnTo>
                  <a:lnTo>
                    <a:pt x="66" y="9"/>
                  </a:lnTo>
                  <a:lnTo>
                    <a:pt x="73" y="14"/>
                  </a:lnTo>
                  <a:lnTo>
                    <a:pt x="78" y="20"/>
                  </a:lnTo>
                  <a:lnTo>
                    <a:pt x="81" y="27"/>
                  </a:lnTo>
                  <a:lnTo>
                    <a:pt x="84" y="35"/>
                  </a:lnTo>
                  <a:lnTo>
                    <a:pt x="85" y="44"/>
                  </a:lnTo>
                  <a:lnTo>
                    <a:pt x="85" y="44"/>
                  </a:lnTo>
                  <a:lnTo>
                    <a:pt x="84" y="53"/>
                  </a:lnTo>
                  <a:lnTo>
                    <a:pt x="81" y="61"/>
                  </a:lnTo>
                  <a:lnTo>
                    <a:pt x="78" y="68"/>
                  </a:lnTo>
                  <a:lnTo>
                    <a:pt x="73" y="75"/>
                  </a:lnTo>
                  <a:lnTo>
                    <a:pt x="66" y="79"/>
                  </a:lnTo>
                  <a:lnTo>
                    <a:pt x="59" y="83"/>
                  </a:lnTo>
                  <a:lnTo>
                    <a:pt x="51" y="86"/>
                  </a:lnTo>
                  <a:lnTo>
                    <a:pt x="42" y="87"/>
                  </a:lnTo>
                  <a:lnTo>
                    <a:pt x="42" y="87"/>
                  </a:lnTo>
                  <a:lnTo>
                    <a:pt x="33" y="86"/>
                  </a:lnTo>
                  <a:lnTo>
                    <a:pt x="26" y="83"/>
                  </a:lnTo>
                  <a:lnTo>
                    <a:pt x="18" y="79"/>
                  </a:lnTo>
                  <a:lnTo>
                    <a:pt x="12" y="75"/>
                  </a:lnTo>
                  <a:lnTo>
                    <a:pt x="7" y="68"/>
                  </a:lnTo>
                  <a:lnTo>
                    <a:pt x="2" y="61"/>
                  </a:lnTo>
                  <a:lnTo>
                    <a:pt x="0" y="53"/>
                  </a:lnTo>
                  <a:lnTo>
                    <a:pt x="0" y="44"/>
                  </a:lnTo>
                  <a:lnTo>
                    <a:pt x="0" y="44"/>
                  </a:lnTo>
                  <a:lnTo>
                    <a:pt x="0" y="35"/>
                  </a:lnTo>
                  <a:lnTo>
                    <a:pt x="2" y="27"/>
                  </a:lnTo>
                  <a:lnTo>
                    <a:pt x="7" y="20"/>
                  </a:lnTo>
                  <a:lnTo>
                    <a:pt x="12" y="14"/>
                  </a:lnTo>
                  <a:lnTo>
                    <a:pt x="18" y="9"/>
                  </a:lnTo>
                  <a:lnTo>
                    <a:pt x="26" y="5"/>
                  </a:lnTo>
                  <a:lnTo>
                    <a:pt x="33" y="2"/>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108"/>
            <p:cNvSpPr>
              <a:spLocks/>
            </p:cNvSpPr>
            <p:nvPr userDrawn="1"/>
          </p:nvSpPr>
          <p:spPr bwMode="auto">
            <a:xfrm>
              <a:off x="4101" y="1116"/>
              <a:ext cx="43" cy="44"/>
            </a:xfrm>
            <a:custGeom>
              <a:avLst/>
              <a:gdLst>
                <a:gd name="T0" fmla="*/ 42 w 85"/>
                <a:gd name="T1" fmla="*/ 0 h 86"/>
                <a:gd name="T2" fmla="*/ 42 w 85"/>
                <a:gd name="T3" fmla="*/ 0 h 86"/>
                <a:gd name="T4" fmla="*/ 51 w 85"/>
                <a:gd name="T5" fmla="*/ 1 h 86"/>
                <a:gd name="T6" fmla="*/ 59 w 85"/>
                <a:gd name="T7" fmla="*/ 4 h 86"/>
                <a:gd name="T8" fmla="*/ 66 w 85"/>
                <a:gd name="T9" fmla="*/ 8 h 86"/>
                <a:gd name="T10" fmla="*/ 73 w 85"/>
                <a:gd name="T11" fmla="*/ 12 h 86"/>
                <a:gd name="T12" fmla="*/ 78 w 85"/>
                <a:gd name="T13" fmla="*/ 19 h 86"/>
                <a:gd name="T14" fmla="*/ 81 w 85"/>
                <a:gd name="T15" fmla="*/ 26 h 86"/>
                <a:gd name="T16" fmla="*/ 84 w 85"/>
                <a:gd name="T17" fmla="*/ 34 h 86"/>
                <a:gd name="T18" fmla="*/ 85 w 85"/>
                <a:gd name="T19" fmla="*/ 44 h 86"/>
                <a:gd name="T20" fmla="*/ 85 w 85"/>
                <a:gd name="T21" fmla="*/ 44 h 86"/>
                <a:gd name="T22" fmla="*/ 84 w 85"/>
                <a:gd name="T23" fmla="*/ 52 h 86"/>
                <a:gd name="T24" fmla="*/ 81 w 85"/>
                <a:gd name="T25" fmla="*/ 60 h 86"/>
                <a:gd name="T26" fmla="*/ 78 w 85"/>
                <a:gd name="T27" fmla="*/ 67 h 86"/>
                <a:gd name="T28" fmla="*/ 73 w 85"/>
                <a:gd name="T29" fmla="*/ 74 h 86"/>
                <a:gd name="T30" fmla="*/ 66 w 85"/>
                <a:gd name="T31" fmla="*/ 78 h 86"/>
                <a:gd name="T32" fmla="*/ 59 w 85"/>
                <a:gd name="T33" fmla="*/ 82 h 86"/>
                <a:gd name="T34" fmla="*/ 51 w 85"/>
                <a:gd name="T35" fmla="*/ 85 h 86"/>
                <a:gd name="T36" fmla="*/ 42 w 85"/>
                <a:gd name="T37" fmla="*/ 86 h 86"/>
                <a:gd name="T38" fmla="*/ 42 w 85"/>
                <a:gd name="T39" fmla="*/ 86 h 86"/>
                <a:gd name="T40" fmla="*/ 33 w 85"/>
                <a:gd name="T41" fmla="*/ 85 h 86"/>
                <a:gd name="T42" fmla="*/ 26 w 85"/>
                <a:gd name="T43" fmla="*/ 82 h 86"/>
                <a:gd name="T44" fmla="*/ 18 w 85"/>
                <a:gd name="T45" fmla="*/ 78 h 86"/>
                <a:gd name="T46" fmla="*/ 12 w 85"/>
                <a:gd name="T47" fmla="*/ 74 h 86"/>
                <a:gd name="T48" fmla="*/ 7 w 85"/>
                <a:gd name="T49" fmla="*/ 67 h 86"/>
                <a:gd name="T50" fmla="*/ 2 w 85"/>
                <a:gd name="T51" fmla="*/ 60 h 86"/>
                <a:gd name="T52" fmla="*/ 0 w 85"/>
                <a:gd name="T53" fmla="*/ 52 h 86"/>
                <a:gd name="T54" fmla="*/ 0 w 85"/>
                <a:gd name="T55" fmla="*/ 44 h 86"/>
                <a:gd name="T56" fmla="*/ 0 w 85"/>
                <a:gd name="T57" fmla="*/ 44 h 86"/>
                <a:gd name="T58" fmla="*/ 0 w 85"/>
                <a:gd name="T59" fmla="*/ 34 h 86"/>
                <a:gd name="T60" fmla="*/ 2 w 85"/>
                <a:gd name="T61" fmla="*/ 26 h 86"/>
                <a:gd name="T62" fmla="*/ 7 w 85"/>
                <a:gd name="T63" fmla="*/ 19 h 86"/>
                <a:gd name="T64" fmla="*/ 12 w 85"/>
                <a:gd name="T65" fmla="*/ 12 h 86"/>
                <a:gd name="T66" fmla="*/ 18 w 85"/>
                <a:gd name="T67" fmla="*/ 8 h 86"/>
                <a:gd name="T68" fmla="*/ 26 w 85"/>
                <a:gd name="T69" fmla="*/ 4 h 86"/>
                <a:gd name="T70" fmla="*/ 33 w 85"/>
                <a:gd name="T71" fmla="*/ 1 h 86"/>
                <a:gd name="T72" fmla="*/ 42 w 85"/>
                <a:gd name="T73" fmla="*/ 0 h 86"/>
                <a:gd name="T74" fmla="*/ 42 w 85"/>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0"/>
                  </a:moveTo>
                  <a:lnTo>
                    <a:pt x="42" y="0"/>
                  </a:lnTo>
                  <a:lnTo>
                    <a:pt x="51" y="1"/>
                  </a:lnTo>
                  <a:lnTo>
                    <a:pt x="59" y="4"/>
                  </a:lnTo>
                  <a:lnTo>
                    <a:pt x="66" y="8"/>
                  </a:lnTo>
                  <a:lnTo>
                    <a:pt x="73" y="12"/>
                  </a:lnTo>
                  <a:lnTo>
                    <a:pt x="78" y="19"/>
                  </a:lnTo>
                  <a:lnTo>
                    <a:pt x="81" y="26"/>
                  </a:lnTo>
                  <a:lnTo>
                    <a:pt x="84" y="34"/>
                  </a:lnTo>
                  <a:lnTo>
                    <a:pt x="85" y="44"/>
                  </a:lnTo>
                  <a:lnTo>
                    <a:pt x="85" y="44"/>
                  </a:lnTo>
                  <a:lnTo>
                    <a:pt x="84" y="52"/>
                  </a:lnTo>
                  <a:lnTo>
                    <a:pt x="81" y="60"/>
                  </a:lnTo>
                  <a:lnTo>
                    <a:pt x="78" y="67"/>
                  </a:lnTo>
                  <a:lnTo>
                    <a:pt x="73" y="74"/>
                  </a:lnTo>
                  <a:lnTo>
                    <a:pt x="66" y="78"/>
                  </a:lnTo>
                  <a:lnTo>
                    <a:pt x="59" y="82"/>
                  </a:lnTo>
                  <a:lnTo>
                    <a:pt x="51" y="85"/>
                  </a:lnTo>
                  <a:lnTo>
                    <a:pt x="42" y="86"/>
                  </a:lnTo>
                  <a:lnTo>
                    <a:pt x="42" y="86"/>
                  </a:lnTo>
                  <a:lnTo>
                    <a:pt x="33" y="85"/>
                  </a:lnTo>
                  <a:lnTo>
                    <a:pt x="26" y="82"/>
                  </a:lnTo>
                  <a:lnTo>
                    <a:pt x="18" y="78"/>
                  </a:lnTo>
                  <a:lnTo>
                    <a:pt x="12" y="74"/>
                  </a:lnTo>
                  <a:lnTo>
                    <a:pt x="7" y="67"/>
                  </a:lnTo>
                  <a:lnTo>
                    <a:pt x="2" y="60"/>
                  </a:lnTo>
                  <a:lnTo>
                    <a:pt x="0" y="52"/>
                  </a:lnTo>
                  <a:lnTo>
                    <a:pt x="0" y="44"/>
                  </a:lnTo>
                  <a:lnTo>
                    <a:pt x="0" y="44"/>
                  </a:lnTo>
                  <a:lnTo>
                    <a:pt x="0" y="34"/>
                  </a:lnTo>
                  <a:lnTo>
                    <a:pt x="2" y="26"/>
                  </a:lnTo>
                  <a:lnTo>
                    <a:pt x="7" y="19"/>
                  </a:lnTo>
                  <a:lnTo>
                    <a:pt x="12" y="12"/>
                  </a:lnTo>
                  <a:lnTo>
                    <a:pt x="18" y="8"/>
                  </a:lnTo>
                  <a:lnTo>
                    <a:pt x="26" y="4"/>
                  </a:lnTo>
                  <a:lnTo>
                    <a:pt x="33" y="1"/>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109"/>
            <p:cNvSpPr>
              <a:spLocks/>
            </p:cNvSpPr>
            <p:nvPr userDrawn="1"/>
          </p:nvSpPr>
          <p:spPr bwMode="auto">
            <a:xfrm>
              <a:off x="4101" y="1060"/>
              <a:ext cx="43" cy="43"/>
            </a:xfrm>
            <a:custGeom>
              <a:avLst/>
              <a:gdLst>
                <a:gd name="T0" fmla="*/ 42 w 85"/>
                <a:gd name="T1" fmla="*/ 0 h 87"/>
                <a:gd name="T2" fmla="*/ 42 w 85"/>
                <a:gd name="T3" fmla="*/ 0 h 87"/>
                <a:gd name="T4" fmla="*/ 51 w 85"/>
                <a:gd name="T5" fmla="*/ 1 h 87"/>
                <a:gd name="T6" fmla="*/ 59 w 85"/>
                <a:gd name="T7" fmla="*/ 4 h 87"/>
                <a:gd name="T8" fmla="*/ 66 w 85"/>
                <a:gd name="T9" fmla="*/ 8 h 87"/>
                <a:gd name="T10" fmla="*/ 73 w 85"/>
                <a:gd name="T11" fmla="*/ 12 h 87"/>
                <a:gd name="T12" fmla="*/ 78 w 85"/>
                <a:gd name="T13" fmla="*/ 19 h 87"/>
                <a:gd name="T14" fmla="*/ 81 w 85"/>
                <a:gd name="T15" fmla="*/ 26 h 87"/>
                <a:gd name="T16" fmla="*/ 84 w 85"/>
                <a:gd name="T17" fmla="*/ 34 h 87"/>
                <a:gd name="T18" fmla="*/ 85 w 85"/>
                <a:gd name="T19" fmla="*/ 43 h 87"/>
                <a:gd name="T20" fmla="*/ 85 w 85"/>
                <a:gd name="T21" fmla="*/ 43 h 87"/>
                <a:gd name="T22" fmla="*/ 84 w 85"/>
                <a:gd name="T23" fmla="*/ 52 h 87"/>
                <a:gd name="T24" fmla="*/ 81 w 85"/>
                <a:gd name="T25" fmla="*/ 61 h 87"/>
                <a:gd name="T26" fmla="*/ 78 w 85"/>
                <a:gd name="T27" fmla="*/ 67 h 87"/>
                <a:gd name="T28" fmla="*/ 73 w 85"/>
                <a:gd name="T29" fmla="*/ 73 h 87"/>
                <a:gd name="T30" fmla="*/ 66 w 85"/>
                <a:gd name="T31" fmla="*/ 78 h 87"/>
                <a:gd name="T32" fmla="*/ 59 w 85"/>
                <a:gd name="T33" fmla="*/ 83 h 87"/>
                <a:gd name="T34" fmla="*/ 51 w 85"/>
                <a:gd name="T35" fmla="*/ 85 h 87"/>
                <a:gd name="T36" fmla="*/ 42 w 85"/>
                <a:gd name="T37" fmla="*/ 87 h 87"/>
                <a:gd name="T38" fmla="*/ 42 w 85"/>
                <a:gd name="T39" fmla="*/ 87 h 87"/>
                <a:gd name="T40" fmla="*/ 33 w 85"/>
                <a:gd name="T41" fmla="*/ 85 h 87"/>
                <a:gd name="T42" fmla="*/ 26 w 85"/>
                <a:gd name="T43" fmla="*/ 83 h 87"/>
                <a:gd name="T44" fmla="*/ 18 w 85"/>
                <a:gd name="T45" fmla="*/ 78 h 87"/>
                <a:gd name="T46" fmla="*/ 12 w 85"/>
                <a:gd name="T47" fmla="*/ 73 h 87"/>
                <a:gd name="T48" fmla="*/ 7 w 85"/>
                <a:gd name="T49" fmla="*/ 67 h 87"/>
                <a:gd name="T50" fmla="*/ 2 w 85"/>
                <a:gd name="T51" fmla="*/ 61 h 87"/>
                <a:gd name="T52" fmla="*/ 0 w 85"/>
                <a:gd name="T53" fmla="*/ 52 h 87"/>
                <a:gd name="T54" fmla="*/ 0 w 85"/>
                <a:gd name="T55" fmla="*/ 43 h 87"/>
                <a:gd name="T56" fmla="*/ 0 w 85"/>
                <a:gd name="T57" fmla="*/ 43 h 87"/>
                <a:gd name="T58" fmla="*/ 0 w 85"/>
                <a:gd name="T59" fmla="*/ 34 h 87"/>
                <a:gd name="T60" fmla="*/ 2 w 85"/>
                <a:gd name="T61" fmla="*/ 26 h 87"/>
                <a:gd name="T62" fmla="*/ 7 w 85"/>
                <a:gd name="T63" fmla="*/ 19 h 87"/>
                <a:gd name="T64" fmla="*/ 12 w 85"/>
                <a:gd name="T65" fmla="*/ 12 h 87"/>
                <a:gd name="T66" fmla="*/ 18 w 85"/>
                <a:gd name="T67" fmla="*/ 8 h 87"/>
                <a:gd name="T68" fmla="*/ 26 w 85"/>
                <a:gd name="T69" fmla="*/ 4 h 87"/>
                <a:gd name="T70" fmla="*/ 33 w 85"/>
                <a:gd name="T71" fmla="*/ 1 h 87"/>
                <a:gd name="T72" fmla="*/ 42 w 85"/>
                <a:gd name="T73" fmla="*/ 0 h 87"/>
                <a:gd name="T74" fmla="*/ 42 w 85"/>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0"/>
                  </a:moveTo>
                  <a:lnTo>
                    <a:pt x="42" y="0"/>
                  </a:lnTo>
                  <a:lnTo>
                    <a:pt x="51" y="1"/>
                  </a:lnTo>
                  <a:lnTo>
                    <a:pt x="59" y="4"/>
                  </a:lnTo>
                  <a:lnTo>
                    <a:pt x="66" y="8"/>
                  </a:lnTo>
                  <a:lnTo>
                    <a:pt x="73" y="12"/>
                  </a:lnTo>
                  <a:lnTo>
                    <a:pt x="78" y="19"/>
                  </a:lnTo>
                  <a:lnTo>
                    <a:pt x="81" y="26"/>
                  </a:lnTo>
                  <a:lnTo>
                    <a:pt x="84" y="34"/>
                  </a:lnTo>
                  <a:lnTo>
                    <a:pt x="85" y="43"/>
                  </a:lnTo>
                  <a:lnTo>
                    <a:pt x="85" y="43"/>
                  </a:lnTo>
                  <a:lnTo>
                    <a:pt x="84" y="52"/>
                  </a:lnTo>
                  <a:lnTo>
                    <a:pt x="81" y="61"/>
                  </a:lnTo>
                  <a:lnTo>
                    <a:pt x="78" y="67"/>
                  </a:lnTo>
                  <a:lnTo>
                    <a:pt x="73" y="73"/>
                  </a:lnTo>
                  <a:lnTo>
                    <a:pt x="66" y="78"/>
                  </a:lnTo>
                  <a:lnTo>
                    <a:pt x="59" y="83"/>
                  </a:lnTo>
                  <a:lnTo>
                    <a:pt x="51" y="85"/>
                  </a:lnTo>
                  <a:lnTo>
                    <a:pt x="42" y="87"/>
                  </a:lnTo>
                  <a:lnTo>
                    <a:pt x="42" y="87"/>
                  </a:lnTo>
                  <a:lnTo>
                    <a:pt x="33" y="85"/>
                  </a:lnTo>
                  <a:lnTo>
                    <a:pt x="26" y="83"/>
                  </a:lnTo>
                  <a:lnTo>
                    <a:pt x="18" y="78"/>
                  </a:lnTo>
                  <a:lnTo>
                    <a:pt x="12" y="73"/>
                  </a:lnTo>
                  <a:lnTo>
                    <a:pt x="7" y="67"/>
                  </a:lnTo>
                  <a:lnTo>
                    <a:pt x="2" y="61"/>
                  </a:lnTo>
                  <a:lnTo>
                    <a:pt x="0" y="52"/>
                  </a:lnTo>
                  <a:lnTo>
                    <a:pt x="0" y="43"/>
                  </a:lnTo>
                  <a:lnTo>
                    <a:pt x="0" y="43"/>
                  </a:lnTo>
                  <a:lnTo>
                    <a:pt x="0" y="34"/>
                  </a:lnTo>
                  <a:lnTo>
                    <a:pt x="2" y="26"/>
                  </a:lnTo>
                  <a:lnTo>
                    <a:pt x="7" y="19"/>
                  </a:lnTo>
                  <a:lnTo>
                    <a:pt x="12" y="12"/>
                  </a:lnTo>
                  <a:lnTo>
                    <a:pt x="18" y="8"/>
                  </a:lnTo>
                  <a:lnTo>
                    <a:pt x="26" y="4"/>
                  </a:lnTo>
                  <a:lnTo>
                    <a:pt x="33" y="1"/>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110"/>
            <p:cNvSpPr>
              <a:spLocks/>
            </p:cNvSpPr>
            <p:nvPr userDrawn="1"/>
          </p:nvSpPr>
          <p:spPr bwMode="auto">
            <a:xfrm>
              <a:off x="4101" y="1004"/>
              <a:ext cx="43" cy="42"/>
            </a:xfrm>
            <a:custGeom>
              <a:avLst/>
              <a:gdLst>
                <a:gd name="T0" fmla="*/ 42 w 85"/>
                <a:gd name="T1" fmla="*/ 0 h 86"/>
                <a:gd name="T2" fmla="*/ 42 w 85"/>
                <a:gd name="T3" fmla="*/ 0 h 86"/>
                <a:gd name="T4" fmla="*/ 51 w 85"/>
                <a:gd name="T5" fmla="*/ 2 h 86"/>
                <a:gd name="T6" fmla="*/ 59 w 85"/>
                <a:gd name="T7" fmla="*/ 5 h 86"/>
                <a:gd name="T8" fmla="*/ 66 w 85"/>
                <a:gd name="T9" fmla="*/ 7 h 86"/>
                <a:gd name="T10" fmla="*/ 73 w 85"/>
                <a:gd name="T11" fmla="*/ 13 h 86"/>
                <a:gd name="T12" fmla="*/ 78 w 85"/>
                <a:gd name="T13" fmla="*/ 20 h 86"/>
                <a:gd name="T14" fmla="*/ 81 w 85"/>
                <a:gd name="T15" fmla="*/ 27 h 86"/>
                <a:gd name="T16" fmla="*/ 84 w 85"/>
                <a:gd name="T17" fmla="*/ 35 h 86"/>
                <a:gd name="T18" fmla="*/ 85 w 85"/>
                <a:gd name="T19" fmla="*/ 43 h 86"/>
                <a:gd name="T20" fmla="*/ 85 w 85"/>
                <a:gd name="T21" fmla="*/ 43 h 86"/>
                <a:gd name="T22" fmla="*/ 84 w 85"/>
                <a:gd name="T23" fmla="*/ 53 h 86"/>
                <a:gd name="T24" fmla="*/ 81 w 85"/>
                <a:gd name="T25" fmla="*/ 59 h 86"/>
                <a:gd name="T26" fmla="*/ 78 w 85"/>
                <a:gd name="T27" fmla="*/ 68 h 86"/>
                <a:gd name="T28" fmla="*/ 73 w 85"/>
                <a:gd name="T29" fmla="*/ 73 h 86"/>
                <a:gd name="T30" fmla="*/ 66 w 85"/>
                <a:gd name="T31" fmla="*/ 79 h 86"/>
                <a:gd name="T32" fmla="*/ 59 w 85"/>
                <a:gd name="T33" fmla="*/ 83 h 86"/>
                <a:gd name="T34" fmla="*/ 51 w 85"/>
                <a:gd name="T35" fmla="*/ 86 h 86"/>
                <a:gd name="T36" fmla="*/ 42 w 85"/>
                <a:gd name="T37" fmla="*/ 86 h 86"/>
                <a:gd name="T38" fmla="*/ 42 w 85"/>
                <a:gd name="T39" fmla="*/ 86 h 86"/>
                <a:gd name="T40" fmla="*/ 33 w 85"/>
                <a:gd name="T41" fmla="*/ 86 h 86"/>
                <a:gd name="T42" fmla="*/ 26 w 85"/>
                <a:gd name="T43" fmla="*/ 83 h 86"/>
                <a:gd name="T44" fmla="*/ 18 w 85"/>
                <a:gd name="T45" fmla="*/ 79 h 86"/>
                <a:gd name="T46" fmla="*/ 12 w 85"/>
                <a:gd name="T47" fmla="*/ 73 h 86"/>
                <a:gd name="T48" fmla="*/ 7 w 85"/>
                <a:gd name="T49" fmla="*/ 68 h 86"/>
                <a:gd name="T50" fmla="*/ 2 w 85"/>
                <a:gd name="T51" fmla="*/ 59 h 86"/>
                <a:gd name="T52" fmla="*/ 0 w 85"/>
                <a:gd name="T53" fmla="*/ 53 h 86"/>
                <a:gd name="T54" fmla="*/ 0 w 85"/>
                <a:gd name="T55" fmla="*/ 43 h 86"/>
                <a:gd name="T56" fmla="*/ 0 w 85"/>
                <a:gd name="T57" fmla="*/ 43 h 86"/>
                <a:gd name="T58" fmla="*/ 0 w 85"/>
                <a:gd name="T59" fmla="*/ 35 h 86"/>
                <a:gd name="T60" fmla="*/ 2 w 85"/>
                <a:gd name="T61" fmla="*/ 27 h 86"/>
                <a:gd name="T62" fmla="*/ 7 w 85"/>
                <a:gd name="T63" fmla="*/ 20 h 86"/>
                <a:gd name="T64" fmla="*/ 12 w 85"/>
                <a:gd name="T65" fmla="*/ 13 h 86"/>
                <a:gd name="T66" fmla="*/ 18 w 85"/>
                <a:gd name="T67" fmla="*/ 7 h 86"/>
                <a:gd name="T68" fmla="*/ 26 w 85"/>
                <a:gd name="T69" fmla="*/ 5 h 86"/>
                <a:gd name="T70" fmla="*/ 33 w 85"/>
                <a:gd name="T71" fmla="*/ 2 h 86"/>
                <a:gd name="T72" fmla="*/ 42 w 85"/>
                <a:gd name="T73" fmla="*/ 0 h 86"/>
                <a:gd name="T74" fmla="*/ 42 w 85"/>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0"/>
                  </a:moveTo>
                  <a:lnTo>
                    <a:pt x="42" y="0"/>
                  </a:lnTo>
                  <a:lnTo>
                    <a:pt x="51" y="2"/>
                  </a:lnTo>
                  <a:lnTo>
                    <a:pt x="59" y="5"/>
                  </a:lnTo>
                  <a:lnTo>
                    <a:pt x="66" y="7"/>
                  </a:lnTo>
                  <a:lnTo>
                    <a:pt x="73" y="13"/>
                  </a:lnTo>
                  <a:lnTo>
                    <a:pt x="78" y="20"/>
                  </a:lnTo>
                  <a:lnTo>
                    <a:pt x="81" y="27"/>
                  </a:lnTo>
                  <a:lnTo>
                    <a:pt x="84" y="35"/>
                  </a:lnTo>
                  <a:lnTo>
                    <a:pt x="85" y="43"/>
                  </a:lnTo>
                  <a:lnTo>
                    <a:pt x="85" y="43"/>
                  </a:lnTo>
                  <a:lnTo>
                    <a:pt x="84" y="53"/>
                  </a:lnTo>
                  <a:lnTo>
                    <a:pt x="81" y="59"/>
                  </a:lnTo>
                  <a:lnTo>
                    <a:pt x="78" y="68"/>
                  </a:lnTo>
                  <a:lnTo>
                    <a:pt x="73" y="73"/>
                  </a:lnTo>
                  <a:lnTo>
                    <a:pt x="66" y="79"/>
                  </a:lnTo>
                  <a:lnTo>
                    <a:pt x="59" y="83"/>
                  </a:lnTo>
                  <a:lnTo>
                    <a:pt x="51" y="86"/>
                  </a:lnTo>
                  <a:lnTo>
                    <a:pt x="42" y="86"/>
                  </a:lnTo>
                  <a:lnTo>
                    <a:pt x="42" y="86"/>
                  </a:lnTo>
                  <a:lnTo>
                    <a:pt x="33" y="86"/>
                  </a:lnTo>
                  <a:lnTo>
                    <a:pt x="26" y="83"/>
                  </a:lnTo>
                  <a:lnTo>
                    <a:pt x="18" y="79"/>
                  </a:lnTo>
                  <a:lnTo>
                    <a:pt x="12" y="73"/>
                  </a:lnTo>
                  <a:lnTo>
                    <a:pt x="7" y="68"/>
                  </a:lnTo>
                  <a:lnTo>
                    <a:pt x="2" y="59"/>
                  </a:lnTo>
                  <a:lnTo>
                    <a:pt x="0" y="53"/>
                  </a:lnTo>
                  <a:lnTo>
                    <a:pt x="0" y="43"/>
                  </a:lnTo>
                  <a:lnTo>
                    <a:pt x="0" y="43"/>
                  </a:lnTo>
                  <a:lnTo>
                    <a:pt x="0" y="35"/>
                  </a:lnTo>
                  <a:lnTo>
                    <a:pt x="2" y="27"/>
                  </a:lnTo>
                  <a:lnTo>
                    <a:pt x="7" y="20"/>
                  </a:lnTo>
                  <a:lnTo>
                    <a:pt x="12" y="13"/>
                  </a:lnTo>
                  <a:lnTo>
                    <a:pt x="18" y="7"/>
                  </a:lnTo>
                  <a:lnTo>
                    <a:pt x="26" y="5"/>
                  </a:lnTo>
                  <a:lnTo>
                    <a:pt x="33" y="2"/>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111"/>
            <p:cNvSpPr>
              <a:spLocks/>
            </p:cNvSpPr>
            <p:nvPr userDrawn="1"/>
          </p:nvSpPr>
          <p:spPr bwMode="auto">
            <a:xfrm>
              <a:off x="4101" y="947"/>
              <a:ext cx="43" cy="43"/>
            </a:xfrm>
            <a:custGeom>
              <a:avLst/>
              <a:gdLst>
                <a:gd name="T0" fmla="*/ 42 w 85"/>
                <a:gd name="T1" fmla="*/ 0 h 85"/>
                <a:gd name="T2" fmla="*/ 42 w 85"/>
                <a:gd name="T3" fmla="*/ 0 h 85"/>
                <a:gd name="T4" fmla="*/ 51 w 85"/>
                <a:gd name="T5" fmla="*/ 1 h 85"/>
                <a:gd name="T6" fmla="*/ 59 w 85"/>
                <a:gd name="T7" fmla="*/ 2 h 85"/>
                <a:gd name="T8" fmla="*/ 66 w 85"/>
                <a:gd name="T9" fmla="*/ 7 h 85"/>
                <a:gd name="T10" fmla="*/ 73 w 85"/>
                <a:gd name="T11" fmla="*/ 12 h 85"/>
                <a:gd name="T12" fmla="*/ 78 w 85"/>
                <a:gd name="T13" fmla="*/ 19 h 85"/>
                <a:gd name="T14" fmla="*/ 81 w 85"/>
                <a:gd name="T15" fmla="*/ 26 h 85"/>
                <a:gd name="T16" fmla="*/ 84 w 85"/>
                <a:gd name="T17" fmla="*/ 34 h 85"/>
                <a:gd name="T18" fmla="*/ 85 w 85"/>
                <a:gd name="T19" fmla="*/ 42 h 85"/>
                <a:gd name="T20" fmla="*/ 85 w 85"/>
                <a:gd name="T21" fmla="*/ 42 h 85"/>
                <a:gd name="T22" fmla="*/ 84 w 85"/>
                <a:gd name="T23" fmla="*/ 51 h 85"/>
                <a:gd name="T24" fmla="*/ 81 w 85"/>
                <a:gd name="T25" fmla="*/ 59 h 85"/>
                <a:gd name="T26" fmla="*/ 78 w 85"/>
                <a:gd name="T27" fmla="*/ 67 h 85"/>
                <a:gd name="T28" fmla="*/ 73 w 85"/>
                <a:gd name="T29" fmla="*/ 73 h 85"/>
                <a:gd name="T30" fmla="*/ 66 w 85"/>
                <a:gd name="T31" fmla="*/ 78 h 85"/>
                <a:gd name="T32" fmla="*/ 59 w 85"/>
                <a:gd name="T33" fmla="*/ 82 h 85"/>
                <a:gd name="T34" fmla="*/ 51 w 85"/>
                <a:gd name="T35" fmla="*/ 85 h 85"/>
                <a:gd name="T36" fmla="*/ 42 w 85"/>
                <a:gd name="T37" fmla="*/ 85 h 85"/>
                <a:gd name="T38" fmla="*/ 42 w 85"/>
                <a:gd name="T39" fmla="*/ 85 h 85"/>
                <a:gd name="T40" fmla="*/ 33 w 85"/>
                <a:gd name="T41" fmla="*/ 85 h 85"/>
                <a:gd name="T42" fmla="*/ 26 w 85"/>
                <a:gd name="T43" fmla="*/ 82 h 85"/>
                <a:gd name="T44" fmla="*/ 18 w 85"/>
                <a:gd name="T45" fmla="*/ 78 h 85"/>
                <a:gd name="T46" fmla="*/ 12 w 85"/>
                <a:gd name="T47" fmla="*/ 73 h 85"/>
                <a:gd name="T48" fmla="*/ 7 w 85"/>
                <a:gd name="T49" fmla="*/ 67 h 85"/>
                <a:gd name="T50" fmla="*/ 2 w 85"/>
                <a:gd name="T51" fmla="*/ 59 h 85"/>
                <a:gd name="T52" fmla="*/ 0 w 85"/>
                <a:gd name="T53" fmla="*/ 51 h 85"/>
                <a:gd name="T54" fmla="*/ 0 w 85"/>
                <a:gd name="T55" fmla="*/ 42 h 85"/>
                <a:gd name="T56" fmla="*/ 0 w 85"/>
                <a:gd name="T57" fmla="*/ 42 h 85"/>
                <a:gd name="T58" fmla="*/ 0 w 85"/>
                <a:gd name="T59" fmla="*/ 34 h 85"/>
                <a:gd name="T60" fmla="*/ 2 w 85"/>
                <a:gd name="T61" fmla="*/ 26 h 85"/>
                <a:gd name="T62" fmla="*/ 7 w 85"/>
                <a:gd name="T63" fmla="*/ 19 h 85"/>
                <a:gd name="T64" fmla="*/ 12 w 85"/>
                <a:gd name="T65" fmla="*/ 12 h 85"/>
                <a:gd name="T66" fmla="*/ 18 w 85"/>
                <a:gd name="T67" fmla="*/ 7 h 85"/>
                <a:gd name="T68" fmla="*/ 26 w 85"/>
                <a:gd name="T69" fmla="*/ 2 h 85"/>
                <a:gd name="T70" fmla="*/ 33 w 85"/>
                <a:gd name="T71" fmla="*/ 1 h 85"/>
                <a:gd name="T72" fmla="*/ 42 w 85"/>
                <a:gd name="T73" fmla="*/ 0 h 85"/>
                <a:gd name="T74" fmla="*/ 42 w 85"/>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0"/>
                  </a:moveTo>
                  <a:lnTo>
                    <a:pt x="42" y="0"/>
                  </a:lnTo>
                  <a:lnTo>
                    <a:pt x="51" y="1"/>
                  </a:lnTo>
                  <a:lnTo>
                    <a:pt x="59" y="2"/>
                  </a:lnTo>
                  <a:lnTo>
                    <a:pt x="66" y="7"/>
                  </a:lnTo>
                  <a:lnTo>
                    <a:pt x="73" y="12"/>
                  </a:lnTo>
                  <a:lnTo>
                    <a:pt x="78" y="19"/>
                  </a:lnTo>
                  <a:lnTo>
                    <a:pt x="81" y="26"/>
                  </a:lnTo>
                  <a:lnTo>
                    <a:pt x="84" y="34"/>
                  </a:lnTo>
                  <a:lnTo>
                    <a:pt x="85" y="42"/>
                  </a:lnTo>
                  <a:lnTo>
                    <a:pt x="85" y="42"/>
                  </a:lnTo>
                  <a:lnTo>
                    <a:pt x="84" y="51"/>
                  </a:lnTo>
                  <a:lnTo>
                    <a:pt x="81" y="59"/>
                  </a:lnTo>
                  <a:lnTo>
                    <a:pt x="78" y="67"/>
                  </a:lnTo>
                  <a:lnTo>
                    <a:pt x="73" y="73"/>
                  </a:lnTo>
                  <a:lnTo>
                    <a:pt x="66" y="78"/>
                  </a:lnTo>
                  <a:lnTo>
                    <a:pt x="59" y="82"/>
                  </a:lnTo>
                  <a:lnTo>
                    <a:pt x="51" y="85"/>
                  </a:lnTo>
                  <a:lnTo>
                    <a:pt x="42" y="85"/>
                  </a:lnTo>
                  <a:lnTo>
                    <a:pt x="42" y="85"/>
                  </a:lnTo>
                  <a:lnTo>
                    <a:pt x="33" y="85"/>
                  </a:lnTo>
                  <a:lnTo>
                    <a:pt x="26" y="82"/>
                  </a:lnTo>
                  <a:lnTo>
                    <a:pt x="18" y="78"/>
                  </a:lnTo>
                  <a:lnTo>
                    <a:pt x="12" y="73"/>
                  </a:lnTo>
                  <a:lnTo>
                    <a:pt x="7" y="67"/>
                  </a:lnTo>
                  <a:lnTo>
                    <a:pt x="2" y="59"/>
                  </a:lnTo>
                  <a:lnTo>
                    <a:pt x="0" y="51"/>
                  </a:lnTo>
                  <a:lnTo>
                    <a:pt x="0" y="42"/>
                  </a:lnTo>
                  <a:lnTo>
                    <a:pt x="0" y="42"/>
                  </a:lnTo>
                  <a:lnTo>
                    <a:pt x="0" y="34"/>
                  </a:lnTo>
                  <a:lnTo>
                    <a:pt x="2" y="26"/>
                  </a:lnTo>
                  <a:lnTo>
                    <a:pt x="7" y="19"/>
                  </a:lnTo>
                  <a:lnTo>
                    <a:pt x="12" y="12"/>
                  </a:lnTo>
                  <a:lnTo>
                    <a:pt x="18" y="7"/>
                  </a:lnTo>
                  <a:lnTo>
                    <a:pt x="26" y="2"/>
                  </a:lnTo>
                  <a:lnTo>
                    <a:pt x="33" y="1"/>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112"/>
            <p:cNvSpPr>
              <a:spLocks/>
            </p:cNvSpPr>
            <p:nvPr userDrawn="1"/>
          </p:nvSpPr>
          <p:spPr bwMode="auto">
            <a:xfrm>
              <a:off x="4101" y="891"/>
              <a:ext cx="43" cy="43"/>
            </a:xfrm>
            <a:custGeom>
              <a:avLst/>
              <a:gdLst>
                <a:gd name="T0" fmla="*/ 42 w 85"/>
                <a:gd name="T1" fmla="*/ 0 h 85"/>
                <a:gd name="T2" fmla="*/ 42 w 85"/>
                <a:gd name="T3" fmla="*/ 0 h 85"/>
                <a:gd name="T4" fmla="*/ 51 w 85"/>
                <a:gd name="T5" fmla="*/ 1 h 85"/>
                <a:gd name="T6" fmla="*/ 59 w 85"/>
                <a:gd name="T7" fmla="*/ 3 h 85"/>
                <a:gd name="T8" fmla="*/ 66 w 85"/>
                <a:gd name="T9" fmla="*/ 7 h 85"/>
                <a:gd name="T10" fmla="*/ 73 w 85"/>
                <a:gd name="T11" fmla="*/ 12 h 85"/>
                <a:gd name="T12" fmla="*/ 78 w 85"/>
                <a:gd name="T13" fmla="*/ 19 h 85"/>
                <a:gd name="T14" fmla="*/ 81 w 85"/>
                <a:gd name="T15" fmla="*/ 26 h 85"/>
                <a:gd name="T16" fmla="*/ 84 w 85"/>
                <a:gd name="T17" fmla="*/ 34 h 85"/>
                <a:gd name="T18" fmla="*/ 85 w 85"/>
                <a:gd name="T19" fmla="*/ 43 h 85"/>
                <a:gd name="T20" fmla="*/ 85 w 85"/>
                <a:gd name="T21" fmla="*/ 43 h 85"/>
                <a:gd name="T22" fmla="*/ 84 w 85"/>
                <a:gd name="T23" fmla="*/ 51 h 85"/>
                <a:gd name="T24" fmla="*/ 81 w 85"/>
                <a:gd name="T25" fmla="*/ 59 h 85"/>
                <a:gd name="T26" fmla="*/ 78 w 85"/>
                <a:gd name="T27" fmla="*/ 67 h 85"/>
                <a:gd name="T28" fmla="*/ 73 w 85"/>
                <a:gd name="T29" fmla="*/ 73 h 85"/>
                <a:gd name="T30" fmla="*/ 66 w 85"/>
                <a:gd name="T31" fmla="*/ 78 h 85"/>
                <a:gd name="T32" fmla="*/ 59 w 85"/>
                <a:gd name="T33" fmla="*/ 83 h 85"/>
                <a:gd name="T34" fmla="*/ 51 w 85"/>
                <a:gd name="T35" fmla="*/ 85 h 85"/>
                <a:gd name="T36" fmla="*/ 42 w 85"/>
                <a:gd name="T37" fmla="*/ 85 h 85"/>
                <a:gd name="T38" fmla="*/ 42 w 85"/>
                <a:gd name="T39" fmla="*/ 85 h 85"/>
                <a:gd name="T40" fmla="*/ 33 w 85"/>
                <a:gd name="T41" fmla="*/ 85 h 85"/>
                <a:gd name="T42" fmla="*/ 26 w 85"/>
                <a:gd name="T43" fmla="*/ 83 h 85"/>
                <a:gd name="T44" fmla="*/ 18 w 85"/>
                <a:gd name="T45" fmla="*/ 78 h 85"/>
                <a:gd name="T46" fmla="*/ 12 w 85"/>
                <a:gd name="T47" fmla="*/ 73 h 85"/>
                <a:gd name="T48" fmla="*/ 7 w 85"/>
                <a:gd name="T49" fmla="*/ 67 h 85"/>
                <a:gd name="T50" fmla="*/ 2 w 85"/>
                <a:gd name="T51" fmla="*/ 59 h 85"/>
                <a:gd name="T52" fmla="*/ 0 w 85"/>
                <a:gd name="T53" fmla="*/ 51 h 85"/>
                <a:gd name="T54" fmla="*/ 0 w 85"/>
                <a:gd name="T55" fmla="*/ 43 h 85"/>
                <a:gd name="T56" fmla="*/ 0 w 85"/>
                <a:gd name="T57" fmla="*/ 43 h 85"/>
                <a:gd name="T58" fmla="*/ 0 w 85"/>
                <a:gd name="T59" fmla="*/ 34 h 85"/>
                <a:gd name="T60" fmla="*/ 2 w 85"/>
                <a:gd name="T61" fmla="*/ 26 h 85"/>
                <a:gd name="T62" fmla="*/ 7 w 85"/>
                <a:gd name="T63" fmla="*/ 19 h 85"/>
                <a:gd name="T64" fmla="*/ 12 w 85"/>
                <a:gd name="T65" fmla="*/ 12 h 85"/>
                <a:gd name="T66" fmla="*/ 18 w 85"/>
                <a:gd name="T67" fmla="*/ 7 h 85"/>
                <a:gd name="T68" fmla="*/ 26 w 85"/>
                <a:gd name="T69" fmla="*/ 3 h 85"/>
                <a:gd name="T70" fmla="*/ 33 w 85"/>
                <a:gd name="T71" fmla="*/ 1 h 85"/>
                <a:gd name="T72" fmla="*/ 42 w 85"/>
                <a:gd name="T73" fmla="*/ 0 h 85"/>
                <a:gd name="T74" fmla="*/ 42 w 85"/>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0"/>
                  </a:moveTo>
                  <a:lnTo>
                    <a:pt x="42" y="0"/>
                  </a:lnTo>
                  <a:lnTo>
                    <a:pt x="51" y="1"/>
                  </a:lnTo>
                  <a:lnTo>
                    <a:pt x="59" y="3"/>
                  </a:lnTo>
                  <a:lnTo>
                    <a:pt x="66" y="7"/>
                  </a:lnTo>
                  <a:lnTo>
                    <a:pt x="73" y="12"/>
                  </a:lnTo>
                  <a:lnTo>
                    <a:pt x="78" y="19"/>
                  </a:lnTo>
                  <a:lnTo>
                    <a:pt x="81" y="26"/>
                  </a:lnTo>
                  <a:lnTo>
                    <a:pt x="84" y="34"/>
                  </a:lnTo>
                  <a:lnTo>
                    <a:pt x="85" y="43"/>
                  </a:lnTo>
                  <a:lnTo>
                    <a:pt x="85" y="43"/>
                  </a:lnTo>
                  <a:lnTo>
                    <a:pt x="84" y="51"/>
                  </a:lnTo>
                  <a:lnTo>
                    <a:pt x="81" y="59"/>
                  </a:lnTo>
                  <a:lnTo>
                    <a:pt x="78" y="67"/>
                  </a:lnTo>
                  <a:lnTo>
                    <a:pt x="73" y="73"/>
                  </a:lnTo>
                  <a:lnTo>
                    <a:pt x="66" y="78"/>
                  </a:lnTo>
                  <a:lnTo>
                    <a:pt x="59" y="83"/>
                  </a:lnTo>
                  <a:lnTo>
                    <a:pt x="51" y="85"/>
                  </a:lnTo>
                  <a:lnTo>
                    <a:pt x="42" y="85"/>
                  </a:lnTo>
                  <a:lnTo>
                    <a:pt x="42" y="85"/>
                  </a:lnTo>
                  <a:lnTo>
                    <a:pt x="33" y="85"/>
                  </a:lnTo>
                  <a:lnTo>
                    <a:pt x="26" y="83"/>
                  </a:lnTo>
                  <a:lnTo>
                    <a:pt x="18" y="78"/>
                  </a:lnTo>
                  <a:lnTo>
                    <a:pt x="12" y="73"/>
                  </a:lnTo>
                  <a:lnTo>
                    <a:pt x="7" y="67"/>
                  </a:lnTo>
                  <a:lnTo>
                    <a:pt x="2" y="59"/>
                  </a:lnTo>
                  <a:lnTo>
                    <a:pt x="0" y="51"/>
                  </a:lnTo>
                  <a:lnTo>
                    <a:pt x="0" y="43"/>
                  </a:lnTo>
                  <a:lnTo>
                    <a:pt x="0" y="43"/>
                  </a:lnTo>
                  <a:lnTo>
                    <a:pt x="0" y="34"/>
                  </a:lnTo>
                  <a:lnTo>
                    <a:pt x="2" y="26"/>
                  </a:lnTo>
                  <a:lnTo>
                    <a:pt x="7" y="19"/>
                  </a:lnTo>
                  <a:lnTo>
                    <a:pt x="12" y="12"/>
                  </a:lnTo>
                  <a:lnTo>
                    <a:pt x="18" y="7"/>
                  </a:lnTo>
                  <a:lnTo>
                    <a:pt x="26" y="3"/>
                  </a:lnTo>
                  <a:lnTo>
                    <a:pt x="33" y="1"/>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113"/>
            <p:cNvSpPr>
              <a:spLocks/>
            </p:cNvSpPr>
            <p:nvPr userDrawn="1"/>
          </p:nvSpPr>
          <p:spPr bwMode="auto">
            <a:xfrm>
              <a:off x="3762" y="665"/>
              <a:ext cx="43" cy="43"/>
            </a:xfrm>
            <a:custGeom>
              <a:avLst/>
              <a:gdLst>
                <a:gd name="T0" fmla="*/ 42 w 85"/>
                <a:gd name="T1" fmla="*/ 87 h 87"/>
                <a:gd name="T2" fmla="*/ 42 w 85"/>
                <a:gd name="T3" fmla="*/ 87 h 87"/>
                <a:gd name="T4" fmla="*/ 34 w 85"/>
                <a:gd name="T5" fmla="*/ 85 h 87"/>
                <a:gd name="T6" fmla="*/ 26 w 85"/>
                <a:gd name="T7" fmla="*/ 82 h 87"/>
                <a:gd name="T8" fmla="*/ 19 w 85"/>
                <a:gd name="T9" fmla="*/ 80 h 87"/>
                <a:gd name="T10" fmla="*/ 12 w 85"/>
                <a:gd name="T11" fmla="*/ 74 h 87"/>
                <a:gd name="T12" fmla="*/ 7 w 85"/>
                <a:gd name="T13" fmla="*/ 67 h 87"/>
                <a:gd name="T14" fmla="*/ 2 w 85"/>
                <a:gd name="T15" fmla="*/ 60 h 87"/>
                <a:gd name="T16" fmla="*/ 1 w 85"/>
                <a:gd name="T17" fmla="*/ 52 h 87"/>
                <a:gd name="T18" fmla="*/ 0 w 85"/>
                <a:gd name="T19" fmla="*/ 44 h 87"/>
                <a:gd name="T20" fmla="*/ 0 w 85"/>
                <a:gd name="T21" fmla="*/ 44 h 87"/>
                <a:gd name="T22" fmla="*/ 1 w 85"/>
                <a:gd name="T23" fmla="*/ 34 h 87"/>
                <a:gd name="T24" fmla="*/ 2 w 85"/>
                <a:gd name="T25" fmla="*/ 27 h 87"/>
                <a:gd name="T26" fmla="*/ 7 w 85"/>
                <a:gd name="T27" fmla="*/ 19 h 87"/>
                <a:gd name="T28" fmla="*/ 12 w 85"/>
                <a:gd name="T29" fmla="*/ 14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7 w 85"/>
                <a:gd name="T45" fmla="*/ 8 h 87"/>
                <a:gd name="T46" fmla="*/ 73 w 85"/>
                <a:gd name="T47" fmla="*/ 14 h 87"/>
                <a:gd name="T48" fmla="*/ 78 w 85"/>
                <a:gd name="T49" fmla="*/ 19 h 87"/>
                <a:gd name="T50" fmla="*/ 82 w 85"/>
                <a:gd name="T51" fmla="*/ 27 h 87"/>
                <a:gd name="T52" fmla="*/ 85 w 85"/>
                <a:gd name="T53" fmla="*/ 34 h 87"/>
                <a:gd name="T54" fmla="*/ 85 w 85"/>
                <a:gd name="T55" fmla="*/ 44 h 87"/>
                <a:gd name="T56" fmla="*/ 85 w 85"/>
                <a:gd name="T57" fmla="*/ 44 h 87"/>
                <a:gd name="T58" fmla="*/ 85 w 85"/>
                <a:gd name="T59" fmla="*/ 52 h 87"/>
                <a:gd name="T60" fmla="*/ 82 w 85"/>
                <a:gd name="T61" fmla="*/ 60 h 87"/>
                <a:gd name="T62" fmla="*/ 78 w 85"/>
                <a:gd name="T63" fmla="*/ 67 h 87"/>
                <a:gd name="T64" fmla="*/ 73 w 85"/>
                <a:gd name="T65" fmla="*/ 74 h 87"/>
                <a:gd name="T66" fmla="*/ 67 w 85"/>
                <a:gd name="T67" fmla="*/ 80 h 87"/>
                <a:gd name="T68" fmla="*/ 59 w 85"/>
                <a:gd name="T69" fmla="*/ 82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2"/>
                  </a:lnTo>
                  <a:lnTo>
                    <a:pt x="19" y="80"/>
                  </a:lnTo>
                  <a:lnTo>
                    <a:pt x="12" y="74"/>
                  </a:lnTo>
                  <a:lnTo>
                    <a:pt x="7" y="67"/>
                  </a:lnTo>
                  <a:lnTo>
                    <a:pt x="2" y="60"/>
                  </a:lnTo>
                  <a:lnTo>
                    <a:pt x="1" y="52"/>
                  </a:lnTo>
                  <a:lnTo>
                    <a:pt x="0" y="44"/>
                  </a:lnTo>
                  <a:lnTo>
                    <a:pt x="0" y="44"/>
                  </a:lnTo>
                  <a:lnTo>
                    <a:pt x="1" y="34"/>
                  </a:lnTo>
                  <a:lnTo>
                    <a:pt x="2" y="27"/>
                  </a:lnTo>
                  <a:lnTo>
                    <a:pt x="7" y="19"/>
                  </a:lnTo>
                  <a:lnTo>
                    <a:pt x="12" y="14"/>
                  </a:lnTo>
                  <a:lnTo>
                    <a:pt x="19" y="8"/>
                  </a:lnTo>
                  <a:lnTo>
                    <a:pt x="26" y="4"/>
                  </a:lnTo>
                  <a:lnTo>
                    <a:pt x="34" y="1"/>
                  </a:lnTo>
                  <a:lnTo>
                    <a:pt x="42" y="0"/>
                  </a:lnTo>
                  <a:lnTo>
                    <a:pt x="42" y="0"/>
                  </a:lnTo>
                  <a:lnTo>
                    <a:pt x="51" y="1"/>
                  </a:lnTo>
                  <a:lnTo>
                    <a:pt x="59" y="4"/>
                  </a:lnTo>
                  <a:lnTo>
                    <a:pt x="67" y="8"/>
                  </a:lnTo>
                  <a:lnTo>
                    <a:pt x="73" y="14"/>
                  </a:lnTo>
                  <a:lnTo>
                    <a:pt x="78" y="19"/>
                  </a:lnTo>
                  <a:lnTo>
                    <a:pt x="82" y="27"/>
                  </a:lnTo>
                  <a:lnTo>
                    <a:pt x="85" y="34"/>
                  </a:lnTo>
                  <a:lnTo>
                    <a:pt x="85" y="44"/>
                  </a:lnTo>
                  <a:lnTo>
                    <a:pt x="85" y="44"/>
                  </a:lnTo>
                  <a:lnTo>
                    <a:pt x="85" y="52"/>
                  </a:lnTo>
                  <a:lnTo>
                    <a:pt x="82" y="60"/>
                  </a:lnTo>
                  <a:lnTo>
                    <a:pt x="78" y="67"/>
                  </a:lnTo>
                  <a:lnTo>
                    <a:pt x="73" y="74"/>
                  </a:lnTo>
                  <a:lnTo>
                    <a:pt x="67" y="80"/>
                  </a:lnTo>
                  <a:lnTo>
                    <a:pt x="59" y="82"/>
                  </a:lnTo>
                  <a:lnTo>
                    <a:pt x="51" y="85"/>
                  </a:lnTo>
                  <a:lnTo>
                    <a:pt x="42" y="87"/>
                  </a:lnTo>
                  <a:lnTo>
                    <a:pt x="42" y="87"/>
                  </a:lnTo>
                  <a:close/>
                </a:path>
              </a:pathLst>
            </a:custGeom>
            <a:solidFill>
              <a:srgbClr val="8ED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114"/>
            <p:cNvSpPr>
              <a:spLocks/>
            </p:cNvSpPr>
            <p:nvPr userDrawn="1"/>
          </p:nvSpPr>
          <p:spPr bwMode="auto">
            <a:xfrm>
              <a:off x="3705" y="722"/>
              <a:ext cx="43" cy="43"/>
            </a:xfrm>
            <a:custGeom>
              <a:avLst/>
              <a:gdLst>
                <a:gd name="T0" fmla="*/ 42 w 85"/>
                <a:gd name="T1" fmla="*/ 85 h 85"/>
                <a:gd name="T2" fmla="*/ 42 w 85"/>
                <a:gd name="T3" fmla="*/ 85 h 85"/>
                <a:gd name="T4" fmla="*/ 34 w 85"/>
                <a:gd name="T5" fmla="*/ 84 h 85"/>
                <a:gd name="T6" fmla="*/ 26 w 85"/>
                <a:gd name="T7" fmla="*/ 81 h 85"/>
                <a:gd name="T8" fmla="*/ 19 w 85"/>
                <a:gd name="T9" fmla="*/ 78 h 85"/>
                <a:gd name="T10" fmla="*/ 12 w 85"/>
                <a:gd name="T11" fmla="*/ 73 h 85"/>
                <a:gd name="T12" fmla="*/ 7 w 85"/>
                <a:gd name="T13" fmla="*/ 66 h 85"/>
                <a:gd name="T14" fmla="*/ 3 w 85"/>
                <a:gd name="T15" fmla="*/ 59 h 85"/>
                <a:gd name="T16" fmla="*/ 0 w 85"/>
                <a:gd name="T17" fmla="*/ 51 h 85"/>
                <a:gd name="T18" fmla="*/ 0 w 85"/>
                <a:gd name="T19" fmla="*/ 43 h 85"/>
                <a:gd name="T20" fmla="*/ 0 w 85"/>
                <a:gd name="T21" fmla="*/ 43 h 85"/>
                <a:gd name="T22" fmla="*/ 0 w 85"/>
                <a:gd name="T23" fmla="*/ 33 h 85"/>
                <a:gd name="T24" fmla="*/ 3 w 85"/>
                <a:gd name="T25" fmla="*/ 26 h 85"/>
                <a:gd name="T26" fmla="*/ 7 w 85"/>
                <a:gd name="T27" fmla="*/ 18 h 85"/>
                <a:gd name="T28" fmla="*/ 12 w 85"/>
                <a:gd name="T29" fmla="*/ 12 h 85"/>
                <a:gd name="T30" fmla="*/ 19 w 85"/>
                <a:gd name="T31" fmla="*/ 7 h 85"/>
                <a:gd name="T32" fmla="*/ 26 w 85"/>
                <a:gd name="T33" fmla="*/ 3 h 85"/>
                <a:gd name="T34" fmla="*/ 34 w 85"/>
                <a:gd name="T35" fmla="*/ 0 h 85"/>
                <a:gd name="T36" fmla="*/ 42 w 85"/>
                <a:gd name="T37" fmla="*/ 0 h 85"/>
                <a:gd name="T38" fmla="*/ 42 w 85"/>
                <a:gd name="T39" fmla="*/ 0 h 85"/>
                <a:gd name="T40" fmla="*/ 51 w 85"/>
                <a:gd name="T41" fmla="*/ 0 h 85"/>
                <a:gd name="T42" fmla="*/ 59 w 85"/>
                <a:gd name="T43" fmla="*/ 3 h 85"/>
                <a:gd name="T44" fmla="*/ 66 w 85"/>
                <a:gd name="T45" fmla="*/ 7 h 85"/>
                <a:gd name="T46" fmla="*/ 73 w 85"/>
                <a:gd name="T47" fmla="*/ 12 h 85"/>
                <a:gd name="T48" fmla="*/ 78 w 85"/>
                <a:gd name="T49" fmla="*/ 18 h 85"/>
                <a:gd name="T50" fmla="*/ 82 w 85"/>
                <a:gd name="T51" fmla="*/ 26 h 85"/>
                <a:gd name="T52" fmla="*/ 85 w 85"/>
                <a:gd name="T53" fmla="*/ 33 h 85"/>
                <a:gd name="T54" fmla="*/ 85 w 85"/>
                <a:gd name="T55" fmla="*/ 43 h 85"/>
                <a:gd name="T56" fmla="*/ 85 w 85"/>
                <a:gd name="T57" fmla="*/ 43 h 85"/>
                <a:gd name="T58" fmla="*/ 85 w 85"/>
                <a:gd name="T59" fmla="*/ 51 h 85"/>
                <a:gd name="T60" fmla="*/ 82 w 85"/>
                <a:gd name="T61" fmla="*/ 59 h 85"/>
                <a:gd name="T62" fmla="*/ 78 w 85"/>
                <a:gd name="T63" fmla="*/ 66 h 85"/>
                <a:gd name="T64" fmla="*/ 73 w 85"/>
                <a:gd name="T65" fmla="*/ 73 h 85"/>
                <a:gd name="T66" fmla="*/ 66 w 85"/>
                <a:gd name="T67" fmla="*/ 78 h 85"/>
                <a:gd name="T68" fmla="*/ 59 w 85"/>
                <a:gd name="T69" fmla="*/ 81 h 85"/>
                <a:gd name="T70" fmla="*/ 51 w 85"/>
                <a:gd name="T71" fmla="*/ 84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4"/>
                  </a:lnTo>
                  <a:lnTo>
                    <a:pt x="26" y="81"/>
                  </a:lnTo>
                  <a:lnTo>
                    <a:pt x="19" y="78"/>
                  </a:lnTo>
                  <a:lnTo>
                    <a:pt x="12" y="73"/>
                  </a:lnTo>
                  <a:lnTo>
                    <a:pt x="7" y="66"/>
                  </a:lnTo>
                  <a:lnTo>
                    <a:pt x="3" y="59"/>
                  </a:lnTo>
                  <a:lnTo>
                    <a:pt x="0" y="51"/>
                  </a:lnTo>
                  <a:lnTo>
                    <a:pt x="0" y="43"/>
                  </a:lnTo>
                  <a:lnTo>
                    <a:pt x="0" y="43"/>
                  </a:lnTo>
                  <a:lnTo>
                    <a:pt x="0" y="33"/>
                  </a:lnTo>
                  <a:lnTo>
                    <a:pt x="3" y="26"/>
                  </a:lnTo>
                  <a:lnTo>
                    <a:pt x="7" y="18"/>
                  </a:lnTo>
                  <a:lnTo>
                    <a:pt x="12" y="12"/>
                  </a:lnTo>
                  <a:lnTo>
                    <a:pt x="19" y="7"/>
                  </a:lnTo>
                  <a:lnTo>
                    <a:pt x="26" y="3"/>
                  </a:lnTo>
                  <a:lnTo>
                    <a:pt x="34" y="0"/>
                  </a:lnTo>
                  <a:lnTo>
                    <a:pt x="42" y="0"/>
                  </a:lnTo>
                  <a:lnTo>
                    <a:pt x="42" y="0"/>
                  </a:lnTo>
                  <a:lnTo>
                    <a:pt x="51" y="0"/>
                  </a:lnTo>
                  <a:lnTo>
                    <a:pt x="59" y="3"/>
                  </a:lnTo>
                  <a:lnTo>
                    <a:pt x="66" y="7"/>
                  </a:lnTo>
                  <a:lnTo>
                    <a:pt x="73" y="12"/>
                  </a:lnTo>
                  <a:lnTo>
                    <a:pt x="78" y="18"/>
                  </a:lnTo>
                  <a:lnTo>
                    <a:pt x="82" y="26"/>
                  </a:lnTo>
                  <a:lnTo>
                    <a:pt x="85" y="33"/>
                  </a:lnTo>
                  <a:lnTo>
                    <a:pt x="85" y="43"/>
                  </a:lnTo>
                  <a:lnTo>
                    <a:pt x="85" y="43"/>
                  </a:lnTo>
                  <a:lnTo>
                    <a:pt x="85" y="51"/>
                  </a:lnTo>
                  <a:lnTo>
                    <a:pt x="82" y="59"/>
                  </a:lnTo>
                  <a:lnTo>
                    <a:pt x="78" y="66"/>
                  </a:lnTo>
                  <a:lnTo>
                    <a:pt x="73" y="73"/>
                  </a:lnTo>
                  <a:lnTo>
                    <a:pt x="66" y="78"/>
                  </a:lnTo>
                  <a:lnTo>
                    <a:pt x="59" y="81"/>
                  </a:lnTo>
                  <a:lnTo>
                    <a:pt x="51" y="84"/>
                  </a:lnTo>
                  <a:lnTo>
                    <a:pt x="42" y="85"/>
                  </a:lnTo>
                  <a:lnTo>
                    <a:pt x="42" y="85"/>
                  </a:lnTo>
                  <a:close/>
                </a:path>
              </a:pathLst>
            </a:custGeom>
            <a:solidFill>
              <a:srgbClr val="8ED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p:cNvGrpSpPr/>
          <p:nvPr userDrawn="1"/>
        </p:nvGrpSpPr>
        <p:grpSpPr>
          <a:xfrm>
            <a:off x="177800" y="5295507"/>
            <a:ext cx="11847413" cy="1418438"/>
            <a:chOff x="0" y="5409807"/>
            <a:chExt cx="11847413" cy="1418438"/>
          </a:xfrm>
        </p:grpSpPr>
        <p:sp>
          <p:nvSpPr>
            <p:cNvPr id="122" name="Oval 121"/>
            <p:cNvSpPr/>
            <p:nvPr/>
          </p:nvSpPr>
          <p:spPr>
            <a:xfrm rot="5400000">
              <a:off x="0"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rot="5400000">
              <a:off x="596266"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rot="5400000">
              <a:off x="893538"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rot="5400000">
              <a:off x="1188586"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rot="5400000">
              <a:off x="118858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rot="5400000">
              <a:off x="1188586"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rot="5400000">
              <a:off x="1487036"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rot="5400000">
              <a:off x="148703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rot="5400000">
              <a:off x="1487036"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rot="5400000">
              <a:off x="1785482"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rot="5400000">
              <a:off x="1785482"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p:cNvSpPr/>
            <p:nvPr/>
          </p:nvSpPr>
          <p:spPr>
            <a:xfrm rot="5400000">
              <a:off x="1785482" y="660043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rot="5400000">
              <a:off x="2084611"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p:cNvSpPr/>
            <p:nvPr/>
          </p:nvSpPr>
          <p:spPr>
            <a:xfrm rot="5400000">
              <a:off x="2383057"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p:cNvSpPr/>
            <p:nvPr/>
          </p:nvSpPr>
          <p:spPr>
            <a:xfrm rot="5400000">
              <a:off x="2383057"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p:cNvSpPr/>
            <p:nvPr/>
          </p:nvSpPr>
          <p:spPr>
            <a:xfrm rot="5400000">
              <a:off x="2383057"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rot="5400000">
              <a:off x="2383057"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p:cNvSpPr/>
            <p:nvPr/>
          </p:nvSpPr>
          <p:spPr>
            <a:xfrm rot="5400000">
              <a:off x="2383057"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rot="5400000">
              <a:off x="2677499"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p:cNvSpPr/>
            <p:nvPr/>
          </p:nvSpPr>
          <p:spPr>
            <a:xfrm rot="5400000">
              <a:off x="2677499"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p:cNvSpPr/>
            <p:nvPr/>
          </p:nvSpPr>
          <p:spPr>
            <a:xfrm rot="5400000">
              <a:off x="2981320" y="600512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p:cNvSpPr/>
            <p:nvPr/>
          </p:nvSpPr>
          <p:spPr>
            <a:xfrm rot="5400000">
              <a:off x="2981320" y="630277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rot="5400000">
              <a:off x="2981320" y="660043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p:cNvSpPr/>
            <p:nvPr/>
          </p:nvSpPr>
          <p:spPr>
            <a:xfrm rot="5400000">
              <a:off x="3278592"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rot="5400000">
              <a:off x="3566662" y="570746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rot="5400000">
              <a:off x="3566662" y="630277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p:cNvSpPr/>
            <p:nvPr/>
          </p:nvSpPr>
          <p:spPr>
            <a:xfrm rot="5400000">
              <a:off x="3865791"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p:cNvSpPr/>
            <p:nvPr/>
          </p:nvSpPr>
          <p:spPr>
            <a:xfrm rot="5400000">
              <a:off x="3865791"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p:cNvSpPr/>
            <p:nvPr/>
          </p:nvSpPr>
          <p:spPr>
            <a:xfrm rot="5400000">
              <a:off x="4164237"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p:cNvSpPr/>
            <p:nvPr/>
          </p:nvSpPr>
          <p:spPr>
            <a:xfrm rot="5400000">
              <a:off x="4164237"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p:cNvSpPr/>
            <p:nvPr/>
          </p:nvSpPr>
          <p:spPr>
            <a:xfrm rot="5400000">
              <a:off x="4458679"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p:cNvSpPr/>
            <p:nvPr/>
          </p:nvSpPr>
          <p:spPr>
            <a:xfrm rot="5400000">
              <a:off x="4458679"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rot="5400000">
              <a:off x="4762499"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p:cNvSpPr/>
            <p:nvPr/>
          </p:nvSpPr>
          <p:spPr>
            <a:xfrm rot="5400000">
              <a:off x="5059770" y="570746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rot="5400000">
              <a:off x="5059770"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p:cNvSpPr/>
            <p:nvPr/>
          </p:nvSpPr>
          <p:spPr>
            <a:xfrm rot="5400000">
              <a:off x="5059770"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p:cNvSpPr/>
            <p:nvPr/>
          </p:nvSpPr>
          <p:spPr>
            <a:xfrm rot="5400000">
              <a:off x="5362575"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p:cNvSpPr/>
            <p:nvPr/>
          </p:nvSpPr>
          <p:spPr>
            <a:xfrm rot="5400000">
              <a:off x="5362575"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rot="5400000">
              <a:off x="566420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p:cNvSpPr/>
            <p:nvPr/>
          </p:nvSpPr>
          <p:spPr>
            <a:xfrm rot="5400000">
              <a:off x="5664201" y="660042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rot="5400000">
              <a:off x="5958841"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p:cNvSpPr/>
            <p:nvPr userDrawn="1"/>
          </p:nvSpPr>
          <p:spPr>
            <a:xfrm rot="5400000">
              <a:off x="595884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p:cNvSpPr/>
            <p:nvPr/>
          </p:nvSpPr>
          <p:spPr>
            <a:xfrm rot="5400000">
              <a:off x="6256113"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p:cNvSpPr/>
            <p:nvPr/>
          </p:nvSpPr>
          <p:spPr>
            <a:xfrm rot="5400000">
              <a:off x="6551161"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p:cNvSpPr/>
            <p:nvPr/>
          </p:nvSpPr>
          <p:spPr>
            <a:xfrm rot="5400000">
              <a:off x="655116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p:cNvSpPr/>
            <p:nvPr/>
          </p:nvSpPr>
          <p:spPr>
            <a:xfrm rot="5400000">
              <a:off x="655116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rot="5400000">
              <a:off x="6849611"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p:cNvSpPr/>
            <p:nvPr/>
          </p:nvSpPr>
          <p:spPr>
            <a:xfrm rot="5400000">
              <a:off x="684961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rot="5400000">
              <a:off x="684961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p:cNvSpPr/>
            <p:nvPr/>
          </p:nvSpPr>
          <p:spPr>
            <a:xfrm rot="5400000">
              <a:off x="7148057"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p:cNvSpPr/>
            <p:nvPr/>
          </p:nvSpPr>
          <p:spPr>
            <a:xfrm rot="5400000">
              <a:off x="7148057"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p:cNvSpPr/>
            <p:nvPr/>
          </p:nvSpPr>
          <p:spPr>
            <a:xfrm rot="5400000">
              <a:off x="7148057" y="660043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p:cNvSpPr/>
            <p:nvPr/>
          </p:nvSpPr>
          <p:spPr>
            <a:xfrm rot="5400000">
              <a:off x="7447186"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p:cNvSpPr/>
            <p:nvPr/>
          </p:nvSpPr>
          <p:spPr>
            <a:xfrm rot="5400000">
              <a:off x="7745632"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p:cNvSpPr/>
            <p:nvPr/>
          </p:nvSpPr>
          <p:spPr>
            <a:xfrm rot="5400000">
              <a:off x="7745632"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p:cNvSpPr/>
            <p:nvPr/>
          </p:nvSpPr>
          <p:spPr>
            <a:xfrm rot="5400000">
              <a:off x="7745632"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p:cNvSpPr/>
            <p:nvPr/>
          </p:nvSpPr>
          <p:spPr>
            <a:xfrm rot="5400000">
              <a:off x="7745632"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p:cNvSpPr/>
            <p:nvPr/>
          </p:nvSpPr>
          <p:spPr>
            <a:xfrm rot="5400000">
              <a:off x="7745632"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p:cNvSpPr/>
            <p:nvPr/>
          </p:nvSpPr>
          <p:spPr>
            <a:xfrm rot="5400000">
              <a:off x="8040074"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p:cNvSpPr/>
            <p:nvPr/>
          </p:nvSpPr>
          <p:spPr>
            <a:xfrm rot="5400000">
              <a:off x="804007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p:cNvSpPr/>
            <p:nvPr/>
          </p:nvSpPr>
          <p:spPr>
            <a:xfrm rot="5400000">
              <a:off x="834389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p:cNvSpPr/>
            <p:nvPr/>
          </p:nvSpPr>
          <p:spPr>
            <a:xfrm rot="5400000">
              <a:off x="8343894" y="630277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p:cNvSpPr/>
            <p:nvPr/>
          </p:nvSpPr>
          <p:spPr>
            <a:xfrm rot="5400000">
              <a:off x="8343894" y="660043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Oval 188"/>
            <p:cNvSpPr/>
            <p:nvPr userDrawn="1"/>
          </p:nvSpPr>
          <p:spPr>
            <a:xfrm rot="5400000">
              <a:off x="8641166"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p:cNvSpPr/>
            <p:nvPr/>
          </p:nvSpPr>
          <p:spPr>
            <a:xfrm rot="5400000">
              <a:off x="8929236" y="570746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p:cNvSpPr/>
            <p:nvPr/>
          </p:nvSpPr>
          <p:spPr>
            <a:xfrm rot="5400000">
              <a:off x="8929236" y="630277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p:cNvSpPr/>
            <p:nvPr/>
          </p:nvSpPr>
          <p:spPr>
            <a:xfrm rot="5400000">
              <a:off x="9228366"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p:cNvSpPr/>
            <p:nvPr/>
          </p:nvSpPr>
          <p:spPr>
            <a:xfrm rot="5400000">
              <a:off x="9228366"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rot="5400000">
              <a:off x="9526812"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p:cNvSpPr/>
            <p:nvPr/>
          </p:nvSpPr>
          <p:spPr>
            <a:xfrm rot="5400000">
              <a:off x="9526812"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rot="5400000">
              <a:off x="9821254"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p:cNvSpPr/>
            <p:nvPr/>
          </p:nvSpPr>
          <p:spPr>
            <a:xfrm rot="5400000">
              <a:off x="9821254"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p:cNvSpPr/>
            <p:nvPr/>
          </p:nvSpPr>
          <p:spPr>
            <a:xfrm rot="5400000">
              <a:off x="10125074"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p:cNvSpPr/>
            <p:nvPr/>
          </p:nvSpPr>
          <p:spPr>
            <a:xfrm rot="5400000">
              <a:off x="10422346" y="570747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rot="5400000">
              <a:off x="10422346" y="630278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p:cNvSpPr/>
            <p:nvPr/>
          </p:nvSpPr>
          <p:spPr>
            <a:xfrm rot="5400000">
              <a:off x="10422346" y="660043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rot="5400000">
              <a:off x="10726068"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p:cNvSpPr/>
            <p:nvPr/>
          </p:nvSpPr>
          <p:spPr>
            <a:xfrm rot="5400000">
              <a:off x="10726068"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p:cNvSpPr/>
            <p:nvPr/>
          </p:nvSpPr>
          <p:spPr>
            <a:xfrm rot="5400000">
              <a:off x="1102769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Oval 204"/>
            <p:cNvSpPr/>
            <p:nvPr/>
          </p:nvSpPr>
          <p:spPr>
            <a:xfrm rot="5400000">
              <a:off x="11322334"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p:cNvSpPr/>
            <p:nvPr userDrawn="1"/>
          </p:nvSpPr>
          <p:spPr>
            <a:xfrm rot="5400000">
              <a:off x="1132233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p:cNvSpPr/>
            <p:nvPr/>
          </p:nvSpPr>
          <p:spPr>
            <a:xfrm rot="5400000">
              <a:off x="1161960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8"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209"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64105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439" name="Rectangle 438"/>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6" name="Group 565"/>
          <p:cNvGrpSpPr/>
          <p:nvPr userDrawn="1"/>
        </p:nvGrpSpPr>
        <p:grpSpPr>
          <a:xfrm>
            <a:off x="177800" y="5295507"/>
            <a:ext cx="11847413" cy="1418438"/>
            <a:chOff x="0" y="5409807"/>
            <a:chExt cx="11847413" cy="1418438"/>
          </a:xfrm>
        </p:grpSpPr>
        <p:sp>
          <p:nvSpPr>
            <p:cNvPr id="567" name="Oval 566"/>
            <p:cNvSpPr/>
            <p:nvPr/>
          </p:nvSpPr>
          <p:spPr>
            <a:xfrm rot="5400000">
              <a:off x="0"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p:cNvSpPr/>
            <p:nvPr/>
          </p:nvSpPr>
          <p:spPr>
            <a:xfrm rot="5400000">
              <a:off x="596266"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p:cNvSpPr/>
            <p:nvPr/>
          </p:nvSpPr>
          <p:spPr>
            <a:xfrm rot="5400000">
              <a:off x="893538"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Oval 573"/>
            <p:cNvSpPr/>
            <p:nvPr/>
          </p:nvSpPr>
          <p:spPr>
            <a:xfrm rot="5400000">
              <a:off x="1188586"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Oval 574"/>
            <p:cNvSpPr/>
            <p:nvPr/>
          </p:nvSpPr>
          <p:spPr>
            <a:xfrm rot="5400000">
              <a:off x="118858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Oval 575"/>
            <p:cNvSpPr/>
            <p:nvPr/>
          </p:nvSpPr>
          <p:spPr>
            <a:xfrm rot="5400000">
              <a:off x="1188586"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Oval 576"/>
            <p:cNvSpPr/>
            <p:nvPr/>
          </p:nvSpPr>
          <p:spPr>
            <a:xfrm rot="5400000">
              <a:off x="1487036"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Oval 577"/>
            <p:cNvSpPr/>
            <p:nvPr/>
          </p:nvSpPr>
          <p:spPr>
            <a:xfrm rot="5400000">
              <a:off x="148703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Oval 578"/>
            <p:cNvSpPr/>
            <p:nvPr/>
          </p:nvSpPr>
          <p:spPr>
            <a:xfrm rot="5400000">
              <a:off x="1487036"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Oval 579"/>
            <p:cNvSpPr/>
            <p:nvPr/>
          </p:nvSpPr>
          <p:spPr>
            <a:xfrm rot="5400000">
              <a:off x="1785482"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Oval 580"/>
            <p:cNvSpPr/>
            <p:nvPr/>
          </p:nvSpPr>
          <p:spPr>
            <a:xfrm rot="5400000">
              <a:off x="1785482"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Oval 581"/>
            <p:cNvSpPr/>
            <p:nvPr/>
          </p:nvSpPr>
          <p:spPr>
            <a:xfrm rot="5400000">
              <a:off x="1785482" y="660043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Oval 582"/>
            <p:cNvSpPr/>
            <p:nvPr/>
          </p:nvSpPr>
          <p:spPr>
            <a:xfrm rot="5400000">
              <a:off x="2084611"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p:cNvSpPr/>
            <p:nvPr/>
          </p:nvSpPr>
          <p:spPr>
            <a:xfrm rot="5400000">
              <a:off x="2383057"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Oval 584"/>
            <p:cNvSpPr/>
            <p:nvPr/>
          </p:nvSpPr>
          <p:spPr>
            <a:xfrm rot="5400000">
              <a:off x="2383057"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Oval 585"/>
            <p:cNvSpPr/>
            <p:nvPr/>
          </p:nvSpPr>
          <p:spPr>
            <a:xfrm rot="5400000">
              <a:off x="2383057"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p:cNvSpPr/>
            <p:nvPr/>
          </p:nvSpPr>
          <p:spPr>
            <a:xfrm rot="5400000">
              <a:off x="2383057"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p:cNvSpPr/>
            <p:nvPr/>
          </p:nvSpPr>
          <p:spPr>
            <a:xfrm rot="5400000">
              <a:off x="2383057"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p:cNvSpPr/>
            <p:nvPr/>
          </p:nvSpPr>
          <p:spPr>
            <a:xfrm rot="5400000">
              <a:off x="2677499"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Oval 589"/>
            <p:cNvSpPr/>
            <p:nvPr/>
          </p:nvSpPr>
          <p:spPr>
            <a:xfrm rot="5400000">
              <a:off x="2677499"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Oval 590"/>
            <p:cNvSpPr/>
            <p:nvPr/>
          </p:nvSpPr>
          <p:spPr>
            <a:xfrm rot="5400000">
              <a:off x="2981320" y="600512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Oval 591"/>
            <p:cNvSpPr/>
            <p:nvPr/>
          </p:nvSpPr>
          <p:spPr>
            <a:xfrm rot="5400000">
              <a:off x="2981320" y="630277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Oval 592"/>
            <p:cNvSpPr/>
            <p:nvPr/>
          </p:nvSpPr>
          <p:spPr>
            <a:xfrm rot="5400000">
              <a:off x="2981320" y="660043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Oval 593"/>
            <p:cNvSpPr/>
            <p:nvPr/>
          </p:nvSpPr>
          <p:spPr>
            <a:xfrm rot="5400000">
              <a:off x="3278592"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Oval 594"/>
            <p:cNvSpPr/>
            <p:nvPr/>
          </p:nvSpPr>
          <p:spPr>
            <a:xfrm rot="5400000">
              <a:off x="3566662" y="570746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Oval 595"/>
            <p:cNvSpPr/>
            <p:nvPr/>
          </p:nvSpPr>
          <p:spPr>
            <a:xfrm rot="5400000">
              <a:off x="3566662" y="630277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Oval 596"/>
            <p:cNvSpPr/>
            <p:nvPr/>
          </p:nvSpPr>
          <p:spPr>
            <a:xfrm rot="5400000">
              <a:off x="3865791"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Oval 597"/>
            <p:cNvSpPr/>
            <p:nvPr/>
          </p:nvSpPr>
          <p:spPr>
            <a:xfrm rot="5400000">
              <a:off x="3865791"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Oval 598"/>
            <p:cNvSpPr/>
            <p:nvPr/>
          </p:nvSpPr>
          <p:spPr>
            <a:xfrm rot="5400000">
              <a:off x="4164237"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Oval 599"/>
            <p:cNvSpPr/>
            <p:nvPr/>
          </p:nvSpPr>
          <p:spPr>
            <a:xfrm rot="5400000">
              <a:off x="4164237"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Oval 600"/>
            <p:cNvSpPr/>
            <p:nvPr/>
          </p:nvSpPr>
          <p:spPr>
            <a:xfrm rot="5400000">
              <a:off x="4458679"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Oval 601"/>
            <p:cNvSpPr/>
            <p:nvPr/>
          </p:nvSpPr>
          <p:spPr>
            <a:xfrm rot="5400000">
              <a:off x="4458679"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Oval 602"/>
            <p:cNvSpPr/>
            <p:nvPr/>
          </p:nvSpPr>
          <p:spPr>
            <a:xfrm rot="5400000">
              <a:off x="4762499"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Oval 603"/>
            <p:cNvSpPr/>
            <p:nvPr/>
          </p:nvSpPr>
          <p:spPr>
            <a:xfrm rot="5400000">
              <a:off x="5059770" y="570746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Oval 604"/>
            <p:cNvSpPr/>
            <p:nvPr/>
          </p:nvSpPr>
          <p:spPr>
            <a:xfrm rot="5400000">
              <a:off x="5059770"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Oval 605"/>
            <p:cNvSpPr/>
            <p:nvPr/>
          </p:nvSpPr>
          <p:spPr>
            <a:xfrm rot="5400000">
              <a:off x="5059770"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Oval 606"/>
            <p:cNvSpPr/>
            <p:nvPr/>
          </p:nvSpPr>
          <p:spPr>
            <a:xfrm rot="5400000">
              <a:off x="5362575"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Oval 607"/>
            <p:cNvSpPr/>
            <p:nvPr/>
          </p:nvSpPr>
          <p:spPr>
            <a:xfrm rot="5400000">
              <a:off x="5362575"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Oval 608"/>
            <p:cNvSpPr/>
            <p:nvPr/>
          </p:nvSpPr>
          <p:spPr>
            <a:xfrm rot="5400000">
              <a:off x="566420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Oval 609"/>
            <p:cNvSpPr/>
            <p:nvPr/>
          </p:nvSpPr>
          <p:spPr>
            <a:xfrm rot="5400000">
              <a:off x="5664201" y="660042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p:cNvSpPr/>
            <p:nvPr/>
          </p:nvSpPr>
          <p:spPr>
            <a:xfrm rot="5400000">
              <a:off x="5958841"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Oval 611"/>
            <p:cNvSpPr/>
            <p:nvPr userDrawn="1"/>
          </p:nvSpPr>
          <p:spPr>
            <a:xfrm rot="5400000">
              <a:off x="595884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Oval 612"/>
            <p:cNvSpPr/>
            <p:nvPr/>
          </p:nvSpPr>
          <p:spPr>
            <a:xfrm rot="5400000">
              <a:off x="6256113"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Oval 613"/>
            <p:cNvSpPr/>
            <p:nvPr/>
          </p:nvSpPr>
          <p:spPr>
            <a:xfrm rot="5400000">
              <a:off x="6551161"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Oval 614"/>
            <p:cNvSpPr/>
            <p:nvPr/>
          </p:nvSpPr>
          <p:spPr>
            <a:xfrm rot="5400000">
              <a:off x="655116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Oval 615"/>
            <p:cNvSpPr/>
            <p:nvPr/>
          </p:nvSpPr>
          <p:spPr>
            <a:xfrm rot="5400000">
              <a:off x="655116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Oval 616"/>
            <p:cNvSpPr/>
            <p:nvPr/>
          </p:nvSpPr>
          <p:spPr>
            <a:xfrm rot="5400000">
              <a:off x="6849611"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Oval 617"/>
            <p:cNvSpPr/>
            <p:nvPr/>
          </p:nvSpPr>
          <p:spPr>
            <a:xfrm rot="5400000">
              <a:off x="684961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Oval 618"/>
            <p:cNvSpPr/>
            <p:nvPr/>
          </p:nvSpPr>
          <p:spPr>
            <a:xfrm rot="5400000">
              <a:off x="684961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Oval 619"/>
            <p:cNvSpPr/>
            <p:nvPr/>
          </p:nvSpPr>
          <p:spPr>
            <a:xfrm rot="5400000">
              <a:off x="7148057"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Oval 620"/>
            <p:cNvSpPr/>
            <p:nvPr/>
          </p:nvSpPr>
          <p:spPr>
            <a:xfrm rot="5400000">
              <a:off x="7148057"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Oval 621"/>
            <p:cNvSpPr/>
            <p:nvPr/>
          </p:nvSpPr>
          <p:spPr>
            <a:xfrm rot="5400000">
              <a:off x="7148057" y="660043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Oval 622"/>
            <p:cNvSpPr/>
            <p:nvPr/>
          </p:nvSpPr>
          <p:spPr>
            <a:xfrm rot="5400000">
              <a:off x="7447186"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Oval 623"/>
            <p:cNvSpPr/>
            <p:nvPr/>
          </p:nvSpPr>
          <p:spPr>
            <a:xfrm rot="5400000">
              <a:off x="7745632"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Oval 624"/>
            <p:cNvSpPr/>
            <p:nvPr/>
          </p:nvSpPr>
          <p:spPr>
            <a:xfrm rot="5400000">
              <a:off x="7745632"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Oval 625"/>
            <p:cNvSpPr/>
            <p:nvPr/>
          </p:nvSpPr>
          <p:spPr>
            <a:xfrm rot="5400000">
              <a:off x="7745632"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Oval 626"/>
            <p:cNvSpPr/>
            <p:nvPr/>
          </p:nvSpPr>
          <p:spPr>
            <a:xfrm rot="5400000">
              <a:off x="7745632"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Oval 627"/>
            <p:cNvSpPr/>
            <p:nvPr/>
          </p:nvSpPr>
          <p:spPr>
            <a:xfrm rot="5400000">
              <a:off x="7745632"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Oval 628"/>
            <p:cNvSpPr/>
            <p:nvPr/>
          </p:nvSpPr>
          <p:spPr>
            <a:xfrm rot="5400000">
              <a:off x="8040074"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Oval 629"/>
            <p:cNvSpPr/>
            <p:nvPr/>
          </p:nvSpPr>
          <p:spPr>
            <a:xfrm rot="5400000">
              <a:off x="804007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Oval 630"/>
            <p:cNvSpPr/>
            <p:nvPr/>
          </p:nvSpPr>
          <p:spPr>
            <a:xfrm rot="5400000">
              <a:off x="834389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Oval 631"/>
            <p:cNvSpPr/>
            <p:nvPr/>
          </p:nvSpPr>
          <p:spPr>
            <a:xfrm rot="5400000">
              <a:off x="8343894" y="630277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Oval 632"/>
            <p:cNvSpPr/>
            <p:nvPr/>
          </p:nvSpPr>
          <p:spPr>
            <a:xfrm rot="5400000">
              <a:off x="8343894" y="660043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Oval 633"/>
            <p:cNvSpPr/>
            <p:nvPr/>
          </p:nvSpPr>
          <p:spPr>
            <a:xfrm rot="5400000">
              <a:off x="8641166"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Oval 634"/>
            <p:cNvSpPr/>
            <p:nvPr/>
          </p:nvSpPr>
          <p:spPr>
            <a:xfrm rot="5400000">
              <a:off x="8929236" y="570746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Oval 635"/>
            <p:cNvSpPr/>
            <p:nvPr/>
          </p:nvSpPr>
          <p:spPr>
            <a:xfrm rot="5400000">
              <a:off x="8929236" y="630277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Oval 636"/>
            <p:cNvSpPr/>
            <p:nvPr/>
          </p:nvSpPr>
          <p:spPr>
            <a:xfrm rot="5400000">
              <a:off x="9228366"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Oval 637"/>
            <p:cNvSpPr/>
            <p:nvPr/>
          </p:nvSpPr>
          <p:spPr>
            <a:xfrm rot="5400000">
              <a:off x="9228366"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Oval 638"/>
            <p:cNvSpPr/>
            <p:nvPr/>
          </p:nvSpPr>
          <p:spPr>
            <a:xfrm rot="5400000">
              <a:off x="9526812"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Oval 639"/>
            <p:cNvSpPr/>
            <p:nvPr/>
          </p:nvSpPr>
          <p:spPr>
            <a:xfrm rot="5400000">
              <a:off x="9526812"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Oval 640"/>
            <p:cNvSpPr/>
            <p:nvPr/>
          </p:nvSpPr>
          <p:spPr>
            <a:xfrm rot="5400000">
              <a:off x="9821254"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Oval 641"/>
            <p:cNvSpPr/>
            <p:nvPr/>
          </p:nvSpPr>
          <p:spPr>
            <a:xfrm rot="5400000">
              <a:off x="9821254"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Oval 642"/>
            <p:cNvSpPr/>
            <p:nvPr/>
          </p:nvSpPr>
          <p:spPr>
            <a:xfrm rot="5400000">
              <a:off x="10125074"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Oval 643"/>
            <p:cNvSpPr/>
            <p:nvPr/>
          </p:nvSpPr>
          <p:spPr>
            <a:xfrm rot="5400000">
              <a:off x="10422346" y="570747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Oval 644"/>
            <p:cNvSpPr/>
            <p:nvPr/>
          </p:nvSpPr>
          <p:spPr>
            <a:xfrm rot="5400000">
              <a:off x="10422346" y="630278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Oval 645"/>
            <p:cNvSpPr/>
            <p:nvPr/>
          </p:nvSpPr>
          <p:spPr>
            <a:xfrm rot="5400000">
              <a:off x="10422346" y="660043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7" name="Oval 646"/>
            <p:cNvSpPr/>
            <p:nvPr/>
          </p:nvSpPr>
          <p:spPr>
            <a:xfrm rot="5400000">
              <a:off x="10726068"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Oval 647"/>
            <p:cNvSpPr/>
            <p:nvPr/>
          </p:nvSpPr>
          <p:spPr>
            <a:xfrm rot="5400000">
              <a:off x="10726068"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Oval 648"/>
            <p:cNvSpPr/>
            <p:nvPr/>
          </p:nvSpPr>
          <p:spPr>
            <a:xfrm rot="5400000">
              <a:off x="1102769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Oval 649"/>
            <p:cNvSpPr/>
            <p:nvPr/>
          </p:nvSpPr>
          <p:spPr>
            <a:xfrm rot="5400000">
              <a:off x="11322334"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Oval 650"/>
            <p:cNvSpPr/>
            <p:nvPr userDrawn="1"/>
          </p:nvSpPr>
          <p:spPr>
            <a:xfrm rot="5400000">
              <a:off x="1132233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Oval 651"/>
            <p:cNvSpPr/>
            <p:nvPr/>
          </p:nvSpPr>
          <p:spPr>
            <a:xfrm rot="5400000">
              <a:off x="1161960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3" name="Tijdelijke aanduiding voor tekst 10">
            <a:extLst>
              <a:ext uri="{FF2B5EF4-FFF2-40B4-BE49-F238E27FC236}">
                <a16:creationId xmlns:a16="http://schemas.microsoft.com/office/drawing/2014/main" id="{0BF1D710-5F93-4654-8D54-CD40B1D335E1}"/>
              </a:ext>
            </a:extLst>
          </p:cNvPr>
          <p:cNvSpPr>
            <a:spLocks noGrp="1"/>
          </p:cNvSpPr>
          <p:nvPr>
            <p:ph type="body" sz="quarter" idx="12" hasCustomPrompt="1"/>
          </p:nvPr>
        </p:nvSpPr>
        <p:spPr>
          <a:xfrm>
            <a:off x="766763" y="4768439"/>
            <a:ext cx="10658474" cy="881063"/>
          </a:xfrm>
          <a:prstGeom prst="rect">
            <a:avLst/>
          </a:prstGeom>
        </p:spPr>
        <p:txBody>
          <a:bodyPr lIns="1828800" tIns="0" rIns="1828800" bIns="0">
            <a:normAutofit/>
          </a:bodyPr>
          <a:lstStyle>
            <a:lvl1pPr marL="0" indent="0" algn="ctr">
              <a:buFontTx/>
              <a:buNone/>
              <a:defRPr sz="2000" b="0" baseline="0">
                <a:solidFill>
                  <a:schemeClr val="accent3"/>
                </a:solidFill>
                <a:latin typeface="Segoe UI Semibold" panose="020B0702040204020203" pitchFamily="34" charset="0"/>
                <a:cs typeface="Segoe UI Semibold" panose="020B0702040204020203" pitchFamily="34" charset="0"/>
              </a:defRPr>
            </a:lvl1pPr>
          </a:lstStyle>
          <a:p>
            <a:pPr lvl="0"/>
            <a:r>
              <a:rPr lang="nl-BE"/>
              <a:t>Click to add a name</a:t>
            </a:r>
            <a:endParaRPr lang="en-BE" dirty="0"/>
          </a:p>
        </p:txBody>
      </p:sp>
      <p:sp>
        <p:nvSpPr>
          <p:cNvPr id="654" name="Tijdelijke aanduiding voor tekst 8">
            <a:extLst>
              <a:ext uri="{FF2B5EF4-FFF2-40B4-BE49-F238E27FC236}">
                <a16:creationId xmlns:a16="http://schemas.microsoft.com/office/drawing/2014/main" id="{7F4BDD94-FB2C-4502-A2BB-86CAD3E59940}"/>
              </a:ext>
            </a:extLst>
          </p:cNvPr>
          <p:cNvSpPr>
            <a:spLocks noGrp="1"/>
          </p:cNvSpPr>
          <p:nvPr>
            <p:ph type="body" sz="quarter" idx="11" hasCustomPrompt="1"/>
          </p:nvPr>
        </p:nvSpPr>
        <p:spPr>
          <a:xfrm>
            <a:off x="766763" y="2324100"/>
            <a:ext cx="10658474" cy="2197100"/>
          </a:xfrm>
          <a:prstGeom prst="rect">
            <a:avLst/>
          </a:prstGeom>
        </p:spPr>
        <p:txBody>
          <a:bodyPr lIns="1371600" tIns="0" rIns="1371600" bIns="0" anchor="ctr" anchorCtr="0">
            <a:noAutofit/>
          </a:bodyPr>
          <a:lstStyle>
            <a:lvl1pPr marL="0" indent="0" algn="ctr">
              <a:spcBef>
                <a:spcPts val="600"/>
              </a:spcBef>
              <a:buFontTx/>
              <a:buNone/>
              <a:defRPr sz="3200">
                <a:solidFill>
                  <a:schemeClr val="bg1"/>
                </a:solidFill>
                <a:latin typeface="Georgia" panose="02040502050405020303" pitchFamily="18" charset="0"/>
                <a:cs typeface="Segoe UI Semibold" panose="020B0702040204020203" pitchFamily="34" charset="0"/>
              </a:defRPr>
            </a:lvl1pPr>
          </a:lstStyle>
          <a:p>
            <a:pPr lvl="0"/>
            <a:r>
              <a:rPr lang="nl-NL"/>
              <a:t>Click to add a quote</a:t>
            </a:r>
            <a:endParaRPr lang="nl-NL" dirty="0"/>
          </a:p>
        </p:txBody>
      </p:sp>
      <p:pic>
        <p:nvPicPr>
          <p:cNvPr id="218" name="Picture 2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18560" y="1055688"/>
            <a:ext cx="972444" cy="1153070"/>
          </a:xfrm>
          <a:prstGeom prst="rect">
            <a:avLst/>
          </a:prstGeom>
        </p:spPr>
      </p:pic>
      <p:pic>
        <p:nvPicPr>
          <p:cNvPr id="98"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3"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
        <p:nvSpPr>
          <p:cNvPr id="99"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00"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76716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439" name="Rectangle 438"/>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6" name="Group 565"/>
          <p:cNvGrpSpPr/>
          <p:nvPr userDrawn="1"/>
        </p:nvGrpSpPr>
        <p:grpSpPr>
          <a:xfrm>
            <a:off x="344587" y="5301326"/>
            <a:ext cx="11847413" cy="1418438"/>
            <a:chOff x="0" y="5409807"/>
            <a:chExt cx="11847413" cy="1418438"/>
          </a:xfrm>
        </p:grpSpPr>
        <p:sp>
          <p:nvSpPr>
            <p:cNvPr id="567" name="Oval 566"/>
            <p:cNvSpPr/>
            <p:nvPr/>
          </p:nvSpPr>
          <p:spPr>
            <a:xfrm rot="5400000">
              <a:off x="0"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p:cNvSpPr/>
            <p:nvPr/>
          </p:nvSpPr>
          <p:spPr>
            <a:xfrm rot="5400000">
              <a:off x="596266"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p:cNvSpPr/>
            <p:nvPr/>
          </p:nvSpPr>
          <p:spPr>
            <a:xfrm rot="5400000">
              <a:off x="893538"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Oval 573"/>
            <p:cNvSpPr/>
            <p:nvPr/>
          </p:nvSpPr>
          <p:spPr>
            <a:xfrm rot="5400000">
              <a:off x="1188586"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Oval 574"/>
            <p:cNvSpPr/>
            <p:nvPr/>
          </p:nvSpPr>
          <p:spPr>
            <a:xfrm rot="5400000">
              <a:off x="118858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Oval 575"/>
            <p:cNvSpPr/>
            <p:nvPr/>
          </p:nvSpPr>
          <p:spPr>
            <a:xfrm rot="5400000">
              <a:off x="1188586"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Oval 576"/>
            <p:cNvSpPr/>
            <p:nvPr/>
          </p:nvSpPr>
          <p:spPr>
            <a:xfrm rot="5400000">
              <a:off x="1487036"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Oval 577"/>
            <p:cNvSpPr/>
            <p:nvPr/>
          </p:nvSpPr>
          <p:spPr>
            <a:xfrm rot="5400000">
              <a:off x="148703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Oval 579"/>
            <p:cNvSpPr/>
            <p:nvPr/>
          </p:nvSpPr>
          <p:spPr>
            <a:xfrm rot="5400000">
              <a:off x="1785482"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Oval 580"/>
            <p:cNvSpPr/>
            <p:nvPr/>
          </p:nvSpPr>
          <p:spPr>
            <a:xfrm rot="5400000">
              <a:off x="1785482"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Oval 582"/>
            <p:cNvSpPr/>
            <p:nvPr/>
          </p:nvSpPr>
          <p:spPr>
            <a:xfrm rot="5400000">
              <a:off x="2084611"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p:cNvSpPr/>
            <p:nvPr/>
          </p:nvSpPr>
          <p:spPr>
            <a:xfrm rot="5400000">
              <a:off x="2383057"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Oval 584"/>
            <p:cNvSpPr/>
            <p:nvPr/>
          </p:nvSpPr>
          <p:spPr>
            <a:xfrm rot="5400000">
              <a:off x="2383057"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Oval 585"/>
            <p:cNvSpPr/>
            <p:nvPr/>
          </p:nvSpPr>
          <p:spPr>
            <a:xfrm rot="5400000">
              <a:off x="2383057"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p:cNvSpPr/>
            <p:nvPr/>
          </p:nvSpPr>
          <p:spPr>
            <a:xfrm rot="5400000">
              <a:off x="2383057"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p:cNvSpPr/>
            <p:nvPr/>
          </p:nvSpPr>
          <p:spPr>
            <a:xfrm rot="5400000">
              <a:off x="2383057"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p:cNvSpPr/>
            <p:nvPr/>
          </p:nvSpPr>
          <p:spPr>
            <a:xfrm rot="5400000">
              <a:off x="2677499"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Oval 589"/>
            <p:cNvSpPr/>
            <p:nvPr/>
          </p:nvSpPr>
          <p:spPr>
            <a:xfrm rot="5400000">
              <a:off x="2677499"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Oval 590"/>
            <p:cNvSpPr/>
            <p:nvPr/>
          </p:nvSpPr>
          <p:spPr>
            <a:xfrm rot="5400000">
              <a:off x="2981320" y="600512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Oval 591"/>
            <p:cNvSpPr/>
            <p:nvPr/>
          </p:nvSpPr>
          <p:spPr>
            <a:xfrm rot="5400000">
              <a:off x="2981320" y="630277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Oval 592"/>
            <p:cNvSpPr/>
            <p:nvPr/>
          </p:nvSpPr>
          <p:spPr>
            <a:xfrm rot="5400000">
              <a:off x="2981320" y="660043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Oval 593"/>
            <p:cNvSpPr/>
            <p:nvPr/>
          </p:nvSpPr>
          <p:spPr>
            <a:xfrm rot="5400000">
              <a:off x="3278592"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Oval 594"/>
            <p:cNvSpPr/>
            <p:nvPr/>
          </p:nvSpPr>
          <p:spPr>
            <a:xfrm rot="5400000">
              <a:off x="3566662" y="570746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Oval 595"/>
            <p:cNvSpPr/>
            <p:nvPr/>
          </p:nvSpPr>
          <p:spPr>
            <a:xfrm rot="5400000">
              <a:off x="3566662" y="630277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Oval 596"/>
            <p:cNvSpPr/>
            <p:nvPr/>
          </p:nvSpPr>
          <p:spPr>
            <a:xfrm rot="5400000">
              <a:off x="3865791"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Oval 597"/>
            <p:cNvSpPr/>
            <p:nvPr/>
          </p:nvSpPr>
          <p:spPr>
            <a:xfrm rot="5400000">
              <a:off x="3865791"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Oval 598"/>
            <p:cNvSpPr/>
            <p:nvPr/>
          </p:nvSpPr>
          <p:spPr>
            <a:xfrm rot="5400000">
              <a:off x="4164237"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Oval 599"/>
            <p:cNvSpPr/>
            <p:nvPr/>
          </p:nvSpPr>
          <p:spPr>
            <a:xfrm rot="5400000">
              <a:off x="4164237"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Oval 600"/>
            <p:cNvSpPr/>
            <p:nvPr/>
          </p:nvSpPr>
          <p:spPr>
            <a:xfrm rot="5400000">
              <a:off x="4458679"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Oval 601"/>
            <p:cNvSpPr/>
            <p:nvPr/>
          </p:nvSpPr>
          <p:spPr>
            <a:xfrm rot="5400000">
              <a:off x="4458679"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Oval 602"/>
            <p:cNvSpPr/>
            <p:nvPr/>
          </p:nvSpPr>
          <p:spPr>
            <a:xfrm rot="5400000">
              <a:off x="4762499"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Oval 603"/>
            <p:cNvSpPr/>
            <p:nvPr/>
          </p:nvSpPr>
          <p:spPr>
            <a:xfrm rot="5400000">
              <a:off x="5059770" y="570746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Oval 604"/>
            <p:cNvSpPr/>
            <p:nvPr/>
          </p:nvSpPr>
          <p:spPr>
            <a:xfrm rot="5400000">
              <a:off x="5059770"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Oval 605"/>
            <p:cNvSpPr/>
            <p:nvPr/>
          </p:nvSpPr>
          <p:spPr>
            <a:xfrm rot="5400000">
              <a:off x="5059770"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Oval 606"/>
            <p:cNvSpPr/>
            <p:nvPr/>
          </p:nvSpPr>
          <p:spPr>
            <a:xfrm rot="5400000">
              <a:off x="5362575"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Oval 607"/>
            <p:cNvSpPr/>
            <p:nvPr/>
          </p:nvSpPr>
          <p:spPr>
            <a:xfrm rot="5400000">
              <a:off x="5362575"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Oval 608"/>
            <p:cNvSpPr/>
            <p:nvPr/>
          </p:nvSpPr>
          <p:spPr>
            <a:xfrm rot="5400000">
              <a:off x="566420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Oval 609"/>
            <p:cNvSpPr/>
            <p:nvPr/>
          </p:nvSpPr>
          <p:spPr>
            <a:xfrm rot="5400000">
              <a:off x="5664201" y="660042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p:cNvSpPr/>
            <p:nvPr/>
          </p:nvSpPr>
          <p:spPr>
            <a:xfrm rot="5400000">
              <a:off x="5958841"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Oval 611"/>
            <p:cNvSpPr/>
            <p:nvPr userDrawn="1"/>
          </p:nvSpPr>
          <p:spPr>
            <a:xfrm rot="5400000">
              <a:off x="595884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Oval 612"/>
            <p:cNvSpPr/>
            <p:nvPr/>
          </p:nvSpPr>
          <p:spPr>
            <a:xfrm rot="5400000">
              <a:off x="6256113"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Oval 613"/>
            <p:cNvSpPr/>
            <p:nvPr/>
          </p:nvSpPr>
          <p:spPr>
            <a:xfrm rot="5400000">
              <a:off x="6551161"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Oval 614"/>
            <p:cNvSpPr/>
            <p:nvPr/>
          </p:nvSpPr>
          <p:spPr>
            <a:xfrm rot="5400000">
              <a:off x="655116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Oval 615"/>
            <p:cNvSpPr/>
            <p:nvPr/>
          </p:nvSpPr>
          <p:spPr>
            <a:xfrm rot="5400000">
              <a:off x="655116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Oval 616"/>
            <p:cNvSpPr/>
            <p:nvPr/>
          </p:nvSpPr>
          <p:spPr>
            <a:xfrm rot="5400000">
              <a:off x="6849611"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Oval 617"/>
            <p:cNvSpPr/>
            <p:nvPr/>
          </p:nvSpPr>
          <p:spPr>
            <a:xfrm rot="5400000">
              <a:off x="684961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Oval 618"/>
            <p:cNvSpPr/>
            <p:nvPr/>
          </p:nvSpPr>
          <p:spPr>
            <a:xfrm rot="5400000">
              <a:off x="684961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Oval 619"/>
            <p:cNvSpPr/>
            <p:nvPr/>
          </p:nvSpPr>
          <p:spPr>
            <a:xfrm rot="5400000">
              <a:off x="7148057"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Oval 620"/>
            <p:cNvSpPr/>
            <p:nvPr/>
          </p:nvSpPr>
          <p:spPr>
            <a:xfrm rot="5400000">
              <a:off x="7148057"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Oval 621"/>
            <p:cNvSpPr/>
            <p:nvPr/>
          </p:nvSpPr>
          <p:spPr>
            <a:xfrm rot="5400000">
              <a:off x="7148057" y="660043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Oval 622"/>
            <p:cNvSpPr/>
            <p:nvPr/>
          </p:nvSpPr>
          <p:spPr>
            <a:xfrm rot="5400000">
              <a:off x="7447186"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Oval 623"/>
            <p:cNvSpPr/>
            <p:nvPr/>
          </p:nvSpPr>
          <p:spPr>
            <a:xfrm rot="5400000">
              <a:off x="7745632"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Oval 624"/>
            <p:cNvSpPr/>
            <p:nvPr/>
          </p:nvSpPr>
          <p:spPr>
            <a:xfrm rot="5400000">
              <a:off x="7745632"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Oval 625"/>
            <p:cNvSpPr/>
            <p:nvPr/>
          </p:nvSpPr>
          <p:spPr>
            <a:xfrm rot="5400000">
              <a:off x="7745632"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Oval 626"/>
            <p:cNvSpPr/>
            <p:nvPr/>
          </p:nvSpPr>
          <p:spPr>
            <a:xfrm rot="5400000">
              <a:off x="7745632"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Oval 627"/>
            <p:cNvSpPr/>
            <p:nvPr/>
          </p:nvSpPr>
          <p:spPr>
            <a:xfrm rot="5400000">
              <a:off x="7745632"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Oval 628"/>
            <p:cNvSpPr/>
            <p:nvPr/>
          </p:nvSpPr>
          <p:spPr>
            <a:xfrm rot="5400000">
              <a:off x="8040074"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Oval 629"/>
            <p:cNvSpPr/>
            <p:nvPr/>
          </p:nvSpPr>
          <p:spPr>
            <a:xfrm rot="5400000">
              <a:off x="804007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Oval 630"/>
            <p:cNvSpPr/>
            <p:nvPr/>
          </p:nvSpPr>
          <p:spPr>
            <a:xfrm rot="5400000">
              <a:off x="834389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Oval 631"/>
            <p:cNvSpPr/>
            <p:nvPr/>
          </p:nvSpPr>
          <p:spPr>
            <a:xfrm rot="5400000">
              <a:off x="8343894" y="630277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Oval 632"/>
            <p:cNvSpPr/>
            <p:nvPr/>
          </p:nvSpPr>
          <p:spPr>
            <a:xfrm rot="5400000">
              <a:off x="8343894" y="660043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Oval 633"/>
            <p:cNvSpPr/>
            <p:nvPr/>
          </p:nvSpPr>
          <p:spPr>
            <a:xfrm rot="5400000">
              <a:off x="8641166"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Oval 634"/>
            <p:cNvSpPr/>
            <p:nvPr/>
          </p:nvSpPr>
          <p:spPr>
            <a:xfrm rot="5400000">
              <a:off x="8929236" y="570746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Oval 635"/>
            <p:cNvSpPr/>
            <p:nvPr/>
          </p:nvSpPr>
          <p:spPr>
            <a:xfrm rot="5400000">
              <a:off x="8929236" y="630277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Oval 636"/>
            <p:cNvSpPr/>
            <p:nvPr/>
          </p:nvSpPr>
          <p:spPr>
            <a:xfrm rot="5400000">
              <a:off x="9228366"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Oval 637"/>
            <p:cNvSpPr/>
            <p:nvPr/>
          </p:nvSpPr>
          <p:spPr>
            <a:xfrm rot="5400000">
              <a:off x="9228366"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Oval 638"/>
            <p:cNvSpPr/>
            <p:nvPr/>
          </p:nvSpPr>
          <p:spPr>
            <a:xfrm rot="5400000">
              <a:off x="9526812"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Oval 639"/>
            <p:cNvSpPr/>
            <p:nvPr/>
          </p:nvSpPr>
          <p:spPr>
            <a:xfrm rot="5400000">
              <a:off x="9526812"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Oval 640"/>
            <p:cNvSpPr/>
            <p:nvPr/>
          </p:nvSpPr>
          <p:spPr>
            <a:xfrm rot="5400000">
              <a:off x="9821254"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Oval 641"/>
            <p:cNvSpPr/>
            <p:nvPr/>
          </p:nvSpPr>
          <p:spPr>
            <a:xfrm rot="5400000">
              <a:off x="9821254"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Oval 642"/>
            <p:cNvSpPr/>
            <p:nvPr/>
          </p:nvSpPr>
          <p:spPr>
            <a:xfrm rot="5400000">
              <a:off x="10125074"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Oval 643"/>
            <p:cNvSpPr/>
            <p:nvPr/>
          </p:nvSpPr>
          <p:spPr>
            <a:xfrm rot="5400000">
              <a:off x="10422346" y="570747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Oval 644"/>
            <p:cNvSpPr/>
            <p:nvPr/>
          </p:nvSpPr>
          <p:spPr>
            <a:xfrm rot="5400000">
              <a:off x="10422346" y="630278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Oval 645"/>
            <p:cNvSpPr/>
            <p:nvPr/>
          </p:nvSpPr>
          <p:spPr>
            <a:xfrm rot="5400000">
              <a:off x="10422346" y="660043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7" name="Oval 646"/>
            <p:cNvSpPr/>
            <p:nvPr/>
          </p:nvSpPr>
          <p:spPr>
            <a:xfrm rot="5400000">
              <a:off x="10726068"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Oval 647"/>
            <p:cNvSpPr/>
            <p:nvPr/>
          </p:nvSpPr>
          <p:spPr>
            <a:xfrm rot="5400000">
              <a:off x="10726068"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Oval 648"/>
            <p:cNvSpPr/>
            <p:nvPr/>
          </p:nvSpPr>
          <p:spPr>
            <a:xfrm rot="5400000">
              <a:off x="1102769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Oval 649"/>
            <p:cNvSpPr/>
            <p:nvPr/>
          </p:nvSpPr>
          <p:spPr>
            <a:xfrm rot="5400000">
              <a:off x="11322334"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Oval 650"/>
            <p:cNvSpPr/>
            <p:nvPr userDrawn="1"/>
          </p:nvSpPr>
          <p:spPr>
            <a:xfrm rot="5400000">
              <a:off x="1132233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Oval 651"/>
            <p:cNvSpPr/>
            <p:nvPr/>
          </p:nvSpPr>
          <p:spPr>
            <a:xfrm rot="5400000">
              <a:off x="1161960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3" name="Tijdelijke aanduiding voor tekst 10">
            <a:extLst>
              <a:ext uri="{FF2B5EF4-FFF2-40B4-BE49-F238E27FC236}">
                <a16:creationId xmlns:a16="http://schemas.microsoft.com/office/drawing/2014/main" id="{0BF1D710-5F93-4654-8D54-CD40B1D335E1}"/>
              </a:ext>
            </a:extLst>
          </p:cNvPr>
          <p:cNvSpPr>
            <a:spLocks noGrp="1"/>
          </p:cNvSpPr>
          <p:nvPr>
            <p:ph type="body" sz="quarter" idx="12" hasCustomPrompt="1"/>
          </p:nvPr>
        </p:nvSpPr>
        <p:spPr>
          <a:xfrm>
            <a:off x="766763" y="4768439"/>
            <a:ext cx="10658474" cy="881063"/>
          </a:xfrm>
          <a:prstGeom prst="rect">
            <a:avLst/>
          </a:prstGeom>
        </p:spPr>
        <p:txBody>
          <a:bodyPr lIns="1828800" tIns="0" rIns="1828800" bIns="0">
            <a:normAutofit/>
          </a:bodyPr>
          <a:lstStyle>
            <a:lvl1pPr marL="0" indent="0" algn="ctr">
              <a:buFontTx/>
              <a:buNone/>
              <a:defRPr sz="2000" b="0" baseline="0">
                <a:solidFill>
                  <a:schemeClr val="accent3"/>
                </a:solidFill>
                <a:latin typeface="Segoe UI Semibold" panose="020B0702040204020203" pitchFamily="34" charset="0"/>
                <a:cs typeface="Segoe UI Semibold" panose="020B0702040204020203" pitchFamily="34" charset="0"/>
              </a:defRPr>
            </a:lvl1pPr>
          </a:lstStyle>
          <a:p>
            <a:pPr lvl="0"/>
            <a:r>
              <a:rPr lang="nl-BE"/>
              <a:t>Click to add a name</a:t>
            </a:r>
            <a:endParaRPr lang="en-BE" dirty="0"/>
          </a:p>
        </p:txBody>
      </p:sp>
      <p:sp>
        <p:nvSpPr>
          <p:cNvPr id="654" name="Tijdelijke aanduiding voor tekst 8">
            <a:extLst>
              <a:ext uri="{FF2B5EF4-FFF2-40B4-BE49-F238E27FC236}">
                <a16:creationId xmlns:a16="http://schemas.microsoft.com/office/drawing/2014/main" id="{7F4BDD94-FB2C-4502-A2BB-86CAD3E59940}"/>
              </a:ext>
            </a:extLst>
          </p:cNvPr>
          <p:cNvSpPr>
            <a:spLocks noGrp="1"/>
          </p:cNvSpPr>
          <p:nvPr>
            <p:ph type="body" sz="quarter" idx="11" hasCustomPrompt="1"/>
          </p:nvPr>
        </p:nvSpPr>
        <p:spPr>
          <a:xfrm>
            <a:off x="766763" y="2324100"/>
            <a:ext cx="10658474" cy="2197100"/>
          </a:xfrm>
          <a:prstGeom prst="rect">
            <a:avLst/>
          </a:prstGeom>
        </p:spPr>
        <p:txBody>
          <a:bodyPr lIns="1371600" tIns="0" rIns="1371600" bIns="0" anchor="ctr" anchorCtr="0">
            <a:noAutofit/>
          </a:bodyPr>
          <a:lstStyle>
            <a:lvl1pPr marL="0" indent="0" algn="ctr">
              <a:spcBef>
                <a:spcPts val="600"/>
              </a:spcBef>
              <a:buFontTx/>
              <a:buNone/>
              <a:defRPr sz="3200">
                <a:solidFill>
                  <a:schemeClr val="bg1"/>
                </a:solidFill>
                <a:latin typeface="Georgia" panose="02040502050405020303" pitchFamily="18" charset="0"/>
                <a:cs typeface="Segoe UI Semibold" panose="020B0702040204020203" pitchFamily="34" charset="0"/>
              </a:defRPr>
            </a:lvl1pPr>
          </a:lstStyle>
          <a:p>
            <a:pPr lvl="0"/>
            <a:r>
              <a:rPr lang="nl-NL"/>
              <a:t>Click to add a quote</a:t>
            </a:r>
            <a:endParaRPr lang="nl-NL" dirty="0"/>
          </a:p>
        </p:txBody>
      </p:sp>
      <p:pic>
        <p:nvPicPr>
          <p:cNvPr id="217" name="Picture 2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18560" y="1055688"/>
            <a:ext cx="972444" cy="1153070"/>
          </a:xfrm>
          <a:prstGeom prst="rect">
            <a:avLst/>
          </a:prstGeom>
        </p:spPr>
      </p:pic>
      <p:sp>
        <p:nvSpPr>
          <p:cNvPr id="9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8"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780824"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96"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3"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Tree>
    <p:extLst>
      <p:ext uri="{BB962C8B-B14F-4D97-AF65-F5344CB8AC3E}">
        <p14:creationId xmlns:p14="http://schemas.microsoft.com/office/powerpoint/2010/main" val="28101114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cture with info 1">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082B9D0C-0783-431C-BFBF-3A3AA871FE82}"/>
              </a:ext>
            </a:extLst>
          </p:cNvPr>
          <p:cNvSpPr>
            <a:spLocks noGrp="1"/>
          </p:cNvSpPr>
          <p:nvPr>
            <p:ph type="pic" sz="quarter" idx="12" hasCustomPrompt="1"/>
          </p:nvPr>
        </p:nvSpPr>
        <p:spPr>
          <a:xfrm>
            <a:off x="0" y="0"/>
            <a:ext cx="12192000" cy="6858000"/>
          </a:xfrm>
          <a:prstGeom prst="rect">
            <a:avLst/>
          </a:prstGeom>
          <a:solidFill>
            <a:schemeClr val="accent5">
              <a:lumMod val="50000"/>
              <a:alpha val="78000"/>
            </a:schemeClr>
          </a:solidFill>
        </p:spPr>
        <p:txBody>
          <a:bodyPr anchor="ctr" anchorCtr="0"/>
          <a:lstStyle>
            <a:lvl1pPr marL="0" indent="0" algn="r">
              <a:buFontTx/>
              <a:buNone/>
              <a:defRPr>
                <a:solidFill>
                  <a:schemeClr val="bg1"/>
                </a:solidFill>
              </a:defRPr>
            </a:lvl1pPr>
          </a:lstStyle>
          <a:p>
            <a:r>
              <a:rPr lang="en-US"/>
              <a:t>&lt;Click to add picture&lt;&lt;&lt;&lt;&lt;&lt;&lt;&lt;&lt;&lt;</a:t>
            </a:r>
            <a:endParaRPr lang="en-BE" dirty="0"/>
          </a:p>
        </p:txBody>
      </p:sp>
      <p:sp>
        <p:nvSpPr>
          <p:cNvPr id="26" name="Tijdelijke aanduiding voor tekst 25">
            <a:extLst>
              <a:ext uri="{FF2B5EF4-FFF2-40B4-BE49-F238E27FC236}">
                <a16:creationId xmlns:a16="http://schemas.microsoft.com/office/drawing/2014/main" id="{6A895D29-FC6A-432A-8385-E2F1D027CD96}"/>
              </a:ext>
            </a:extLst>
          </p:cNvPr>
          <p:cNvSpPr>
            <a:spLocks noGrp="1" noChangeAspect="1"/>
          </p:cNvSpPr>
          <p:nvPr>
            <p:ph type="body" sz="quarter" idx="13" hasCustomPrompt="1"/>
          </p:nvPr>
        </p:nvSpPr>
        <p:spPr>
          <a:xfrm>
            <a:off x="766763" y="800100"/>
            <a:ext cx="5329239" cy="5257800"/>
          </a:xfrm>
          <a:prstGeom prst="rect">
            <a:avLst/>
          </a:prstGeom>
          <a:blipFill dpi="0" rotWithShape="1">
            <a:blip r:embed="rId2">
              <a:alphaModFix amt="50000"/>
            </a:blip>
            <a:srcRect/>
            <a:stretch>
              <a:fillRect/>
            </a:stretch>
          </a:blipFill>
        </p:spPr>
        <p:txBody>
          <a:bodyPr lIns="1005840" tIns="2194560" rIns="182880" bIns="1188720"/>
          <a:lstStyle>
            <a:lvl1pPr marL="0" indent="0">
              <a:buFontTx/>
              <a:buNone/>
              <a:defRPr sz="2400" b="1">
                <a:solidFill>
                  <a:schemeClr val="bg1"/>
                </a:solidFill>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BE"/>
              <a:t> </a:t>
            </a:r>
            <a:endParaRPr lang="en-BE" dirty="0"/>
          </a:p>
        </p:txBody>
      </p:sp>
      <p:sp>
        <p:nvSpPr>
          <p:cNvPr id="253" name="Titel 1">
            <a:extLst>
              <a:ext uri="{FF2B5EF4-FFF2-40B4-BE49-F238E27FC236}">
                <a16:creationId xmlns:a16="http://schemas.microsoft.com/office/drawing/2014/main" id="{F8EDE2AA-5EC7-4E82-852A-FE7B050223C2}"/>
              </a:ext>
            </a:extLst>
          </p:cNvPr>
          <p:cNvSpPr>
            <a:spLocks noGrp="1"/>
          </p:cNvSpPr>
          <p:nvPr>
            <p:ph type="title"/>
          </p:nvPr>
        </p:nvSpPr>
        <p:spPr>
          <a:xfrm>
            <a:off x="1471817" y="1479973"/>
            <a:ext cx="2992891" cy="711201"/>
          </a:xfrm>
          <a:prstGeom prst="rect">
            <a:avLst/>
          </a:prstGeom>
        </p:spPr>
        <p:txBody>
          <a:bodyPr lIns="0" tIns="0" rIns="0" bIns="0">
            <a:normAutofit/>
          </a:bodyPr>
          <a:lstStyle>
            <a:lvl1pPr>
              <a:defRPr lang="en-BE" sz="2800" b="1" kern="1200" dirty="0">
                <a:solidFill>
                  <a:schemeClr val="bg1"/>
                </a:solidFill>
                <a:latin typeface="+mn-lt"/>
                <a:ea typeface="+mn-ea"/>
                <a:cs typeface="+mn-cs"/>
              </a:defRPr>
            </a:lvl1pPr>
          </a:lstStyle>
          <a:p>
            <a:endParaRPr lang="en-BE" dirty="0"/>
          </a:p>
        </p:txBody>
      </p:sp>
      <p:sp>
        <p:nvSpPr>
          <p:cNvPr id="25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1472072" y="2191174"/>
            <a:ext cx="2983043" cy="1086811"/>
          </a:xfrm>
          <a:prstGeom prst="rect">
            <a:avLst/>
          </a:prstGeom>
        </p:spPr>
        <p:txBody>
          <a:bodyPr lIns="0" tIns="0" rIns="0" bIns="91440">
            <a:normAutofit/>
          </a:bodyPr>
          <a:lstStyle>
            <a:lvl1pPr marL="0" indent="0">
              <a:buFontTx/>
              <a:buNone/>
              <a:defRPr lang="nl-NL" sz="2400" kern="1200" dirty="0">
                <a:solidFill>
                  <a:schemeClr val="bg1"/>
                </a:solidFill>
                <a:latin typeface="Georgia" panose="02040502050405020303" pitchFamily="18" charset="0"/>
                <a:ea typeface="+mn-ea"/>
                <a:cs typeface="+mn-cs"/>
              </a:defRPr>
            </a:lvl1pPr>
          </a:lstStyle>
          <a:p>
            <a:pPr lvl="0"/>
            <a:endParaRPr lang="nl-NL" dirty="0"/>
          </a:p>
        </p:txBody>
      </p:sp>
      <p:sp>
        <p:nvSpPr>
          <p:cNvPr id="25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705020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spTree>
    <p:extLst>
      <p:ext uri="{BB962C8B-B14F-4D97-AF65-F5344CB8AC3E}">
        <p14:creationId xmlns:p14="http://schemas.microsoft.com/office/powerpoint/2010/main" val="13260316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info 2">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082B9D0C-0783-431C-BFBF-3A3AA871FE82}"/>
              </a:ext>
            </a:extLst>
          </p:cNvPr>
          <p:cNvSpPr>
            <a:spLocks noGrp="1"/>
          </p:cNvSpPr>
          <p:nvPr>
            <p:ph type="pic" sz="quarter" idx="12" hasCustomPrompt="1"/>
          </p:nvPr>
        </p:nvSpPr>
        <p:spPr>
          <a:xfrm>
            <a:off x="0" y="0"/>
            <a:ext cx="12192000" cy="6858000"/>
          </a:xfrm>
          <a:prstGeom prst="rect">
            <a:avLst/>
          </a:prstGeom>
          <a:solidFill>
            <a:schemeClr val="accent5">
              <a:lumMod val="50000"/>
              <a:alpha val="78000"/>
            </a:schemeClr>
          </a:solidFill>
        </p:spPr>
        <p:txBody>
          <a:bodyPr anchor="ctr" anchorCtr="0"/>
          <a:lstStyle>
            <a:lvl1pPr marL="0" marR="0" indent="0" algn="l" defTabSz="914400" rtl="0" eaLnBrk="1" fontAlgn="auto" latinLnBrk="0" hangingPunct="1">
              <a:lnSpc>
                <a:spcPct val="90000"/>
              </a:lnSpc>
              <a:spcBef>
                <a:spcPts val="1000"/>
              </a:spcBef>
              <a:spcAft>
                <a:spcPts val="0"/>
              </a:spcAft>
              <a:buClr>
                <a:schemeClr val="accent2"/>
              </a:buClr>
              <a:buSzTx/>
              <a:buFontTx/>
              <a:buNone/>
              <a:tabLst/>
              <a:defRPr baseline="0">
                <a:solidFill>
                  <a:schemeClr val="bg1"/>
                </a:solidFill>
              </a:defRPr>
            </a:lvl1pPr>
          </a:lstStyle>
          <a:p>
            <a:r>
              <a:rPr lang="en-US"/>
              <a:t>&gt;&gt;&gt;&gt;&gt;&gt;&gt;&gt;&gt; Click to add picture &gt;</a:t>
            </a:r>
            <a:endParaRPr lang="en-BE" dirty="0"/>
          </a:p>
        </p:txBody>
      </p:sp>
      <p:sp>
        <p:nvSpPr>
          <p:cNvPr id="6" name="Tijdelijke aanduiding voor tekst 25">
            <a:extLst>
              <a:ext uri="{FF2B5EF4-FFF2-40B4-BE49-F238E27FC236}">
                <a16:creationId xmlns:a16="http://schemas.microsoft.com/office/drawing/2014/main" id="{6A895D29-FC6A-432A-8385-E2F1D027CD96}"/>
              </a:ext>
            </a:extLst>
          </p:cNvPr>
          <p:cNvSpPr>
            <a:spLocks noGrp="1" noChangeAspect="1"/>
          </p:cNvSpPr>
          <p:nvPr>
            <p:ph type="body" sz="quarter" idx="13" hasCustomPrompt="1"/>
          </p:nvPr>
        </p:nvSpPr>
        <p:spPr>
          <a:xfrm flipH="1">
            <a:off x="6096000" y="800100"/>
            <a:ext cx="5329238" cy="5257800"/>
          </a:xfrm>
          <a:prstGeom prst="rect">
            <a:avLst/>
          </a:prstGeom>
          <a:blipFill dpi="0" rotWithShape="1">
            <a:blip r:embed="rId2">
              <a:alphaModFix amt="50000"/>
            </a:blip>
            <a:srcRect/>
            <a:stretch>
              <a:fillRect/>
            </a:stretch>
          </a:blipFill>
        </p:spPr>
        <p:txBody>
          <a:bodyPr lIns="1005840" tIns="2194560" rIns="182880" bIns="1188720"/>
          <a:lstStyle>
            <a:lvl1pPr marL="0" indent="0">
              <a:buFontTx/>
              <a:buNone/>
              <a:defRPr sz="2400" b="1">
                <a:solidFill>
                  <a:schemeClr val="bg1"/>
                </a:solidFill>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BE"/>
              <a:t> </a:t>
            </a:r>
            <a:endParaRPr lang="en-BE" dirty="0"/>
          </a:p>
        </p:txBody>
      </p:sp>
      <p:sp>
        <p:nvSpPr>
          <p:cNvPr id="253" name="Titel 1">
            <a:extLst>
              <a:ext uri="{FF2B5EF4-FFF2-40B4-BE49-F238E27FC236}">
                <a16:creationId xmlns:a16="http://schemas.microsoft.com/office/drawing/2014/main" id="{F8EDE2AA-5EC7-4E82-852A-FE7B050223C2}"/>
              </a:ext>
            </a:extLst>
          </p:cNvPr>
          <p:cNvSpPr>
            <a:spLocks noGrp="1"/>
          </p:cNvSpPr>
          <p:nvPr>
            <p:ph type="title"/>
          </p:nvPr>
        </p:nvSpPr>
        <p:spPr>
          <a:xfrm>
            <a:off x="7780020" y="1479973"/>
            <a:ext cx="2992891" cy="711201"/>
          </a:xfrm>
          <a:prstGeom prst="rect">
            <a:avLst/>
          </a:prstGeom>
        </p:spPr>
        <p:txBody>
          <a:bodyPr lIns="0" tIns="0" rIns="0" bIns="0">
            <a:normAutofit/>
          </a:bodyPr>
          <a:lstStyle>
            <a:lvl1pPr>
              <a:defRPr lang="en-BE" sz="2800" b="1" kern="1200" dirty="0">
                <a:solidFill>
                  <a:schemeClr val="bg1"/>
                </a:solidFill>
                <a:latin typeface="+mn-lt"/>
                <a:ea typeface="+mn-ea"/>
                <a:cs typeface="+mn-cs"/>
              </a:defRPr>
            </a:lvl1pPr>
          </a:lstStyle>
          <a:p>
            <a:endParaRPr lang="en-BE" dirty="0"/>
          </a:p>
        </p:txBody>
      </p:sp>
      <p:sp>
        <p:nvSpPr>
          <p:cNvPr id="25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7780275" y="2191174"/>
            <a:ext cx="2983043" cy="1086811"/>
          </a:xfrm>
          <a:prstGeom prst="rect">
            <a:avLst/>
          </a:prstGeom>
        </p:spPr>
        <p:txBody>
          <a:bodyPr lIns="0" tIns="0" rIns="0" bIns="91440">
            <a:normAutofit/>
          </a:bodyPr>
          <a:lstStyle>
            <a:lvl1pPr marL="0" indent="0">
              <a:buFontTx/>
              <a:buNone/>
              <a:defRPr lang="nl-NL" sz="2400" kern="1200" dirty="0">
                <a:solidFill>
                  <a:schemeClr val="bg1"/>
                </a:solidFill>
                <a:latin typeface="Georgia" panose="02040502050405020303" pitchFamily="18" charset="0"/>
                <a:ea typeface="+mn-ea"/>
                <a:cs typeface="+mn-cs"/>
              </a:defRPr>
            </a:lvl1pPr>
          </a:lstStyle>
          <a:p>
            <a:pPr lvl="0"/>
            <a:endParaRPr lang="nl-NL" dirty="0"/>
          </a:p>
        </p:txBody>
      </p:sp>
      <p:sp>
        <p:nvSpPr>
          <p:cNvPr id="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7055229"/>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spTree>
    <p:extLst>
      <p:ext uri="{BB962C8B-B14F-4D97-AF65-F5344CB8AC3E}">
        <p14:creationId xmlns:p14="http://schemas.microsoft.com/office/powerpoint/2010/main" val="1887836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icture with info 3">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082B9D0C-0783-431C-BFBF-3A3AA871FE82}"/>
              </a:ext>
            </a:extLst>
          </p:cNvPr>
          <p:cNvSpPr>
            <a:spLocks noGrp="1"/>
          </p:cNvSpPr>
          <p:nvPr>
            <p:ph type="pic" sz="quarter" idx="12" hasCustomPrompt="1"/>
          </p:nvPr>
        </p:nvSpPr>
        <p:spPr>
          <a:xfrm>
            <a:off x="0" y="0"/>
            <a:ext cx="12192000" cy="6858000"/>
          </a:xfrm>
          <a:prstGeom prst="rect">
            <a:avLst/>
          </a:prstGeom>
          <a:solidFill>
            <a:schemeClr val="bg1">
              <a:lumMod val="85000"/>
              <a:alpha val="78000"/>
            </a:schemeClr>
          </a:solidFill>
        </p:spPr>
        <p:txBody>
          <a:bodyPr anchor="ctr" anchorCtr="0"/>
          <a:lstStyle>
            <a:lvl1pPr marL="0" indent="0" algn="r">
              <a:buFontTx/>
              <a:buNone/>
              <a:defRPr>
                <a:solidFill>
                  <a:schemeClr val="tx1"/>
                </a:solidFill>
              </a:defRPr>
            </a:lvl1pPr>
          </a:lstStyle>
          <a:p>
            <a:r>
              <a:rPr lang="en-US"/>
              <a:t>&lt;Click to add picture&lt;&lt;&lt;&lt;&lt;&lt;&lt;&lt;&lt;&lt;</a:t>
            </a:r>
            <a:endParaRPr lang="en-BE" dirty="0"/>
          </a:p>
        </p:txBody>
      </p:sp>
      <p:sp>
        <p:nvSpPr>
          <p:cNvPr id="26" name="Tijdelijke aanduiding voor tekst 25">
            <a:extLst>
              <a:ext uri="{FF2B5EF4-FFF2-40B4-BE49-F238E27FC236}">
                <a16:creationId xmlns:a16="http://schemas.microsoft.com/office/drawing/2014/main" id="{6A895D29-FC6A-432A-8385-E2F1D027CD96}"/>
              </a:ext>
            </a:extLst>
          </p:cNvPr>
          <p:cNvSpPr>
            <a:spLocks noGrp="1" noChangeAspect="1"/>
          </p:cNvSpPr>
          <p:nvPr>
            <p:ph type="body" sz="quarter" idx="13" hasCustomPrompt="1"/>
          </p:nvPr>
        </p:nvSpPr>
        <p:spPr>
          <a:xfrm>
            <a:off x="766763" y="800100"/>
            <a:ext cx="5329239" cy="5257800"/>
          </a:xfrm>
          <a:prstGeom prst="rect">
            <a:avLst/>
          </a:prstGeom>
          <a:blipFill dpi="0" rotWithShape="1">
            <a:blip r:embed="rId2">
              <a:alphaModFix amt="50000"/>
            </a:blip>
            <a:srcRect/>
            <a:stretch>
              <a:fillRect/>
            </a:stretch>
          </a:blipFill>
        </p:spPr>
        <p:txBody>
          <a:bodyPr lIns="1005840" tIns="2194560" rIns="182880" bIns="1188720"/>
          <a:lstStyle>
            <a:lvl1pPr marL="0" indent="0">
              <a:buFontTx/>
              <a:buNone/>
              <a:defRPr sz="2400" b="1">
                <a:solidFill>
                  <a:schemeClr val="bg1"/>
                </a:solidFill>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BE"/>
              <a:t> </a:t>
            </a:r>
            <a:endParaRPr lang="en-BE" dirty="0"/>
          </a:p>
        </p:txBody>
      </p:sp>
      <p:sp>
        <p:nvSpPr>
          <p:cNvPr id="253" name="Titel 1">
            <a:extLst>
              <a:ext uri="{FF2B5EF4-FFF2-40B4-BE49-F238E27FC236}">
                <a16:creationId xmlns:a16="http://schemas.microsoft.com/office/drawing/2014/main" id="{F8EDE2AA-5EC7-4E82-852A-FE7B050223C2}"/>
              </a:ext>
            </a:extLst>
          </p:cNvPr>
          <p:cNvSpPr>
            <a:spLocks noGrp="1"/>
          </p:cNvSpPr>
          <p:nvPr>
            <p:ph type="title"/>
          </p:nvPr>
        </p:nvSpPr>
        <p:spPr>
          <a:xfrm>
            <a:off x="1471817" y="1479973"/>
            <a:ext cx="2992891" cy="711201"/>
          </a:xfrm>
          <a:prstGeom prst="rect">
            <a:avLst/>
          </a:prstGeom>
        </p:spPr>
        <p:txBody>
          <a:bodyPr lIns="0" tIns="0" rIns="0" bIns="0">
            <a:normAutofit/>
          </a:bodyPr>
          <a:lstStyle>
            <a:lvl1pPr>
              <a:defRPr lang="en-BE" sz="2800" b="1" kern="1200" dirty="0">
                <a:solidFill>
                  <a:schemeClr val="accent2"/>
                </a:solidFill>
                <a:latin typeface="+mn-lt"/>
                <a:ea typeface="+mn-ea"/>
                <a:cs typeface="+mn-cs"/>
              </a:defRPr>
            </a:lvl1pPr>
          </a:lstStyle>
          <a:p>
            <a:endParaRPr lang="en-BE" dirty="0"/>
          </a:p>
        </p:txBody>
      </p:sp>
      <p:sp>
        <p:nvSpPr>
          <p:cNvPr id="25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1472072" y="2191174"/>
            <a:ext cx="2983043" cy="1086811"/>
          </a:xfrm>
          <a:prstGeom prst="rect">
            <a:avLst/>
          </a:prstGeom>
        </p:spPr>
        <p:txBody>
          <a:bodyPr lIns="0" tIns="0" rIns="0" bIns="91440">
            <a:normAutofit/>
          </a:bodyPr>
          <a:lstStyle>
            <a:lvl1pPr marL="0" indent="0">
              <a:buFontTx/>
              <a:buNone/>
              <a:defRPr lang="nl-NL" sz="2400" kern="1200" dirty="0">
                <a:solidFill>
                  <a:schemeClr val="accent1"/>
                </a:solidFill>
                <a:latin typeface="Georgia" panose="02040502050405020303" pitchFamily="18" charset="0"/>
                <a:ea typeface="+mn-ea"/>
                <a:cs typeface="+mn-cs"/>
              </a:defRPr>
            </a:lvl1pPr>
          </a:lstStyle>
          <a:p>
            <a:pPr lvl="0"/>
            <a:endParaRPr lang="nl-NL" dirty="0"/>
          </a:p>
        </p:txBody>
      </p:sp>
      <p:sp>
        <p:nvSpPr>
          <p:cNvPr id="25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705020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spTree>
    <p:extLst>
      <p:ext uri="{BB962C8B-B14F-4D97-AF65-F5344CB8AC3E}">
        <p14:creationId xmlns:p14="http://schemas.microsoft.com/office/powerpoint/2010/main" val="11284107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with info 4">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082B9D0C-0783-431C-BFBF-3A3AA871FE82}"/>
              </a:ext>
            </a:extLst>
          </p:cNvPr>
          <p:cNvSpPr>
            <a:spLocks noGrp="1"/>
          </p:cNvSpPr>
          <p:nvPr>
            <p:ph type="pic" sz="quarter" idx="12" hasCustomPrompt="1"/>
          </p:nvPr>
        </p:nvSpPr>
        <p:spPr>
          <a:xfrm>
            <a:off x="0" y="0"/>
            <a:ext cx="12192000" cy="6858000"/>
          </a:xfrm>
          <a:prstGeom prst="rect">
            <a:avLst/>
          </a:prstGeom>
          <a:solidFill>
            <a:schemeClr val="bg1">
              <a:lumMod val="85000"/>
              <a:alpha val="78000"/>
            </a:schemeClr>
          </a:solidFill>
        </p:spPr>
        <p:txBody>
          <a:bodyPr anchor="ctr" anchorCtr="0"/>
          <a:lstStyle>
            <a:lvl1pPr marL="0" marR="0" indent="0" algn="l" defTabSz="914400" rtl="0" eaLnBrk="1" fontAlgn="auto" latinLnBrk="0" hangingPunct="1">
              <a:lnSpc>
                <a:spcPct val="90000"/>
              </a:lnSpc>
              <a:spcBef>
                <a:spcPts val="1000"/>
              </a:spcBef>
              <a:spcAft>
                <a:spcPts val="0"/>
              </a:spcAft>
              <a:buClr>
                <a:schemeClr val="accent2"/>
              </a:buClr>
              <a:buSzTx/>
              <a:buFontTx/>
              <a:buNone/>
              <a:tabLst/>
              <a:defRPr baseline="0">
                <a:solidFill>
                  <a:schemeClr val="tx1"/>
                </a:solidFill>
              </a:defRPr>
            </a:lvl1pPr>
          </a:lstStyle>
          <a:p>
            <a:r>
              <a:rPr lang="en-US"/>
              <a:t>&gt;&gt;&gt;&gt;&gt;&gt;&gt;&gt;&gt; Click to add picture &gt;</a:t>
            </a:r>
            <a:endParaRPr lang="en-BE" dirty="0"/>
          </a:p>
        </p:txBody>
      </p:sp>
      <p:sp>
        <p:nvSpPr>
          <p:cNvPr id="6" name="Tijdelijke aanduiding voor tekst 25">
            <a:extLst>
              <a:ext uri="{FF2B5EF4-FFF2-40B4-BE49-F238E27FC236}">
                <a16:creationId xmlns:a16="http://schemas.microsoft.com/office/drawing/2014/main" id="{6A895D29-FC6A-432A-8385-E2F1D027CD96}"/>
              </a:ext>
            </a:extLst>
          </p:cNvPr>
          <p:cNvSpPr>
            <a:spLocks noGrp="1" noChangeAspect="1"/>
          </p:cNvSpPr>
          <p:nvPr>
            <p:ph type="body" sz="quarter" idx="13" hasCustomPrompt="1"/>
          </p:nvPr>
        </p:nvSpPr>
        <p:spPr>
          <a:xfrm flipH="1">
            <a:off x="6096000" y="800100"/>
            <a:ext cx="5329238" cy="5257800"/>
          </a:xfrm>
          <a:prstGeom prst="rect">
            <a:avLst/>
          </a:prstGeom>
          <a:blipFill dpi="0" rotWithShape="1">
            <a:blip r:embed="rId2">
              <a:alphaModFix amt="50000"/>
            </a:blip>
            <a:srcRect/>
            <a:stretch>
              <a:fillRect/>
            </a:stretch>
          </a:blipFill>
        </p:spPr>
        <p:txBody>
          <a:bodyPr lIns="1005840" tIns="2194560" rIns="182880" bIns="1188720"/>
          <a:lstStyle>
            <a:lvl1pPr marL="0" indent="0">
              <a:buFontTx/>
              <a:buNone/>
              <a:defRPr sz="2400" b="1">
                <a:solidFill>
                  <a:schemeClr val="bg1"/>
                </a:solidFill>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BE"/>
              <a:t> </a:t>
            </a:r>
            <a:endParaRPr lang="en-BE" dirty="0"/>
          </a:p>
        </p:txBody>
      </p:sp>
      <p:sp>
        <p:nvSpPr>
          <p:cNvPr id="253" name="Titel 1">
            <a:extLst>
              <a:ext uri="{FF2B5EF4-FFF2-40B4-BE49-F238E27FC236}">
                <a16:creationId xmlns:a16="http://schemas.microsoft.com/office/drawing/2014/main" id="{F8EDE2AA-5EC7-4E82-852A-FE7B050223C2}"/>
              </a:ext>
            </a:extLst>
          </p:cNvPr>
          <p:cNvSpPr>
            <a:spLocks noGrp="1"/>
          </p:cNvSpPr>
          <p:nvPr>
            <p:ph type="title"/>
          </p:nvPr>
        </p:nvSpPr>
        <p:spPr>
          <a:xfrm>
            <a:off x="7780020" y="1479973"/>
            <a:ext cx="2992891" cy="711201"/>
          </a:xfrm>
          <a:prstGeom prst="rect">
            <a:avLst/>
          </a:prstGeom>
        </p:spPr>
        <p:txBody>
          <a:bodyPr lIns="0" tIns="0" rIns="0" bIns="0">
            <a:normAutofit/>
          </a:bodyPr>
          <a:lstStyle>
            <a:lvl1pPr>
              <a:defRPr lang="en-BE" sz="2800" b="1" kern="1200" dirty="0">
                <a:solidFill>
                  <a:schemeClr val="accent2"/>
                </a:solidFill>
                <a:latin typeface="+mn-lt"/>
                <a:ea typeface="+mn-ea"/>
                <a:cs typeface="+mn-cs"/>
              </a:defRPr>
            </a:lvl1pPr>
          </a:lstStyle>
          <a:p>
            <a:endParaRPr lang="en-BE" dirty="0"/>
          </a:p>
        </p:txBody>
      </p:sp>
      <p:sp>
        <p:nvSpPr>
          <p:cNvPr id="25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7780275" y="2191174"/>
            <a:ext cx="2983043" cy="1086811"/>
          </a:xfrm>
          <a:prstGeom prst="rect">
            <a:avLst/>
          </a:prstGeom>
        </p:spPr>
        <p:txBody>
          <a:bodyPr lIns="0" tIns="0" rIns="0" bIns="91440">
            <a:normAutofit/>
          </a:bodyPr>
          <a:lstStyle>
            <a:lvl1pPr marL="0" indent="0">
              <a:buFontTx/>
              <a:buNone/>
              <a:defRPr lang="nl-NL" sz="2400" kern="1200" dirty="0">
                <a:solidFill>
                  <a:schemeClr val="accent1"/>
                </a:solidFill>
                <a:latin typeface="Georgia" panose="02040502050405020303" pitchFamily="18" charset="0"/>
                <a:ea typeface="+mn-ea"/>
                <a:cs typeface="+mn-cs"/>
              </a:defRPr>
            </a:lvl1pPr>
          </a:lstStyle>
          <a:p>
            <a:pPr lvl="0"/>
            <a:endParaRPr lang="nl-NL" dirty="0"/>
          </a:p>
        </p:txBody>
      </p:sp>
      <p:sp>
        <p:nvSpPr>
          <p:cNvPr id="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7055229"/>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spTree>
    <p:extLst>
      <p:ext uri="{BB962C8B-B14F-4D97-AF65-F5344CB8AC3E}">
        <p14:creationId xmlns:p14="http://schemas.microsoft.com/office/powerpoint/2010/main" val="36709170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amp; Text 1">
    <p:spTree>
      <p:nvGrpSpPr>
        <p:cNvPr id="1" name=""/>
        <p:cNvGrpSpPr/>
        <p:nvPr/>
      </p:nvGrpSpPr>
      <p:grpSpPr>
        <a:xfrm>
          <a:off x="0" y="0"/>
          <a:ext cx="0" cy="0"/>
          <a:chOff x="0" y="0"/>
          <a:chExt cx="0" cy="0"/>
        </a:xfrm>
      </p:grpSpPr>
      <p:sp>
        <p:nvSpPr>
          <p:cNvPr id="15" name="Tijdelijke aanduiding voor afbeelding 3">
            <a:extLst>
              <a:ext uri="{FF2B5EF4-FFF2-40B4-BE49-F238E27FC236}">
                <a16:creationId xmlns:a16="http://schemas.microsoft.com/office/drawing/2014/main" id="{E2D5FF81-71AA-4A77-BAFA-7D04F841B056}"/>
              </a:ext>
            </a:extLst>
          </p:cNvPr>
          <p:cNvSpPr>
            <a:spLocks noGrp="1"/>
          </p:cNvSpPr>
          <p:nvPr>
            <p:ph type="pic" sz="quarter" idx="15" hasCustomPrompt="1"/>
          </p:nvPr>
        </p:nvSpPr>
        <p:spPr>
          <a:xfrm>
            <a:off x="5067299" y="1905000"/>
            <a:ext cx="2160000" cy="1346400"/>
          </a:xfrm>
          <a:prstGeom prst="rect">
            <a:avLst/>
          </a:prstGeom>
        </p:spPr>
        <p:txBody>
          <a:bodyPr>
            <a:normAutofit/>
          </a:bodyPr>
          <a:lstStyle>
            <a:lvl1pPr marL="0" indent="0" algn="ctr">
              <a:lnSpc>
                <a:spcPct val="100000"/>
              </a:lnSpc>
              <a:spcBef>
                <a:spcPts val="300"/>
              </a:spcBef>
              <a:buFontTx/>
              <a:buNone/>
              <a:defRPr sz="1100">
                <a:solidFill>
                  <a:schemeClr val="tx1"/>
                </a:solidFill>
              </a:defRPr>
            </a:lvl1pPr>
          </a:lstStyle>
          <a:p>
            <a:r>
              <a:rPr lang="en-US"/>
              <a:t>add icon</a:t>
            </a:r>
          </a:p>
        </p:txBody>
      </p:sp>
      <p:sp>
        <p:nvSpPr>
          <p:cNvPr id="16" name="Tijdelijke aanduiding voor tekst 9">
            <a:extLst>
              <a:ext uri="{FF2B5EF4-FFF2-40B4-BE49-F238E27FC236}">
                <a16:creationId xmlns:a16="http://schemas.microsoft.com/office/drawing/2014/main" id="{2F64FA00-F52F-4F8C-9ED0-8C00855A7D4E}"/>
              </a:ext>
            </a:extLst>
          </p:cNvPr>
          <p:cNvSpPr>
            <a:spLocks noGrp="1"/>
          </p:cNvSpPr>
          <p:nvPr>
            <p:ph type="body" sz="quarter" idx="17"/>
          </p:nvPr>
        </p:nvSpPr>
        <p:spPr>
          <a:xfrm>
            <a:off x="766763" y="3647804"/>
            <a:ext cx="10661665" cy="2168795"/>
          </a:xfrm>
          <a:prstGeom prst="rect">
            <a:avLst/>
          </a:prstGeom>
        </p:spPr>
        <p:txBody>
          <a:bodyPr lIns="0" tIns="0" rIns="0" bIns="0" anchor="ctr" anchorCtr="0">
            <a:noAutofit/>
          </a:bodyPr>
          <a:lstStyle>
            <a:lvl1pPr marL="0" indent="0" algn="ctr">
              <a:buFontTx/>
              <a:buNone/>
              <a:defRPr sz="3600">
                <a:solidFill>
                  <a:schemeClr val="accent2"/>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endParaRPr lang="nl-NL" dirty="0"/>
          </a:p>
        </p:txBody>
      </p:sp>
      <p:sp>
        <p:nvSpPr>
          <p:cNvPr id="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9672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con &amp; Text 2">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jdelijke aanduiding voor tekst 9">
            <a:extLst>
              <a:ext uri="{FF2B5EF4-FFF2-40B4-BE49-F238E27FC236}">
                <a16:creationId xmlns:a16="http://schemas.microsoft.com/office/drawing/2014/main" id="{2F64FA00-F52F-4F8C-9ED0-8C00855A7D4E}"/>
              </a:ext>
            </a:extLst>
          </p:cNvPr>
          <p:cNvSpPr>
            <a:spLocks noGrp="1"/>
          </p:cNvSpPr>
          <p:nvPr>
            <p:ph type="body" sz="quarter" idx="17"/>
          </p:nvPr>
        </p:nvSpPr>
        <p:spPr>
          <a:xfrm>
            <a:off x="766763" y="3647804"/>
            <a:ext cx="10661665" cy="2168795"/>
          </a:xfrm>
          <a:prstGeom prst="rect">
            <a:avLst/>
          </a:prstGeom>
        </p:spPr>
        <p:txBody>
          <a:bodyPr lIns="0" tIns="0" rIns="0" bIns="0" anchor="ctr" anchorCtr="0">
            <a:noAutofit/>
          </a:bodyPr>
          <a:lstStyle>
            <a:lvl1pPr marL="0" indent="0" algn="ctr">
              <a:buFontTx/>
              <a:buNone/>
              <a:defRPr sz="3600">
                <a:solidFill>
                  <a:schemeClr val="bg1"/>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endParaRPr lang="nl-NL" dirty="0"/>
          </a:p>
        </p:txBody>
      </p:sp>
      <p:sp>
        <p:nvSpPr>
          <p:cNvPr id="17" name="Tijdelijke aanduiding voor afbeelding 3">
            <a:extLst>
              <a:ext uri="{FF2B5EF4-FFF2-40B4-BE49-F238E27FC236}">
                <a16:creationId xmlns:a16="http://schemas.microsoft.com/office/drawing/2014/main" id="{E2D5FF81-71AA-4A77-BAFA-7D04F841B056}"/>
              </a:ext>
            </a:extLst>
          </p:cNvPr>
          <p:cNvSpPr>
            <a:spLocks noGrp="1"/>
          </p:cNvSpPr>
          <p:nvPr>
            <p:ph type="pic" sz="quarter" idx="15" hasCustomPrompt="1"/>
          </p:nvPr>
        </p:nvSpPr>
        <p:spPr>
          <a:xfrm>
            <a:off x="5067299" y="1905000"/>
            <a:ext cx="2160000" cy="1346400"/>
          </a:xfrm>
          <a:prstGeom prst="rect">
            <a:avLst/>
          </a:prstGeom>
        </p:spPr>
        <p:txBody>
          <a:bodyPr>
            <a:normAutofit/>
          </a:bodyPr>
          <a:lstStyle>
            <a:lvl1pPr marL="0" indent="0" algn="ctr">
              <a:lnSpc>
                <a:spcPct val="100000"/>
              </a:lnSpc>
              <a:spcBef>
                <a:spcPts val="300"/>
              </a:spcBef>
              <a:buFontTx/>
              <a:buNone/>
              <a:defRPr sz="1100">
                <a:solidFill>
                  <a:schemeClr val="bg1"/>
                </a:solidFill>
              </a:defRPr>
            </a:lvl1pPr>
          </a:lstStyle>
          <a:p>
            <a:r>
              <a:rPr lang="en-US"/>
              <a:t>add icon</a:t>
            </a:r>
          </a:p>
        </p:txBody>
      </p:sp>
      <p:pic>
        <p:nvPicPr>
          <p:cNvPr id="9"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2"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
        <p:nvSpPr>
          <p:cNvPr id="10"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1"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40342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con &amp; Text 3">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jdelijke aanduiding voor tekst 9">
            <a:extLst>
              <a:ext uri="{FF2B5EF4-FFF2-40B4-BE49-F238E27FC236}">
                <a16:creationId xmlns:a16="http://schemas.microsoft.com/office/drawing/2014/main" id="{2F64FA00-F52F-4F8C-9ED0-8C00855A7D4E}"/>
              </a:ext>
            </a:extLst>
          </p:cNvPr>
          <p:cNvSpPr>
            <a:spLocks noGrp="1"/>
          </p:cNvSpPr>
          <p:nvPr>
            <p:ph type="body" sz="quarter" idx="17"/>
          </p:nvPr>
        </p:nvSpPr>
        <p:spPr>
          <a:xfrm>
            <a:off x="766763" y="3647804"/>
            <a:ext cx="10661665" cy="2168795"/>
          </a:xfrm>
          <a:prstGeom prst="rect">
            <a:avLst/>
          </a:prstGeom>
        </p:spPr>
        <p:txBody>
          <a:bodyPr lIns="0" tIns="0" rIns="0" bIns="0" anchor="ctr" anchorCtr="0">
            <a:noAutofit/>
          </a:bodyPr>
          <a:lstStyle>
            <a:lvl1pPr marL="0" indent="0" algn="ctr">
              <a:buFontTx/>
              <a:buNone/>
              <a:defRPr sz="3600">
                <a:solidFill>
                  <a:schemeClr val="bg1"/>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endParaRPr lang="nl-NL" dirty="0"/>
          </a:p>
        </p:txBody>
      </p:sp>
      <p:sp>
        <p:nvSpPr>
          <p:cNvPr id="17" name="Tijdelijke aanduiding voor afbeelding 3">
            <a:extLst>
              <a:ext uri="{FF2B5EF4-FFF2-40B4-BE49-F238E27FC236}">
                <a16:creationId xmlns:a16="http://schemas.microsoft.com/office/drawing/2014/main" id="{E2D5FF81-71AA-4A77-BAFA-7D04F841B056}"/>
              </a:ext>
            </a:extLst>
          </p:cNvPr>
          <p:cNvSpPr>
            <a:spLocks noGrp="1"/>
          </p:cNvSpPr>
          <p:nvPr>
            <p:ph type="pic" sz="quarter" idx="15" hasCustomPrompt="1"/>
          </p:nvPr>
        </p:nvSpPr>
        <p:spPr>
          <a:xfrm>
            <a:off x="5067299" y="1905000"/>
            <a:ext cx="2160000" cy="1346400"/>
          </a:xfrm>
          <a:prstGeom prst="rect">
            <a:avLst/>
          </a:prstGeom>
        </p:spPr>
        <p:txBody>
          <a:bodyPr>
            <a:normAutofit/>
          </a:bodyPr>
          <a:lstStyle>
            <a:lvl1pPr marL="0" indent="0" algn="ctr">
              <a:lnSpc>
                <a:spcPct val="100000"/>
              </a:lnSpc>
              <a:spcBef>
                <a:spcPts val="300"/>
              </a:spcBef>
              <a:buFontTx/>
              <a:buNone/>
              <a:defRPr sz="1100">
                <a:solidFill>
                  <a:schemeClr val="bg1"/>
                </a:solidFill>
              </a:defRPr>
            </a:lvl1pPr>
          </a:lstStyle>
          <a:p>
            <a:r>
              <a:rPr lang="en-US"/>
              <a:t>add icon</a:t>
            </a:r>
          </a:p>
        </p:txBody>
      </p:sp>
      <p:sp>
        <p:nvSpPr>
          <p:cNvPr id="8"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2"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Tree>
    <p:extLst>
      <p:ext uri="{BB962C8B-B14F-4D97-AF65-F5344CB8AC3E}">
        <p14:creationId xmlns:p14="http://schemas.microsoft.com/office/powerpoint/2010/main" val="17432340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1">
    <p:spTree>
      <p:nvGrpSpPr>
        <p:cNvPr id="1" name=""/>
        <p:cNvGrpSpPr/>
        <p:nvPr/>
      </p:nvGrpSpPr>
      <p:grpSpPr>
        <a:xfrm>
          <a:off x="0" y="0"/>
          <a:ext cx="0" cy="0"/>
          <a:chOff x="0" y="0"/>
          <a:chExt cx="0" cy="0"/>
        </a:xfrm>
      </p:grpSpPr>
      <p:sp>
        <p:nvSpPr>
          <p:cNvPr id="5"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6"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96246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nk 2">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28"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9"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2"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Tree>
    <p:extLst>
      <p:ext uri="{BB962C8B-B14F-4D97-AF65-F5344CB8AC3E}">
        <p14:creationId xmlns:p14="http://schemas.microsoft.com/office/powerpoint/2010/main" val="2742683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Blank 3">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26"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7"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2"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Tree>
    <p:extLst>
      <p:ext uri="{BB962C8B-B14F-4D97-AF65-F5344CB8AC3E}">
        <p14:creationId xmlns:p14="http://schemas.microsoft.com/office/powerpoint/2010/main" val="142190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Pictures with info">
    <p:spTree>
      <p:nvGrpSpPr>
        <p:cNvPr id="1" name=""/>
        <p:cNvGrpSpPr/>
        <p:nvPr/>
      </p:nvGrpSpPr>
      <p:grpSpPr>
        <a:xfrm>
          <a:off x="0" y="0"/>
          <a:ext cx="0" cy="0"/>
          <a:chOff x="0" y="0"/>
          <a:chExt cx="0" cy="0"/>
        </a:xfrm>
      </p:grpSpPr>
      <p:grpSp>
        <p:nvGrpSpPr>
          <p:cNvPr id="5" name="Group 4"/>
          <p:cNvGrpSpPr/>
          <p:nvPr userDrawn="1"/>
        </p:nvGrpSpPr>
        <p:grpSpPr>
          <a:xfrm>
            <a:off x="182337" y="5309722"/>
            <a:ext cx="11827325" cy="1418433"/>
            <a:chOff x="182336" y="7877294"/>
            <a:chExt cx="11827325" cy="1418433"/>
          </a:xfrm>
        </p:grpSpPr>
        <p:sp>
          <p:nvSpPr>
            <p:cNvPr id="6" name="Oval 5"/>
            <p:cNvSpPr/>
            <p:nvPr/>
          </p:nvSpPr>
          <p:spPr>
            <a:xfrm rot="5400000">
              <a:off x="182336" y="787729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rot="5400000">
              <a:off x="182336" y="847260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5400000">
              <a:off x="182336"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5400000">
              <a:off x="483961" y="817495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5400000">
              <a:off x="483961" y="847260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rot="5400000">
              <a:off x="48396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rot="5400000">
              <a:off x="77860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rot="5400000">
              <a:off x="137092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rot="5400000">
              <a:off x="137092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rot="5400000">
              <a:off x="166937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rot="5400000">
              <a:off x="166937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rot="5400000">
              <a:off x="196781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rot="5400000">
              <a:off x="226694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rot="5400000">
              <a:off x="226694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rot="5400000">
              <a:off x="256538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rot="5400000">
              <a:off x="256538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rot="5400000">
              <a:off x="285983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rot="5400000">
              <a:off x="285983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rot="5400000">
              <a:off x="316365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rot="5400000">
              <a:off x="316365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rot="5400000">
              <a:off x="346092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rot="5400000">
              <a:off x="374899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rot="5400000">
              <a:off x="374899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rot="5400000">
              <a:off x="404811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rot="5400000">
              <a:off x="404811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rot="5400000">
              <a:off x="434656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rot="5400000">
              <a:off x="434656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rot="5400000">
              <a:off x="464100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rot="5400000">
              <a:off x="4944825"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rot="5400000">
              <a:off x="494482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rot="5400000">
              <a:off x="524209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rot="5400000">
              <a:off x="5535386"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rot="5400000">
              <a:off x="553538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rot="5400000">
              <a:off x="583701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rot="5400000">
              <a:off x="5837011"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rot="5400000">
              <a:off x="613165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rot="5400000">
              <a:off x="6131651"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rot="5400000">
              <a:off x="6428922"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rot="5400000">
              <a:off x="672397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rot="5400000">
              <a:off x="672397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rot="5400000">
              <a:off x="702242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rot="5400000">
              <a:off x="702242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rot="5400000">
              <a:off x="732086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rot="5400000">
              <a:off x="761999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rot="5400000">
              <a:off x="761999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rot="5400000">
              <a:off x="791843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rot="5400000">
              <a:off x="791843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rot="5400000">
              <a:off x="821288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rot="5400000">
              <a:off x="821288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rot="5400000">
              <a:off x="851670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rot="5400000">
              <a:off x="851670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rot="5400000">
              <a:off x="881397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rot="5400000">
              <a:off x="910204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rot="5400000">
              <a:off x="910204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rot="5400000">
              <a:off x="940116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rot="5400000">
              <a:off x="940116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rot="5400000">
              <a:off x="969961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rot="5400000">
              <a:off x="969961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rot="5400000">
              <a:off x="999405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rot="5400000">
              <a:off x="10297875"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rot="5400000">
              <a:off x="1029787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rot="5400000">
              <a:off x="1059514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rot="5400000">
              <a:off x="10888318"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rot="5400000">
              <a:off x="10888318" y="906792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rot="5400000">
              <a:off x="11189943"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rot="5400000">
              <a:off x="11189943" y="906792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rot="5400000">
              <a:off x="11484583" y="787729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userDrawn="1"/>
          </p:nvSpPr>
          <p:spPr>
            <a:xfrm rot="5400000">
              <a:off x="11484583" y="817495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rot="5400000">
              <a:off x="11484583"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rot="5400000">
              <a:off x="11781854" y="817495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Rectangle 80"/>
          <p:cNvSpPr/>
          <p:nvPr/>
        </p:nvSpPr>
        <p:spPr>
          <a:xfrm>
            <a:off x="4621527" y="800100"/>
            <a:ext cx="2948946" cy="5257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73726" y="800100"/>
            <a:ext cx="2948946" cy="525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8486060" y="800100"/>
            <a:ext cx="2948946" cy="5257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Picture Placeholder 94"/>
          <p:cNvSpPr>
            <a:spLocks noGrp="1"/>
          </p:cNvSpPr>
          <p:nvPr>
            <p:ph type="pic" sz="quarter" idx="10"/>
          </p:nvPr>
        </p:nvSpPr>
        <p:spPr>
          <a:xfrm>
            <a:off x="871538" y="1897062"/>
            <a:ext cx="2754312" cy="3063875"/>
          </a:xfrm>
        </p:spPr>
        <p:txBody>
          <a:bodyPr anchor="ctr"/>
          <a:lstStyle>
            <a:lvl1pPr marL="88900" indent="0" algn="ctr">
              <a:buNone/>
              <a:defRPr>
                <a:solidFill>
                  <a:schemeClr val="bg1"/>
                </a:solidFill>
              </a:defRPr>
            </a:lvl1pPr>
          </a:lstStyle>
          <a:p>
            <a:endParaRPr lang="en-US"/>
          </a:p>
        </p:txBody>
      </p:sp>
      <p:sp>
        <p:nvSpPr>
          <p:cNvPr id="99" name="Text Placeholder 97"/>
          <p:cNvSpPr>
            <a:spLocks noGrp="1"/>
          </p:cNvSpPr>
          <p:nvPr>
            <p:ph type="body" sz="quarter" idx="11"/>
          </p:nvPr>
        </p:nvSpPr>
        <p:spPr>
          <a:xfrm>
            <a:off x="871538" y="982663"/>
            <a:ext cx="2754312"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101" name="Text Placeholder 97"/>
          <p:cNvSpPr>
            <a:spLocks noGrp="1"/>
          </p:cNvSpPr>
          <p:nvPr>
            <p:ph type="body" sz="quarter" idx="12"/>
          </p:nvPr>
        </p:nvSpPr>
        <p:spPr>
          <a:xfrm>
            <a:off x="871538" y="5162550"/>
            <a:ext cx="2754312"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102" name="Picture Placeholder 94"/>
          <p:cNvSpPr>
            <a:spLocks noGrp="1"/>
          </p:cNvSpPr>
          <p:nvPr>
            <p:ph type="pic" sz="quarter" idx="13"/>
          </p:nvPr>
        </p:nvSpPr>
        <p:spPr>
          <a:xfrm>
            <a:off x="4718844" y="1897062"/>
            <a:ext cx="2754312" cy="3063875"/>
          </a:xfrm>
        </p:spPr>
        <p:txBody>
          <a:bodyPr anchor="ctr"/>
          <a:lstStyle>
            <a:lvl1pPr marL="88900" indent="0" algn="ctr">
              <a:buNone/>
              <a:defRPr>
                <a:solidFill>
                  <a:schemeClr val="bg1"/>
                </a:solidFill>
              </a:defRPr>
            </a:lvl1pPr>
          </a:lstStyle>
          <a:p>
            <a:endParaRPr lang="en-US"/>
          </a:p>
        </p:txBody>
      </p:sp>
      <p:sp>
        <p:nvSpPr>
          <p:cNvPr id="103" name="Text Placeholder 97"/>
          <p:cNvSpPr>
            <a:spLocks noGrp="1"/>
          </p:cNvSpPr>
          <p:nvPr>
            <p:ph type="body" sz="quarter" idx="14"/>
          </p:nvPr>
        </p:nvSpPr>
        <p:spPr>
          <a:xfrm>
            <a:off x="4718844" y="982663"/>
            <a:ext cx="2754312"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104" name="Text Placeholder 97"/>
          <p:cNvSpPr>
            <a:spLocks noGrp="1"/>
          </p:cNvSpPr>
          <p:nvPr>
            <p:ph type="body" sz="quarter" idx="15"/>
          </p:nvPr>
        </p:nvSpPr>
        <p:spPr>
          <a:xfrm>
            <a:off x="4718844" y="5162550"/>
            <a:ext cx="2754312"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105" name="Picture Placeholder 94"/>
          <p:cNvSpPr>
            <a:spLocks noGrp="1"/>
          </p:cNvSpPr>
          <p:nvPr>
            <p:ph type="pic" sz="quarter" idx="16"/>
          </p:nvPr>
        </p:nvSpPr>
        <p:spPr>
          <a:xfrm>
            <a:off x="8588326" y="1897062"/>
            <a:ext cx="2754312" cy="3063875"/>
          </a:xfrm>
        </p:spPr>
        <p:txBody>
          <a:bodyPr anchor="ctr"/>
          <a:lstStyle>
            <a:lvl1pPr marL="88900" indent="0" algn="ctr">
              <a:buNone/>
              <a:defRPr>
                <a:solidFill>
                  <a:schemeClr val="bg1"/>
                </a:solidFill>
              </a:defRPr>
            </a:lvl1pPr>
          </a:lstStyle>
          <a:p>
            <a:endParaRPr lang="en-US"/>
          </a:p>
        </p:txBody>
      </p:sp>
      <p:sp>
        <p:nvSpPr>
          <p:cNvPr id="106" name="Text Placeholder 97"/>
          <p:cNvSpPr>
            <a:spLocks noGrp="1"/>
          </p:cNvSpPr>
          <p:nvPr>
            <p:ph type="body" sz="quarter" idx="17"/>
          </p:nvPr>
        </p:nvSpPr>
        <p:spPr>
          <a:xfrm>
            <a:off x="8588326" y="982663"/>
            <a:ext cx="2754312"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107" name="Text Placeholder 97"/>
          <p:cNvSpPr>
            <a:spLocks noGrp="1"/>
          </p:cNvSpPr>
          <p:nvPr>
            <p:ph type="body" sz="quarter" idx="18"/>
          </p:nvPr>
        </p:nvSpPr>
        <p:spPr>
          <a:xfrm>
            <a:off x="8588326" y="5162550"/>
            <a:ext cx="2754312"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92"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3"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1876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 pictures with info">
    <p:spTree>
      <p:nvGrpSpPr>
        <p:cNvPr id="1" name=""/>
        <p:cNvGrpSpPr/>
        <p:nvPr/>
      </p:nvGrpSpPr>
      <p:grpSpPr>
        <a:xfrm>
          <a:off x="0" y="0"/>
          <a:ext cx="0" cy="0"/>
          <a:chOff x="0" y="0"/>
          <a:chExt cx="0" cy="0"/>
        </a:xfrm>
      </p:grpSpPr>
      <p:grpSp>
        <p:nvGrpSpPr>
          <p:cNvPr id="5" name="Group 4"/>
          <p:cNvGrpSpPr/>
          <p:nvPr userDrawn="1"/>
        </p:nvGrpSpPr>
        <p:grpSpPr>
          <a:xfrm>
            <a:off x="182338" y="5291600"/>
            <a:ext cx="11827325" cy="1418433"/>
            <a:chOff x="182336" y="7877294"/>
            <a:chExt cx="11827325" cy="1418433"/>
          </a:xfrm>
        </p:grpSpPr>
        <p:sp>
          <p:nvSpPr>
            <p:cNvPr id="6" name="Oval 5"/>
            <p:cNvSpPr/>
            <p:nvPr/>
          </p:nvSpPr>
          <p:spPr>
            <a:xfrm rot="5400000">
              <a:off x="182336" y="787729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rot="5400000">
              <a:off x="182336" y="847260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5400000">
              <a:off x="182336"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5400000">
              <a:off x="483961" y="817495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5400000">
              <a:off x="483961" y="847260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rot="5400000">
              <a:off x="48396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rot="5400000">
              <a:off x="77860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rot="5400000">
              <a:off x="137092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rot="5400000">
              <a:off x="137092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rot="5400000">
              <a:off x="166937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rot="5400000">
              <a:off x="166937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rot="5400000">
              <a:off x="196781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rot="5400000">
              <a:off x="226694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rot="5400000">
              <a:off x="226694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rot="5400000">
              <a:off x="256538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rot="5400000">
              <a:off x="256538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rot="5400000">
              <a:off x="285983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rot="5400000">
              <a:off x="285983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rot="5400000">
              <a:off x="316365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rot="5400000">
              <a:off x="316365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rot="5400000">
              <a:off x="346092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rot="5400000">
              <a:off x="374899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rot="5400000">
              <a:off x="374899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rot="5400000">
              <a:off x="404811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rot="5400000">
              <a:off x="404811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rot="5400000">
              <a:off x="434656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rot="5400000">
              <a:off x="434656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rot="5400000">
              <a:off x="464100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rot="5400000">
              <a:off x="4944825"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rot="5400000">
              <a:off x="494482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rot="5400000">
              <a:off x="524209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rot="5400000">
              <a:off x="5535386"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rot="5400000">
              <a:off x="553538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rot="5400000">
              <a:off x="583701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rot="5400000">
              <a:off x="5837011"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rot="5400000">
              <a:off x="613165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rot="5400000">
              <a:off x="6131651"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rot="5400000">
              <a:off x="6428922"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rot="5400000">
              <a:off x="672397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rot="5400000">
              <a:off x="672397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rot="5400000">
              <a:off x="702242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rot="5400000">
              <a:off x="702242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rot="5400000">
              <a:off x="732086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rot="5400000">
              <a:off x="761999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rot="5400000">
              <a:off x="761999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rot="5400000">
              <a:off x="791843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rot="5400000">
              <a:off x="791843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rot="5400000">
              <a:off x="821288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rot="5400000">
              <a:off x="821288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rot="5400000">
              <a:off x="851670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rot="5400000">
              <a:off x="851670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rot="5400000">
              <a:off x="881397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rot="5400000">
              <a:off x="910204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rot="5400000">
              <a:off x="910204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rot="5400000">
              <a:off x="940116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rot="5400000">
              <a:off x="940116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rot="5400000">
              <a:off x="969961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rot="5400000">
              <a:off x="969961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rot="5400000">
              <a:off x="999405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rot="5400000">
              <a:off x="10297875"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rot="5400000">
              <a:off x="1029787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rot="5400000">
              <a:off x="1059514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rot="5400000">
              <a:off x="10888318"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rot="5400000">
              <a:off x="10888318" y="906792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rot="5400000">
              <a:off x="11189943"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rot="5400000">
              <a:off x="11189943" y="906792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rot="5400000">
              <a:off x="11484583" y="787729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userDrawn="1"/>
          </p:nvSpPr>
          <p:spPr>
            <a:xfrm rot="5400000">
              <a:off x="11484583" y="817495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rot="5400000">
              <a:off x="11484583"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rot="5400000">
              <a:off x="11781854" y="817495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Rectangle 80"/>
          <p:cNvSpPr/>
          <p:nvPr/>
        </p:nvSpPr>
        <p:spPr>
          <a:xfrm>
            <a:off x="3485781" y="800100"/>
            <a:ext cx="2574956" cy="5257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73727" y="800100"/>
            <a:ext cx="2574956" cy="525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6181893" y="800100"/>
            <a:ext cx="2574956" cy="5257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Picture Placeholder 94"/>
          <p:cNvSpPr>
            <a:spLocks noGrp="1"/>
          </p:cNvSpPr>
          <p:nvPr>
            <p:ph type="pic" sz="quarter" idx="10"/>
          </p:nvPr>
        </p:nvSpPr>
        <p:spPr>
          <a:xfrm>
            <a:off x="856548" y="1897062"/>
            <a:ext cx="2405005" cy="3063875"/>
          </a:xfrm>
        </p:spPr>
        <p:txBody>
          <a:bodyPr anchor="ctr"/>
          <a:lstStyle>
            <a:lvl1pPr marL="88900" indent="0" algn="ctr">
              <a:buNone/>
              <a:defRPr>
                <a:solidFill>
                  <a:schemeClr val="bg1"/>
                </a:solidFill>
              </a:defRPr>
            </a:lvl1pPr>
          </a:lstStyle>
          <a:p>
            <a:endParaRPr lang="en-US"/>
          </a:p>
        </p:txBody>
      </p:sp>
      <p:sp>
        <p:nvSpPr>
          <p:cNvPr id="99" name="Text Placeholder 97"/>
          <p:cNvSpPr>
            <a:spLocks noGrp="1"/>
          </p:cNvSpPr>
          <p:nvPr>
            <p:ph type="body" sz="quarter" idx="11"/>
          </p:nvPr>
        </p:nvSpPr>
        <p:spPr>
          <a:xfrm>
            <a:off x="856548" y="982663"/>
            <a:ext cx="2405005"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101" name="Text Placeholder 97"/>
          <p:cNvSpPr>
            <a:spLocks noGrp="1"/>
          </p:cNvSpPr>
          <p:nvPr>
            <p:ph type="body" sz="quarter" idx="12"/>
          </p:nvPr>
        </p:nvSpPr>
        <p:spPr>
          <a:xfrm>
            <a:off x="856548" y="5162550"/>
            <a:ext cx="2405005"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102" name="Picture Placeholder 94"/>
          <p:cNvSpPr>
            <a:spLocks noGrp="1"/>
          </p:cNvSpPr>
          <p:nvPr>
            <p:ph type="pic" sz="quarter" idx="13"/>
          </p:nvPr>
        </p:nvSpPr>
        <p:spPr>
          <a:xfrm>
            <a:off x="3568107" y="1897062"/>
            <a:ext cx="2405005" cy="3063875"/>
          </a:xfrm>
        </p:spPr>
        <p:txBody>
          <a:bodyPr anchor="ctr"/>
          <a:lstStyle>
            <a:lvl1pPr marL="88900" indent="0" algn="ctr">
              <a:buNone/>
              <a:defRPr>
                <a:solidFill>
                  <a:schemeClr val="bg1"/>
                </a:solidFill>
              </a:defRPr>
            </a:lvl1pPr>
          </a:lstStyle>
          <a:p>
            <a:endParaRPr lang="en-US"/>
          </a:p>
        </p:txBody>
      </p:sp>
      <p:sp>
        <p:nvSpPr>
          <p:cNvPr id="103" name="Text Placeholder 97"/>
          <p:cNvSpPr>
            <a:spLocks noGrp="1"/>
          </p:cNvSpPr>
          <p:nvPr>
            <p:ph type="body" sz="quarter" idx="14"/>
          </p:nvPr>
        </p:nvSpPr>
        <p:spPr>
          <a:xfrm>
            <a:off x="3568107" y="982663"/>
            <a:ext cx="2405005"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104" name="Text Placeholder 97"/>
          <p:cNvSpPr>
            <a:spLocks noGrp="1"/>
          </p:cNvSpPr>
          <p:nvPr>
            <p:ph type="body" sz="quarter" idx="15"/>
          </p:nvPr>
        </p:nvSpPr>
        <p:spPr>
          <a:xfrm>
            <a:off x="3568107" y="5162550"/>
            <a:ext cx="2405005"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105" name="Picture Placeholder 94"/>
          <p:cNvSpPr>
            <a:spLocks noGrp="1"/>
          </p:cNvSpPr>
          <p:nvPr>
            <p:ph type="pic" sz="quarter" idx="16"/>
          </p:nvPr>
        </p:nvSpPr>
        <p:spPr>
          <a:xfrm>
            <a:off x="6261673" y="1897062"/>
            <a:ext cx="2405005" cy="3063875"/>
          </a:xfrm>
        </p:spPr>
        <p:txBody>
          <a:bodyPr anchor="ctr"/>
          <a:lstStyle>
            <a:lvl1pPr marL="88900" indent="0" algn="ctr">
              <a:buNone/>
              <a:defRPr>
                <a:solidFill>
                  <a:schemeClr val="bg1"/>
                </a:solidFill>
              </a:defRPr>
            </a:lvl1pPr>
          </a:lstStyle>
          <a:p>
            <a:endParaRPr lang="en-US"/>
          </a:p>
        </p:txBody>
      </p:sp>
      <p:sp>
        <p:nvSpPr>
          <p:cNvPr id="106" name="Text Placeholder 97"/>
          <p:cNvSpPr>
            <a:spLocks noGrp="1"/>
          </p:cNvSpPr>
          <p:nvPr>
            <p:ph type="body" sz="quarter" idx="17"/>
          </p:nvPr>
        </p:nvSpPr>
        <p:spPr>
          <a:xfrm>
            <a:off x="6269168" y="982663"/>
            <a:ext cx="2405005"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107" name="Text Placeholder 97"/>
          <p:cNvSpPr>
            <a:spLocks noGrp="1"/>
          </p:cNvSpPr>
          <p:nvPr>
            <p:ph type="body" sz="quarter" idx="18"/>
          </p:nvPr>
        </p:nvSpPr>
        <p:spPr>
          <a:xfrm>
            <a:off x="6269168" y="5162550"/>
            <a:ext cx="2405005"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92" name="Rectangle 91"/>
          <p:cNvSpPr/>
          <p:nvPr userDrawn="1"/>
        </p:nvSpPr>
        <p:spPr>
          <a:xfrm>
            <a:off x="8874897" y="800100"/>
            <a:ext cx="2574956" cy="525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Picture Placeholder 94"/>
          <p:cNvSpPr>
            <a:spLocks noGrp="1"/>
          </p:cNvSpPr>
          <p:nvPr>
            <p:ph type="pic" sz="quarter" idx="19"/>
          </p:nvPr>
        </p:nvSpPr>
        <p:spPr>
          <a:xfrm>
            <a:off x="8954677" y="1897062"/>
            <a:ext cx="2405005" cy="3063875"/>
          </a:xfrm>
        </p:spPr>
        <p:txBody>
          <a:bodyPr anchor="ctr"/>
          <a:lstStyle>
            <a:lvl1pPr marL="88900" indent="0" algn="ctr">
              <a:buNone/>
              <a:defRPr>
                <a:solidFill>
                  <a:schemeClr val="bg1"/>
                </a:solidFill>
              </a:defRPr>
            </a:lvl1pPr>
          </a:lstStyle>
          <a:p>
            <a:endParaRPr lang="en-US"/>
          </a:p>
        </p:txBody>
      </p:sp>
      <p:sp>
        <p:nvSpPr>
          <p:cNvPr id="94" name="Text Placeholder 97"/>
          <p:cNvSpPr>
            <a:spLocks noGrp="1"/>
          </p:cNvSpPr>
          <p:nvPr>
            <p:ph type="body" sz="quarter" idx="20"/>
          </p:nvPr>
        </p:nvSpPr>
        <p:spPr>
          <a:xfrm>
            <a:off x="8962172" y="982663"/>
            <a:ext cx="2405005"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95" name="Text Placeholder 97"/>
          <p:cNvSpPr>
            <a:spLocks noGrp="1"/>
          </p:cNvSpPr>
          <p:nvPr>
            <p:ph type="body" sz="quarter" idx="21"/>
          </p:nvPr>
        </p:nvSpPr>
        <p:spPr>
          <a:xfrm>
            <a:off x="8962172" y="5162550"/>
            <a:ext cx="2405005"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endParaRPr lang="en-US"/>
          </a:p>
        </p:txBody>
      </p:sp>
      <p:sp>
        <p:nvSpPr>
          <p:cNvPr id="9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8"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304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4054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DB8AEF-C0A9-9DBA-CD0E-20E6F5C5B0D7}"/>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3093D5A8-C964-2AA8-B0A3-56B3E4D50FA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E46D964-F319-223D-317D-9168B3E903E9}"/>
              </a:ext>
            </a:extLst>
          </p:cNvPr>
          <p:cNvSpPr>
            <a:spLocks noGrp="1"/>
          </p:cNvSpPr>
          <p:nvPr>
            <p:ph type="sldNum" sz="quarter" idx="12"/>
          </p:nvPr>
        </p:nvSpPr>
        <p:spPr/>
        <p:txBody>
          <a:bodyPr/>
          <a:lstStyle/>
          <a:p>
            <a:fld id="{339267EE-5941-4723-AC0A-CBD0C7B97EE9}" type="slidenum">
              <a:rPr lang="en-GB" smtClean="0"/>
              <a:t>‹#›</a:t>
            </a:fld>
            <a:endParaRPr lang="en-GB"/>
          </a:p>
        </p:txBody>
      </p:sp>
    </p:spTree>
    <p:extLst>
      <p:ext uri="{BB962C8B-B14F-4D97-AF65-F5344CB8AC3E}">
        <p14:creationId xmlns:p14="http://schemas.microsoft.com/office/powerpoint/2010/main" val="27215974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Text Slide">
    <p:spTree>
      <p:nvGrpSpPr>
        <p:cNvPr id="1" name=""/>
        <p:cNvGrpSpPr/>
        <p:nvPr/>
      </p:nvGrpSpPr>
      <p:grpSpPr>
        <a:xfrm>
          <a:off x="0" y="0"/>
          <a:ext cx="0" cy="0"/>
          <a:chOff x="0" y="0"/>
          <a:chExt cx="0" cy="0"/>
        </a:xfrm>
      </p:grpSpPr>
      <p:sp>
        <p:nvSpPr>
          <p:cNvPr id="81" name="Text Placeholder 4"/>
          <p:cNvSpPr>
            <a:spLocks noGrp="1"/>
          </p:cNvSpPr>
          <p:nvPr>
            <p:ph type="body" sz="quarter" idx="15" hasCustomPrompt="1"/>
          </p:nvPr>
        </p:nvSpPr>
        <p:spPr>
          <a:xfrm>
            <a:off x="182868" y="803645"/>
            <a:ext cx="11633530" cy="5563443"/>
          </a:xfrm>
        </p:spPr>
        <p:txBody>
          <a:bodyPr/>
          <a:lstStyle>
            <a:lvl1pPr>
              <a:defRPr baseline="0"/>
            </a:lvl1pPr>
            <a:lvl2pPr>
              <a:defRPr/>
            </a:lvl2pPr>
            <a:lvl3pPr marL="1066800" indent="-342900">
              <a:buFont typeface="Courier New" panose="02070309020205020404" pitchFamily="49" charset="0"/>
              <a:buChar char="o"/>
              <a:defRPr/>
            </a:lvl3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2"/>
            <a:endParaRPr lang="en-US" dirty="0"/>
          </a:p>
        </p:txBody>
      </p:sp>
      <p:sp>
        <p:nvSpPr>
          <p:cNvPr id="80"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82"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 Placeholder 6"/>
          <p:cNvSpPr>
            <a:spLocks noGrp="1"/>
          </p:cNvSpPr>
          <p:nvPr>
            <p:ph type="body" sz="quarter" idx="16" hasCustomPrompt="1"/>
          </p:nvPr>
        </p:nvSpPr>
        <p:spPr>
          <a:xfrm>
            <a:off x="182868" y="119568"/>
            <a:ext cx="11633530" cy="571500"/>
          </a:xfrm>
        </p:spPr>
        <p:txBody>
          <a:bodyPr>
            <a:normAutofit/>
          </a:bodyPr>
          <a:lstStyle>
            <a:lvl1pPr marL="88900" indent="0">
              <a:buNone/>
              <a:defRPr lang="en-US" sz="3600" b="1" kern="1200" baseline="0" dirty="0" smtClean="0">
                <a:solidFill>
                  <a:schemeClr val="accent2"/>
                </a:solidFill>
                <a:latin typeface="+mj-lt"/>
                <a:ea typeface="+mj-ea"/>
                <a:cs typeface="+mj-cs"/>
              </a:defRPr>
            </a:lvl1pPr>
          </a:lstStyle>
          <a:p>
            <a:pPr lvl="0"/>
            <a:r>
              <a:rPr lang="en-US" dirty="0"/>
              <a:t>Click and add content title</a:t>
            </a:r>
          </a:p>
        </p:txBody>
      </p:sp>
    </p:spTree>
    <p:extLst>
      <p:ext uri="{BB962C8B-B14F-4D97-AF65-F5344CB8AC3E}">
        <p14:creationId xmlns:p14="http://schemas.microsoft.com/office/powerpoint/2010/main" val="6573138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Box 6" title="AlexandriaReference"/>
          <p:cNvSpPr txBox="1"/>
          <p:nvPr userDrawn="1"/>
        </p:nvSpPr>
        <p:spPr>
          <a:xfrm>
            <a:off x="1117063" y="6443533"/>
            <a:ext cx="1440000" cy="21544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en-US" sz="800" b="0" i="1"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&lt;generated automatically&gt;</a:t>
            </a:r>
            <a:endParaRPr kumimoji="0" lang="nl-BE" sz="8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8" name="TextBox 7" title="AlexandriaDistributionLimitations"/>
          <p:cNvSpPr txBox="1"/>
          <p:nvPr userDrawn="1"/>
        </p:nvSpPr>
        <p:spPr>
          <a:xfrm>
            <a:off x="10155691" y="6587241"/>
            <a:ext cx="1660707" cy="215444"/>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fr-FR" sz="800" b="0" i="1"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ISC: Restricted</a:t>
            </a:r>
            <a:endParaRPr kumimoji="0" lang="fr-FR" sz="8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9" name="TextBox 8" title="AlexandriaAlternativeReference"/>
          <p:cNvSpPr txBox="1"/>
          <p:nvPr userDrawn="1"/>
        </p:nvSpPr>
        <p:spPr>
          <a:xfrm>
            <a:off x="1117063" y="6587241"/>
            <a:ext cx="1440000" cy="21544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en-US" sz="800" b="0" i="1"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altenative reference</a:t>
            </a:r>
            <a:endParaRPr kumimoji="0" lang="nl-BE" sz="8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10"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143176"/>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1"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17063"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36209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el Slide 1">
    <p:spTree>
      <p:nvGrpSpPr>
        <p:cNvPr id="1" name=""/>
        <p:cNvGrpSpPr/>
        <p:nvPr/>
      </p:nvGrpSpPr>
      <p:grpSpPr>
        <a:xfrm>
          <a:off x="0" y="0"/>
          <a:ext cx="0" cy="0"/>
          <a:chOff x="0" y="0"/>
          <a:chExt cx="0" cy="0"/>
        </a:xfrm>
      </p:grpSpPr>
      <p:pic>
        <p:nvPicPr>
          <p:cNvPr id="2686" name="Afbeelding 8">
            <a:extLst>
              <a:ext uri="{FF2B5EF4-FFF2-40B4-BE49-F238E27FC236}">
                <a16:creationId xmlns:a16="http://schemas.microsoft.com/office/drawing/2014/main" id="{647C93FD-69BD-4ECC-920A-2E0DC25772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6860" t="46262" r="6836" b="16827"/>
          <a:stretch/>
        </p:blipFill>
        <p:spPr>
          <a:xfrm>
            <a:off x="742950" y="762000"/>
            <a:ext cx="10725150" cy="4476750"/>
          </a:xfrm>
          <a:prstGeom prst="rect">
            <a:avLst/>
          </a:prstGeom>
        </p:spPr>
      </p:pic>
      <p:sp>
        <p:nvSpPr>
          <p:cNvPr id="17"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3181350" y="5321300"/>
            <a:ext cx="8270421" cy="285787"/>
          </a:xfrm>
          <a:prstGeom prst="rect">
            <a:avLst/>
          </a:prstGeom>
        </p:spPr>
        <p:txBody>
          <a:bodyPr lIns="0" tIns="0" rIns="0" bIns="0" anchor="b" anchorCtr="0"/>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2687" name="Title Placeholder 1"/>
          <p:cNvSpPr>
            <a:spLocks noGrp="1"/>
          </p:cNvSpPr>
          <p:nvPr>
            <p:ph type="title"/>
          </p:nvPr>
        </p:nvSpPr>
        <p:spPr>
          <a:xfrm>
            <a:off x="3181350" y="5635663"/>
            <a:ext cx="8362949" cy="602040"/>
          </a:xfrm>
          <a:prstGeom prst="rect">
            <a:avLst/>
          </a:prstGeom>
        </p:spPr>
        <p:txBody>
          <a:bodyPr vert="horz" lIns="91440" tIns="45720" rIns="91440" bIns="45720" rtlCol="0" anchor="t">
            <a:normAutofit/>
          </a:bodyPr>
          <a:lstStyle>
            <a:lvl1pPr algn="r">
              <a:defRPr>
                <a:solidFill>
                  <a:schemeClr val="tx1"/>
                </a:solidFill>
              </a:defRPr>
            </a:lvl1pPr>
          </a:lstStyle>
          <a:p>
            <a:r>
              <a:rPr lang="en-US"/>
              <a:t>Click to edit Master title style</a:t>
            </a:r>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1999" y="5300662"/>
            <a:ext cx="2193393" cy="794165"/>
          </a:xfrm>
          <a:prstGeom prst="rect">
            <a:avLst/>
          </a:prstGeom>
        </p:spPr>
      </p:pic>
    </p:spTree>
    <p:extLst>
      <p:ext uri="{BB962C8B-B14F-4D97-AF65-F5344CB8AC3E}">
        <p14:creationId xmlns:p14="http://schemas.microsoft.com/office/powerpoint/2010/main" val="20657356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el Slide 2">
    <p:spTree>
      <p:nvGrpSpPr>
        <p:cNvPr id="1" name=""/>
        <p:cNvGrpSpPr/>
        <p:nvPr/>
      </p:nvGrpSpPr>
      <p:grpSpPr>
        <a:xfrm>
          <a:off x="0" y="0"/>
          <a:ext cx="0" cy="0"/>
          <a:chOff x="0" y="0"/>
          <a:chExt cx="0" cy="0"/>
        </a:xfrm>
      </p:grpSpPr>
      <p:sp>
        <p:nvSpPr>
          <p:cNvPr id="2687" name="Title Placeholder 1"/>
          <p:cNvSpPr>
            <a:spLocks noGrp="1"/>
          </p:cNvSpPr>
          <p:nvPr>
            <p:ph type="title"/>
          </p:nvPr>
        </p:nvSpPr>
        <p:spPr>
          <a:xfrm>
            <a:off x="3181350" y="5635663"/>
            <a:ext cx="8362949" cy="602040"/>
          </a:xfrm>
          <a:prstGeom prst="rect">
            <a:avLst/>
          </a:prstGeom>
        </p:spPr>
        <p:txBody>
          <a:bodyPr vert="horz" lIns="91440" tIns="45720" rIns="91440" bIns="45720" rtlCol="0" anchor="t">
            <a:normAutofit/>
          </a:bodyPr>
          <a:lstStyle>
            <a:lvl1pPr algn="r">
              <a:defRPr>
                <a:solidFill>
                  <a:schemeClr val="tx1"/>
                </a:solidFill>
              </a:defRPr>
            </a:lvl1pPr>
          </a:lstStyle>
          <a:p>
            <a:r>
              <a:rPr lang="en-US"/>
              <a:t>Click to edit Master title style</a:t>
            </a:r>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l="4619" t="19781" r="9238" b="29912"/>
          <a:stretch/>
        </p:blipFill>
        <p:spPr>
          <a:xfrm>
            <a:off x="771525" y="771525"/>
            <a:ext cx="10658475" cy="4435475"/>
          </a:xfrm>
          <a:prstGeom prst="rect">
            <a:avLst/>
          </a:prstGeom>
        </p:spPr>
      </p:pic>
      <p:sp>
        <p:nvSpPr>
          <p:cNvPr id="7"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3181350" y="5321300"/>
            <a:ext cx="8270421" cy="285787"/>
          </a:xfrm>
          <a:prstGeom prst="rect">
            <a:avLst/>
          </a:prstGeom>
        </p:spPr>
        <p:txBody>
          <a:bodyPr lIns="0" tIns="0" rIns="0" bIns="0" anchor="b" anchorCtr="0"/>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1999" y="5310187"/>
            <a:ext cx="2193393" cy="794165"/>
          </a:xfrm>
          <a:prstGeom prst="rect">
            <a:avLst/>
          </a:prstGeom>
        </p:spPr>
      </p:pic>
    </p:spTree>
    <p:extLst>
      <p:ext uri="{BB962C8B-B14F-4D97-AF65-F5344CB8AC3E}">
        <p14:creationId xmlns:p14="http://schemas.microsoft.com/office/powerpoint/2010/main" val="614946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el Slide 3">
    <p:spTree>
      <p:nvGrpSpPr>
        <p:cNvPr id="1" name=""/>
        <p:cNvGrpSpPr/>
        <p:nvPr/>
      </p:nvGrpSpPr>
      <p:grpSpPr>
        <a:xfrm>
          <a:off x="0" y="0"/>
          <a:ext cx="0" cy="0"/>
          <a:chOff x="0" y="0"/>
          <a:chExt cx="0" cy="0"/>
        </a:xfrm>
      </p:grpSpPr>
      <p:sp>
        <p:nvSpPr>
          <p:cNvPr id="2687" name="Title Placeholder 1"/>
          <p:cNvSpPr>
            <a:spLocks noGrp="1"/>
          </p:cNvSpPr>
          <p:nvPr>
            <p:ph type="title"/>
          </p:nvPr>
        </p:nvSpPr>
        <p:spPr>
          <a:xfrm>
            <a:off x="3181350" y="5635663"/>
            <a:ext cx="8362949" cy="602040"/>
          </a:xfrm>
          <a:prstGeom prst="rect">
            <a:avLst/>
          </a:prstGeom>
        </p:spPr>
        <p:txBody>
          <a:bodyPr vert="horz" lIns="91440" tIns="45720" rIns="91440" bIns="45720" rtlCol="0" anchor="t">
            <a:normAutofit/>
          </a:bodyPr>
          <a:lstStyle>
            <a:lvl1pPr algn="r">
              <a:defRPr>
                <a:solidFill>
                  <a:schemeClr val="tx1"/>
                </a:solidFill>
              </a:defRPr>
            </a:lvl1pPr>
          </a:lstStyle>
          <a:p>
            <a:r>
              <a:rPr lang="en-US"/>
              <a:t>Click to edit Master title style</a:t>
            </a:r>
          </a:p>
        </p:txBody>
      </p:sp>
      <p:pic>
        <p:nvPicPr>
          <p:cNvPr id="7" name="Afbeelding 3">
            <a:extLst>
              <a:ext uri="{FF2B5EF4-FFF2-40B4-BE49-F238E27FC236}">
                <a16:creationId xmlns:a16="http://schemas.microsoft.com/office/drawing/2014/main" id="{AA5B3CA4-7383-4A08-AD3F-748BE844E0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7011" t="39931" r="6884" b="9611"/>
          <a:stretch/>
        </p:blipFill>
        <p:spPr>
          <a:xfrm>
            <a:off x="754743" y="769256"/>
            <a:ext cx="10711543" cy="4475843"/>
          </a:xfrm>
          <a:prstGeom prst="rect">
            <a:avLst/>
          </a:prstGeom>
        </p:spPr>
      </p:pic>
      <p:sp>
        <p:nvSpPr>
          <p:cNvPr id="8"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3181350" y="5321300"/>
            <a:ext cx="8270421" cy="285787"/>
          </a:xfrm>
          <a:prstGeom prst="rect">
            <a:avLst/>
          </a:prstGeom>
        </p:spPr>
        <p:txBody>
          <a:bodyPr lIns="0" tIns="0" rIns="0" bIns="0" anchor="b" anchorCtr="0"/>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2474" y="5310187"/>
            <a:ext cx="2193393" cy="794165"/>
          </a:xfrm>
          <a:prstGeom prst="rect">
            <a:avLst/>
          </a:prstGeom>
        </p:spPr>
      </p:pic>
    </p:spTree>
    <p:extLst>
      <p:ext uri="{BB962C8B-B14F-4D97-AF65-F5344CB8AC3E}">
        <p14:creationId xmlns:p14="http://schemas.microsoft.com/office/powerpoint/2010/main" val="9583003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el Slide 4">
    <p:spTree>
      <p:nvGrpSpPr>
        <p:cNvPr id="1" name=""/>
        <p:cNvGrpSpPr/>
        <p:nvPr/>
      </p:nvGrpSpPr>
      <p:grpSpPr>
        <a:xfrm>
          <a:off x="0" y="0"/>
          <a:ext cx="0" cy="0"/>
          <a:chOff x="0" y="0"/>
          <a:chExt cx="0" cy="0"/>
        </a:xfrm>
      </p:grpSpPr>
      <p:sp>
        <p:nvSpPr>
          <p:cNvPr id="2687" name="Title Placeholder 1"/>
          <p:cNvSpPr>
            <a:spLocks noGrp="1"/>
          </p:cNvSpPr>
          <p:nvPr>
            <p:ph type="title"/>
          </p:nvPr>
        </p:nvSpPr>
        <p:spPr>
          <a:xfrm>
            <a:off x="3181350" y="5635663"/>
            <a:ext cx="8362949" cy="602040"/>
          </a:xfrm>
          <a:prstGeom prst="rect">
            <a:avLst/>
          </a:prstGeom>
        </p:spPr>
        <p:txBody>
          <a:bodyPr vert="horz" lIns="91440" tIns="45720" rIns="91440" bIns="45720" rtlCol="0" anchor="t">
            <a:normAutofit/>
          </a:bodyPr>
          <a:lstStyle>
            <a:lvl1pPr algn="r">
              <a:defRPr>
                <a:solidFill>
                  <a:schemeClr val="tx1"/>
                </a:solidFill>
              </a:defRPr>
            </a:lvl1pPr>
          </a:lstStyle>
          <a:p>
            <a:r>
              <a:rPr lang="en-US"/>
              <a:t>Click to edit Master title style</a:t>
            </a: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7002" t="23540" r="6984" b="26475"/>
          <a:stretch/>
        </p:blipFill>
        <p:spPr>
          <a:xfrm>
            <a:off x="740229" y="788308"/>
            <a:ext cx="10697028" cy="4437742"/>
          </a:xfrm>
          <a:prstGeom prst="rect">
            <a:avLst/>
          </a:prstGeom>
        </p:spPr>
      </p:pic>
      <p:sp>
        <p:nvSpPr>
          <p:cNvPr id="9"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3181350" y="5321300"/>
            <a:ext cx="8270421" cy="285787"/>
          </a:xfrm>
          <a:prstGeom prst="rect">
            <a:avLst/>
          </a:prstGeom>
        </p:spPr>
        <p:txBody>
          <a:bodyPr lIns="0" tIns="0" rIns="0" bIns="0" anchor="b" anchorCtr="0"/>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1999" y="5310187"/>
            <a:ext cx="2193393" cy="794165"/>
          </a:xfrm>
          <a:prstGeom prst="rect">
            <a:avLst/>
          </a:prstGeom>
        </p:spPr>
      </p:pic>
    </p:spTree>
    <p:extLst>
      <p:ext uri="{BB962C8B-B14F-4D97-AF65-F5344CB8AC3E}">
        <p14:creationId xmlns:p14="http://schemas.microsoft.com/office/powerpoint/2010/main" val="27713220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el Slide 5">
    <p:spTree>
      <p:nvGrpSpPr>
        <p:cNvPr id="1" name=""/>
        <p:cNvGrpSpPr/>
        <p:nvPr/>
      </p:nvGrpSpPr>
      <p:grpSpPr>
        <a:xfrm>
          <a:off x="0" y="0"/>
          <a:ext cx="0" cy="0"/>
          <a:chOff x="0" y="0"/>
          <a:chExt cx="0" cy="0"/>
        </a:xfrm>
      </p:grpSpPr>
      <p:pic>
        <p:nvPicPr>
          <p:cNvPr id="18" name="Picture 17"/>
          <p:cNvPicPr>
            <a:picLocks noChangeAspect="1"/>
          </p:cNvPicPr>
          <p:nvPr userDrawn="1"/>
        </p:nvPicPr>
        <p:blipFill rotWithShape="1">
          <a:blip r:embed="rId2" cstate="print">
            <a:extLst>
              <a:ext uri="{28A0092B-C50C-407E-A947-70E740481C1C}">
                <a14:useLocalDpi xmlns:a14="http://schemas.microsoft.com/office/drawing/2010/main" val="0"/>
              </a:ext>
            </a:extLst>
          </a:blip>
          <a:srcRect l="30870" t="19781" r="-17013" b="19721"/>
          <a:stretch/>
        </p:blipFill>
        <p:spPr>
          <a:xfrm>
            <a:off x="742950" y="771525"/>
            <a:ext cx="10658475" cy="5334000"/>
          </a:xfrm>
          <a:prstGeom prst="rect">
            <a:avLst/>
          </a:prstGeom>
        </p:spPr>
      </p:pic>
      <p:sp>
        <p:nvSpPr>
          <p:cNvPr id="19" name="Rectangle 18"/>
          <p:cNvSpPr/>
          <p:nvPr userDrawn="1"/>
        </p:nvSpPr>
        <p:spPr>
          <a:xfrm>
            <a:off x="6391276" y="2057401"/>
            <a:ext cx="5060496" cy="42195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1322569" y="2845254"/>
            <a:ext cx="3278005" cy="1476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10230" y="3129533"/>
            <a:ext cx="2331259" cy="844082"/>
          </a:xfrm>
          <a:prstGeom prst="rect">
            <a:avLst/>
          </a:prstGeom>
        </p:spPr>
      </p:pic>
      <p:sp>
        <p:nvSpPr>
          <p:cNvPr id="16"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6555086" y="4514850"/>
            <a:ext cx="4896685" cy="1543050"/>
          </a:xfrm>
          <a:prstGeom prst="rect">
            <a:avLst/>
          </a:prstGeom>
        </p:spPr>
        <p:txBody>
          <a:bodyPr lIns="0" tIns="0" rIns="0" bIns="0" anchor="t" anchorCtr="0"/>
          <a:lstStyle>
            <a:lvl1pPr marL="0" indent="0" algn="l">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17" name="Title Placeholder 1"/>
          <p:cNvSpPr>
            <a:spLocks noGrp="1"/>
          </p:cNvSpPr>
          <p:nvPr>
            <p:ph type="title"/>
          </p:nvPr>
        </p:nvSpPr>
        <p:spPr>
          <a:xfrm>
            <a:off x="6555086" y="2143125"/>
            <a:ext cx="4896685" cy="2254704"/>
          </a:xfrm>
          <a:prstGeom prst="rect">
            <a:avLst/>
          </a:prstGeom>
        </p:spPr>
        <p:txBody>
          <a:bodyPr vert="horz" lIns="0" tIns="0" rIns="0" bIns="0" rtlCol="0" anchor="b">
            <a:normAutofit/>
          </a:bodyPr>
          <a:lstStyle>
            <a:lvl1pPr algn="l">
              <a:defRPr>
                <a:solidFill>
                  <a:schemeClr val="accent2"/>
                </a:solidFill>
              </a:defRPr>
            </a:lvl1pPr>
          </a:lstStyle>
          <a:p>
            <a:r>
              <a:rPr lang="en-US"/>
              <a:t>Click to edit Master title style</a:t>
            </a:r>
          </a:p>
        </p:txBody>
      </p:sp>
    </p:spTree>
    <p:extLst>
      <p:ext uri="{BB962C8B-B14F-4D97-AF65-F5344CB8AC3E}">
        <p14:creationId xmlns:p14="http://schemas.microsoft.com/office/powerpoint/2010/main" val="28569223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el Slide 6">
    <p:spTree>
      <p:nvGrpSpPr>
        <p:cNvPr id="1" name=""/>
        <p:cNvGrpSpPr/>
        <p:nvPr/>
      </p:nvGrpSpPr>
      <p:grpSpPr>
        <a:xfrm>
          <a:off x="0" y="0"/>
          <a:ext cx="0" cy="0"/>
          <a:chOff x="0" y="0"/>
          <a:chExt cx="0" cy="0"/>
        </a:xfrm>
      </p:grpSpPr>
      <p:pic>
        <p:nvPicPr>
          <p:cNvPr id="11" name="Afbeelding 3">
            <a:extLst>
              <a:ext uri="{FF2B5EF4-FFF2-40B4-BE49-F238E27FC236}">
                <a16:creationId xmlns:a16="http://schemas.microsoft.com/office/drawing/2014/main" id="{AA5B3CA4-7383-4A08-AD3F-748BE844E0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7011" t="29944" r="50129" b="9678"/>
          <a:stretch/>
        </p:blipFill>
        <p:spPr>
          <a:xfrm>
            <a:off x="754744" y="756557"/>
            <a:ext cx="5331731" cy="5355772"/>
          </a:xfrm>
          <a:prstGeom prst="rect">
            <a:avLst/>
          </a:prstGeom>
        </p:spPr>
      </p:pic>
      <p:sp>
        <p:nvSpPr>
          <p:cNvPr id="12" name="Rectangle 11"/>
          <p:cNvSpPr/>
          <p:nvPr userDrawn="1"/>
        </p:nvSpPr>
        <p:spPr>
          <a:xfrm>
            <a:off x="1341619" y="2819399"/>
            <a:ext cx="3278005" cy="1476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10230" y="3129533"/>
            <a:ext cx="2331259" cy="844082"/>
          </a:xfrm>
          <a:prstGeom prst="rect">
            <a:avLst/>
          </a:prstGeom>
        </p:spPr>
      </p:pic>
      <p:sp>
        <p:nvSpPr>
          <p:cNvPr id="16" name="Tijdelijke aanduiding voor tekst 16">
            <a:extLst>
              <a:ext uri="{FF2B5EF4-FFF2-40B4-BE49-F238E27FC236}">
                <a16:creationId xmlns:a16="http://schemas.microsoft.com/office/drawing/2014/main" id="{84146CB0-6BC6-4934-BF0B-44A468D39617}"/>
              </a:ext>
            </a:extLst>
          </p:cNvPr>
          <p:cNvSpPr>
            <a:spLocks noGrp="1"/>
          </p:cNvSpPr>
          <p:nvPr>
            <p:ph type="body" sz="quarter" idx="12"/>
          </p:nvPr>
        </p:nvSpPr>
        <p:spPr>
          <a:xfrm>
            <a:off x="6555086" y="4514850"/>
            <a:ext cx="4896685" cy="1543050"/>
          </a:xfrm>
          <a:prstGeom prst="rect">
            <a:avLst/>
          </a:prstGeom>
        </p:spPr>
        <p:txBody>
          <a:bodyPr lIns="0" tIns="0" rIns="0" bIns="0" anchor="t" anchorCtr="0"/>
          <a:lstStyle>
            <a:lvl1pPr marL="0" indent="0" algn="l">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17" name="Title Placeholder 1"/>
          <p:cNvSpPr>
            <a:spLocks noGrp="1"/>
          </p:cNvSpPr>
          <p:nvPr>
            <p:ph type="title"/>
          </p:nvPr>
        </p:nvSpPr>
        <p:spPr>
          <a:xfrm>
            <a:off x="6555086" y="2143125"/>
            <a:ext cx="4896685" cy="2254704"/>
          </a:xfrm>
          <a:prstGeom prst="rect">
            <a:avLst/>
          </a:prstGeom>
        </p:spPr>
        <p:txBody>
          <a:bodyPr vert="horz" lIns="0" tIns="0" rIns="0" bIns="0" rtlCol="0" anchor="b">
            <a:normAutofit/>
          </a:bodyPr>
          <a:lstStyle>
            <a:lvl1pPr algn="l">
              <a:defRPr>
                <a:solidFill>
                  <a:schemeClr val="accent2"/>
                </a:solidFill>
              </a:defRPr>
            </a:lvl1pPr>
          </a:lstStyle>
          <a:p>
            <a:r>
              <a:rPr lang="en-US"/>
              <a:t>Click to edit Master title style</a:t>
            </a:r>
          </a:p>
        </p:txBody>
      </p:sp>
    </p:spTree>
    <p:extLst>
      <p:ext uri="{BB962C8B-B14F-4D97-AF65-F5344CB8AC3E}">
        <p14:creationId xmlns:p14="http://schemas.microsoft.com/office/powerpoint/2010/main" val="12562578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ndex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val="0"/>
              </a:ext>
            </a:extLst>
          </a:blip>
          <a:srcRect l="61970" t="12938" r="-48113" b="26562"/>
          <a:stretch/>
        </p:blipFill>
        <p:spPr>
          <a:xfrm>
            <a:off x="771525" y="758825"/>
            <a:ext cx="10658475" cy="5334000"/>
          </a:xfrm>
          <a:prstGeom prst="rect">
            <a:avLst/>
          </a:prstGeom>
        </p:spPr>
      </p:pic>
      <p:sp>
        <p:nvSpPr>
          <p:cNvPr id="15" name="Tijdelijke aanduiding voor tekst 14">
            <a:extLst>
              <a:ext uri="{FF2B5EF4-FFF2-40B4-BE49-F238E27FC236}">
                <a16:creationId xmlns:a16="http://schemas.microsoft.com/office/drawing/2014/main" id="{B625ABE2-4787-4DCE-8BBA-59C73CFF5EFD}"/>
              </a:ext>
            </a:extLst>
          </p:cNvPr>
          <p:cNvSpPr>
            <a:spLocks noGrp="1"/>
          </p:cNvSpPr>
          <p:nvPr>
            <p:ph type="body" sz="quarter" idx="12" hasCustomPrompt="1"/>
          </p:nvPr>
        </p:nvSpPr>
        <p:spPr>
          <a:xfrm>
            <a:off x="9220200" y="1794669"/>
            <a:ext cx="2097363" cy="3243262"/>
          </a:xfrm>
          <a:prstGeom prst="rect">
            <a:avLst/>
          </a:prstGeom>
        </p:spPr>
        <p:txBody>
          <a:bodyPr anchor="ctr">
            <a:noAutofit/>
          </a:bodyPr>
          <a:lstStyle>
            <a:lvl1pPr marL="0" indent="0">
              <a:lnSpc>
                <a:spcPct val="150000"/>
              </a:lnSpc>
              <a:spcBef>
                <a:spcPts val="0"/>
              </a:spcBef>
              <a:spcAft>
                <a:spcPts val="0"/>
              </a:spcAft>
              <a:buFont typeface="Georgia" panose="02040502050405020303" pitchFamily="18" charset="0"/>
              <a:buChar char="─"/>
              <a:defRPr sz="2800" b="1">
                <a:solidFill>
                  <a:schemeClr val="accent2"/>
                </a:solidFill>
                <a:latin typeface="+mj-lt"/>
              </a:defRPr>
            </a:lvl1pPr>
          </a:lstStyle>
          <a:p>
            <a:pPr lvl="0"/>
            <a:r>
              <a:rPr lang="nl-NL" dirty="0"/>
              <a:t> 3</a:t>
            </a:r>
          </a:p>
          <a:p>
            <a:pPr lvl="0"/>
            <a:r>
              <a:rPr lang="nl-NL" dirty="0"/>
              <a:t> 4</a:t>
            </a:r>
          </a:p>
          <a:p>
            <a:pPr lvl="0"/>
            <a:r>
              <a:rPr lang="nl-NL" dirty="0"/>
              <a:t> 5</a:t>
            </a:r>
          </a:p>
          <a:p>
            <a:pPr lvl="0"/>
            <a:r>
              <a:rPr lang="nl-NL" dirty="0"/>
              <a:t> 6</a:t>
            </a:r>
          </a:p>
          <a:p>
            <a:pPr lvl="0"/>
            <a:r>
              <a:rPr lang="nl-NL"/>
              <a:t> 7</a:t>
            </a:r>
            <a:endParaRPr lang="en-BE" dirty="0"/>
          </a:p>
        </p:txBody>
      </p:sp>
      <p:sp>
        <p:nvSpPr>
          <p:cNvPr id="5" name="Tijdelijke aanduiding voor tekst 4">
            <a:extLst>
              <a:ext uri="{FF2B5EF4-FFF2-40B4-BE49-F238E27FC236}">
                <a16:creationId xmlns:a16="http://schemas.microsoft.com/office/drawing/2014/main" id="{3AEE0936-214A-4172-9057-144F7932C4E7}"/>
              </a:ext>
            </a:extLst>
          </p:cNvPr>
          <p:cNvSpPr>
            <a:spLocks noGrp="1"/>
          </p:cNvSpPr>
          <p:nvPr>
            <p:ph type="body" sz="quarter" idx="13" hasCustomPrompt="1"/>
          </p:nvPr>
        </p:nvSpPr>
        <p:spPr>
          <a:xfrm>
            <a:off x="4674703" y="1794669"/>
            <a:ext cx="4433060" cy="3276600"/>
          </a:xfrm>
          <a:prstGeom prst="rect">
            <a:avLst/>
          </a:prstGeom>
        </p:spPr>
        <p:txBody>
          <a:bodyPr lIns="0" tIns="0" rIns="0" bIns="0" anchor="ctr">
            <a:normAutofit/>
          </a:bodyPr>
          <a:lstStyle>
            <a:lvl1pPr marL="0" indent="0" algn="r">
              <a:lnSpc>
                <a:spcPct val="150000"/>
              </a:lnSpc>
              <a:spcBef>
                <a:spcPts val="0"/>
              </a:spcBef>
              <a:buFontTx/>
              <a:buNone/>
              <a:defRPr sz="2800"/>
            </a:lvl1pPr>
          </a:lstStyle>
          <a:p>
            <a:pPr lvl="0"/>
            <a:r>
              <a:rPr lang="en-US"/>
              <a:t>Click to add subtitle</a:t>
            </a:r>
            <a:endParaRPr lang="en-BE" dirty="0"/>
          </a:p>
        </p:txBody>
      </p:sp>
      <p:sp>
        <p:nvSpPr>
          <p:cNvPr id="11"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2"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29212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ubtitel slide 1">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l="6942" t="9657" r="6963" b="29950"/>
          <a:stretch/>
        </p:blipFill>
        <p:spPr>
          <a:xfrm>
            <a:off x="787400" y="761999"/>
            <a:ext cx="10668000" cy="5334001"/>
          </a:xfrm>
          <a:prstGeom prst="rect">
            <a:avLst/>
          </a:prstGeom>
        </p:spPr>
      </p:pic>
      <p:sp>
        <p:nvSpPr>
          <p:cNvPr id="3" name="Rectangle 2"/>
          <p:cNvSpPr/>
          <p:nvPr userDrawn="1"/>
        </p:nvSpPr>
        <p:spPr>
          <a:xfrm>
            <a:off x="1224613" y="2263515"/>
            <a:ext cx="5209082" cy="2345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AC9C767-9A67-4216-A05F-95382F81BAEA}"/>
              </a:ext>
            </a:extLst>
          </p:cNvPr>
          <p:cNvSpPr>
            <a:spLocks noGrp="1"/>
          </p:cNvSpPr>
          <p:nvPr>
            <p:ph type="title" hasCustomPrompt="1"/>
          </p:nvPr>
        </p:nvSpPr>
        <p:spPr>
          <a:xfrm>
            <a:off x="1252538" y="2254251"/>
            <a:ext cx="5173662" cy="2352674"/>
          </a:xfrm>
          <a:prstGeom prst="rect">
            <a:avLst/>
          </a:prstGeom>
          <a:solidFill>
            <a:schemeClr val="bg1"/>
          </a:solidFill>
        </p:spPr>
        <p:txBody>
          <a:bodyPr lIns="182880" tIns="182880" rIns="182880" bIns="182880" anchor="ctr" anchorCtr="0">
            <a:normAutofit/>
          </a:bodyPr>
          <a:lstStyle>
            <a:lvl1pPr>
              <a:defRPr sz="3600"/>
            </a:lvl1pPr>
          </a:lstStyle>
          <a:p>
            <a:r>
              <a:rPr lang="en-US"/>
              <a:t>Click to add subtitle</a:t>
            </a:r>
            <a:endParaRPr lang="en-BE" dirty="0"/>
          </a:p>
        </p:txBody>
      </p:sp>
      <p:sp>
        <p:nvSpPr>
          <p:cNvPr id="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0"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8056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ubtitel slide 2">
    <p:spTree>
      <p:nvGrpSpPr>
        <p:cNvPr id="1" name=""/>
        <p:cNvGrpSpPr/>
        <p:nvPr/>
      </p:nvGrpSpPr>
      <p:grpSpPr>
        <a:xfrm>
          <a:off x="0" y="0"/>
          <a:ext cx="0" cy="0"/>
          <a:chOff x="0" y="0"/>
          <a:chExt cx="0" cy="0"/>
        </a:xfrm>
      </p:grpSpPr>
      <p:pic>
        <p:nvPicPr>
          <p:cNvPr id="4" name="Afbeelding 3">
            <a:extLst>
              <a:ext uri="{FF2B5EF4-FFF2-40B4-BE49-F238E27FC236}">
                <a16:creationId xmlns:a16="http://schemas.microsoft.com/office/drawing/2014/main" id="{AA5B3CA4-7383-4A08-AD3F-748BE844E0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7011" t="29944" r="6884" b="9678"/>
          <a:stretch/>
        </p:blipFill>
        <p:spPr>
          <a:xfrm>
            <a:off x="754743" y="756557"/>
            <a:ext cx="10711543" cy="5355772"/>
          </a:xfrm>
          <a:prstGeom prst="rect">
            <a:avLst/>
          </a:prstGeom>
        </p:spPr>
      </p:pic>
      <p:sp>
        <p:nvSpPr>
          <p:cNvPr id="3" name="Rectangle 2"/>
          <p:cNvSpPr/>
          <p:nvPr userDrawn="1"/>
        </p:nvSpPr>
        <p:spPr>
          <a:xfrm>
            <a:off x="1341620" y="2235825"/>
            <a:ext cx="5029200" cy="23684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AC9C767-9A67-4216-A05F-95382F81BAEA}"/>
              </a:ext>
            </a:extLst>
          </p:cNvPr>
          <p:cNvSpPr>
            <a:spLocks noGrp="1"/>
          </p:cNvSpPr>
          <p:nvPr>
            <p:ph type="title" hasCustomPrompt="1"/>
          </p:nvPr>
        </p:nvSpPr>
        <p:spPr>
          <a:xfrm>
            <a:off x="1349829" y="2237014"/>
            <a:ext cx="5021942" cy="2351315"/>
          </a:xfrm>
          <a:prstGeom prst="rect">
            <a:avLst/>
          </a:prstGeom>
          <a:noFill/>
        </p:spPr>
        <p:txBody>
          <a:bodyPr lIns="182880" tIns="182880" rIns="182880" bIns="182880" anchor="ctr" anchorCtr="0">
            <a:normAutofit/>
          </a:bodyPr>
          <a:lstStyle>
            <a:lvl1pPr>
              <a:defRPr sz="3600"/>
            </a:lvl1pPr>
          </a:lstStyle>
          <a:p>
            <a:r>
              <a:rPr lang="en-US"/>
              <a:t>Click to add subtitle</a:t>
            </a:r>
            <a:endParaRPr lang="en-BE" dirty="0"/>
          </a:p>
        </p:txBody>
      </p:sp>
      <p:sp>
        <p:nvSpPr>
          <p:cNvPr id="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1895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ubtitel slide 3">
    <p:spTree>
      <p:nvGrpSpPr>
        <p:cNvPr id="1" name=""/>
        <p:cNvGrpSpPr/>
        <p:nvPr/>
      </p:nvGrpSpPr>
      <p:grpSpPr>
        <a:xfrm>
          <a:off x="0" y="0"/>
          <a:ext cx="0" cy="0"/>
          <a:chOff x="0" y="0"/>
          <a:chExt cx="0" cy="0"/>
        </a:xfrm>
      </p:grpSpPr>
      <p:pic>
        <p:nvPicPr>
          <p:cNvPr id="6" name="Afbeelding 8">
            <a:extLst>
              <a:ext uri="{FF2B5EF4-FFF2-40B4-BE49-F238E27FC236}">
                <a16:creationId xmlns:a16="http://schemas.microsoft.com/office/drawing/2014/main" id="{647C93FD-69BD-4ECC-920A-2E0DC25772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3721" t="28982" r="2160" b="26878"/>
          <a:stretch/>
        </p:blipFill>
        <p:spPr>
          <a:xfrm>
            <a:off x="742950" y="733425"/>
            <a:ext cx="9210675" cy="5353050"/>
          </a:xfrm>
          <a:prstGeom prst="rect">
            <a:avLst/>
          </a:prstGeom>
        </p:spPr>
      </p:pic>
      <p:sp>
        <p:nvSpPr>
          <p:cNvPr id="3" name="Rectangle 2"/>
          <p:cNvSpPr/>
          <p:nvPr userDrawn="1"/>
        </p:nvSpPr>
        <p:spPr>
          <a:xfrm>
            <a:off x="1334125" y="2241030"/>
            <a:ext cx="5074170" cy="2360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AC9C767-9A67-4216-A05F-95382F81BAEA}"/>
              </a:ext>
            </a:extLst>
          </p:cNvPr>
          <p:cNvSpPr>
            <a:spLocks noGrp="1"/>
          </p:cNvSpPr>
          <p:nvPr>
            <p:ph type="title" hasCustomPrompt="1"/>
          </p:nvPr>
        </p:nvSpPr>
        <p:spPr>
          <a:xfrm>
            <a:off x="1333500" y="2247899"/>
            <a:ext cx="5067300" cy="2362201"/>
          </a:xfrm>
          <a:prstGeom prst="rect">
            <a:avLst/>
          </a:prstGeom>
          <a:noFill/>
        </p:spPr>
        <p:txBody>
          <a:bodyPr lIns="182880" tIns="182880" rIns="182880" bIns="182880" anchor="ctr" anchorCtr="0">
            <a:normAutofit/>
          </a:bodyPr>
          <a:lstStyle>
            <a:lvl1pPr>
              <a:defRPr sz="3600"/>
            </a:lvl1pPr>
          </a:lstStyle>
          <a:p>
            <a:r>
              <a:rPr lang="en-US"/>
              <a:t>Click to add subtitle</a:t>
            </a:r>
            <a:endParaRPr lang="en-BE" dirty="0"/>
          </a:p>
        </p:txBody>
      </p:sp>
      <p:sp>
        <p:nvSpPr>
          <p:cNvPr id="8"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554549"/>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554549"/>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165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ubtitel slide 4">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7002" t="23540" r="6984" b="16462"/>
          <a:stretch/>
        </p:blipFill>
        <p:spPr>
          <a:xfrm>
            <a:off x="752929" y="769258"/>
            <a:ext cx="10697028" cy="5326742"/>
          </a:xfrm>
          <a:prstGeom prst="rect">
            <a:avLst/>
          </a:prstGeom>
        </p:spPr>
      </p:pic>
      <p:sp>
        <p:nvSpPr>
          <p:cNvPr id="3" name="Rectangle 2"/>
          <p:cNvSpPr/>
          <p:nvPr userDrawn="1"/>
        </p:nvSpPr>
        <p:spPr>
          <a:xfrm>
            <a:off x="1346825" y="2241030"/>
            <a:ext cx="5074170" cy="2360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AC9C767-9A67-4216-A05F-95382F81BAEA}"/>
              </a:ext>
            </a:extLst>
          </p:cNvPr>
          <p:cNvSpPr>
            <a:spLocks noGrp="1"/>
          </p:cNvSpPr>
          <p:nvPr>
            <p:ph type="title" hasCustomPrompt="1"/>
          </p:nvPr>
        </p:nvSpPr>
        <p:spPr>
          <a:xfrm>
            <a:off x="1346200" y="2247899"/>
            <a:ext cx="5067300" cy="2362201"/>
          </a:xfrm>
          <a:prstGeom prst="rect">
            <a:avLst/>
          </a:prstGeom>
          <a:noFill/>
        </p:spPr>
        <p:txBody>
          <a:bodyPr lIns="182880" tIns="182880" rIns="182880" bIns="182880" anchor="ctr" anchorCtr="0">
            <a:normAutofit/>
          </a:bodyPr>
          <a:lstStyle>
            <a:lvl1pPr>
              <a:defRPr sz="3600"/>
            </a:lvl1pPr>
          </a:lstStyle>
          <a:p>
            <a:r>
              <a:rPr lang="en-US"/>
              <a:t>Click to add subtitle</a:t>
            </a:r>
            <a:endParaRPr lang="en-BE" dirty="0"/>
          </a:p>
        </p:txBody>
      </p:sp>
      <p:sp>
        <p:nvSpPr>
          <p:cNvPr id="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0"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0246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mparising slide with icons">
    <p:spTree>
      <p:nvGrpSpPr>
        <p:cNvPr id="1" name=""/>
        <p:cNvGrpSpPr/>
        <p:nvPr/>
      </p:nvGrpSpPr>
      <p:grpSpPr>
        <a:xfrm>
          <a:off x="0" y="0"/>
          <a:ext cx="0" cy="0"/>
          <a:chOff x="0" y="0"/>
          <a:chExt cx="0" cy="0"/>
        </a:xfrm>
      </p:grpSpPr>
      <p:sp>
        <p:nvSpPr>
          <p:cNvPr id="4" name="Tijdelijke aanduiding voor afbeelding 3">
            <a:extLst>
              <a:ext uri="{FF2B5EF4-FFF2-40B4-BE49-F238E27FC236}">
                <a16:creationId xmlns:a16="http://schemas.microsoft.com/office/drawing/2014/main" id="{E2D5FF81-71AA-4A77-BAFA-7D04F841B056}"/>
              </a:ext>
            </a:extLst>
          </p:cNvPr>
          <p:cNvSpPr>
            <a:spLocks noGrp="1"/>
          </p:cNvSpPr>
          <p:nvPr>
            <p:ph type="pic" sz="quarter" idx="15" hasCustomPrompt="1"/>
          </p:nvPr>
        </p:nvSpPr>
        <p:spPr>
          <a:xfrm>
            <a:off x="766763" y="1827482"/>
            <a:ext cx="1470223" cy="1471613"/>
          </a:xfrm>
          <a:prstGeom prst="rect">
            <a:avLst/>
          </a:prstGeom>
        </p:spPr>
        <p:txBody>
          <a:bodyPr>
            <a:normAutofit/>
          </a:bodyPr>
          <a:lstStyle>
            <a:lvl1pPr marL="0" indent="0" algn="ctr">
              <a:lnSpc>
                <a:spcPct val="100000"/>
              </a:lnSpc>
              <a:spcBef>
                <a:spcPts val="300"/>
              </a:spcBef>
              <a:buFontTx/>
              <a:buNone/>
              <a:defRPr sz="1100"/>
            </a:lvl1pPr>
          </a:lstStyle>
          <a:p>
            <a:r>
              <a:rPr lang="en-US"/>
              <a:t>add icon</a:t>
            </a:r>
          </a:p>
        </p:txBody>
      </p:sp>
      <p:sp>
        <p:nvSpPr>
          <p:cNvPr id="8" name="Tijdelijke aanduiding voor afbeelding 3">
            <a:extLst>
              <a:ext uri="{FF2B5EF4-FFF2-40B4-BE49-F238E27FC236}">
                <a16:creationId xmlns:a16="http://schemas.microsoft.com/office/drawing/2014/main" id="{09AA0D7A-FE33-4F8C-9C9B-2DF71EA202B7}"/>
              </a:ext>
            </a:extLst>
          </p:cNvPr>
          <p:cNvSpPr>
            <a:spLocks noGrp="1"/>
          </p:cNvSpPr>
          <p:nvPr>
            <p:ph type="pic" sz="quarter" idx="16" hasCustomPrompt="1"/>
          </p:nvPr>
        </p:nvSpPr>
        <p:spPr>
          <a:xfrm>
            <a:off x="6563784" y="1810727"/>
            <a:ext cx="1517650" cy="1471613"/>
          </a:xfrm>
          <a:prstGeom prst="rect">
            <a:avLst/>
          </a:prstGeom>
        </p:spPr>
        <p:txBody>
          <a:bodyPr>
            <a:normAutofit/>
          </a:bodyPr>
          <a:lstStyle>
            <a:lvl1pPr marL="0" indent="0" algn="ctr">
              <a:lnSpc>
                <a:spcPct val="100000"/>
              </a:lnSpc>
              <a:spcBef>
                <a:spcPts val="300"/>
              </a:spcBef>
              <a:buFontTx/>
              <a:buNone/>
              <a:defRPr sz="1100"/>
            </a:lvl1pPr>
          </a:lstStyle>
          <a:p>
            <a:r>
              <a:rPr lang="en-US"/>
              <a:t>add icon</a:t>
            </a:r>
            <a:endParaRPr lang="en-BE" dirty="0"/>
          </a:p>
        </p:txBody>
      </p:sp>
      <p:sp>
        <p:nvSpPr>
          <p:cNvPr id="10" name="Tijdelijke aanduiding voor tekst 9">
            <a:extLst>
              <a:ext uri="{FF2B5EF4-FFF2-40B4-BE49-F238E27FC236}">
                <a16:creationId xmlns:a16="http://schemas.microsoft.com/office/drawing/2014/main" id="{2F64FA00-F52F-4F8C-9ED0-8C00855A7D4E}"/>
              </a:ext>
            </a:extLst>
          </p:cNvPr>
          <p:cNvSpPr>
            <a:spLocks noGrp="1"/>
          </p:cNvSpPr>
          <p:nvPr>
            <p:ph type="body" sz="quarter" idx="17"/>
          </p:nvPr>
        </p:nvSpPr>
        <p:spPr>
          <a:xfrm>
            <a:off x="2305175" y="1822478"/>
            <a:ext cx="3333623" cy="1471612"/>
          </a:xfrm>
          <a:prstGeom prst="rect">
            <a:avLst/>
          </a:prstGeom>
        </p:spPr>
        <p:txBody>
          <a:bodyPr lIns="0" tIns="0" rIns="0" bIns="0" anchor="ctr" anchorCtr="0">
            <a:noAutofit/>
          </a:bodyPr>
          <a:lstStyle>
            <a:lvl1pPr marL="0" indent="0" algn="l">
              <a:buFontTx/>
              <a:buNone/>
              <a:defRPr sz="2800">
                <a:solidFill>
                  <a:schemeClr val="accent2"/>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a:t>Edit Master text styles</a:t>
            </a:r>
          </a:p>
        </p:txBody>
      </p:sp>
      <p:sp>
        <p:nvSpPr>
          <p:cNvPr id="12" name="Tijdelijke aanduiding voor tekst 9">
            <a:extLst>
              <a:ext uri="{FF2B5EF4-FFF2-40B4-BE49-F238E27FC236}">
                <a16:creationId xmlns:a16="http://schemas.microsoft.com/office/drawing/2014/main" id="{21D06019-3674-4CC0-8571-2CD83FD684EB}"/>
              </a:ext>
            </a:extLst>
          </p:cNvPr>
          <p:cNvSpPr>
            <a:spLocks noGrp="1"/>
          </p:cNvSpPr>
          <p:nvPr>
            <p:ph type="body" sz="quarter" idx="18"/>
          </p:nvPr>
        </p:nvSpPr>
        <p:spPr>
          <a:xfrm>
            <a:off x="8155264" y="1810727"/>
            <a:ext cx="3269974" cy="1471612"/>
          </a:xfrm>
          <a:prstGeom prst="rect">
            <a:avLst/>
          </a:prstGeom>
        </p:spPr>
        <p:txBody>
          <a:bodyPr lIns="0" tIns="0" rIns="0" bIns="0" anchor="ctr" anchorCtr="0">
            <a:noAutofit/>
          </a:bodyPr>
          <a:lstStyle>
            <a:lvl1pPr marL="0" indent="0" algn="l">
              <a:buFontTx/>
              <a:buNone/>
              <a:defRPr sz="2800">
                <a:solidFill>
                  <a:schemeClr val="accent2"/>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a:t>Edit Master text styles</a:t>
            </a:r>
          </a:p>
        </p:txBody>
      </p:sp>
      <p:sp>
        <p:nvSpPr>
          <p:cNvPr id="3" name="Title 2"/>
          <p:cNvSpPr>
            <a:spLocks noGrp="1"/>
          </p:cNvSpPr>
          <p:nvPr>
            <p:ph type="title"/>
          </p:nvPr>
        </p:nvSpPr>
        <p:spPr>
          <a:xfrm>
            <a:off x="766762" y="806211"/>
            <a:ext cx="10658476" cy="884477"/>
          </a:xfrm>
        </p:spPr>
        <p:txBody>
          <a:bodyPr/>
          <a:lstStyle/>
          <a:p>
            <a:r>
              <a:rPr lang="en-US"/>
              <a:t>Click to edit Master title style</a:t>
            </a:r>
          </a:p>
        </p:txBody>
      </p:sp>
      <p:sp>
        <p:nvSpPr>
          <p:cNvPr id="14" name="Text Placeholder 5"/>
          <p:cNvSpPr>
            <a:spLocks noGrp="1"/>
          </p:cNvSpPr>
          <p:nvPr>
            <p:ph type="body" sz="quarter" idx="19"/>
          </p:nvPr>
        </p:nvSpPr>
        <p:spPr>
          <a:xfrm>
            <a:off x="766763" y="3429000"/>
            <a:ext cx="4872037" cy="26289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5"/>
          <p:cNvSpPr>
            <a:spLocks noGrp="1"/>
          </p:cNvSpPr>
          <p:nvPr>
            <p:ph type="body" sz="quarter" idx="20"/>
          </p:nvPr>
        </p:nvSpPr>
        <p:spPr>
          <a:xfrm>
            <a:off x="6569814" y="3429000"/>
            <a:ext cx="4872037" cy="26289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0574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3552">
          <p15:clr>
            <a:srgbClr val="FBAE40"/>
          </p15:clr>
        </p15:guide>
        <p15:guide id="3" pos="4128">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3" y="800496"/>
            <a:ext cx="8939204" cy="525078"/>
          </a:xfrm>
          <a:prstGeom prst="rect">
            <a:avLst/>
          </a:prstGeom>
        </p:spPr>
        <p:txBody>
          <a:bodyPr lIns="0" tIns="0" rIns="0" bIns="0">
            <a:noAutofit/>
          </a:bodyPr>
          <a:lstStyle>
            <a:lvl1pPr>
              <a:defRPr sz="3600"/>
            </a:lvl1pPr>
          </a:lstStyle>
          <a:p>
            <a:r>
              <a:rPr lang="en-US"/>
              <a:t>Click to edit Master title style</a:t>
            </a:r>
            <a:endParaRPr lang="en-BE" dirty="0"/>
          </a:p>
        </p:txBody>
      </p:sp>
      <p:sp>
        <p:nvSpPr>
          <p:cNvPr id="9" name="Tijdelijke aanduiding voor tekst 8">
            <a:extLst>
              <a:ext uri="{FF2B5EF4-FFF2-40B4-BE49-F238E27FC236}">
                <a16:creationId xmlns:a16="http://schemas.microsoft.com/office/drawing/2014/main" id="{013F778B-D9C1-4802-970E-A23E39CC2A98}"/>
              </a:ext>
            </a:extLst>
          </p:cNvPr>
          <p:cNvSpPr>
            <a:spLocks noGrp="1"/>
          </p:cNvSpPr>
          <p:nvPr>
            <p:ph type="body" sz="quarter" idx="14"/>
          </p:nvPr>
        </p:nvSpPr>
        <p:spPr>
          <a:xfrm>
            <a:off x="766763" y="1486463"/>
            <a:ext cx="8939204" cy="725105"/>
          </a:xfrm>
          <a:prstGeom prst="rect">
            <a:avLst/>
          </a:prstGeom>
        </p:spPr>
        <p:txBody>
          <a:bodyPr lIns="0" tIns="0" rIns="0" bIns="0" anchor="t">
            <a:normAutofit/>
          </a:bodyPr>
          <a:lstStyle>
            <a:lvl1pPr marL="0" indent="0">
              <a:spcBef>
                <a:spcPts val="0"/>
              </a:spcBef>
              <a:buFontTx/>
              <a:buNone/>
              <a:defRPr sz="2800">
                <a:solidFill>
                  <a:schemeClr val="accent1"/>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81" name="Text Placeholder 4"/>
          <p:cNvSpPr>
            <a:spLocks noGrp="1"/>
          </p:cNvSpPr>
          <p:nvPr>
            <p:ph type="body" sz="quarter" idx="15"/>
          </p:nvPr>
        </p:nvSpPr>
        <p:spPr>
          <a:xfrm>
            <a:off x="766763" y="2293938"/>
            <a:ext cx="8939212" cy="379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0"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82"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970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ext Slide">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F8EDE2AA-5EC7-4E82-852A-FE7B050223C2}"/>
              </a:ext>
            </a:extLst>
          </p:cNvPr>
          <p:cNvSpPr>
            <a:spLocks noGrp="1"/>
          </p:cNvSpPr>
          <p:nvPr>
            <p:ph type="title"/>
          </p:nvPr>
        </p:nvSpPr>
        <p:spPr>
          <a:xfrm>
            <a:off x="766762" y="800496"/>
            <a:ext cx="10658465" cy="525078"/>
          </a:xfrm>
          <a:prstGeom prst="rect">
            <a:avLst/>
          </a:prstGeom>
        </p:spPr>
        <p:txBody>
          <a:bodyPr lIns="0" tIns="0" rIns="0" bIns="0">
            <a:noAutofit/>
          </a:bodyPr>
          <a:lstStyle>
            <a:lvl1pPr>
              <a:defRPr sz="3600"/>
            </a:lvl1pPr>
          </a:lstStyle>
          <a:p>
            <a:r>
              <a:rPr lang="en-US"/>
              <a:t>Click to edit Master title style</a:t>
            </a:r>
            <a:endParaRPr lang="en-BE" dirty="0"/>
          </a:p>
        </p:txBody>
      </p:sp>
      <p:sp>
        <p:nvSpPr>
          <p:cNvPr id="8" name="Tijdelijke aanduiding voor tekst 8">
            <a:extLst>
              <a:ext uri="{FF2B5EF4-FFF2-40B4-BE49-F238E27FC236}">
                <a16:creationId xmlns:a16="http://schemas.microsoft.com/office/drawing/2014/main" id="{013F778B-D9C1-4802-970E-A23E39CC2A98}"/>
              </a:ext>
            </a:extLst>
          </p:cNvPr>
          <p:cNvSpPr>
            <a:spLocks noGrp="1"/>
          </p:cNvSpPr>
          <p:nvPr>
            <p:ph type="body" sz="quarter" idx="14"/>
          </p:nvPr>
        </p:nvSpPr>
        <p:spPr>
          <a:xfrm>
            <a:off x="766762" y="1486463"/>
            <a:ext cx="10658465" cy="725105"/>
          </a:xfrm>
          <a:prstGeom prst="rect">
            <a:avLst/>
          </a:prstGeom>
        </p:spPr>
        <p:txBody>
          <a:bodyPr lIns="0" tIns="0" rIns="0" bIns="0" anchor="t">
            <a:normAutofit/>
          </a:bodyPr>
          <a:lstStyle>
            <a:lvl1pPr marL="0" indent="0">
              <a:spcBef>
                <a:spcPts val="0"/>
              </a:spcBef>
              <a:buFontTx/>
              <a:buNone/>
              <a:defRPr sz="2800">
                <a:solidFill>
                  <a:schemeClr val="accent1"/>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85" name="Text Placeholder 4"/>
          <p:cNvSpPr>
            <a:spLocks noGrp="1"/>
          </p:cNvSpPr>
          <p:nvPr>
            <p:ph type="body" sz="quarter" idx="15"/>
          </p:nvPr>
        </p:nvSpPr>
        <p:spPr>
          <a:xfrm>
            <a:off x="766762" y="2293938"/>
            <a:ext cx="10658475" cy="379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8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28282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Slid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2" y="800496"/>
            <a:ext cx="10658475" cy="985576"/>
          </a:xfrm>
          <a:prstGeom prst="rect">
            <a:avLst/>
          </a:prstGeom>
        </p:spPr>
        <p:txBody>
          <a:bodyPr lIns="0" tIns="0" rIns="0" bIns="0">
            <a:noAutofit/>
          </a:bodyPr>
          <a:lstStyle>
            <a:lvl1pPr>
              <a:defRPr sz="3600"/>
            </a:lvl1pPr>
          </a:lstStyle>
          <a:p>
            <a:r>
              <a:rPr lang="en-US"/>
              <a:t>Click to edit Master title style</a:t>
            </a:r>
            <a:endParaRPr lang="en-BE" dirty="0"/>
          </a:p>
        </p:txBody>
      </p:sp>
      <p:sp>
        <p:nvSpPr>
          <p:cNvPr id="81" name="Text Placeholder 4"/>
          <p:cNvSpPr>
            <a:spLocks noGrp="1"/>
          </p:cNvSpPr>
          <p:nvPr>
            <p:ph type="body" sz="quarter" idx="15"/>
          </p:nvPr>
        </p:nvSpPr>
        <p:spPr>
          <a:xfrm>
            <a:off x="766762" y="1786072"/>
            <a:ext cx="10658475" cy="4301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2166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Graphic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3" y="800100"/>
            <a:ext cx="10658475" cy="711201"/>
          </a:xfrm>
          <a:prstGeom prst="rect">
            <a:avLst/>
          </a:prstGeom>
        </p:spPr>
        <p:txBody>
          <a:bodyPr lIns="0" tIns="0" rIns="0" bIns="0">
            <a:normAutofit/>
          </a:bodyPr>
          <a:lstStyle>
            <a:lvl1pPr>
              <a:defRPr sz="3600"/>
            </a:lvl1pPr>
          </a:lstStyle>
          <a:p>
            <a:r>
              <a:rPr lang="en-US"/>
              <a:t>Click to edit Master title style</a:t>
            </a:r>
            <a:endParaRPr lang="en-BE" dirty="0"/>
          </a:p>
        </p:txBody>
      </p:sp>
      <p:sp>
        <p:nvSpPr>
          <p:cNvPr id="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6553200" y="1638300"/>
            <a:ext cx="4872038" cy="698501"/>
          </a:xfrm>
          <a:prstGeom prst="rect">
            <a:avLst/>
          </a:prstGeom>
        </p:spPr>
        <p:txBody>
          <a:bodyPr lIns="0" tIns="0" rIns="0" bIns="91440">
            <a:normAutofit/>
          </a:bodyPr>
          <a:lstStyle>
            <a:lvl1pPr marL="0" indent="0">
              <a:buFontTx/>
              <a:buNone/>
              <a:defRPr sz="2800" b="0">
                <a:solidFill>
                  <a:schemeClr val="accent1"/>
                </a:solidFill>
                <a:latin typeface="Georgia" panose="02040502050405020303" pitchFamily="18" charset="0"/>
                <a:cs typeface="Segoe UI Semibold" panose="020B0702040204020203" pitchFamily="34" charset="0"/>
              </a:defRPr>
            </a:lvl1pPr>
          </a:lstStyle>
          <a:p>
            <a:pPr lvl="0"/>
            <a:r>
              <a:rPr lang="en-US"/>
              <a:t>Edit Master text styles</a:t>
            </a:r>
          </a:p>
        </p:txBody>
      </p:sp>
      <p:sp>
        <p:nvSpPr>
          <p:cNvPr id="8" name="Tijdelijke aanduiding voor grafiek 7">
            <a:extLst>
              <a:ext uri="{FF2B5EF4-FFF2-40B4-BE49-F238E27FC236}">
                <a16:creationId xmlns:a16="http://schemas.microsoft.com/office/drawing/2014/main" id="{785BDB02-0669-46C1-BC18-4B6915F659E2}"/>
              </a:ext>
            </a:extLst>
          </p:cNvPr>
          <p:cNvSpPr>
            <a:spLocks noGrp="1"/>
          </p:cNvSpPr>
          <p:nvPr>
            <p:ph type="chart" sz="quarter" idx="15"/>
          </p:nvPr>
        </p:nvSpPr>
        <p:spPr>
          <a:xfrm>
            <a:off x="766762" y="1638300"/>
            <a:ext cx="4872037" cy="4419600"/>
          </a:xfrm>
          <a:prstGeom prst="rect">
            <a:avLst/>
          </a:prstGeom>
        </p:spPr>
        <p:txBody>
          <a:bodyPr>
            <a:normAutofit/>
          </a:bodyPr>
          <a:lstStyle>
            <a:lvl1pPr marL="0" indent="0" algn="ctr">
              <a:buFontTx/>
              <a:buNone/>
              <a:defRPr sz="1800" b="0"/>
            </a:lvl1pPr>
          </a:lstStyle>
          <a:p>
            <a:r>
              <a:rPr lang="en-US"/>
              <a:t>Click icon to add chart</a:t>
            </a:r>
            <a:endParaRPr lang="en-BE" dirty="0"/>
          </a:p>
        </p:txBody>
      </p:sp>
      <p:sp>
        <p:nvSpPr>
          <p:cNvPr id="11" name="Text Placeholder 5"/>
          <p:cNvSpPr>
            <a:spLocks noGrp="1"/>
          </p:cNvSpPr>
          <p:nvPr>
            <p:ph type="body" sz="quarter" idx="20"/>
          </p:nvPr>
        </p:nvSpPr>
        <p:spPr>
          <a:xfrm>
            <a:off x="6544414" y="2463800"/>
            <a:ext cx="4872037" cy="3594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3"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47097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4128">
          <p15:clr>
            <a:srgbClr val="FBAE40"/>
          </p15:clr>
        </p15:guide>
        <p15:guide id="3" pos="355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Graphic Slid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3" y="800099"/>
            <a:ext cx="5329237" cy="558801"/>
          </a:xfrm>
          <a:prstGeom prst="rect">
            <a:avLst/>
          </a:prstGeom>
        </p:spPr>
        <p:txBody>
          <a:bodyPr lIns="0" tIns="0" rIns="0" bIns="0">
            <a:normAutofit/>
          </a:bodyPr>
          <a:lstStyle>
            <a:lvl1pPr>
              <a:defRPr sz="3600"/>
            </a:lvl1pPr>
          </a:lstStyle>
          <a:p>
            <a:r>
              <a:rPr lang="en-US"/>
              <a:t>Click to edit Master title style</a:t>
            </a:r>
            <a:endParaRPr lang="en-BE" dirty="0"/>
          </a:p>
        </p:txBody>
      </p:sp>
      <p:sp>
        <p:nvSpPr>
          <p:cNvPr id="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766763" y="1460501"/>
            <a:ext cx="5329237" cy="922958"/>
          </a:xfrm>
          <a:prstGeom prst="rect">
            <a:avLst/>
          </a:prstGeom>
        </p:spPr>
        <p:txBody>
          <a:bodyPr lIns="0" tIns="0" rIns="0" bIns="91440">
            <a:normAutofit/>
          </a:bodyPr>
          <a:lstStyle>
            <a:lvl1pPr marL="0" indent="0">
              <a:buFontTx/>
              <a:buNone/>
              <a:defRPr sz="2800" b="0">
                <a:solidFill>
                  <a:schemeClr val="accent1"/>
                </a:solidFill>
                <a:latin typeface="Georgia" panose="02040502050405020303" pitchFamily="18" charset="0"/>
                <a:cs typeface="Segoe UI Semibold" panose="020B0702040204020203" pitchFamily="34" charset="0"/>
              </a:defRPr>
            </a:lvl1pPr>
          </a:lstStyle>
          <a:p>
            <a:pPr lvl="0"/>
            <a:r>
              <a:rPr lang="en-US"/>
              <a:t>Edit Master text styles</a:t>
            </a:r>
          </a:p>
        </p:txBody>
      </p:sp>
      <p:sp>
        <p:nvSpPr>
          <p:cNvPr id="8" name="Tijdelijke aanduiding voor grafiek 7">
            <a:extLst>
              <a:ext uri="{FF2B5EF4-FFF2-40B4-BE49-F238E27FC236}">
                <a16:creationId xmlns:a16="http://schemas.microsoft.com/office/drawing/2014/main" id="{785BDB02-0669-46C1-BC18-4B6915F659E2}"/>
              </a:ext>
            </a:extLst>
          </p:cNvPr>
          <p:cNvSpPr>
            <a:spLocks noGrp="1"/>
          </p:cNvSpPr>
          <p:nvPr>
            <p:ph type="chart" sz="quarter" idx="15"/>
          </p:nvPr>
        </p:nvSpPr>
        <p:spPr>
          <a:xfrm>
            <a:off x="6553200" y="800101"/>
            <a:ext cx="4872038" cy="5257800"/>
          </a:xfrm>
          <a:prstGeom prst="rect">
            <a:avLst/>
          </a:prstGeom>
        </p:spPr>
        <p:txBody>
          <a:bodyPr>
            <a:normAutofit/>
          </a:bodyPr>
          <a:lstStyle>
            <a:lvl1pPr marL="0" indent="0" algn="ctr">
              <a:buFontTx/>
              <a:buNone/>
              <a:defRPr sz="1800" b="0"/>
            </a:lvl1pPr>
          </a:lstStyle>
          <a:p>
            <a:r>
              <a:rPr lang="en-US"/>
              <a:t>Click icon to add chart</a:t>
            </a:r>
            <a:endParaRPr lang="en-BE" dirty="0"/>
          </a:p>
        </p:txBody>
      </p:sp>
      <p:sp>
        <p:nvSpPr>
          <p:cNvPr id="5" name="Text Placeholder 4"/>
          <p:cNvSpPr>
            <a:spLocks noGrp="1"/>
          </p:cNvSpPr>
          <p:nvPr>
            <p:ph type="body" sz="quarter" idx="16"/>
          </p:nvPr>
        </p:nvSpPr>
        <p:spPr>
          <a:xfrm>
            <a:off x="766762" y="2485059"/>
            <a:ext cx="5329237" cy="35728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2"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56811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4128">
          <p15:clr>
            <a:srgbClr val="FBAE40"/>
          </p15:clr>
        </p15:guide>
        <p15:guide id="3" pos="355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amp; Pictur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4" y="800100"/>
            <a:ext cx="5983288" cy="838200"/>
          </a:xfrm>
          <a:prstGeom prst="rect">
            <a:avLst/>
          </a:prstGeom>
        </p:spPr>
        <p:txBody>
          <a:bodyPr lIns="0" tIns="0" rIns="0" bIns="0">
            <a:normAutofit/>
          </a:bodyPr>
          <a:lstStyle>
            <a:lvl1pPr>
              <a:defRPr sz="3600"/>
            </a:lvl1pPr>
          </a:lstStyle>
          <a:p>
            <a:r>
              <a:rPr lang="en-US"/>
              <a:t>Click to edit Master title style</a:t>
            </a:r>
            <a:endParaRPr lang="en-BE" dirty="0"/>
          </a:p>
        </p:txBody>
      </p:sp>
      <p:sp>
        <p:nvSpPr>
          <p:cNvPr id="8" name="Tijdelijke aanduiding voor afbeelding 7">
            <a:extLst>
              <a:ext uri="{FF2B5EF4-FFF2-40B4-BE49-F238E27FC236}">
                <a16:creationId xmlns:a16="http://schemas.microsoft.com/office/drawing/2014/main" id="{DA1F5B52-3085-476E-BB6D-6FEB75BDE4A8}"/>
              </a:ext>
            </a:extLst>
          </p:cNvPr>
          <p:cNvSpPr>
            <a:spLocks noGrp="1"/>
          </p:cNvSpPr>
          <p:nvPr>
            <p:ph type="pic" sz="quarter" idx="11"/>
          </p:nvPr>
        </p:nvSpPr>
        <p:spPr>
          <a:xfrm>
            <a:off x="7000875" y="0"/>
            <a:ext cx="5191125" cy="6858000"/>
          </a:xfrm>
          <a:prstGeom prst="rect">
            <a:avLst/>
          </a:prstGeom>
        </p:spPr>
        <p:txBody>
          <a:bodyPr anchor="ctr" anchorCtr="0"/>
          <a:lstStyle>
            <a:lvl1pPr marL="0" indent="0" algn="ctr">
              <a:buFontTx/>
              <a:buNone/>
              <a:defRPr/>
            </a:lvl1pPr>
          </a:lstStyle>
          <a:p>
            <a:r>
              <a:rPr lang="en-US"/>
              <a:t>Click icon to add picture</a:t>
            </a:r>
            <a:endParaRPr lang="en-BE" dirty="0"/>
          </a:p>
        </p:txBody>
      </p:sp>
      <p:sp>
        <p:nvSpPr>
          <p:cNvPr id="4" name="Tijdelijke aanduiding voor tekst 3">
            <a:extLst>
              <a:ext uri="{FF2B5EF4-FFF2-40B4-BE49-F238E27FC236}">
                <a16:creationId xmlns:a16="http://schemas.microsoft.com/office/drawing/2014/main" id="{3EC44366-3659-4A5F-8C4F-FE4BEEF77354}"/>
              </a:ext>
            </a:extLst>
          </p:cNvPr>
          <p:cNvSpPr>
            <a:spLocks noGrp="1"/>
          </p:cNvSpPr>
          <p:nvPr>
            <p:ph type="body" sz="quarter" idx="12"/>
          </p:nvPr>
        </p:nvSpPr>
        <p:spPr>
          <a:xfrm>
            <a:off x="766763" y="1768890"/>
            <a:ext cx="6010275" cy="847310"/>
          </a:xfrm>
          <a:prstGeom prst="rect">
            <a:avLst/>
          </a:prstGeom>
        </p:spPr>
        <p:txBody>
          <a:bodyPr lIns="0" tIns="0" rIns="0" bIns="0">
            <a:noAutofit/>
          </a:bodyPr>
          <a:lstStyle>
            <a:lvl1pPr marL="0" indent="0">
              <a:buFontTx/>
              <a:buNone/>
              <a:defRPr sz="2800">
                <a:solidFill>
                  <a:schemeClr val="accent1"/>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11" name="Text Placeholder 10"/>
          <p:cNvSpPr>
            <a:spLocks noGrp="1"/>
          </p:cNvSpPr>
          <p:nvPr>
            <p:ph type="body" sz="quarter" idx="13"/>
          </p:nvPr>
        </p:nvSpPr>
        <p:spPr>
          <a:xfrm>
            <a:off x="766763" y="2895600"/>
            <a:ext cx="6010275" cy="3581400"/>
          </a:xfrm>
        </p:spPr>
        <p:txBody>
          <a:bodyPr/>
          <a:lstStyle>
            <a:lvl1pPr marL="355600" indent="-355600">
              <a:defRPr/>
            </a:lvl1pPr>
            <a:lvl2pPr marL="622300" indent="-266700">
              <a:defRPr/>
            </a:lvl2pPr>
            <a:lvl3pPr marL="990600" indent="-266700">
              <a:defRPr/>
            </a:lvl3pPr>
            <a:lvl4pPr marL="1524000" indent="-266700">
              <a:defRPr/>
            </a:lvl4pPr>
            <a:lvl5pPr marL="1968500" indent="-35560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1390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amp; Picture 2">
    <p:spTree>
      <p:nvGrpSpPr>
        <p:cNvPr id="1" name=""/>
        <p:cNvGrpSpPr/>
        <p:nvPr/>
      </p:nvGrpSpPr>
      <p:grpSpPr>
        <a:xfrm>
          <a:off x="0" y="0"/>
          <a:ext cx="0" cy="0"/>
          <a:chOff x="0" y="0"/>
          <a:chExt cx="0" cy="0"/>
        </a:xfrm>
      </p:grpSpPr>
      <p:sp>
        <p:nvSpPr>
          <p:cNvPr id="3" name="Rectangle 2"/>
          <p:cNvSpPr/>
          <p:nvPr userDrawn="1"/>
        </p:nvSpPr>
        <p:spPr>
          <a:xfrm>
            <a:off x="0" y="0"/>
            <a:ext cx="12191999" cy="6858000"/>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indent="-360000" algn="ctr"/>
            <a:endParaRPr lang="en-US"/>
          </a:p>
        </p:txBody>
      </p:sp>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6092942" y="800100"/>
            <a:ext cx="5305309" cy="838200"/>
          </a:xfrm>
          <a:prstGeom prst="rect">
            <a:avLst/>
          </a:prstGeom>
        </p:spPr>
        <p:txBody>
          <a:bodyPr lIns="0" tIns="0" rIns="0" bIns="0">
            <a:normAutofit/>
          </a:bodyPr>
          <a:lstStyle>
            <a:lvl1pPr indent="-360000">
              <a:defRPr sz="3600">
                <a:solidFill>
                  <a:schemeClr val="bg1"/>
                </a:solidFill>
              </a:defRPr>
            </a:lvl1pPr>
          </a:lstStyle>
          <a:p>
            <a:r>
              <a:rPr lang="en-US"/>
              <a:t>Click to edit Master title style</a:t>
            </a:r>
            <a:endParaRPr lang="en-BE" dirty="0"/>
          </a:p>
        </p:txBody>
      </p:sp>
      <p:sp>
        <p:nvSpPr>
          <p:cNvPr id="8" name="Tijdelijke aanduiding voor afbeelding 7">
            <a:extLst>
              <a:ext uri="{FF2B5EF4-FFF2-40B4-BE49-F238E27FC236}">
                <a16:creationId xmlns:a16="http://schemas.microsoft.com/office/drawing/2014/main" id="{DA1F5B52-3085-476E-BB6D-6FEB75BDE4A8}"/>
              </a:ext>
            </a:extLst>
          </p:cNvPr>
          <p:cNvSpPr>
            <a:spLocks noGrp="1"/>
          </p:cNvSpPr>
          <p:nvPr>
            <p:ph type="pic" sz="quarter" idx="11"/>
          </p:nvPr>
        </p:nvSpPr>
        <p:spPr>
          <a:xfrm>
            <a:off x="0" y="11057"/>
            <a:ext cx="5191125" cy="6858000"/>
          </a:xfrm>
          <a:prstGeom prst="rect">
            <a:avLst/>
          </a:prstGeom>
        </p:spPr>
        <p:txBody>
          <a:bodyPr anchor="ctr" anchorCtr="0"/>
          <a:lstStyle>
            <a:lvl1pPr marL="0" indent="-360000" algn="ctr">
              <a:buFontTx/>
              <a:buNone/>
              <a:defRPr/>
            </a:lvl1pPr>
          </a:lstStyle>
          <a:p>
            <a:r>
              <a:rPr lang="en-US"/>
              <a:t>Click icon to add picture</a:t>
            </a:r>
            <a:endParaRPr lang="en-BE" dirty="0"/>
          </a:p>
        </p:txBody>
      </p:sp>
      <p:sp>
        <p:nvSpPr>
          <p:cNvPr id="4" name="Tijdelijke aanduiding voor tekst 3">
            <a:extLst>
              <a:ext uri="{FF2B5EF4-FFF2-40B4-BE49-F238E27FC236}">
                <a16:creationId xmlns:a16="http://schemas.microsoft.com/office/drawing/2014/main" id="{3EC44366-3659-4A5F-8C4F-FE4BEEF77354}"/>
              </a:ext>
            </a:extLst>
          </p:cNvPr>
          <p:cNvSpPr>
            <a:spLocks noGrp="1"/>
          </p:cNvSpPr>
          <p:nvPr>
            <p:ph type="body" sz="quarter" idx="12"/>
          </p:nvPr>
        </p:nvSpPr>
        <p:spPr>
          <a:xfrm>
            <a:off x="6096000" y="1768890"/>
            <a:ext cx="5329238" cy="847310"/>
          </a:xfrm>
          <a:prstGeom prst="rect">
            <a:avLst/>
          </a:prstGeom>
        </p:spPr>
        <p:txBody>
          <a:bodyPr lIns="0" tIns="0" rIns="0" bIns="0">
            <a:noAutofit/>
          </a:bodyPr>
          <a:lstStyle>
            <a:lvl1pPr marL="0" indent="-360000">
              <a:buFontTx/>
              <a:buNone/>
              <a:defRPr sz="2800">
                <a:solidFill>
                  <a:schemeClr val="bg1"/>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6" name="Content Placeholder 5"/>
          <p:cNvSpPr>
            <a:spLocks noGrp="1"/>
          </p:cNvSpPr>
          <p:nvPr>
            <p:ph sz="quarter" idx="14"/>
          </p:nvPr>
        </p:nvSpPr>
        <p:spPr>
          <a:xfrm>
            <a:off x="6096000" y="2857500"/>
            <a:ext cx="5329238" cy="3200400"/>
          </a:xfrm>
        </p:spPr>
        <p:txBody>
          <a:bodyPr wrap="square">
            <a:normAutofit/>
          </a:bodyPr>
          <a:lstStyle>
            <a:lvl1pPr marL="269875" indent="-273050">
              <a:buClr>
                <a:schemeClr val="bg1"/>
              </a:buClr>
              <a:defRPr sz="2400">
                <a:solidFill>
                  <a:schemeClr val="bg1"/>
                </a:solidFill>
              </a:defRPr>
            </a:lvl1pPr>
            <a:lvl2pPr marL="533400" indent="-269875">
              <a:buClr>
                <a:schemeClr val="bg1"/>
              </a:buClr>
              <a:defRPr>
                <a:solidFill>
                  <a:schemeClr val="bg1"/>
                </a:solidFill>
              </a:defRPr>
            </a:lvl2pPr>
            <a:lvl3pPr marL="901700" indent="-269875">
              <a:buClr>
                <a:schemeClr val="bg1"/>
              </a:buClr>
              <a:defRPr>
                <a:solidFill>
                  <a:schemeClr val="bg1"/>
                </a:solidFill>
              </a:defRPr>
            </a:lvl3pPr>
            <a:lvl4pPr marL="1168400" indent="-269875">
              <a:buClr>
                <a:schemeClr val="bg1"/>
              </a:buClr>
              <a:defRPr>
                <a:solidFill>
                  <a:schemeClr val="bg1"/>
                </a:solidFill>
              </a:defRPr>
            </a:lvl4pPr>
            <a:lvl5pPr marL="1524000" indent="-269875">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7" name="Text Placeholder 86"/>
          <p:cNvSpPr>
            <a:spLocks noGrp="1"/>
          </p:cNvSpPr>
          <p:nvPr>
            <p:ph type="body" sz="quarter" idx="15" hasCustomPrompt="1"/>
          </p:nvPr>
        </p:nvSpPr>
        <p:spPr>
          <a:xfrm>
            <a:off x="107078" y="5338327"/>
            <a:ext cx="809863" cy="1418431"/>
          </a:xfrm>
          <a:blipFill dpi="0" rotWithShape="1">
            <a:blip r:embed="rId2">
              <a:alphaModFix amt="50000"/>
            </a:blip>
            <a:srcRect/>
            <a:stretch>
              <a:fillRect/>
            </a:stretch>
          </a:blipFill>
        </p:spPr>
        <p:txBody>
          <a:bodyPr/>
          <a:lstStyle>
            <a:lvl1pPr marL="88900" indent="0">
              <a:buNone/>
              <a:defRPr baseline="0"/>
            </a:lvl1pPr>
          </a:lstStyle>
          <a:p>
            <a:pPr lvl="0"/>
            <a:r>
              <a:rPr lang="en-US"/>
              <a:t> </a:t>
            </a:r>
          </a:p>
        </p:txBody>
      </p:sp>
      <p:sp>
        <p:nvSpPr>
          <p:cNvPr id="14"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5"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15697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9" name="Tijdelijke aanduiding voor tekst 8">
            <a:extLst>
              <a:ext uri="{FF2B5EF4-FFF2-40B4-BE49-F238E27FC236}">
                <a16:creationId xmlns:a16="http://schemas.microsoft.com/office/drawing/2014/main" id="{7F4BDD94-FB2C-4502-A2BB-86CAD3E59940}"/>
              </a:ext>
            </a:extLst>
          </p:cNvPr>
          <p:cNvSpPr>
            <a:spLocks noGrp="1"/>
          </p:cNvSpPr>
          <p:nvPr>
            <p:ph type="body" sz="quarter" idx="11" hasCustomPrompt="1"/>
          </p:nvPr>
        </p:nvSpPr>
        <p:spPr>
          <a:xfrm>
            <a:off x="766763" y="2324100"/>
            <a:ext cx="10658474" cy="2197100"/>
          </a:xfrm>
          <a:prstGeom prst="rect">
            <a:avLst/>
          </a:prstGeom>
        </p:spPr>
        <p:txBody>
          <a:bodyPr lIns="1371600" tIns="0" rIns="1371600" bIns="0" anchor="ctr" anchorCtr="0">
            <a:noAutofit/>
          </a:bodyPr>
          <a:lstStyle>
            <a:lvl1pPr marL="0" indent="0" algn="ctr">
              <a:spcBef>
                <a:spcPts val="600"/>
              </a:spcBef>
              <a:buFontTx/>
              <a:buNone/>
              <a:defRPr sz="3200">
                <a:solidFill>
                  <a:schemeClr val="accent1"/>
                </a:solidFill>
                <a:latin typeface="Georgia" panose="02040502050405020303" pitchFamily="18" charset="0"/>
                <a:cs typeface="Segoe UI Semibold" panose="020B0702040204020203" pitchFamily="34" charset="0"/>
              </a:defRPr>
            </a:lvl1pPr>
          </a:lstStyle>
          <a:p>
            <a:pPr lvl="0"/>
            <a:r>
              <a:rPr lang="nl-NL"/>
              <a:t>Click to add a quote</a:t>
            </a:r>
            <a:endParaRPr lang="nl-NL" dirty="0"/>
          </a:p>
        </p:txBody>
      </p:sp>
      <p:sp>
        <p:nvSpPr>
          <p:cNvPr id="11" name="Tijdelijke aanduiding voor tekst 10">
            <a:extLst>
              <a:ext uri="{FF2B5EF4-FFF2-40B4-BE49-F238E27FC236}">
                <a16:creationId xmlns:a16="http://schemas.microsoft.com/office/drawing/2014/main" id="{0BF1D710-5F93-4654-8D54-CD40B1D335E1}"/>
              </a:ext>
            </a:extLst>
          </p:cNvPr>
          <p:cNvSpPr>
            <a:spLocks noGrp="1"/>
          </p:cNvSpPr>
          <p:nvPr>
            <p:ph type="body" sz="quarter" idx="12" hasCustomPrompt="1"/>
          </p:nvPr>
        </p:nvSpPr>
        <p:spPr>
          <a:xfrm>
            <a:off x="766763" y="4768439"/>
            <a:ext cx="10658474" cy="881063"/>
          </a:xfrm>
          <a:prstGeom prst="rect">
            <a:avLst/>
          </a:prstGeom>
        </p:spPr>
        <p:txBody>
          <a:bodyPr lIns="1828800" tIns="0" rIns="1828800" bIns="0">
            <a:normAutofit/>
          </a:bodyPr>
          <a:lstStyle>
            <a:lvl1pPr marL="0" indent="0" algn="ctr">
              <a:buFontTx/>
              <a:buNone/>
              <a:defRPr sz="2000" b="0" baseline="0">
                <a:solidFill>
                  <a:schemeClr val="accent3"/>
                </a:solidFill>
                <a:latin typeface="Segoe UI Semibold" panose="020B0702040204020203" pitchFamily="34" charset="0"/>
                <a:cs typeface="Segoe UI Semibold" panose="020B0702040204020203" pitchFamily="34" charset="0"/>
              </a:defRPr>
            </a:lvl1pPr>
          </a:lstStyle>
          <a:p>
            <a:pPr lvl="0"/>
            <a:r>
              <a:rPr lang="nl-BE"/>
              <a:t>Click to add a name</a:t>
            </a:r>
            <a:endParaRPr lang="en-BE" dirty="0"/>
          </a:p>
        </p:txBody>
      </p:sp>
      <p:grpSp>
        <p:nvGrpSpPr>
          <p:cNvPr id="2" name="Group 4"/>
          <p:cNvGrpSpPr>
            <a:grpSpLocks noChangeAspect="1"/>
          </p:cNvGrpSpPr>
          <p:nvPr userDrawn="1"/>
        </p:nvGrpSpPr>
        <p:grpSpPr bwMode="auto">
          <a:xfrm>
            <a:off x="5613400" y="1055688"/>
            <a:ext cx="965200" cy="1143000"/>
            <a:chOff x="3536" y="665"/>
            <a:chExt cx="608" cy="720"/>
          </a:xfrm>
        </p:grpSpPr>
        <p:sp>
          <p:nvSpPr>
            <p:cNvPr id="4" name="Freeform 5"/>
            <p:cNvSpPr>
              <a:spLocks/>
            </p:cNvSpPr>
            <p:nvPr userDrawn="1"/>
          </p:nvSpPr>
          <p:spPr bwMode="auto">
            <a:xfrm>
              <a:off x="3988" y="1116"/>
              <a:ext cx="43" cy="44"/>
            </a:xfrm>
            <a:custGeom>
              <a:avLst/>
              <a:gdLst>
                <a:gd name="T0" fmla="*/ 44 w 87"/>
                <a:gd name="T1" fmla="*/ 86 h 86"/>
                <a:gd name="T2" fmla="*/ 44 w 87"/>
                <a:gd name="T3" fmla="*/ 86 h 86"/>
                <a:gd name="T4" fmla="*/ 35 w 87"/>
                <a:gd name="T5" fmla="*/ 85 h 86"/>
                <a:gd name="T6" fmla="*/ 27 w 87"/>
                <a:gd name="T7" fmla="*/ 82 h 86"/>
                <a:gd name="T8" fmla="*/ 20 w 87"/>
                <a:gd name="T9" fmla="*/ 78 h 86"/>
                <a:gd name="T10" fmla="*/ 13 w 87"/>
                <a:gd name="T11" fmla="*/ 74 h 86"/>
                <a:gd name="T12" fmla="*/ 9 w 87"/>
                <a:gd name="T13" fmla="*/ 67 h 86"/>
                <a:gd name="T14" fmla="*/ 5 w 87"/>
                <a:gd name="T15" fmla="*/ 60 h 86"/>
                <a:gd name="T16" fmla="*/ 2 w 87"/>
                <a:gd name="T17" fmla="*/ 52 h 86"/>
                <a:gd name="T18" fmla="*/ 0 w 87"/>
                <a:gd name="T19" fmla="*/ 44 h 86"/>
                <a:gd name="T20" fmla="*/ 0 w 87"/>
                <a:gd name="T21" fmla="*/ 44 h 86"/>
                <a:gd name="T22" fmla="*/ 2 w 87"/>
                <a:gd name="T23" fmla="*/ 34 h 86"/>
                <a:gd name="T24" fmla="*/ 5 w 87"/>
                <a:gd name="T25" fmla="*/ 26 h 86"/>
                <a:gd name="T26" fmla="*/ 9 w 87"/>
                <a:gd name="T27" fmla="*/ 19 h 86"/>
                <a:gd name="T28" fmla="*/ 13 w 87"/>
                <a:gd name="T29" fmla="*/ 12 h 86"/>
                <a:gd name="T30" fmla="*/ 20 w 87"/>
                <a:gd name="T31" fmla="*/ 8 h 86"/>
                <a:gd name="T32" fmla="*/ 27 w 87"/>
                <a:gd name="T33" fmla="*/ 4 h 86"/>
                <a:gd name="T34" fmla="*/ 35 w 87"/>
                <a:gd name="T35" fmla="*/ 1 h 86"/>
                <a:gd name="T36" fmla="*/ 44 w 87"/>
                <a:gd name="T37" fmla="*/ 0 h 86"/>
                <a:gd name="T38" fmla="*/ 44 w 87"/>
                <a:gd name="T39" fmla="*/ 0 h 86"/>
                <a:gd name="T40" fmla="*/ 53 w 87"/>
                <a:gd name="T41" fmla="*/ 1 h 86"/>
                <a:gd name="T42" fmla="*/ 61 w 87"/>
                <a:gd name="T43" fmla="*/ 4 h 86"/>
                <a:gd name="T44" fmla="*/ 68 w 87"/>
                <a:gd name="T45" fmla="*/ 8 h 86"/>
                <a:gd name="T46" fmla="*/ 75 w 87"/>
                <a:gd name="T47" fmla="*/ 12 h 86"/>
                <a:gd name="T48" fmla="*/ 79 w 87"/>
                <a:gd name="T49" fmla="*/ 19 h 86"/>
                <a:gd name="T50" fmla="*/ 83 w 87"/>
                <a:gd name="T51" fmla="*/ 26 h 86"/>
                <a:gd name="T52" fmla="*/ 86 w 87"/>
                <a:gd name="T53" fmla="*/ 34 h 86"/>
                <a:gd name="T54" fmla="*/ 87 w 87"/>
                <a:gd name="T55" fmla="*/ 44 h 86"/>
                <a:gd name="T56" fmla="*/ 87 w 87"/>
                <a:gd name="T57" fmla="*/ 44 h 86"/>
                <a:gd name="T58" fmla="*/ 86 w 87"/>
                <a:gd name="T59" fmla="*/ 52 h 86"/>
                <a:gd name="T60" fmla="*/ 83 w 87"/>
                <a:gd name="T61" fmla="*/ 60 h 86"/>
                <a:gd name="T62" fmla="*/ 79 w 87"/>
                <a:gd name="T63" fmla="*/ 67 h 86"/>
                <a:gd name="T64" fmla="*/ 75 w 87"/>
                <a:gd name="T65" fmla="*/ 74 h 86"/>
                <a:gd name="T66" fmla="*/ 68 w 87"/>
                <a:gd name="T67" fmla="*/ 78 h 86"/>
                <a:gd name="T68" fmla="*/ 61 w 87"/>
                <a:gd name="T69" fmla="*/ 82 h 86"/>
                <a:gd name="T70" fmla="*/ 53 w 87"/>
                <a:gd name="T71" fmla="*/ 85 h 86"/>
                <a:gd name="T72" fmla="*/ 44 w 87"/>
                <a:gd name="T73" fmla="*/ 86 h 86"/>
                <a:gd name="T74" fmla="*/ 44 w 87"/>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86"/>
                  </a:moveTo>
                  <a:lnTo>
                    <a:pt x="44" y="86"/>
                  </a:lnTo>
                  <a:lnTo>
                    <a:pt x="35" y="85"/>
                  </a:lnTo>
                  <a:lnTo>
                    <a:pt x="27" y="82"/>
                  </a:lnTo>
                  <a:lnTo>
                    <a:pt x="20" y="78"/>
                  </a:lnTo>
                  <a:lnTo>
                    <a:pt x="13" y="74"/>
                  </a:lnTo>
                  <a:lnTo>
                    <a:pt x="9" y="67"/>
                  </a:lnTo>
                  <a:lnTo>
                    <a:pt x="5" y="60"/>
                  </a:lnTo>
                  <a:lnTo>
                    <a:pt x="2" y="52"/>
                  </a:lnTo>
                  <a:lnTo>
                    <a:pt x="0" y="44"/>
                  </a:lnTo>
                  <a:lnTo>
                    <a:pt x="0" y="44"/>
                  </a:lnTo>
                  <a:lnTo>
                    <a:pt x="2" y="34"/>
                  </a:lnTo>
                  <a:lnTo>
                    <a:pt x="5" y="26"/>
                  </a:lnTo>
                  <a:lnTo>
                    <a:pt x="9" y="19"/>
                  </a:lnTo>
                  <a:lnTo>
                    <a:pt x="13" y="12"/>
                  </a:lnTo>
                  <a:lnTo>
                    <a:pt x="20" y="8"/>
                  </a:lnTo>
                  <a:lnTo>
                    <a:pt x="27" y="4"/>
                  </a:lnTo>
                  <a:lnTo>
                    <a:pt x="35" y="1"/>
                  </a:lnTo>
                  <a:lnTo>
                    <a:pt x="44" y="0"/>
                  </a:lnTo>
                  <a:lnTo>
                    <a:pt x="44" y="0"/>
                  </a:lnTo>
                  <a:lnTo>
                    <a:pt x="53" y="1"/>
                  </a:lnTo>
                  <a:lnTo>
                    <a:pt x="61" y="4"/>
                  </a:lnTo>
                  <a:lnTo>
                    <a:pt x="68" y="8"/>
                  </a:lnTo>
                  <a:lnTo>
                    <a:pt x="75" y="12"/>
                  </a:lnTo>
                  <a:lnTo>
                    <a:pt x="79" y="19"/>
                  </a:lnTo>
                  <a:lnTo>
                    <a:pt x="83" y="26"/>
                  </a:lnTo>
                  <a:lnTo>
                    <a:pt x="86" y="34"/>
                  </a:lnTo>
                  <a:lnTo>
                    <a:pt x="87" y="44"/>
                  </a:lnTo>
                  <a:lnTo>
                    <a:pt x="87" y="44"/>
                  </a:lnTo>
                  <a:lnTo>
                    <a:pt x="86" y="52"/>
                  </a:lnTo>
                  <a:lnTo>
                    <a:pt x="83" y="60"/>
                  </a:lnTo>
                  <a:lnTo>
                    <a:pt x="79" y="67"/>
                  </a:lnTo>
                  <a:lnTo>
                    <a:pt x="75" y="74"/>
                  </a:lnTo>
                  <a:lnTo>
                    <a:pt x="68" y="78"/>
                  </a:lnTo>
                  <a:lnTo>
                    <a:pt x="61" y="82"/>
                  </a:lnTo>
                  <a:lnTo>
                    <a:pt x="53" y="85"/>
                  </a:lnTo>
                  <a:lnTo>
                    <a:pt x="44" y="86"/>
                  </a:lnTo>
                  <a:lnTo>
                    <a:pt x="44"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6"/>
            <p:cNvSpPr>
              <a:spLocks/>
            </p:cNvSpPr>
            <p:nvPr userDrawn="1"/>
          </p:nvSpPr>
          <p:spPr bwMode="auto">
            <a:xfrm>
              <a:off x="3931" y="1116"/>
              <a:ext cx="44" cy="44"/>
            </a:xfrm>
            <a:custGeom>
              <a:avLst/>
              <a:gdLst>
                <a:gd name="T0" fmla="*/ 43 w 87"/>
                <a:gd name="T1" fmla="*/ 86 h 86"/>
                <a:gd name="T2" fmla="*/ 43 w 87"/>
                <a:gd name="T3" fmla="*/ 86 h 86"/>
                <a:gd name="T4" fmla="*/ 35 w 87"/>
                <a:gd name="T5" fmla="*/ 85 h 86"/>
                <a:gd name="T6" fmla="*/ 27 w 87"/>
                <a:gd name="T7" fmla="*/ 82 h 86"/>
                <a:gd name="T8" fmla="*/ 20 w 87"/>
                <a:gd name="T9" fmla="*/ 78 h 86"/>
                <a:gd name="T10" fmla="*/ 13 w 87"/>
                <a:gd name="T11" fmla="*/ 74 h 86"/>
                <a:gd name="T12" fmla="*/ 9 w 87"/>
                <a:gd name="T13" fmla="*/ 67 h 86"/>
                <a:gd name="T14" fmla="*/ 5 w 87"/>
                <a:gd name="T15" fmla="*/ 60 h 86"/>
                <a:gd name="T16" fmla="*/ 2 w 87"/>
                <a:gd name="T17" fmla="*/ 52 h 86"/>
                <a:gd name="T18" fmla="*/ 0 w 87"/>
                <a:gd name="T19" fmla="*/ 44 h 86"/>
                <a:gd name="T20" fmla="*/ 0 w 87"/>
                <a:gd name="T21" fmla="*/ 44 h 86"/>
                <a:gd name="T22" fmla="*/ 2 w 87"/>
                <a:gd name="T23" fmla="*/ 34 h 86"/>
                <a:gd name="T24" fmla="*/ 5 w 87"/>
                <a:gd name="T25" fmla="*/ 26 h 86"/>
                <a:gd name="T26" fmla="*/ 9 w 87"/>
                <a:gd name="T27" fmla="*/ 19 h 86"/>
                <a:gd name="T28" fmla="*/ 13 w 87"/>
                <a:gd name="T29" fmla="*/ 12 h 86"/>
                <a:gd name="T30" fmla="*/ 20 w 87"/>
                <a:gd name="T31" fmla="*/ 8 h 86"/>
                <a:gd name="T32" fmla="*/ 27 w 87"/>
                <a:gd name="T33" fmla="*/ 4 h 86"/>
                <a:gd name="T34" fmla="*/ 35 w 87"/>
                <a:gd name="T35" fmla="*/ 1 h 86"/>
                <a:gd name="T36" fmla="*/ 43 w 87"/>
                <a:gd name="T37" fmla="*/ 0 h 86"/>
                <a:gd name="T38" fmla="*/ 43 w 87"/>
                <a:gd name="T39" fmla="*/ 0 h 86"/>
                <a:gd name="T40" fmla="*/ 53 w 87"/>
                <a:gd name="T41" fmla="*/ 1 h 86"/>
                <a:gd name="T42" fmla="*/ 61 w 87"/>
                <a:gd name="T43" fmla="*/ 4 h 86"/>
                <a:gd name="T44" fmla="*/ 68 w 87"/>
                <a:gd name="T45" fmla="*/ 8 h 86"/>
                <a:gd name="T46" fmla="*/ 73 w 87"/>
                <a:gd name="T47" fmla="*/ 12 h 86"/>
                <a:gd name="T48" fmla="*/ 79 w 87"/>
                <a:gd name="T49" fmla="*/ 19 h 86"/>
                <a:gd name="T50" fmla="*/ 83 w 87"/>
                <a:gd name="T51" fmla="*/ 26 h 86"/>
                <a:gd name="T52" fmla="*/ 86 w 87"/>
                <a:gd name="T53" fmla="*/ 34 h 86"/>
                <a:gd name="T54" fmla="*/ 87 w 87"/>
                <a:gd name="T55" fmla="*/ 44 h 86"/>
                <a:gd name="T56" fmla="*/ 87 w 87"/>
                <a:gd name="T57" fmla="*/ 44 h 86"/>
                <a:gd name="T58" fmla="*/ 86 w 87"/>
                <a:gd name="T59" fmla="*/ 52 h 86"/>
                <a:gd name="T60" fmla="*/ 83 w 87"/>
                <a:gd name="T61" fmla="*/ 60 h 86"/>
                <a:gd name="T62" fmla="*/ 79 w 87"/>
                <a:gd name="T63" fmla="*/ 67 h 86"/>
                <a:gd name="T64" fmla="*/ 73 w 87"/>
                <a:gd name="T65" fmla="*/ 74 h 86"/>
                <a:gd name="T66" fmla="*/ 68 w 87"/>
                <a:gd name="T67" fmla="*/ 78 h 86"/>
                <a:gd name="T68" fmla="*/ 61 w 87"/>
                <a:gd name="T69" fmla="*/ 82 h 86"/>
                <a:gd name="T70" fmla="*/ 53 w 87"/>
                <a:gd name="T71" fmla="*/ 85 h 86"/>
                <a:gd name="T72" fmla="*/ 43 w 87"/>
                <a:gd name="T73" fmla="*/ 86 h 86"/>
                <a:gd name="T74" fmla="*/ 43 w 87"/>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3" y="86"/>
                  </a:moveTo>
                  <a:lnTo>
                    <a:pt x="43" y="86"/>
                  </a:lnTo>
                  <a:lnTo>
                    <a:pt x="35" y="85"/>
                  </a:lnTo>
                  <a:lnTo>
                    <a:pt x="27" y="82"/>
                  </a:lnTo>
                  <a:lnTo>
                    <a:pt x="20" y="78"/>
                  </a:lnTo>
                  <a:lnTo>
                    <a:pt x="13" y="74"/>
                  </a:lnTo>
                  <a:lnTo>
                    <a:pt x="9" y="67"/>
                  </a:lnTo>
                  <a:lnTo>
                    <a:pt x="5" y="60"/>
                  </a:lnTo>
                  <a:lnTo>
                    <a:pt x="2" y="52"/>
                  </a:lnTo>
                  <a:lnTo>
                    <a:pt x="0" y="44"/>
                  </a:lnTo>
                  <a:lnTo>
                    <a:pt x="0" y="44"/>
                  </a:lnTo>
                  <a:lnTo>
                    <a:pt x="2" y="34"/>
                  </a:lnTo>
                  <a:lnTo>
                    <a:pt x="5" y="26"/>
                  </a:lnTo>
                  <a:lnTo>
                    <a:pt x="9" y="19"/>
                  </a:lnTo>
                  <a:lnTo>
                    <a:pt x="13" y="12"/>
                  </a:lnTo>
                  <a:lnTo>
                    <a:pt x="20" y="8"/>
                  </a:lnTo>
                  <a:lnTo>
                    <a:pt x="27" y="4"/>
                  </a:lnTo>
                  <a:lnTo>
                    <a:pt x="35" y="1"/>
                  </a:lnTo>
                  <a:lnTo>
                    <a:pt x="43" y="0"/>
                  </a:lnTo>
                  <a:lnTo>
                    <a:pt x="43" y="0"/>
                  </a:lnTo>
                  <a:lnTo>
                    <a:pt x="53" y="1"/>
                  </a:lnTo>
                  <a:lnTo>
                    <a:pt x="61" y="4"/>
                  </a:lnTo>
                  <a:lnTo>
                    <a:pt x="68" y="8"/>
                  </a:lnTo>
                  <a:lnTo>
                    <a:pt x="73" y="12"/>
                  </a:lnTo>
                  <a:lnTo>
                    <a:pt x="79" y="19"/>
                  </a:lnTo>
                  <a:lnTo>
                    <a:pt x="83" y="26"/>
                  </a:lnTo>
                  <a:lnTo>
                    <a:pt x="86" y="34"/>
                  </a:lnTo>
                  <a:lnTo>
                    <a:pt x="87" y="44"/>
                  </a:lnTo>
                  <a:lnTo>
                    <a:pt x="87" y="44"/>
                  </a:lnTo>
                  <a:lnTo>
                    <a:pt x="86" y="52"/>
                  </a:lnTo>
                  <a:lnTo>
                    <a:pt x="83" y="60"/>
                  </a:lnTo>
                  <a:lnTo>
                    <a:pt x="79" y="67"/>
                  </a:lnTo>
                  <a:lnTo>
                    <a:pt x="73" y="74"/>
                  </a:lnTo>
                  <a:lnTo>
                    <a:pt x="68" y="78"/>
                  </a:lnTo>
                  <a:lnTo>
                    <a:pt x="61" y="82"/>
                  </a:lnTo>
                  <a:lnTo>
                    <a:pt x="53"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7"/>
            <p:cNvSpPr>
              <a:spLocks/>
            </p:cNvSpPr>
            <p:nvPr userDrawn="1"/>
          </p:nvSpPr>
          <p:spPr bwMode="auto">
            <a:xfrm>
              <a:off x="3762" y="947"/>
              <a:ext cx="43" cy="43"/>
            </a:xfrm>
            <a:custGeom>
              <a:avLst/>
              <a:gdLst>
                <a:gd name="T0" fmla="*/ 42 w 85"/>
                <a:gd name="T1" fmla="*/ 85 h 85"/>
                <a:gd name="T2" fmla="*/ 42 w 85"/>
                <a:gd name="T3" fmla="*/ 85 h 85"/>
                <a:gd name="T4" fmla="*/ 34 w 85"/>
                <a:gd name="T5" fmla="*/ 85 h 85"/>
                <a:gd name="T6" fmla="*/ 26 w 85"/>
                <a:gd name="T7" fmla="*/ 82 h 85"/>
                <a:gd name="T8" fmla="*/ 19 w 85"/>
                <a:gd name="T9" fmla="*/ 78 h 85"/>
                <a:gd name="T10" fmla="*/ 12 w 85"/>
                <a:gd name="T11" fmla="*/ 73 h 85"/>
                <a:gd name="T12" fmla="*/ 7 w 85"/>
                <a:gd name="T13" fmla="*/ 67 h 85"/>
                <a:gd name="T14" fmla="*/ 2 w 85"/>
                <a:gd name="T15" fmla="*/ 59 h 85"/>
                <a:gd name="T16" fmla="*/ 1 w 85"/>
                <a:gd name="T17" fmla="*/ 51 h 85"/>
                <a:gd name="T18" fmla="*/ 0 w 85"/>
                <a:gd name="T19" fmla="*/ 42 h 85"/>
                <a:gd name="T20" fmla="*/ 0 w 85"/>
                <a:gd name="T21" fmla="*/ 42 h 85"/>
                <a:gd name="T22" fmla="*/ 1 w 85"/>
                <a:gd name="T23" fmla="*/ 34 h 85"/>
                <a:gd name="T24" fmla="*/ 2 w 85"/>
                <a:gd name="T25" fmla="*/ 26 h 85"/>
                <a:gd name="T26" fmla="*/ 7 w 85"/>
                <a:gd name="T27" fmla="*/ 19 h 85"/>
                <a:gd name="T28" fmla="*/ 12 w 85"/>
                <a:gd name="T29" fmla="*/ 12 h 85"/>
                <a:gd name="T30" fmla="*/ 19 w 85"/>
                <a:gd name="T31" fmla="*/ 7 h 85"/>
                <a:gd name="T32" fmla="*/ 26 w 85"/>
                <a:gd name="T33" fmla="*/ 2 h 85"/>
                <a:gd name="T34" fmla="*/ 34 w 85"/>
                <a:gd name="T35" fmla="*/ 1 h 85"/>
                <a:gd name="T36" fmla="*/ 42 w 85"/>
                <a:gd name="T37" fmla="*/ 0 h 85"/>
                <a:gd name="T38" fmla="*/ 42 w 85"/>
                <a:gd name="T39" fmla="*/ 0 h 85"/>
                <a:gd name="T40" fmla="*/ 51 w 85"/>
                <a:gd name="T41" fmla="*/ 1 h 85"/>
                <a:gd name="T42" fmla="*/ 59 w 85"/>
                <a:gd name="T43" fmla="*/ 2 h 85"/>
                <a:gd name="T44" fmla="*/ 67 w 85"/>
                <a:gd name="T45" fmla="*/ 7 h 85"/>
                <a:gd name="T46" fmla="*/ 73 w 85"/>
                <a:gd name="T47" fmla="*/ 12 h 85"/>
                <a:gd name="T48" fmla="*/ 78 w 85"/>
                <a:gd name="T49" fmla="*/ 19 h 85"/>
                <a:gd name="T50" fmla="*/ 82 w 85"/>
                <a:gd name="T51" fmla="*/ 26 h 85"/>
                <a:gd name="T52" fmla="*/ 85 w 85"/>
                <a:gd name="T53" fmla="*/ 34 h 85"/>
                <a:gd name="T54" fmla="*/ 85 w 85"/>
                <a:gd name="T55" fmla="*/ 42 h 85"/>
                <a:gd name="T56" fmla="*/ 85 w 85"/>
                <a:gd name="T57" fmla="*/ 42 h 85"/>
                <a:gd name="T58" fmla="*/ 85 w 85"/>
                <a:gd name="T59" fmla="*/ 51 h 85"/>
                <a:gd name="T60" fmla="*/ 82 w 85"/>
                <a:gd name="T61" fmla="*/ 59 h 85"/>
                <a:gd name="T62" fmla="*/ 78 w 85"/>
                <a:gd name="T63" fmla="*/ 67 h 85"/>
                <a:gd name="T64" fmla="*/ 73 w 85"/>
                <a:gd name="T65" fmla="*/ 73 h 85"/>
                <a:gd name="T66" fmla="*/ 67 w 85"/>
                <a:gd name="T67" fmla="*/ 78 h 85"/>
                <a:gd name="T68" fmla="*/ 59 w 85"/>
                <a:gd name="T69" fmla="*/ 82 h 85"/>
                <a:gd name="T70" fmla="*/ 51 w 85"/>
                <a:gd name="T71" fmla="*/ 85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5"/>
                  </a:lnTo>
                  <a:lnTo>
                    <a:pt x="26" y="82"/>
                  </a:lnTo>
                  <a:lnTo>
                    <a:pt x="19" y="78"/>
                  </a:lnTo>
                  <a:lnTo>
                    <a:pt x="12" y="73"/>
                  </a:lnTo>
                  <a:lnTo>
                    <a:pt x="7" y="67"/>
                  </a:lnTo>
                  <a:lnTo>
                    <a:pt x="2" y="59"/>
                  </a:lnTo>
                  <a:lnTo>
                    <a:pt x="1" y="51"/>
                  </a:lnTo>
                  <a:lnTo>
                    <a:pt x="0" y="42"/>
                  </a:lnTo>
                  <a:lnTo>
                    <a:pt x="0" y="42"/>
                  </a:lnTo>
                  <a:lnTo>
                    <a:pt x="1" y="34"/>
                  </a:lnTo>
                  <a:lnTo>
                    <a:pt x="2" y="26"/>
                  </a:lnTo>
                  <a:lnTo>
                    <a:pt x="7" y="19"/>
                  </a:lnTo>
                  <a:lnTo>
                    <a:pt x="12" y="12"/>
                  </a:lnTo>
                  <a:lnTo>
                    <a:pt x="19" y="7"/>
                  </a:lnTo>
                  <a:lnTo>
                    <a:pt x="26" y="2"/>
                  </a:lnTo>
                  <a:lnTo>
                    <a:pt x="34" y="1"/>
                  </a:lnTo>
                  <a:lnTo>
                    <a:pt x="42" y="0"/>
                  </a:lnTo>
                  <a:lnTo>
                    <a:pt x="42" y="0"/>
                  </a:lnTo>
                  <a:lnTo>
                    <a:pt x="51" y="1"/>
                  </a:lnTo>
                  <a:lnTo>
                    <a:pt x="59" y="2"/>
                  </a:lnTo>
                  <a:lnTo>
                    <a:pt x="67" y="7"/>
                  </a:lnTo>
                  <a:lnTo>
                    <a:pt x="73" y="12"/>
                  </a:lnTo>
                  <a:lnTo>
                    <a:pt x="78" y="19"/>
                  </a:lnTo>
                  <a:lnTo>
                    <a:pt x="82" y="26"/>
                  </a:lnTo>
                  <a:lnTo>
                    <a:pt x="85" y="34"/>
                  </a:lnTo>
                  <a:lnTo>
                    <a:pt x="85" y="42"/>
                  </a:lnTo>
                  <a:lnTo>
                    <a:pt x="85" y="42"/>
                  </a:lnTo>
                  <a:lnTo>
                    <a:pt x="85" y="51"/>
                  </a:lnTo>
                  <a:lnTo>
                    <a:pt x="82" y="59"/>
                  </a:lnTo>
                  <a:lnTo>
                    <a:pt x="78" y="67"/>
                  </a:lnTo>
                  <a:lnTo>
                    <a:pt x="73" y="73"/>
                  </a:lnTo>
                  <a:lnTo>
                    <a:pt x="67" y="78"/>
                  </a:lnTo>
                  <a:lnTo>
                    <a:pt x="59" y="82"/>
                  </a:lnTo>
                  <a:lnTo>
                    <a:pt x="51" y="85"/>
                  </a:lnTo>
                  <a:lnTo>
                    <a:pt x="42" y="85"/>
                  </a:lnTo>
                  <a:lnTo>
                    <a:pt x="42"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8"/>
            <p:cNvSpPr>
              <a:spLocks/>
            </p:cNvSpPr>
            <p:nvPr userDrawn="1"/>
          </p:nvSpPr>
          <p:spPr bwMode="auto">
            <a:xfrm>
              <a:off x="3762" y="1004"/>
              <a:ext cx="43" cy="42"/>
            </a:xfrm>
            <a:custGeom>
              <a:avLst/>
              <a:gdLst>
                <a:gd name="T0" fmla="*/ 42 w 85"/>
                <a:gd name="T1" fmla="*/ 86 h 86"/>
                <a:gd name="T2" fmla="*/ 42 w 85"/>
                <a:gd name="T3" fmla="*/ 86 h 86"/>
                <a:gd name="T4" fmla="*/ 34 w 85"/>
                <a:gd name="T5" fmla="*/ 86 h 86"/>
                <a:gd name="T6" fmla="*/ 26 w 85"/>
                <a:gd name="T7" fmla="*/ 83 h 86"/>
                <a:gd name="T8" fmla="*/ 19 w 85"/>
                <a:gd name="T9" fmla="*/ 79 h 86"/>
                <a:gd name="T10" fmla="*/ 12 w 85"/>
                <a:gd name="T11" fmla="*/ 73 h 86"/>
                <a:gd name="T12" fmla="*/ 7 w 85"/>
                <a:gd name="T13" fmla="*/ 68 h 86"/>
                <a:gd name="T14" fmla="*/ 2 w 85"/>
                <a:gd name="T15" fmla="*/ 59 h 86"/>
                <a:gd name="T16" fmla="*/ 1 w 85"/>
                <a:gd name="T17" fmla="*/ 53 h 86"/>
                <a:gd name="T18" fmla="*/ 0 w 85"/>
                <a:gd name="T19" fmla="*/ 43 h 86"/>
                <a:gd name="T20" fmla="*/ 0 w 85"/>
                <a:gd name="T21" fmla="*/ 43 h 86"/>
                <a:gd name="T22" fmla="*/ 1 w 85"/>
                <a:gd name="T23" fmla="*/ 35 h 86"/>
                <a:gd name="T24" fmla="*/ 2 w 85"/>
                <a:gd name="T25" fmla="*/ 27 h 86"/>
                <a:gd name="T26" fmla="*/ 7 w 85"/>
                <a:gd name="T27" fmla="*/ 20 h 86"/>
                <a:gd name="T28" fmla="*/ 12 w 85"/>
                <a:gd name="T29" fmla="*/ 13 h 86"/>
                <a:gd name="T30" fmla="*/ 19 w 85"/>
                <a:gd name="T31" fmla="*/ 7 h 86"/>
                <a:gd name="T32" fmla="*/ 26 w 85"/>
                <a:gd name="T33" fmla="*/ 5 h 86"/>
                <a:gd name="T34" fmla="*/ 34 w 85"/>
                <a:gd name="T35" fmla="*/ 2 h 86"/>
                <a:gd name="T36" fmla="*/ 42 w 85"/>
                <a:gd name="T37" fmla="*/ 0 h 86"/>
                <a:gd name="T38" fmla="*/ 42 w 85"/>
                <a:gd name="T39" fmla="*/ 0 h 86"/>
                <a:gd name="T40" fmla="*/ 51 w 85"/>
                <a:gd name="T41" fmla="*/ 2 h 86"/>
                <a:gd name="T42" fmla="*/ 59 w 85"/>
                <a:gd name="T43" fmla="*/ 5 h 86"/>
                <a:gd name="T44" fmla="*/ 67 w 85"/>
                <a:gd name="T45" fmla="*/ 7 h 86"/>
                <a:gd name="T46" fmla="*/ 73 w 85"/>
                <a:gd name="T47" fmla="*/ 13 h 86"/>
                <a:gd name="T48" fmla="*/ 78 w 85"/>
                <a:gd name="T49" fmla="*/ 20 h 86"/>
                <a:gd name="T50" fmla="*/ 82 w 85"/>
                <a:gd name="T51" fmla="*/ 27 h 86"/>
                <a:gd name="T52" fmla="*/ 85 w 85"/>
                <a:gd name="T53" fmla="*/ 35 h 86"/>
                <a:gd name="T54" fmla="*/ 85 w 85"/>
                <a:gd name="T55" fmla="*/ 43 h 86"/>
                <a:gd name="T56" fmla="*/ 85 w 85"/>
                <a:gd name="T57" fmla="*/ 43 h 86"/>
                <a:gd name="T58" fmla="*/ 85 w 85"/>
                <a:gd name="T59" fmla="*/ 53 h 86"/>
                <a:gd name="T60" fmla="*/ 82 w 85"/>
                <a:gd name="T61" fmla="*/ 59 h 86"/>
                <a:gd name="T62" fmla="*/ 78 w 85"/>
                <a:gd name="T63" fmla="*/ 68 h 86"/>
                <a:gd name="T64" fmla="*/ 73 w 85"/>
                <a:gd name="T65" fmla="*/ 73 h 86"/>
                <a:gd name="T66" fmla="*/ 67 w 85"/>
                <a:gd name="T67" fmla="*/ 79 h 86"/>
                <a:gd name="T68" fmla="*/ 59 w 85"/>
                <a:gd name="T69" fmla="*/ 83 h 86"/>
                <a:gd name="T70" fmla="*/ 51 w 85"/>
                <a:gd name="T71" fmla="*/ 86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6"/>
                  </a:lnTo>
                  <a:lnTo>
                    <a:pt x="26" y="83"/>
                  </a:lnTo>
                  <a:lnTo>
                    <a:pt x="19" y="79"/>
                  </a:lnTo>
                  <a:lnTo>
                    <a:pt x="12" y="73"/>
                  </a:lnTo>
                  <a:lnTo>
                    <a:pt x="7" y="68"/>
                  </a:lnTo>
                  <a:lnTo>
                    <a:pt x="2" y="59"/>
                  </a:lnTo>
                  <a:lnTo>
                    <a:pt x="1" y="53"/>
                  </a:lnTo>
                  <a:lnTo>
                    <a:pt x="0" y="43"/>
                  </a:lnTo>
                  <a:lnTo>
                    <a:pt x="0" y="43"/>
                  </a:lnTo>
                  <a:lnTo>
                    <a:pt x="1" y="35"/>
                  </a:lnTo>
                  <a:lnTo>
                    <a:pt x="2" y="27"/>
                  </a:lnTo>
                  <a:lnTo>
                    <a:pt x="7" y="20"/>
                  </a:lnTo>
                  <a:lnTo>
                    <a:pt x="12" y="13"/>
                  </a:lnTo>
                  <a:lnTo>
                    <a:pt x="19" y="7"/>
                  </a:lnTo>
                  <a:lnTo>
                    <a:pt x="26" y="5"/>
                  </a:lnTo>
                  <a:lnTo>
                    <a:pt x="34" y="2"/>
                  </a:lnTo>
                  <a:lnTo>
                    <a:pt x="42" y="0"/>
                  </a:lnTo>
                  <a:lnTo>
                    <a:pt x="42" y="0"/>
                  </a:lnTo>
                  <a:lnTo>
                    <a:pt x="51" y="2"/>
                  </a:lnTo>
                  <a:lnTo>
                    <a:pt x="59" y="5"/>
                  </a:lnTo>
                  <a:lnTo>
                    <a:pt x="67" y="7"/>
                  </a:lnTo>
                  <a:lnTo>
                    <a:pt x="73" y="13"/>
                  </a:lnTo>
                  <a:lnTo>
                    <a:pt x="78" y="20"/>
                  </a:lnTo>
                  <a:lnTo>
                    <a:pt x="82" y="27"/>
                  </a:lnTo>
                  <a:lnTo>
                    <a:pt x="85" y="35"/>
                  </a:lnTo>
                  <a:lnTo>
                    <a:pt x="85" y="43"/>
                  </a:lnTo>
                  <a:lnTo>
                    <a:pt x="85" y="43"/>
                  </a:lnTo>
                  <a:lnTo>
                    <a:pt x="85" y="53"/>
                  </a:lnTo>
                  <a:lnTo>
                    <a:pt x="82" y="59"/>
                  </a:lnTo>
                  <a:lnTo>
                    <a:pt x="78" y="68"/>
                  </a:lnTo>
                  <a:lnTo>
                    <a:pt x="73" y="73"/>
                  </a:lnTo>
                  <a:lnTo>
                    <a:pt x="67" y="79"/>
                  </a:lnTo>
                  <a:lnTo>
                    <a:pt x="59" y="83"/>
                  </a:lnTo>
                  <a:lnTo>
                    <a:pt x="51" y="86"/>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9"/>
            <p:cNvSpPr>
              <a:spLocks/>
            </p:cNvSpPr>
            <p:nvPr userDrawn="1"/>
          </p:nvSpPr>
          <p:spPr bwMode="auto">
            <a:xfrm>
              <a:off x="3762" y="1060"/>
              <a:ext cx="43" cy="43"/>
            </a:xfrm>
            <a:custGeom>
              <a:avLst/>
              <a:gdLst>
                <a:gd name="T0" fmla="*/ 42 w 85"/>
                <a:gd name="T1" fmla="*/ 87 h 87"/>
                <a:gd name="T2" fmla="*/ 42 w 85"/>
                <a:gd name="T3" fmla="*/ 87 h 87"/>
                <a:gd name="T4" fmla="*/ 34 w 85"/>
                <a:gd name="T5" fmla="*/ 85 h 87"/>
                <a:gd name="T6" fmla="*/ 26 w 85"/>
                <a:gd name="T7" fmla="*/ 83 h 87"/>
                <a:gd name="T8" fmla="*/ 19 w 85"/>
                <a:gd name="T9" fmla="*/ 78 h 87"/>
                <a:gd name="T10" fmla="*/ 12 w 85"/>
                <a:gd name="T11" fmla="*/ 73 h 87"/>
                <a:gd name="T12" fmla="*/ 7 w 85"/>
                <a:gd name="T13" fmla="*/ 67 h 87"/>
                <a:gd name="T14" fmla="*/ 2 w 85"/>
                <a:gd name="T15" fmla="*/ 61 h 87"/>
                <a:gd name="T16" fmla="*/ 1 w 85"/>
                <a:gd name="T17" fmla="*/ 52 h 87"/>
                <a:gd name="T18" fmla="*/ 0 w 85"/>
                <a:gd name="T19" fmla="*/ 43 h 87"/>
                <a:gd name="T20" fmla="*/ 0 w 85"/>
                <a:gd name="T21" fmla="*/ 43 h 87"/>
                <a:gd name="T22" fmla="*/ 1 w 85"/>
                <a:gd name="T23" fmla="*/ 34 h 87"/>
                <a:gd name="T24" fmla="*/ 2 w 85"/>
                <a:gd name="T25" fmla="*/ 26 h 87"/>
                <a:gd name="T26" fmla="*/ 7 w 85"/>
                <a:gd name="T27" fmla="*/ 19 h 87"/>
                <a:gd name="T28" fmla="*/ 12 w 85"/>
                <a:gd name="T29" fmla="*/ 12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7 w 85"/>
                <a:gd name="T45" fmla="*/ 8 h 87"/>
                <a:gd name="T46" fmla="*/ 73 w 85"/>
                <a:gd name="T47" fmla="*/ 12 h 87"/>
                <a:gd name="T48" fmla="*/ 78 w 85"/>
                <a:gd name="T49" fmla="*/ 19 h 87"/>
                <a:gd name="T50" fmla="*/ 82 w 85"/>
                <a:gd name="T51" fmla="*/ 26 h 87"/>
                <a:gd name="T52" fmla="*/ 85 w 85"/>
                <a:gd name="T53" fmla="*/ 34 h 87"/>
                <a:gd name="T54" fmla="*/ 85 w 85"/>
                <a:gd name="T55" fmla="*/ 43 h 87"/>
                <a:gd name="T56" fmla="*/ 85 w 85"/>
                <a:gd name="T57" fmla="*/ 43 h 87"/>
                <a:gd name="T58" fmla="*/ 85 w 85"/>
                <a:gd name="T59" fmla="*/ 52 h 87"/>
                <a:gd name="T60" fmla="*/ 82 w 85"/>
                <a:gd name="T61" fmla="*/ 61 h 87"/>
                <a:gd name="T62" fmla="*/ 78 w 85"/>
                <a:gd name="T63" fmla="*/ 67 h 87"/>
                <a:gd name="T64" fmla="*/ 73 w 85"/>
                <a:gd name="T65" fmla="*/ 73 h 87"/>
                <a:gd name="T66" fmla="*/ 67 w 85"/>
                <a:gd name="T67" fmla="*/ 78 h 87"/>
                <a:gd name="T68" fmla="*/ 59 w 85"/>
                <a:gd name="T69" fmla="*/ 83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3"/>
                  </a:lnTo>
                  <a:lnTo>
                    <a:pt x="19" y="78"/>
                  </a:lnTo>
                  <a:lnTo>
                    <a:pt x="12" y="73"/>
                  </a:lnTo>
                  <a:lnTo>
                    <a:pt x="7" y="67"/>
                  </a:lnTo>
                  <a:lnTo>
                    <a:pt x="2" y="61"/>
                  </a:lnTo>
                  <a:lnTo>
                    <a:pt x="1" y="52"/>
                  </a:lnTo>
                  <a:lnTo>
                    <a:pt x="0" y="43"/>
                  </a:lnTo>
                  <a:lnTo>
                    <a:pt x="0" y="43"/>
                  </a:lnTo>
                  <a:lnTo>
                    <a:pt x="1" y="34"/>
                  </a:lnTo>
                  <a:lnTo>
                    <a:pt x="2" y="26"/>
                  </a:lnTo>
                  <a:lnTo>
                    <a:pt x="7" y="19"/>
                  </a:lnTo>
                  <a:lnTo>
                    <a:pt x="12" y="12"/>
                  </a:lnTo>
                  <a:lnTo>
                    <a:pt x="19" y="8"/>
                  </a:lnTo>
                  <a:lnTo>
                    <a:pt x="26" y="4"/>
                  </a:lnTo>
                  <a:lnTo>
                    <a:pt x="34" y="1"/>
                  </a:lnTo>
                  <a:lnTo>
                    <a:pt x="42" y="0"/>
                  </a:lnTo>
                  <a:lnTo>
                    <a:pt x="42" y="0"/>
                  </a:lnTo>
                  <a:lnTo>
                    <a:pt x="51" y="1"/>
                  </a:lnTo>
                  <a:lnTo>
                    <a:pt x="59" y="4"/>
                  </a:lnTo>
                  <a:lnTo>
                    <a:pt x="67" y="8"/>
                  </a:lnTo>
                  <a:lnTo>
                    <a:pt x="73" y="12"/>
                  </a:lnTo>
                  <a:lnTo>
                    <a:pt x="78" y="19"/>
                  </a:lnTo>
                  <a:lnTo>
                    <a:pt x="82" y="26"/>
                  </a:lnTo>
                  <a:lnTo>
                    <a:pt x="85" y="34"/>
                  </a:lnTo>
                  <a:lnTo>
                    <a:pt x="85" y="43"/>
                  </a:lnTo>
                  <a:lnTo>
                    <a:pt x="85" y="43"/>
                  </a:lnTo>
                  <a:lnTo>
                    <a:pt x="85" y="52"/>
                  </a:lnTo>
                  <a:lnTo>
                    <a:pt x="82" y="61"/>
                  </a:lnTo>
                  <a:lnTo>
                    <a:pt x="78" y="67"/>
                  </a:lnTo>
                  <a:lnTo>
                    <a:pt x="73" y="73"/>
                  </a:lnTo>
                  <a:lnTo>
                    <a:pt x="67" y="78"/>
                  </a:lnTo>
                  <a:lnTo>
                    <a:pt x="59" y="83"/>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0"/>
            <p:cNvSpPr>
              <a:spLocks/>
            </p:cNvSpPr>
            <p:nvPr userDrawn="1"/>
          </p:nvSpPr>
          <p:spPr bwMode="auto">
            <a:xfrm>
              <a:off x="3705" y="665"/>
              <a:ext cx="43" cy="43"/>
            </a:xfrm>
            <a:custGeom>
              <a:avLst/>
              <a:gdLst>
                <a:gd name="T0" fmla="*/ 42 w 85"/>
                <a:gd name="T1" fmla="*/ 87 h 87"/>
                <a:gd name="T2" fmla="*/ 42 w 85"/>
                <a:gd name="T3" fmla="*/ 87 h 87"/>
                <a:gd name="T4" fmla="*/ 34 w 85"/>
                <a:gd name="T5" fmla="*/ 85 h 87"/>
                <a:gd name="T6" fmla="*/ 26 w 85"/>
                <a:gd name="T7" fmla="*/ 82 h 87"/>
                <a:gd name="T8" fmla="*/ 19 w 85"/>
                <a:gd name="T9" fmla="*/ 80 h 87"/>
                <a:gd name="T10" fmla="*/ 12 w 85"/>
                <a:gd name="T11" fmla="*/ 74 h 87"/>
                <a:gd name="T12" fmla="*/ 7 w 85"/>
                <a:gd name="T13" fmla="*/ 67 h 87"/>
                <a:gd name="T14" fmla="*/ 3 w 85"/>
                <a:gd name="T15" fmla="*/ 60 h 87"/>
                <a:gd name="T16" fmla="*/ 0 w 85"/>
                <a:gd name="T17" fmla="*/ 52 h 87"/>
                <a:gd name="T18" fmla="*/ 0 w 85"/>
                <a:gd name="T19" fmla="*/ 44 h 87"/>
                <a:gd name="T20" fmla="*/ 0 w 85"/>
                <a:gd name="T21" fmla="*/ 44 h 87"/>
                <a:gd name="T22" fmla="*/ 0 w 85"/>
                <a:gd name="T23" fmla="*/ 34 h 87"/>
                <a:gd name="T24" fmla="*/ 3 w 85"/>
                <a:gd name="T25" fmla="*/ 27 h 87"/>
                <a:gd name="T26" fmla="*/ 7 w 85"/>
                <a:gd name="T27" fmla="*/ 19 h 87"/>
                <a:gd name="T28" fmla="*/ 12 w 85"/>
                <a:gd name="T29" fmla="*/ 14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6 w 85"/>
                <a:gd name="T45" fmla="*/ 8 h 87"/>
                <a:gd name="T46" fmla="*/ 73 w 85"/>
                <a:gd name="T47" fmla="*/ 14 h 87"/>
                <a:gd name="T48" fmla="*/ 78 w 85"/>
                <a:gd name="T49" fmla="*/ 19 h 87"/>
                <a:gd name="T50" fmla="*/ 82 w 85"/>
                <a:gd name="T51" fmla="*/ 27 h 87"/>
                <a:gd name="T52" fmla="*/ 85 w 85"/>
                <a:gd name="T53" fmla="*/ 34 h 87"/>
                <a:gd name="T54" fmla="*/ 85 w 85"/>
                <a:gd name="T55" fmla="*/ 44 h 87"/>
                <a:gd name="T56" fmla="*/ 85 w 85"/>
                <a:gd name="T57" fmla="*/ 44 h 87"/>
                <a:gd name="T58" fmla="*/ 85 w 85"/>
                <a:gd name="T59" fmla="*/ 52 h 87"/>
                <a:gd name="T60" fmla="*/ 82 w 85"/>
                <a:gd name="T61" fmla="*/ 60 h 87"/>
                <a:gd name="T62" fmla="*/ 78 w 85"/>
                <a:gd name="T63" fmla="*/ 67 h 87"/>
                <a:gd name="T64" fmla="*/ 73 w 85"/>
                <a:gd name="T65" fmla="*/ 74 h 87"/>
                <a:gd name="T66" fmla="*/ 66 w 85"/>
                <a:gd name="T67" fmla="*/ 80 h 87"/>
                <a:gd name="T68" fmla="*/ 59 w 85"/>
                <a:gd name="T69" fmla="*/ 82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2"/>
                  </a:lnTo>
                  <a:lnTo>
                    <a:pt x="19" y="80"/>
                  </a:lnTo>
                  <a:lnTo>
                    <a:pt x="12" y="74"/>
                  </a:lnTo>
                  <a:lnTo>
                    <a:pt x="7" y="67"/>
                  </a:lnTo>
                  <a:lnTo>
                    <a:pt x="3" y="60"/>
                  </a:lnTo>
                  <a:lnTo>
                    <a:pt x="0" y="52"/>
                  </a:lnTo>
                  <a:lnTo>
                    <a:pt x="0" y="44"/>
                  </a:lnTo>
                  <a:lnTo>
                    <a:pt x="0" y="44"/>
                  </a:lnTo>
                  <a:lnTo>
                    <a:pt x="0" y="34"/>
                  </a:lnTo>
                  <a:lnTo>
                    <a:pt x="3" y="27"/>
                  </a:lnTo>
                  <a:lnTo>
                    <a:pt x="7" y="19"/>
                  </a:lnTo>
                  <a:lnTo>
                    <a:pt x="12" y="14"/>
                  </a:lnTo>
                  <a:lnTo>
                    <a:pt x="19" y="8"/>
                  </a:lnTo>
                  <a:lnTo>
                    <a:pt x="26" y="4"/>
                  </a:lnTo>
                  <a:lnTo>
                    <a:pt x="34" y="1"/>
                  </a:lnTo>
                  <a:lnTo>
                    <a:pt x="42" y="0"/>
                  </a:lnTo>
                  <a:lnTo>
                    <a:pt x="42" y="0"/>
                  </a:lnTo>
                  <a:lnTo>
                    <a:pt x="51" y="1"/>
                  </a:lnTo>
                  <a:lnTo>
                    <a:pt x="59" y="4"/>
                  </a:lnTo>
                  <a:lnTo>
                    <a:pt x="66" y="8"/>
                  </a:lnTo>
                  <a:lnTo>
                    <a:pt x="73" y="14"/>
                  </a:lnTo>
                  <a:lnTo>
                    <a:pt x="78" y="19"/>
                  </a:lnTo>
                  <a:lnTo>
                    <a:pt x="82" y="27"/>
                  </a:lnTo>
                  <a:lnTo>
                    <a:pt x="85" y="34"/>
                  </a:lnTo>
                  <a:lnTo>
                    <a:pt x="85" y="44"/>
                  </a:lnTo>
                  <a:lnTo>
                    <a:pt x="85" y="44"/>
                  </a:lnTo>
                  <a:lnTo>
                    <a:pt x="85" y="52"/>
                  </a:lnTo>
                  <a:lnTo>
                    <a:pt x="82" y="60"/>
                  </a:lnTo>
                  <a:lnTo>
                    <a:pt x="78" y="67"/>
                  </a:lnTo>
                  <a:lnTo>
                    <a:pt x="73" y="74"/>
                  </a:lnTo>
                  <a:lnTo>
                    <a:pt x="66" y="80"/>
                  </a:lnTo>
                  <a:lnTo>
                    <a:pt x="59" y="82"/>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1"/>
            <p:cNvSpPr>
              <a:spLocks/>
            </p:cNvSpPr>
            <p:nvPr userDrawn="1"/>
          </p:nvSpPr>
          <p:spPr bwMode="auto">
            <a:xfrm>
              <a:off x="3705" y="891"/>
              <a:ext cx="43" cy="43"/>
            </a:xfrm>
            <a:custGeom>
              <a:avLst/>
              <a:gdLst>
                <a:gd name="T0" fmla="*/ 42 w 85"/>
                <a:gd name="T1" fmla="*/ 85 h 85"/>
                <a:gd name="T2" fmla="*/ 42 w 85"/>
                <a:gd name="T3" fmla="*/ 85 h 85"/>
                <a:gd name="T4" fmla="*/ 34 w 85"/>
                <a:gd name="T5" fmla="*/ 85 h 85"/>
                <a:gd name="T6" fmla="*/ 26 w 85"/>
                <a:gd name="T7" fmla="*/ 83 h 85"/>
                <a:gd name="T8" fmla="*/ 19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9 w 85"/>
                <a:gd name="T31" fmla="*/ 7 h 85"/>
                <a:gd name="T32" fmla="*/ 26 w 85"/>
                <a:gd name="T33" fmla="*/ 3 h 85"/>
                <a:gd name="T34" fmla="*/ 34 w 85"/>
                <a:gd name="T35" fmla="*/ 1 h 85"/>
                <a:gd name="T36" fmla="*/ 42 w 85"/>
                <a:gd name="T37" fmla="*/ 0 h 85"/>
                <a:gd name="T38" fmla="*/ 42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2 w 85"/>
                <a:gd name="T51" fmla="*/ 26 h 85"/>
                <a:gd name="T52" fmla="*/ 85 w 85"/>
                <a:gd name="T53" fmla="*/ 34 h 85"/>
                <a:gd name="T54" fmla="*/ 85 w 85"/>
                <a:gd name="T55" fmla="*/ 43 h 85"/>
                <a:gd name="T56" fmla="*/ 85 w 85"/>
                <a:gd name="T57" fmla="*/ 43 h 85"/>
                <a:gd name="T58" fmla="*/ 85 w 85"/>
                <a:gd name="T59" fmla="*/ 51 h 85"/>
                <a:gd name="T60" fmla="*/ 82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5"/>
                  </a:lnTo>
                  <a:lnTo>
                    <a:pt x="26" y="83"/>
                  </a:lnTo>
                  <a:lnTo>
                    <a:pt x="19" y="78"/>
                  </a:lnTo>
                  <a:lnTo>
                    <a:pt x="12" y="73"/>
                  </a:lnTo>
                  <a:lnTo>
                    <a:pt x="7" y="67"/>
                  </a:lnTo>
                  <a:lnTo>
                    <a:pt x="3" y="59"/>
                  </a:lnTo>
                  <a:lnTo>
                    <a:pt x="0" y="51"/>
                  </a:lnTo>
                  <a:lnTo>
                    <a:pt x="0" y="43"/>
                  </a:lnTo>
                  <a:lnTo>
                    <a:pt x="0" y="43"/>
                  </a:lnTo>
                  <a:lnTo>
                    <a:pt x="0" y="34"/>
                  </a:lnTo>
                  <a:lnTo>
                    <a:pt x="3" y="26"/>
                  </a:lnTo>
                  <a:lnTo>
                    <a:pt x="7" y="19"/>
                  </a:lnTo>
                  <a:lnTo>
                    <a:pt x="12" y="12"/>
                  </a:lnTo>
                  <a:lnTo>
                    <a:pt x="19" y="7"/>
                  </a:lnTo>
                  <a:lnTo>
                    <a:pt x="26" y="3"/>
                  </a:lnTo>
                  <a:lnTo>
                    <a:pt x="34" y="1"/>
                  </a:lnTo>
                  <a:lnTo>
                    <a:pt x="42" y="0"/>
                  </a:lnTo>
                  <a:lnTo>
                    <a:pt x="42" y="0"/>
                  </a:lnTo>
                  <a:lnTo>
                    <a:pt x="51" y="1"/>
                  </a:lnTo>
                  <a:lnTo>
                    <a:pt x="59" y="3"/>
                  </a:lnTo>
                  <a:lnTo>
                    <a:pt x="66" y="7"/>
                  </a:lnTo>
                  <a:lnTo>
                    <a:pt x="73" y="12"/>
                  </a:lnTo>
                  <a:lnTo>
                    <a:pt x="78" y="19"/>
                  </a:lnTo>
                  <a:lnTo>
                    <a:pt x="82" y="26"/>
                  </a:lnTo>
                  <a:lnTo>
                    <a:pt x="85" y="34"/>
                  </a:lnTo>
                  <a:lnTo>
                    <a:pt x="85" y="43"/>
                  </a:lnTo>
                  <a:lnTo>
                    <a:pt x="85" y="43"/>
                  </a:lnTo>
                  <a:lnTo>
                    <a:pt x="85" y="51"/>
                  </a:lnTo>
                  <a:lnTo>
                    <a:pt x="82" y="59"/>
                  </a:lnTo>
                  <a:lnTo>
                    <a:pt x="78" y="67"/>
                  </a:lnTo>
                  <a:lnTo>
                    <a:pt x="73" y="73"/>
                  </a:lnTo>
                  <a:lnTo>
                    <a:pt x="66" y="78"/>
                  </a:lnTo>
                  <a:lnTo>
                    <a:pt x="59" y="83"/>
                  </a:lnTo>
                  <a:lnTo>
                    <a:pt x="51" y="85"/>
                  </a:lnTo>
                  <a:lnTo>
                    <a:pt x="42" y="85"/>
                  </a:lnTo>
                  <a:lnTo>
                    <a:pt x="42"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2"/>
            <p:cNvSpPr>
              <a:spLocks/>
            </p:cNvSpPr>
            <p:nvPr userDrawn="1"/>
          </p:nvSpPr>
          <p:spPr bwMode="auto">
            <a:xfrm>
              <a:off x="3705" y="947"/>
              <a:ext cx="43" cy="43"/>
            </a:xfrm>
            <a:custGeom>
              <a:avLst/>
              <a:gdLst>
                <a:gd name="T0" fmla="*/ 42 w 85"/>
                <a:gd name="T1" fmla="*/ 85 h 85"/>
                <a:gd name="T2" fmla="*/ 42 w 85"/>
                <a:gd name="T3" fmla="*/ 85 h 85"/>
                <a:gd name="T4" fmla="*/ 34 w 85"/>
                <a:gd name="T5" fmla="*/ 85 h 85"/>
                <a:gd name="T6" fmla="*/ 26 w 85"/>
                <a:gd name="T7" fmla="*/ 82 h 85"/>
                <a:gd name="T8" fmla="*/ 19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9 w 85"/>
                <a:gd name="T31" fmla="*/ 7 h 85"/>
                <a:gd name="T32" fmla="*/ 26 w 85"/>
                <a:gd name="T33" fmla="*/ 2 h 85"/>
                <a:gd name="T34" fmla="*/ 34 w 85"/>
                <a:gd name="T35" fmla="*/ 1 h 85"/>
                <a:gd name="T36" fmla="*/ 42 w 85"/>
                <a:gd name="T37" fmla="*/ 0 h 85"/>
                <a:gd name="T38" fmla="*/ 42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2 w 85"/>
                <a:gd name="T51" fmla="*/ 26 h 85"/>
                <a:gd name="T52" fmla="*/ 85 w 85"/>
                <a:gd name="T53" fmla="*/ 34 h 85"/>
                <a:gd name="T54" fmla="*/ 85 w 85"/>
                <a:gd name="T55" fmla="*/ 42 h 85"/>
                <a:gd name="T56" fmla="*/ 85 w 85"/>
                <a:gd name="T57" fmla="*/ 42 h 85"/>
                <a:gd name="T58" fmla="*/ 85 w 85"/>
                <a:gd name="T59" fmla="*/ 51 h 85"/>
                <a:gd name="T60" fmla="*/ 82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5"/>
                  </a:lnTo>
                  <a:lnTo>
                    <a:pt x="26" y="82"/>
                  </a:lnTo>
                  <a:lnTo>
                    <a:pt x="19" y="78"/>
                  </a:lnTo>
                  <a:lnTo>
                    <a:pt x="12" y="73"/>
                  </a:lnTo>
                  <a:lnTo>
                    <a:pt x="7" y="67"/>
                  </a:lnTo>
                  <a:lnTo>
                    <a:pt x="3" y="59"/>
                  </a:lnTo>
                  <a:lnTo>
                    <a:pt x="0" y="51"/>
                  </a:lnTo>
                  <a:lnTo>
                    <a:pt x="0" y="42"/>
                  </a:lnTo>
                  <a:lnTo>
                    <a:pt x="0" y="42"/>
                  </a:lnTo>
                  <a:lnTo>
                    <a:pt x="0" y="34"/>
                  </a:lnTo>
                  <a:lnTo>
                    <a:pt x="3" y="26"/>
                  </a:lnTo>
                  <a:lnTo>
                    <a:pt x="7" y="19"/>
                  </a:lnTo>
                  <a:lnTo>
                    <a:pt x="12" y="12"/>
                  </a:lnTo>
                  <a:lnTo>
                    <a:pt x="19" y="7"/>
                  </a:lnTo>
                  <a:lnTo>
                    <a:pt x="26" y="2"/>
                  </a:lnTo>
                  <a:lnTo>
                    <a:pt x="34" y="1"/>
                  </a:lnTo>
                  <a:lnTo>
                    <a:pt x="42" y="0"/>
                  </a:lnTo>
                  <a:lnTo>
                    <a:pt x="42" y="0"/>
                  </a:lnTo>
                  <a:lnTo>
                    <a:pt x="51" y="1"/>
                  </a:lnTo>
                  <a:lnTo>
                    <a:pt x="59" y="2"/>
                  </a:lnTo>
                  <a:lnTo>
                    <a:pt x="66" y="7"/>
                  </a:lnTo>
                  <a:lnTo>
                    <a:pt x="73" y="12"/>
                  </a:lnTo>
                  <a:lnTo>
                    <a:pt x="78" y="19"/>
                  </a:lnTo>
                  <a:lnTo>
                    <a:pt x="82" y="26"/>
                  </a:lnTo>
                  <a:lnTo>
                    <a:pt x="85" y="34"/>
                  </a:lnTo>
                  <a:lnTo>
                    <a:pt x="85" y="42"/>
                  </a:lnTo>
                  <a:lnTo>
                    <a:pt x="85" y="42"/>
                  </a:lnTo>
                  <a:lnTo>
                    <a:pt x="85" y="51"/>
                  </a:lnTo>
                  <a:lnTo>
                    <a:pt x="82" y="59"/>
                  </a:lnTo>
                  <a:lnTo>
                    <a:pt x="78" y="67"/>
                  </a:lnTo>
                  <a:lnTo>
                    <a:pt x="73" y="73"/>
                  </a:lnTo>
                  <a:lnTo>
                    <a:pt x="66" y="78"/>
                  </a:lnTo>
                  <a:lnTo>
                    <a:pt x="59" y="82"/>
                  </a:lnTo>
                  <a:lnTo>
                    <a:pt x="51" y="85"/>
                  </a:lnTo>
                  <a:lnTo>
                    <a:pt x="42" y="85"/>
                  </a:lnTo>
                  <a:lnTo>
                    <a:pt x="42"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3"/>
            <p:cNvSpPr>
              <a:spLocks/>
            </p:cNvSpPr>
            <p:nvPr userDrawn="1"/>
          </p:nvSpPr>
          <p:spPr bwMode="auto">
            <a:xfrm>
              <a:off x="3705" y="1004"/>
              <a:ext cx="43" cy="42"/>
            </a:xfrm>
            <a:custGeom>
              <a:avLst/>
              <a:gdLst>
                <a:gd name="T0" fmla="*/ 42 w 85"/>
                <a:gd name="T1" fmla="*/ 86 h 86"/>
                <a:gd name="T2" fmla="*/ 42 w 85"/>
                <a:gd name="T3" fmla="*/ 86 h 86"/>
                <a:gd name="T4" fmla="*/ 34 w 85"/>
                <a:gd name="T5" fmla="*/ 86 h 86"/>
                <a:gd name="T6" fmla="*/ 26 w 85"/>
                <a:gd name="T7" fmla="*/ 83 h 86"/>
                <a:gd name="T8" fmla="*/ 19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9 w 85"/>
                <a:gd name="T31" fmla="*/ 7 h 86"/>
                <a:gd name="T32" fmla="*/ 26 w 85"/>
                <a:gd name="T33" fmla="*/ 5 h 86"/>
                <a:gd name="T34" fmla="*/ 34 w 85"/>
                <a:gd name="T35" fmla="*/ 2 h 86"/>
                <a:gd name="T36" fmla="*/ 42 w 85"/>
                <a:gd name="T37" fmla="*/ 0 h 86"/>
                <a:gd name="T38" fmla="*/ 42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2 w 85"/>
                <a:gd name="T51" fmla="*/ 27 h 86"/>
                <a:gd name="T52" fmla="*/ 85 w 85"/>
                <a:gd name="T53" fmla="*/ 35 h 86"/>
                <a:gd name="T54" fmla="*/ 85 w 85"/>
                <a:gd name="T55" fmla="*/ 43 h 86"/>
                <a:gd name="T56" fmla="*/ 85 w 85"/>
                <a:gd name="T57" fmla="*/ 43 h 86"/>
                <a:gd name="T58" fmla="*/ 85 w 85"/>
                <a:gd name="T59" fmla="*/ 53 h 86"/>
                <a:gd name="T60" fmla="*/ 82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6"/>
                  </a:lnTo>
                  <a:lnTo>
                    <a:pt x="26" y="83"/>
                  </a:lnTo>
                  <a:lnTo>
                    <a:pt x="19" y="79"/>
                  </a:lnTo>
                  <a:lnTo>
                    <a:pt x="12" y="73"/>
                  </a:lnTo>
                  <a:lnTo>
                    <a:pt x="7" y="68"/>
                  </a:lnTo>
                  <a:lnTo>
                    <a:pt x="3" y="59"/>
                  </a:lnTo>
                  <a:lnTo>
                    <a:pt x="0" y="53"/>
                  </a:lnTo>
                  <a:lnTo>
                    <a:pt x="0" y="43"/>
                  </a:lnTo>
                  <a:lnTo>
                    <a:pt x="0" y="43"/>
                  </a:lnTo>
                  <a:lnTo>
                    <a:pt x="0" y="35"/>
                  </a:lnTo>
                  <a:lnTo>
                    <a:pt x="3" y="27"/>
                  </a:lnTo>
                  <a:lnTo>
                    <a:pt x="7" y="20"/>
                  </a:lnTo>
                  <a:lnTo>
                    <a:pt x="12" y="13"/>
                  </a:lnTo>
                  <a:lnTo>
                    <a:pt x="19" y="7"/>
                  </a:lnTo>
                  <a:lnTo>
                    <a:pt x="26" y="5"/>
                  </a:lnTo>
                  <a:lnTo>
                    <a:pt x="34" y="2"/>
                  </a:lnTo>
                  <a:lnTo>
                    <a:pt x="42" y="0"/>
                  </a:lnTo>
                  <a:lnTo>
                    <a:pt x="42" y="0"/>
                  </a:lnTo>
                  <a:lnTo>
                    <a:pt x="51" y="2"/>
                  </a:lnTo>
                  <a:lnTo>
                    <a:pt x="59" y="5"/>
                  </a:lnTo>
                  <a:lnTo>
                    <a:pt x="66" y="7"/>
                  </a:lnTo>
                  <a:lnTo>
                    <a:pt x="73" y="13"/>
                  </a:lnTo>
                  <a:lnTo>
                    <a:pt x="78" y="20"/>
                  </a:lnTo>
                  <a:lnTo>
                    <a:pt x="82" y="27"/>
                  </a:lnTo>
                  <a:lnTo>
                    <a:pt x="85" y="35"/>
                  </a:lnTo>
                  <a:lnTo>
                    <a:pt x="85" y="43"/>
                  </a:lnTo>
                  <a:lnTo>
                    <a:pt x="85" y="43"/>
                  </a:lnTo>
                  <a:lnTo>
                    <a:pt x="85" y="53"/>
                  </a:lnTo>
                  <a:lnTo>
                    <a:pt x="82" y="59"/>
                  </a:lnTo>
                  <a:lnTo>
                    <a:pt x="78" y="68"/>
                  </a:lnTo>
                  <a:lnTo>
                    <a:pt x="73" y="73"/>
                  </a:lnTo>
                  <a:lnTo>
                    <a:pt x="66" y="79"/>
                  </a:lnTo>
                  <a:lnTo>
                    <a:pt x="59" y="83"/>
                  </a:lnTo>
                  <a:lnTo>
                    <a:pt x="51" y="86"/>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4"/>
            <p:cNvSpPr>
              <a:spLocks/>
            </p:cNvSpPr>
            <p:nvPr userDrawn="1"/>
          </p:nvSpPr>
          <p:spPr bwMode="auto">
            <a:xfrm>
              <a:off x="3705" y="1060"/>
              <a:ext cx="43" cy="43"/>
            </a:xfrm>
            <a:custGeom>
              <a:avLst/>
              <a:gdLst>
                <a:gd name="T0" fmla="*/ 42 w 85"/>
                <a:gd name="T1" fmla="*/ 87 h 87"/>
                <a:gd name="T2" fmla="*/ 42 w 85"/>
                <a:gd name="T3" fmla="*/ 87 h 87"/>
                <a:gd name="T4" fmla="*/ 34 w 85"/>
                <a:gd name="T5" fmla="*/ 85 h 87"/>
                <a:gd name="T6" fmla="*/ 26 w 85"/>
                <a:gd name="T7" fmla="*/ 83 h 87"/>
                <a:gd name="T8" fmla="*/ 19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2 w 85"/>
                <a:gd name="T51" fmla="*/ 26 h 87"/>
                <a:gd name="T52" fmla="*/ 85 w 85"/>
                <a:gd name="T53" fmla="*/ 34 h 87"/>
                <a:gd name="T54" fmla="*/ 85 w 85"/>
                <a:gd name="T55" fmla="*/ 43 h 87"/>
                <a:gd name="T56" fmla="*/ 85 w 85"/>
                <a:gd name="T57" fmla="*/ 43 h 87"/>
                <a:gd name="T58" fmla="*/ 85 w 85"/>
                <a:gd name="T59" fmla="*/ 52 h 87"/>
                <a:gd name="T60" fmla="*/ 82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3"/>
                  </a:lnTo>
                  <a:lnTo>
                    <a:pt x="19" y="78"/>
                  </a:lnTo>
                  <a:lnTo>
                    <a:pt x="12" y="73"/>
                  </a:lnTo>
                  <a:lnTo>
                    <a:pt x="7" y="67"/>
                  </a:lnTo>
                  <a:lnTo>
                    <a:pt x="3" y="61"/>
                  </a:lnTo>
                  <a:lnTo>
                    <a:pt x="0" y="52"/>
                  </a:lnTo>
                  <a:lnTo>
                    <a:pt x="0" y="43"/>
                  </a:lnTo>
                  <a:lnTo>
                    <a:pt x="0" y="43"/>
                  </a:lnTo>
                  <a:lnTo>
                    <a:pt x="0" y="34"/>
                  </a:lnTo>
                  <a:lnTo>
                    <a:pt x="3" y="26"/>
                  </a:lnTo>
                  <a:lnTo>
                    <a:pt x="7" y="19"/>
                  </a:lnTo>
                  <a:lnTo>
                    <a:pt x="12" y="12"/>
                  </a:lnTo>
                  <a:lnTo>
                    <a:pt x="19" y="8"/>
                  </a:lnTo>
                  <a:lnTo>
                    <a:pt x="26" y="4"/>
                  </a:lnTo>
                  <a:lnTo>
                    <a:pt x="34" y="1"/>
                  </a:lnTo>
                  <a:lnTo>
                    <a:pt x="42" y="0"/>
                  </a:lnTo>
                  <a:lnTo>
                    <a:pt x="42" y="0"/>
                  </a:lnTo>
                  <a:lnTo>
                    <a:pt x="51" y="1"/>
                  </a:lnTo>
                  <a:lnTo>
                    <a:pt x="59" y="4"/>
                  </a:lnTo>
                  <a:lnTo>
                    <a:pt x="66" y="8"/>
                  </a:lnTo>
                  <a:lnTo>
                    <a:pt x="73" y="12"/>
                  </a:lnTo>
                  <a:lnTo>
                    <a:pt x="78" y="19"/>
                  </a:lnTo>
                  <a:lnTo>
                    <a:pt x="82" y="26"/>
                  </a:lnTo>
                  <a:lnTo>
                    <a:pt x="85" y="34"/>
                  </a:lnTo>
                  <a:lnTo>
                    <a:pt x="85" y="43"/>
                  </a:lnTo>
                  <a:lnTo>
                    <a:pt x="85" y="43"/>
                  </a:lnTo>
                  <a:lnTo>
                    <a:pt x="85" y="52"/>
                  </a:lnTo>
                  <a:lnTo>
                    <a:pt x="82" y="61"/>
                  </a:lnTo>
                  <a:lnTo>
                    <a:pt x="78" y="67"/>
                  </a:lnTo>
                  <a:lnTo>
                    <a:pt x="73" y="73"/>
                  </a:lnTo>
                  <a:lnTo>
                    <a:pt x="66" y="78"/>
                  </a:lnTo>
                  <a:lnTo>
                    <a:pt x="59" y="83"/>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5"/>
            <p:cNvSpPr>
              <a:spLocks/>
            </p:cNvSpPr>
            <p:nvPr userDrawn="1"/>
          </p:nvSpPr>
          <p:spPr bwMode="auto">
            <a:xfrm>
              <a:off x="3705" y="1116"/>
              <a:ext cx="43" cy="44"/>
            </a:xfrm>
            <a:custGeom>
              <a:avLst/>
              <a:gdLst>
                <a:gd name="T0" fmla="*/ 42 w 85"/>
                <a:gd name="T1" fmla="*/ 86 h 86"/>
                <a:gd name="T2" fmla="*/ 42 w 85"/>
                <a:gd name="T3" fmla="*/ 86 h 86"/>
                <a:gd name="T4" fmla="*/ 34 w 85"/>
                <a:gd name="T5" fmla="*/ 85 h 86"/>
                <a:gd name="T6" fmla="*/ 26 w 85"/>
                <a:gd name="T7" fmla="*/ 82 h 86"/>
                <a:gd name="T8" fmla="*/ 19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9 w 85"/>
                <a:gd name="T31" fmla="*/ 8 h 86"/>
                <a:gd name="T32" fmla="*/ 26 w 85"/>
                <a:gd name="T33" fmla="*/ 4 h 86"/>
                <a:gd name="T34" fmla="*/ 34 w 85"/>
                <a:gd name="T35" fmla="*/ 1 h 86"/>
                <a:gd name="T36" fmla="*/ 42 w 85"/>
                <a:gd name="T37" fmla="*/ 0 h 86"/>
                <a:gd name="T38" fmla="*/ 42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2 w 85"/>
                <a:gd name="T51" fmla="*/ 26 h 86"/>
                <a:gd name="T52" fmla="*/ 85 w 85"/>
                <a:gd name="T53" fmla="*/ 34 h 86"/>
                <a:gd name="T54" fmla="*/ 85 w 85"/>
                <a:gd name="T55" fmla="*/ 44 h 86"/>
                <a:gd name="T56" fmla="*/ 85 w 85"/>
                <a:gd name="T57" fmla="*/ 44 h 86"/>
                <a:gd name="T58" fmla="*/ 85 w 85"/>
                <a:gd name="T59" fmla="*/ 52 h 86"/>
                <a:gd name="T60" fmla="*/ 82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5"/>
                  </a:lnTo>
                  <a:lnTo>
                    <a:pt x="26" y="82"/>
                  </a:lnTo>
                  <a:lnTo>
                    <a:pt x="19" y="78"/>
                  </a:lnTo>
                  <a:lnTo>
                    <a:pt x="12" y="74"/>
                  </a:lnTo>
                  <a:lnTo>
                    <a:pt x="7" y="67"/>
                  </a:lnTo>
                  <a:lnTo>
                    <a:pt x="3" y="60"/>
                  </a:lnTo>
                  <a:lnTo>
                    <a:pt x="0" y="52"/>
                  </a:lnTo>
                  <a:lnTo>
                    <a:pt x="0" y="44"/>
                  </a:lnTo>
                  <a:lnTo>
                    <a:pt x="0" y="44"/>
                  </a:lnTo>
                  <a:lnTo>
                    <a:pt x="0" y="34"/>
                  </a:lnTo>
                  <a:lnTo>
                    <a:pt x="3" y="26"/>
                  </a:lnTo>
                  <a:lnTo>
                    <a:pt x="7" y="19"/>
                  </a:lnTo>
                  <a:lnTo>
                    <a:pt x="12" y="12"/>
                  </a:lnTo>
                  <a:lnTo>
                    <a:pt x="19" y="8"/>
                  </a:lnTo>
                  <a:lnTo>
                    <a:pt x="26" y="4"/>
                  </a:lnTo>
                  <a:lnTo>
                    <a:pt x="34" y="1"/>
                  </a:lnTo>
                  <a:lnTo>
                    <a:pt x="42" y="0"/>
                  </a:lnTo>
                  <a:lnTo>
                    <a:pt x="42" y="0"/>
                  </a:lnTo>
                  <a:lnTo>
                    <a:pt x="51" y="1"/>
                  </a:lnTo>
                  <a:lnTo>
                    <a:pt x="59" y="4"/>
                  </a:lnTo>
                  <a:lnTo>
                    <a:pt x="66" y="8"/>
                  </a:lnTo>
                  <a:lnTo>
                    <a:pt x="73" y="12"/>
                  </a:lnTo>
                  <a:lnTo>
                    <a:pt x="78" y="19"/>
                  </a:lnTo>
                  <a:lnTo>
                    <a:pt x="82" y="26"/>
                  </a:lnTo>
                  <a:lnTo>
                    <a:pt x="85" y="34"/>
                  </a:lnTo>
                  <a:lnTo>
                    <a:pt x="85" y="44"/>
                  </a:lnTo>
                  <a:lnTo>
                    <a:pt x="85" y="44"/>
                  </a:lnTo>
                  <a:lnTo>
                    <a:pt x="85" y="52"/>
                  </a:lnTo>
                  <a:lnTo>
                    <a:pt x="82" y="60"/>
                  </a:lnTo>
                  <a:lnTo>
                    <a:pt x="78" y="67"/>
                  </a:lnTo>
                  <a:lnTo>
                    <a:pt x="73" y="74"/>
                  </a:lnTo>
                  <a:lnTo>
                    <a:pt x="66" y="78"/>
                  </a:lnTo>
                  <a:lnTo>
                    <a:pt x="59" y="82"/>
                  </a:lnTo>
                  <a:lnTo>
                    <a:pt x="51" y="85"/>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6"/>
            <p:cNvSpPr>
              <a:spLocks/>
            </p:cNvSpPr>
            <p:nvPr userDrawn="1"/>
          </p:nvSpPr>
          <p:spPr bwMode="auto">
            <a:xfrm>
              <a:off x="3649" y="722"/>
              <a:ext cx="43" cy="43"/>
            </a:xfrm>
            <a:custGeom>
              <a:avLst/>
              <a:gdLst>
                <a:gd name="T0" fmla="*/ 43 w 85"/>
                <a:gd name="T1" fmla="*/ 85 h 85"/>
                <a:gd name="T2" fmla="*/ 43 w 85"/>
                <a:gd name="T3" fmla="*/ 85 h 85"/>
                <a:gd name="T4" fmla="*/ 34 w 85"/>
                <a:gd name="T5" fmla="*/ 84 h 85"/>
                <a:gd name="T6" fmla="*/ 26 w 85"/>
                <a:gd name="T7" fmla="*/ 81 h 85"/>
                <a:gd name="T8" fmla="*/ 18 w 85"/>
                <a:gd name="T9" fmla="*/ 78 h 85"/>
                <a:gd name="T10" fmla="*/ 12 w 85"/>
                <a:gd name="T11" fmla="*/ 73 h 85"/>
                <a:gd name="T12" fmla="*/ 7 w 85"/>
                <a:gd name="T13" fmla="*/ 66 h 85"/>
                <a:gd name="T14" fmla="*/ 3 w 85"/>
                <a:gd name="T15" fmla="*/ 59 h 85"/>
                <a:gd name="T16" fmla="*/ 0 w 85"/>
                <a:gd name="T17" fmla="*/ 51 h 85"/>
                <a:gd name="T18" fmla="*/ 0 w 85"/>
                <a:gd name="T19" fmla="*/ 43 h 85"/>
                <a:gd name="T20" fmla="*/ 0 w 85"/>
                <a:gd name="T21" fmla="*/ 43 h 85"/>
                <a:gd name="T22" fmla="*/ 0 w 85"/>
                <a:gd name="T23" fmla="*/ 33 h 85"/>
                <a:gd name="T24" fmla="*/ 3 w 85"/>
                <a:gd name="T25" fmla="*/ 26 h 85"/>
                <a:gd name="T26" fmla="*/ 7 w 85"/>
                <a:gd name="T27" fmla="*/ 18 h 85"/>
                <a:gd name="T28" fmla="*/ 12 w 85"/>
                <a:gd name="T29" fmla="*/ 12 h 85"/>
                <a:gd name="T30" fmla="*/ 18 w 85"/>
                <a:gd name="T31" fmla="*/ 7 h 85"/>
                <a:gd name="T32" fmla="*/ 26 w 85"/>
                <a:gd name="T33" fmla="*/ 3 h 85"/>
                <a:gd name="T34" fmla="*/ 34 w 85"/>
                <a:gd name="T35" fmla="*/ 0 h 85"/>
                <a:gd name="T36" fmla="*/ 43 w 85"/>
                <a:gd name="T37" fmla="*/ 0 h 85"/>
                <a:gd name="T38" fmla="*/ 43 w 85"/>
                <a:gd name="T39" fmla="*/ 0 h 85"/>
                <a:gd name="T40" fmla="*/ 51 w 85"/>
                <a:gd name="T41" fmla="*/ 0 h 85"/>
                <a:gd name="T42" fmla="*/ 59 w 85"/>
                <a:gd name="T43" fmla="*/ 3 h 85"/>
                <a:gd name="T44" fmla="*/ 66 w 85"/>
                <a:gd name="T45" fmla="*/ 7 h 85"/>
                <a:gd name="T46" fmla="*/ 73 w 85"/>
                <a:gd name="T47" fmla="*/ 12 h 85"/>
                <a:gd name="T48" fmla="*/ 78 w 85"/>
                <a:gd name="T49" fmla="*/ 18 h 85"/>
                <a:gd name="T50" fmla="*/ 82 w 85"/>
                <a:gd name="T51" fmla="*/ 26 h 85"/>
                <a:gd name="T52" fmla="*/ 84 w 85"/>
                <a:gd name="T53" fmla="*/ 33 h 85"/>
                <a:gd name="T54" fmla="*/ 85 w 85"/>
                <a:gd name="T55" fmla="*/ 43 h 85"/>
                <a:gd name="T56" fmla="*/ 85 w 85"/>
                <a:gd name="T57" fmla="*/ 43 h 85"/>
                <a:gd name="T58" fmla="*/ 84 w 85"/>
                <a:gd name="T59" fmla="*/ 51 h 85"/>
                <a:gd name="T60" fmla="*/ 82 w 85"/>
                <a:gd name="T61" fmla="*/ 59 h 85"/>
                <a:gd name="T62" fmla="*/ 78 w 85"/>
                <a:gd name="T63" fmla="*/ 66 h 85"/>
                <a:gd name="T64" fmla="*/ 73 w 85"/>
                <a:gd name="T65" fmla="*/ 73 h 85"/>
                <a:gd name="T66" fmla="*/ 66 w 85"/>
                <a:gd name="T67" fmla="*/ 78 h 85"/>
                <a:gd name="T68" fmla="*/ 59 w 85"/>
                <a:gd name="T69" fmla="*/ 81 h 85"/>
                <a:gd name="T70" fmla="*/ 51 w 85"/>
                <a:gd name="T71" fmla="*/ 84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4"/>
                  </a:lnTo>
                  <a:lnTo>
                    <a:pt x="26" y="81"/>
                  </a:lnTo>
                  <a:lnTo>
                    <a:pt x="18" y="78"/>
                  </a:lnTo>
                  <a:lnTo>
                    <a:pt x="12" y="73"/>
                  </a:lnTo>
                  <a:lnTo>
                    <a:pt x="7" y="66"/>
                  </a:lnTo>
                  <a:lnTo>
                    <a:pt x="3" y="59"/>
                  </a:lnTo>
                  <a:lnTo>
                    <a:pt x="0" y="51"/>
                  </a:lnTo>
                  <a:lnTo>
                    <a:pt x="0" y="43"/>
                  </a:lnTo>
                  <a:lnTo>
                    <a:pt x="0" y="43"/>
                  </a:lnTo>
                  <a:lnTo>
                    <a:pt x="0" y="33"/>
                  </a:lnTo>
                  <a:lnTo>
                    <a:pt x="3" y="26"/>
                  </a:lnTo>
                  <a:lnTo>
                    <a:pt x="7" y="18"/>
                  </a:lnTo>
                  <a:lnTo>
                    <a:pt x="12" y="12"/>
                  </a:lnTo>
                  <a:lnTo>
                    <a:pt x="18" y="7"/>
                  </a:lnTo>
                  <a:lnTo>
                    <a:pt x="26" y="3"/>
                  </a:lnTo>
                  <a:lnTo>
                    <a:pt x="34" y="0"/>
                  </a:lnTo>
                  <a:lnTo>
                    <a:pt x="43" y="0"/>
                  </a:lnTo>
                  <a:lnTo>
                    <a:pt x="43" y="0"/>
                  </a:lnTo>
                  <a:lnTo>
                    <a:pt x="51" y="0"/>
                  </a:lnTo>
                  <a:lnTo>
                    <a:pt x="59" y="3"/>
                  </a:lnTo>
                  <a:lnTo>
                    <a:pt x="66" y="7"/>
                  </a:lnTo>
                  <a:lnTo>
                    <a:pt x="73" y="12"/>
                  </a:lnTo>
                  <a:lnTo>
                    <a:pt x="78" y="18"/>
                  </a:lnTo>
                  <a:lnTo>
                    <a:pt x="82" y="26"/>
                  </a:lnTo>
                  <a:lnTo>
                    <a:pt x="84" y="33"/>
                  </a:lnTo>
                  <a:lnTo>
                    <a:pt x="85" y="43"/>
                  </a:lnTo>
                  <a:lnTo>
                    <a:pt x="85" y="43"/>
                  </a:lnTo>
                  <a:lnTo>
                    <a:pt x="84" y="51"/>
                  </a:lnTo>
                  <a:lnTo>
                    <a:pt x="82" y="59"/>
                  </a:lnTo>
                  <a:lnTo>
                    <a:pt x="78" y="66"/>
                  </a:lnTo>
                  <a:lnTo>
                    <a:pt x="73" y="73"/>
                  </a:lnTo>
                  <a:lnTo>
                    <a:pt x="66" y="78"/>
                  </a:lnTo>
                  <a:lnTo>
                    <a:pt x="59" y="81"/>
                  </a:lnTo>
                  <a:lnTo>
                    <a:pt x="51" y="84"/>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p:cNvSpPr>
              <a:spLocks/>
            </p:cNvSpPr>
            <p:nvPr userDrawn="1"/>
          </p:nvSpPr>
          <p:spPr bwMode="auto">
            <a:xfrm>
              <a:off x="3649" y="778"/>
              <a:ext cx="43" cy="43"/>
            </a:xfrm>
            <a:custGeom>
              <a:avLst/>
              <a:gdLst>
                <a:gd name="T0" fmla="*/ 43 w 85"/>
                <a:gd name="T1" fmla="*/ 85 h 85"/>
                <a:gd name="T2" fmla="*/ 43 w 85"/>
                <a:gd name="T3" fmla="*/ 85 h 85"/>
                <a:gd name="T4" fmla="*/ 34 w 85"/>
                <a:gd name="T5" fmla="*/ 84 h 85"/>
                <a:gd name="T6" fmla="*/ 26 w 85"/>
                <a:gd name="T7" fmla="*/ 82 h 85"/>
                <a:gd name="T8" fmla="*/ 18 w 85"/>
                <a:gd name="T9" fmla="*/ 78 h 85"/>
                <a:gd name="T10" fmla="*/ 12 w 85"/>
                <a:gd name="T11" fmla="*/ 73 h 85"/>
                <a:gd name="T12" fmla="*/ 7 w 85"/>
                <a:gd name="T13" fmla="*/ 66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8 h 85"/>
                <a:gd name="T28" fmla="*/ 12 w 85"/>
                <a:gd name="T29" fmla="*/ 12 h 85"/>
                <a:gd name="T30" fmla="*/ 18 w 85"/>
                <a:gd name="T31" fmla="*/ 7 h 85"/>
                <a:gd name="T32" fmla="*/ 26 w 85"/>
                <a:gd name="T33" fmla="*/ 2 h 85"/>
                <a:gd name="T34" fmla="*/ 34 w 85"/>
                <a:gd name="T35" fmla="*/ 0 h 85"/>
                <a:gd name="T36" fmla="*/ 43 w 85"/>
                <a:gd name="T37" fmla="*/ 0 h 85"/>
                <a:gd name="T38" fmla="*/ 43 w 85"/>
                <a:gd name="T39" fmla="*/ 0 h 85"/>
                <a:gd name="T40" fmla="*/ 51 w 85"/>
                <a:gd name="T41" fmla="*/ 0 h 85"/>
                <a:gd name="T42" fmla="*/ 59 w 85"/>
                <a:gd name="T43" fmla="*/ 2 h 85"/>
                <a:gd name="T44" fmla="*/ 66 w 85"/>
                <a:gd name="T45" fmla="*/ 7 h 85"/>
                <a:gd name="T46" fmla="*/ 73 w 85"/>
                <a:gd name="T47" fmla="*/ 12 h 85"/>
                <a:gd name="T48" fmla="*/ 78 w 85"/>
                <a:gd name="T49" fmla="*/ 18 h 85"/>
                <a:gd name="T50" fmla="*/ 82 w 85"/>
                <a:gd name="T51" fmla="*/ 26 h 85"/>
                <a:gd name="T52" fmla="*/ 84 w 85"/>
                <a:gd name="T53" fmla="*/ 34 h 85"/>
                <a:gd name="T54" fmla="*/ 85 w 85"/>
                <a:gd name="T55" fmla="*/ 42 h 85"/>
                <a:gd name="T56" fmla="*/ 85 w 85"/>
                <a:gd name="T57" fmla="*/ 42 h 85"/>
                <a:gd name="T58" fmla="*/ 84 w 85"/>
                <a:gd name="T59" fmla="*/ 51 h 85"/>
                <a:gd name="T60" fmla="*/ 82 w 85"/>
                <a:gd name="T61" fmla="*/ 59 h 85"/>
                <a:gd name="T62" fmla="*/ 78 w 85"/>
                <a:gd name="T63" fmla="*/ 66 h 85"/>
                <a:gd name="T64" fmla="*/ 73 w 85"/>
                <a:gd name="T65" fmla="*/ 73 h 85"/>
                <a:gd name="T66" fmla="*/ 66 w 85"/>
                <a:gd name="T67" fmla="*/ 78 h 85"/>
                <a:gd name="T68" fmla="*/ 59 w 85"/>
                <a:gd name="T69" fmla="*/ 82 h 85"/>
                <a:gd name="T70" fmla="*/ 51 w 85"/>
                <a:gd name="T71" fmla="*/ 84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4"/>
                  </a:lnTo>
                  <a:lnTo>
                    <a:pt x="26" y="82"/>
                  </a:lnTo>
                  <a:lnTo>
                    <a:pt x="18" y="78"/>
                  </a:lnTo>
                  <a:lnTo>
                    <a:pt x="12" y="73"/>
                  </a:lnTo>
                  <a:lnTo>
                    <a:pt x="7" y="66"/>
                  </a:lnTo>
                  <a:lnTo>
                    <a:pt x="3" y="59"/>
                  </a:lnTo>
                  <a:lnTo>
                    <a:pt x="0" y="51"/>
                  </a:lnTo>
                  <a:lnTo>
                    <a:pt x="0" y="42"/>
                  </a:lnTo>
                  <a:lnTo>
                    <a:pt x="0" y="42"/>
                  </a:lnTo>
                  <a:lnTo>
                    <a:pt x="0" y="34"/>
                  </a:lnTo>
                  <a:lnTo>
                    <a:pt x="3" y="26"/>
                  </a:lnTo>
                  <a:lnTo>
                    <a:pt x="7" y="18"/>
                  </a:lnTo>
                  <a:lnTo>
                    <a:pt x="12" y="12"/>
                  </a:lnTo>
                  <a:lnTo>
                    <a:pt x="18" y="7"/>
                  </a:lnTo>
                  <a:lnTo>
                    <a:pt x="26" y="2"/>
                  </a:lnTo>
                  <a:lnTo>
                    <a:pt x="34" y="0"/>
                  </a:lnTo>
                  <a:lnTo>
                    <a:pt x="43" y="0"/>
                  </a:lnTo>
                  <a:lnTo>
                    <a:pt x="43" y="0"/>
                  </a:lnTo>
                  <a:lnTo>
                    <a:pt x="51" y="0"/>
                  </a:lnTo>
                  <a:lnTo>
                    <a:pt x="59" y="2"/>
                  </a:lnTo>
                  <a:lnTo>
                    <a:pt x="66" y="7"/>
                  </a:lnTo>
                  <a:lnTo>
                    <a:pt x="73" y="12"/>
                  </a:lnTo>
                  <a:lnTo>
                    <a:pt x="78" y="18"/>
                  </a:lnTo>
                  <a:lnTo>
                    <a:pt x="82" y="26"/>
                  </a:lnTo>
                  <a:lnTo>
                    <a:pt x="84" y="34"/>
                  </a:lnTo>
                  <a:lnTo>
                    <a:pt x="85" y="42"/>
                  </a:lnTo>
                  <a:lnTo>
                    <a:pt x="85" y="42"/>
                  </a:lnTo>
                  <a:lnTo>
                    <a:pt x="84" y="51"/>
                  </a:lnTo>
                  <a:lnTo>
                    <a:pt x="82" y="59"/>
                  </a:lnTo>
                  <a:lnTo>
                    <a:pt x="78" y="66"/>
                  </a:lnTo>
                  <a:lnTo>
                    <a:pt x="73" y="73"/>
                  </a:lnTo>
                  <a:lnTo>
                    <a:pt x="66" y="78"/>
                  </a:lnTo>
                  <a:lnTo>
                    <a:pt x="59" y="82"/>
                  </a:lnTo>
                  <a:lnTo>
                    <a:pt x="51" y="84"/>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8"/>
            <p:cNvSpPr>
              <a:spLocks/>
            </p:cNvSpPr>
            <p:nvPr userDrawn="1"/>
          </p:nvSpPr>
          <p:spPr bwMode="auto">
            <a:xfrm>
              <a:off x="3649" y="891"/>
              <a:ext cx="43" cy="43"/>
            </a:xfrm>
            <a:custGeom>
              <a:avLst/>
              <a:gdLst>
                <a:gd name="T0" fmla="*/ 43 w 85"/>
                <a:gd name="T1" fmla="*/ 85 h 85"/>
                <a:gd name="T2" fmla="*/ 43 w 85"/>
                <a:gd name="T3" fmla="*/ 85 h 85"/>
                <a:gd name="T4" fmla="*/ 34 w 85"/>
                <a:gd name="T5" fmla="*/ 85 h 85"/>
                <a:gd name="T6" fmla="*/ 26 w 85"/>
                <a:gd name="T7" fmla="*/ 83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3 h 85"/>
                <a:gd name="T34" fmla="*/ 34 w 85"/>
                <a:gd name="T35" fmla="*/ 1 h 85"/>
                <a:gd name="T36" fmla="*/ 43 w 85"/>
                <a:gd name="T37" fmla="*/ 0 h 85"/>
                <a:gd name="T38" fmla="*/ 43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2 w 85"/>
                <a:gd name="T51" fmla="*/ 26 h 85"/>
                <a:gd name="T52" fmla="*/ 84 w 85"/>
                <a:gd name="T53" fmla="*/ 34 h 85"/>
                <a:gd name="T54" fmla="*/ 85 w 85"/>
                <a:gd name="T55" fmla="*/ 43 h 85"/>
                <a:gd name="T56" fmla="*/ 85 w 85"/>
                <a:gd name="T57" fmla="*/ 43 h 85"/>
                <a:gd name="T58" fmla="*/ 84 w 85"/>
                <a:gd name="T59" fmla="*/ 51 h 85"/>
                <a:gd name="T60" fmla="*/ 82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3"/>
                  </a:lnTo>
                  <a:lnTo>
                    <a:pt x="18" y="78"/>
                  </a:lnTo>
                  <a:lnTo>
                    <a:pt x="12" y="73"/>
                  </a:lnTo>
                  <a:lnTo>
                    <a:pt x="7" y="67"/>
                  </a:lnTo>
                  <a:lnTo>
                    <a:pt x="3" y="59"/>
                  </a:lnTo>
                  <a:lnTo>
                    <a:pt x="0" y="51"/>
                  </a:lnTo>
                  <a:lnTo>
                    <a:pt x="0" y="43"/>
                  </a:lnTo>
                  <a:lnTo>
                    <a:pt x="0" y="43"/>
                  </a:lnTo>
                  <a:lnTo>
                    <a:pt x="0" y="34"/>
                  </a:lnTo>
                  <a:lnTo>
                    <a:pt x="3" y="26"/>
                  </a:lnTo>
                  <a:lnTo>
                    <a:pt x="7" y="19"/>
                  </a:lnTo>
                  <a:lnTo>
                    <a:pt x="12" y="12"/>
                  </a:lnTo>
                  <a:lnTo>
                    <a:pt x="18" y="7"/>
                  </a:lnTo>
                  <a:lnTo>
                    <a:pt x="26" y="3"/>
                  </a:lnTo>
                  <a:lnTo>
                    <a:pt x="34" y="1"/>
                  </a:lnTo>
                  <a:lnTo>
                    <a:pt x="43" y="0"/>
                  </a:lnTo>
                  <a:lnTo>
                    <a:pt x="43" y="0"/>
                  </a:lnTo>
                  <a:lnTo>
                    <a:pt x="51" y="1"/>
                  </a:lnTo>
                  <a:lnTo>
                    <a:pt x="59" y="3"/>
                  </a:lnTo>
                  <a:lnTo>
                    <a:pt x="66" y="7"/>
                  </a:lnTo>
                  <a:lnTo>
                    <a:pt x="73" y="12"/>
                  </a:lnTo>
                  <a:lnTo>
                    <a:pt x="78" y="19"/>
                  </a:lnTo>
                  <a:lnTo>
                    <a:pt x="82" y="26"/>
                  </a:lnTo>
                  <a:lnTo>
                    <a:pt x="84" y="34"/>
                  </a:lnTo>
                  <a:lnTo>
                    <a:pt x="85" y="43"/>
                  </a:lnTo>
                  <a:lnTo>
                    <a:pt x="85" y="43"/>
                  </a:lnTo>
                  <a:lnTo>
                    <a:pt x="84" y="51"/>
                  </a:lnTo>
                  <a:lnTo>
                    <a:pt x="82" y="59"/>
                  </a:lnTo>
                  <a:lnTo>
                    <a:pt x="78" y="67"/>
                  </a:lnTo>
                  <a:lnTo>
                    <a:pt x="73" y="73"/>
                  </a:lnTo>
                  <a:lnTo>
                    <a:pt x="66" y="78"/>
                  </a:lnTo>
                  <a:lnTo>
                    <a:pt x="59" y="83"/>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9"/>
            <p:cNvSpPr>
              <a:spLocks/>
            </p:cNvSpPr>
            <p:nvPr userDrawn="1"/>
          </p:nvSpPr>
          <p:spPr bwMode="auto">
            <a:xfrm>
              <a:off x="3649" y="947"/>
              <a:ext cx="43" cy="43"/>
            </a:xfrm>
            <a:custGeom>
              <a:avLst/>
              <a:gdLst>
                <a:gd name="T0" fmla="*/ 43 w 85"/>
                <a:gd name="T1" fmla="*/ 85 h 85"/>
                <a:gd name="T2" fmla="*/ 43 w 85"/>
                <a:gd name="T3" fmla="*/ 85 h 85"/>
                <a:gd name="T4" fmla="*/ 34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4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2 w 85"/>
                <a:gd name="T51" fmla="*/ 26 h 85"/>
                <a:gd name="T52" fmla="*/ 84 w 85"/>
                <a:gd name="T53" fmla="*/ 34 h 85"/>
                <a:gd name="T54" fmla="*/ 85 w 85"/>
                <a:gd name="T55" fmla="*/ 42 h 85"/>
                <a:gd name="T56" fmla="*/ 85 w 85"/>
                <a:gd name="T57" fmla="*/ 42 h 85"/>
                <a:gd name="T58" fmla="*/ 84 w 85"/>
                <a:gd name="T59" fmla="*/ 51 h 85"/>
                <a:gd name="T60" fmla="*/ 82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4" y="1"/>
                  </a:lnTo>
                  <a:lnTo>
                    <a:pt x="43" y="0"/>
                  </a:lnTo>
                  <a:lnTo>
                    <a:pt x="43" y="0"/>
                  </a:lnTo>
                  <a:lnTo>
                    <a:pt x="51" y="1"/>
                  </a:lnTo>
                  <a:lnTo>
                    <a:pt x="59" y="2"/>
                  </a:lnTo>
                  <a:lnTo>
                    <a:pt x="66" y="7"/>
                  </a:lnTo>
                  <a:lnTo>
                    <a:pt x="73" y="12"/>
                  </a:lnTo>
                  <a:lnTo>
                    <a:pt x="78" y="19"/>
                  </a:lnTo>
                  <a:lnTo>
                    <a:pt x="82" y="26"/>
                  </a:lnTo>
                  <a:lnTo>
                    <a:pt x="84" y="34"/>
                  </a:lnTo>
                  <a:lnTo>
                    <a:pt x="85" y="42"/>
                  </a:lnTo>
                  <a:lnTo>
                    <a:pt x="85" y="42"/>
                  </a:lnTo>
                  <a:lnTo>
                    <a:pt x="84" y="51"/>
                  </a:lnTo>
                  <a:lnTo>
                    <a:pt x="82" y="59"/>
                  </a:lnTo>
                  <a:lnTo>
                    <a:pt x="78" y="67"/>
                  </a:lnTo>
                  <a:lnTo>
                    <a:pt x="73" y="73"/>
                  </a:lnTo>
                  <a:lnTo>
                    <a:pt x="66" y="78"/>
                  </a:lnTo>
                  <a:lnTo>
                    <a:pt x="59" y="82"/>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0"/>
            <p:cNvSpPr>
              <a:spLocks/>
            </p:cNvSpPr>
            <p:nvPr userDrawn="1"/>
          </p:nvSpPr>
          <p:spPr bwMode="auto">
            <a:xfrm>
              <a:off x="3649" y="1004"/>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4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2 w 85"/>
                <a:gd name="T51" fmla="*/ 27 h 86"/>
                <a:gd name="T52" fmla="*/ 84 w 85"/>
                <a:gd name="T53" fmla="*/ 35 h 86"/>
                <a:gd name="T54" fmla="*/ 85 w 85"/>
                <a:gd name="T55" fmla="*/ 43 h 86"/>
                <a:gd name="T56" fmla="*/ 85 w 85"/>
                <a:gd name="T57" fmla="*/ 43 h 86"/>
                <a:gd name="T58" fmla="*/ 84 w 85"/>
                <a:gd name="T59" fmla="*/ 53 h 86"/>
                <a:gd name="T60" fmla="*/ 82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4" y="2"/>
                  </a:lnTo>
                  <a:lnTo>
                    <a:pt x="43" y="0"/>
                  </a:lnTo>
                  <a:lnTo>
                    <a:pt x="43" y="0"/>
                  </a:lnTo>
                  <a:lnTo>
                    <a:pt x="51" y="2"/>
                  </a:lnTo>
                  <a:lnTo>
                    <a:pt x="59" y="5"/>
                  </a:lnTo>
                  <a:lnTo>
                    <a:pt x="66" y="7"/>
                  </a:lnTo>
                  <a:lnTo>
                    <a:pt x="73" y="13"/>
                  </a:lnTo>
                  <a:lnTo>
                    <a:pt x="78" y="20"/>
                  </a:lnTo>
                  <a:lnTo>
                    <a:pt x="82" y="27"/>
                  </a:lnTo>
                  <a:lnTo>
                    <a:pt x="84" y="35"/>
                  </a:lnTo>
                  <a:lnTo>
                    <a:pt x="85" y="43"/>
                  </a:lnTo>
                  <a:lnTo>
                    <a:pt x="85" y="43"/>
                  </a:lnTo>
                  <a:lnTo>
                    <a:pt x="84" y="53"/>
                  </a:lnTo>
                  <a:lnTo>
                    <a:pt x="82" y="59"/>
                  </a:lnTo>
                  <a:lnTo>
                    <a:pt x="78" y="68"/>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1"/>
            <p:cNvSpPr>
              <a:spLocks/>
            </p:cNvSpPr>
            <p:nvPr userDrawn="1"/>
          </p:nvSpPr>
          <p:spPr bwMode="auto">
            <a:xfrm>
              <a:off x="3649" y="1060"/>
              <a:ext cx="43" cy="43"/>
            </a:xfrm>
            <a:custGeom>
              <a:avLst/>
              <a:gdLst>
                <a:gd name="T0" fmla="*/ 43 w 85"/>
                <a:gd name="T1" fmla="*/ 87 h 87"/>
                <a:gd name="T2" fmla="*/ 43 w 85"/>
                <a:gd name="T3" fmla="*/ 87 h 87"/>
                <a:gd name="T4" fmla="*/ 34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4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2 w 85"/>
                <a:gd name="T51" fmla="*/ 26 h 87"/>
                <a:gd name="T52" fmla="*/ 84 w 85"/>
                <a:gd name="T53" fmla="*/ 34 h 87"/>
                <a:gd name="T54" fmla="*/ 85 w 85"/>
                <a:gd name="T55" fmla="*/ 43 h 87"/>
                <a:gd name="T56" fmla="*/ 85 w 85"/>
                <a:gd name="T57" fmla="*/ 43 h 87"/>
                <a:gd name="T58" fmla="*/ 84 w 85"/>
                <a:gd name="T59" fmla="*/ 52 h 87"/>
                <a:gd name="T60" fmla="*/ 82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4"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2" y="26"/>
                  </a:lnTo>
                  <a:lnTo>
                    <a:pt x="84" y="34"/>
                  </a:lnTo>
                  <a:lnTo>
                    <a:pt x="85" y="43"/>
                  </a:lnTo>
                  <a:lnTo>
                    <a:pt x="85" y="43"/>
                  </a:lnTo>
                  <a:lnTo>
                    <a:pt x="84" y="52"/>
                  </a:lnTo>
                  <a:lnTo>
                    <a:pt x="82" y="61"/>
                  </a:lnTo>
                  <a:lnTo>
                    <a:pt x="78" y="67"/>
                  </a:lnTo>
                  <a:lnTo>
                    <a:pt x="73" y="73"/>
                  </a:lnTo>
                  <a:lnTo>
                    <a:pt x="66" y="78"/>
                  </a:lnTo>
                  <a:lnTo>
                    <a:pt x="59" y="83"/>
                  </a:lnTo>
                  <a:lnTo>
                    <a:pt x="51" y="85"/>
                  </a:lnTo>
                  <a:lnTo>
                    <a:pt x="43" y="87"/>
                  </a:lnTo>
                  <a:lnTo>
                    <a:pt x="43"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
            <p:cNvSpPr>
              <a:spLocks/>
            </p:cNvSpPr>
            <p:nvPr userDrawn="1"/>
          </p:nvSpPr>
          <p:spPr bwMode="auto">
            <a:xfrm>
              <a:off x="3649" y="1116"/>
              <a:ext cx="43" cy="44"/>
            </a:xfrm>
            <a:custGeom>
              <a:avLst/>
              <a:gdLst>
                <a:gd name="T0" fmla="*/ 43 w 85"/>
                <a:gd name="T1" fmla="*/ 86 h 86"/>
                <a:gd name="T2" fmla="*/ 43 w 85"/>
                <a:gd name="T3" fmla="*/ 86 h 86"/>
                <a:gd name="T4" fmla="*/ 34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4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2 w 85"/>
                <a:gd name="T51" fmla="*/ 26 h 86"/>
                <a:gd name="T52" fmla="*/ 84 w 85"/>
                <a:gd name="T53" fmla="*/ 34 h 86"/>
                <a:gd name="T54" fmla="*/ 85 w 85"/>
                <a:gd name="T55" fmla="*/ 44 h 86"/>
                <a:gd name="T56" fmla="*/ 85 w 85"/>
                <a:gd name="T57" fmla="*/ 44 h 86"/>
                <a:gd name="T58" fmla="*/ 84 w 85"/>
                <a:gd name="T59" fmla="*/ 52 h 86"/>
                <a:gd name="T60" fmla="*/ 82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2" y="26"/>
                  </a:lnTo>
                  <a:lnTo>
                    <a:pt x="84" y="34"/>
                  </a:lnTo>
                  <a:lnTo>
                    <a:pt x="85" y="44"/>
                  </a:lnTo>
                  <a:lnTo>
                    <a:pt x="85" y="44"/>
                  </a:lnTo>
                  <a:lnTo>
                    <a:pt x="84" y="52"/>
                  </a:lnTo>
                  <a:lnTo>
                    <a:pt x="82" y="60"/>
                  </a:lnTo>
                  <a:lnTo>
                    <a:pt x="78" y="67"/>
                  </a:lnTo>
                  <a:lnTo>
                    <a:pt x="73" y="74"/>
                  </a:lnTo>
                  <a:lnTo>
                    <a:pt x="66" y="78"/>
                  </a:lnTo>
                  <a:lnTo>
                    <a:pt x="59" y="82"/>
                  </a:lnTo>
                  <a:lnTo>
                    <a:pt x="51"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3"/>
            <p:cNvSpPr>
              <a:spLocks/>
            </p:cNvSpPr>
            <p:nvPr userDrawn="1"/>
          </p:nvSpPr>
          <p:spPr bwMode="auto">
            <a:xfrm>
              <a:off x="3592" y="778"/>
              <a:ext cx="43" cy="43"/>
            </a:xfrm>
            <a:custGeom>
              <a:avLst/>
              <a:gdLst>
                <a:gd name="T0" fmla="*/ 43 w 85"/>
                <a:gd name="T1" fmla="*/ 85 h 85"/>
                <a:gd name="T2" fmla="*/ 43 w 85"/>
                <a:gd name="T3" fmla="*/ 85 h 85"/>
                <a:gd name="T4" fmla="*/ 34 w 85"/>
                <a:gd name="T5" fmla="*/ 84 h 85"/>
                <a:gd name="T6" fmla="*/ 26 w 85"/>
                <a:gd name="T7" fmla="*/ 82 h 85"/>
                <a:gd name="T8" fmla="*/ 18 w 85"/>
                <a:gd name="T9" fmla="*/ 78 h 85"/>
                <a:gd name="T10" fmla="*/ 12 w 85"/>
                <a:gd name="T11" fmla="*/ 73 h 85"/>
                <a:gd name="T12" fmla="*/ 7 w 85"/>
                <a:gd name="T13" fmla="*/ 66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8 h 85"/>
                <a:gd name="T28" fmla="*/ 12 w 85"/>
                <a:gd name="T29" fmla="*/ 12 h 85"/>
                <a:gd name="T30" fmla="*/ 18 w 85"/>
                <a:gd name="T31" fmla="*/ 7 h 85"/>
                <a:gd name="T32" fmla="*/ 26 w 85"/>
                <a:gd name="T33" fmla="*/ 2 h 85"/>
                <a:gd name="T34" fmla="*/ 34 w 85"/>
                <a:gd name="T35" fmla="*/ 0 h 85"/>
                <a:gd name="T36" fmla="*/ 43 w 85"/>
                <a:gd name="T37" fmla="*/ 0 h 85"/>
                <a:gd name="T38" fmla="*/ 43 w 85"/>
                <a:gd name="T39" fmla="*/ 0 h 85"/>
                <a:gd name="T40" fmla="*/ 51 w 85"/>
                <a:gd name="T41" fmla="*/ 0 h 85"/>
                <a:gd name="T42" fmla="*/ 59 w 85"/>
                <a:gd name="T43" fmla="*/ 2 h 85"/>
                <a:gd name="T44" fmla="*/ 66 w 85"/>
                <a:gd name="T45" fmla="*/ 7 h 85"/>
                <a:gd name="T46" fmla="*/ 73 w 85"/>
                <a:gd name="T47" fmla="*/ 12 h 85"/>
                <a:gd name="T48" fmla="*/ 78 w 85"/>
                <a:gd name="T49" fmla="*/ 18 h 85"/>
                <a:gd name="T50" fmla="*/ 83 w 85"/>
                <a:gd name="T51" fmla="*/ 26 h 85"/>
                <a:gd name="T52" fmla="*/ 84 w 85"/>
                <a:gd name="T53" fmla="*/ 34 h 85"/>
                <a:gd name="T54" fmla="*/ 85 w 85"/>
                <a:gd name="T55" fmla="*/ 42 h 85"/>
                <a:gd name="T56" fmla="*/ 85 w 85"/>
                <a:gd name="T57" fmla="*/ 42 h 85"/>
                <a:gd name="T58" fmla="*/ 84 w 85"/>
                <a:gd name="T59" fmla="*/ 51 h 85"/>
                <a:gd name="T60" fmla="*/ 83 w 85"/>
                <a:gd name="T61" fmla="*/ 59 h 85"/>
                <a:gd name="T62" fmla="*/ 78 w 85"/>
                <a:gd name="T63" fmla="*/ 66 h 85"/>
                <a:gd name="T64" fmla="*/ 73 w 85"/>
                <a:gd name="T65" fmla="*/ 73 h 85"/>
                <a:gd name="T66" fmla="*/ 66 w 85"/>
                <a:gd name="T67" fmla="*/ 78 h 85"/>
                <a:gd name="T68" fmla="*/ 59 w 85"/>
                <a:gd name="T69" fmla="*/ 82 h 85"/>
                <a:gd name="T70" fmla="*/ 51 w 85"/>
                <a:gd name="T71" fmla="*/ 84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4"/>
                  </a:lnTo>
                  <a:lnTo>
                    <a:pt x="26" y="82"/>
                  </a:lnTo>
                  <a:lnTo>
                    <a:pt x="18" y="78"/>
                  </a:lnTo>
                  <a:lnTo>
                    <a:pt x="12" y="73"/>
                  </a:lnTo>
                  <a:lnTo>
                    <a:pt x="7" y="66"/>
                  </a:lnTo>
                  <a:lnTo>
                    <a:pt x="3" y="59"/>
                  </a:lnTo>
                  <a:lnTo>
                    <a:pt x="0" y="51"/>
                  </a:lnTo>
                  <a:lnTo>
                    <a:pt x="0" y="42"/>
                  </a:lnTo>
                  <a:lnTo>
                    <a:pt x="0" y="42"/>
                  </a:lnTo>
                  <a:lnTo>
                    <a:pt x="0" y="34"/>
                  </a:lnTo>
                  <a:lnTo>
                    <a:pt x="3" y="26"/>
                  </a:lnTo>
                  <a:lnTo>
                    <a:pt x="7" y="18"/>
                  </a:lnTo>
                  <a:lnTo>
                    <a:pt x="12" y="12"/>
                  </a:lnTo>
                  <a:lnTo>
                    <a:pt x="18" y="7"/>
                  </a:lnTo>
                  <a:lnTo>
                    <a:pt x="26" y="2"/>
                  </a:lnTo>
                  <a:lnTo>
                    <a:pt x="34" y="0"/>
                  </a:lnTo>
                  <a:lnTo>
                    <a:pt x="43" y="0"/>
                  </a:lnTo>
                  <a:lnTo>
                    <a:pt x="43" y="0"/>
                  </a:lnTo>
                  <a:lnTo>
                    <a:pt x="51" y="0"/>
                  </a:lnTo>
                  <a:lnTo>
                    <a:pt x="59" y="2"/>
                  </a:lnTo>
                  <a:lnTo>
                    <a:pt x="66" y="7"/>
                  </a:lnTo>
                  <a:lnTo>
                    <a:pt x="73" y="12"/>
                  </a:lnTo>
                  <a:lnTo>
                    <a:pt x="78" y="18"/>
                  </a:lnTo>
                  <a:lnTo>
                    <a:pt x="83" y="26"/>
                  </a:lnTo>
                  <a:lnTo>
                    <a:pt x="84" y="34"/>
                  </a:lnTo>
                  <a:lnTo>
                    <a:pt x="85" y="42"/>
                  </a:lnTo>
                  <a:lnTo>
                    <a:pt x="85" y="42"/>
                  </a:lnTo>
                  <a:lnTo>
                    <a:pt x="84" y="51"/>
                  </a:lnTo>
                  <a:lnTo>
                    <a:pt x="83" y="59"/>
                  </a:lnTo>
                  <a:lnTo>
                    <a:pt x="78" y="66"/>
                  </a:lnTo>
                  <a:lnTo>
                    <a:pt x="73" y="73"/>
                  </a:lnTo>
                  <a:lnTo>
                    <a:pt x="66" y="78"/>
                  </a:lnTo>
                  <a:lnTo>
                    <a:pt x="59" y="82"/>
                  </a:lnTo>
                  <a:lnTo>
                    <a:pt x="51" y="84"/>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4"/>
            <p:cNvSpPr>
              <a:spLocks/>
            </p:cNvSpPr>
            <p:nvPr userDrawn="1"/>
          </p:nvSpPr>
          <p:spPr bwMode="auto">
            <a:xfrm>
              <a:off x="3592" y="835"/>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6 h 86"/>
                <a:gd name="T14" fmla="*/ 3 w 85"/>
                <a:gd name="T15" fmla="*/ 59 h 86"/>
                <a:gd name="T16" fmla="*/ 0 w 85"/>
                <a:gd name="T17" fmla="*/ 51 h 86"/>
                <a:gd name="T18" fmla="*/ 0 w 85"/>
                <a:gd name="T19" fmla="*/ 43 h 86"/>
                <a:gd name="T20" fmla="*/ 0 w 85"/>
                <a:gd name="T21" fmla="*/ 43 h 86"/>
                <a:gd name="T22" fmla="*/ 0 w 85"/>
                <a:gd name="T23" fmla="*/ 35 h 86"/>
                <a:gd name="T24" fmla="*/ 3 w 85"/>
                <a:gd name="T25" fmla="*/ 26 h 86"/>
                <a:gd name="T26" fmla="*/ 7 w 85"/>
                <a:gd name="T27" fmla="*/ 20 h 86"/>
                <a:gd name="T28" fmla="*/ 12 w 85"/>
                <a:gd name="T29" fmla="*/ 13 h 86"/>
                <a:gd name="T30" fmla="*/ 18 w 85"/>
                <a:gd name="T31" fmla="*/ 7 h 86"/>
                <a:gd name="T32" fmla="*/ 26 w 85"/>
                <a:gd name="T33" fmla="*/ 3 h 86"/>
                <a:gd name="T34" fmla="*/ 34 w 85"/>
                <a:gd name="T35" fmla="*/ 0 h 86"/>
                <a:gd name="T36" fmla="*/ 43 w 85"/>
                <a:gd name="T37" fmla="*/ 0 h 86"/>
                <a:gd name="T38" fmla="*/ 43 w 85"/>
                <a:gd name="T39" fmla="*/ 0 h 86"/>
                <a:gd name="T40" fmla="*/ 51 w 85"/>
                <a:gd name="T41" fmla="*/ 0 h 86"/>
                <a:gd name="T42" fmla="*/ 59 w 85"/>
                <a:gd name="T43" fmla="*/ 3 h 86"/>
                <a:gd name="T44" fmla="*/ 66 w 85"/>
                <a:gd name="T45" fmla="*/ 7 h 86"/>
                <a:gd name="T46" fmla="*/ 73 w 85"/>
                <a:gd name="T47" fmla="*/ 13 h 86"/>
                <a:gd name="T48" fmla="*/ 78 w 85"/>
                <a:gd name="T49" fmla="*/ 20 h 86"/>
                <a:gd name="T50" fmla="*/ 83 w 85"/>
                <a:gd name="T51" fmla="*/ 26 h 86"/>
                <a:gd name="T52" fmla="*/ 84 w 85"/>
                <a:gd name="T53" fmla="*/ 35 h 86"/>
                <a:gd name="T54" fmla="*/ 85 w 85"/>
                <a:gd name="T55" fmla="*/ 43 h 86"/>
                <a:gd name="T56" fmla="*/ 85 w 85"/>
                <a:gd name="T57" fmla="*/ 43 h 86"/>
                <a:gd name="T58" fmla="*/ 84 w 85"/>
                <a:gd name="T59" fmla="*/ 51 h 86"/>
                <a:gd name="T60" fmla="*/ 83 w 85"/>
                <a:gd name="T61" fmla="*/ 59 h 86"/>
                <a:gd name="T62" fmla="*/ 78 w 85"/>
                <a:gd name="T63" fmla="*/ 66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6"/>
                  </a:lnTo>
                  <a:lnTo>
                    <a:pt x="3" y="59"/>
                  </a:lnTo>
                  <a:lnTo>
                    <a:pt x="0" y="51"/>
                  </a:lnTo>
                  <a:lnTo>
                    <a:pt x="0" y="43"/>
                  </a:lnTo>
                  <a:lnTo>
                    <a:pt x="0" y="43"/>
                  </a:lnTo>
                  <a:lnTo>
                    <a:pt x="0" y="35"/>
                  </a:lnTo>
                  <a:lnTo>
                    <a:pt x="3" y="26"/>
                  </a:lnTo>
                  <a:lnTo>
                    <a:pt x="7" y="20"/>
                  </a:lnTo>
                  <a:lnTo>
                    <a:pt x="12" y="13"/>
                  </a:lnTo>
                  <a:lnTo>
                    <a:pt x="18" y="7"/>
                  </a:lnTo>
                  <a:lnTo>
                    <a:pt x="26" y="3"/>
                  </a:lnTo>
                  <a:lnTo>
                    <a:pt x="34" y="0"/>
                  </a:lnTo>
                  <a:lnTo>
                    <a:pt x="43" y="0"/>
                  </a:lnTo>
                  <a:lnTo>
                    <a:pt x="43" y="0"/>
                  </a:lnTo>
                  <a:lnTo>
                    <a:pt x="51" y="0"/>
                  </a:lnTo>
                  <a:lnTo>
                    <a:pt x="59" y="3"/>
                  </a:lnTo>
                  <a:lnTo>
                    <a:pt x="66" y="7"/>
                  </a:lnTo>
                  <a:lnTo>
                    <a:pt x="73" y="13"/>
                  </a:lnTo>
                  <a:lnTo>
                    <a:pt x="78" y="20"/>
                  </a:lnTo>
                  <a:lnTo>
                    <a:pt x="83" y="26"/>
                  </a:lnTo>
                  <a:lnTo>
                    <a:pt x="84" y="35"/>
                  </a:lnTo>
                  <a:lnTo>
                    <a:pt x="85" y="43"/>
                  </a:lnTo>
                  <a:lnTo>
                    <a:pt x="85" y="43"/>
                  </a:lnTo>
                  <a:lnTo>
                    <a:pt x="84" y="51"/>
                  </a:lnTo>
                  <a:lnTo>
                    <a:pt x="83" y="59"/>
                  </a:lnTo>
                  <a:lnTo>
                    <a:pt x="78" y="66"/>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5"/>
            <p:cNvSpPr>
              <a:spLocks/>
            </p:cNvSpPr>
            <p:nvPr userDrawn="1"/>
          </p:nvSpPr>
          <p:spPr bwMode="auto">
            <a:xfrm>
              <a:off x="3592" y="891"/>
              <a:ext cx="43" cy="43"/>
            </a:xfrm>
            <a:custGeom>
              <a:avLst/>
              <a:gdLst>
                <a:gd name="T0" fmla="*/ 43 w 85"/>
                <a:gd name="T1" fmla="*/ 85 h 85"/>
                <a:gd name="T2" fmla="*/ 43 w 85"/>
                <a:gd name="T3" fmla="*/ 85 h 85"/>
                <a:gd name="T4" fmla="*/ 34 w 85"/>
                <a:gd name="T5" fmla="*/ 85 h 85"/>
                <a:gd name="T6" fmla="*/ 26 w 85"/>
                <a:gd name="T7" fmla="*/ 83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3 h 85"/>
                <a:gd name="T34" fmla="*/ 34 w 85"/>
                <a:gd name="T35" fmla="*/ 1 h 85"/>
                <a:gd name="T36" fmla="*/ 43 w 85"/>
                <a:gd name="T37" fmla="*/ 0 h 85"/>
                <a:gd name="T38" fmla="*/ 43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3 w 85"/>
                <a:gd name="T51" fmla="*/ 26 h 85"/>
                <a:gd name="T52" fmla="*/ 84 w 85"/>
                <a:gd name="T53" fmla="*/ 34 h 85"/>
                <a:gd name="T54" fmla="*/ 85 w 85"/>
                <a:gd name="T55" fmla="*/ 43 h 85"/>
                <a:gd name="T56" fmla="*/ 85 w 85"/>
                <a:gd name="T57" fmla="*/ 43 h 85"/>
                <a:gd name="T58" fmla="*/ 84 w 85"/>
                <a:gd name="T59" fmla="*/ 51 h 85"/>
                <a:gd name="T60" fmla="*/ 83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3"/>
                  </a:lnTo>
                  <a:lnTo>
                    <a:pt x="18" y="78"/>
                  </a:lnTo>
                  <a:lnTo>
                    <a:pt x="12" y="73"/>
                  </a:lnTo>
                  <a:lnTo>
                    <a:pt x="7" y="67"/>
                  </a:lnTo>
                  <a:lnTo>
                    <a:pt x="3" y="59"/>
                  </a:lnTo>
                  <a:lnTo>
                    <a:pt x="0" y="51"/>
                  </a:lnTo>
                  <a:lnTo>
                    <a:pt x="0" y="43"/>
                  </a:lnTo>
                  <a:lnTo>
                    <a:pt x="0" y="43"/>
                  </a:lnTo>
                  <a:lnTo>
                    <a:pt x="0" y="34"/>
                  </a:lnTo>
                  <a:lnTo>
                    <a:pt x="3" y="26"/>
                  </a:lnTo>
                  <a:lnTo>
                    <a:pt x="7" y="19"/>
                  </a:lnTo>
                  <a:lnTo>
                    <a:pt x="12" y="12"/>
                  </a:lnTo>
                  <a:lnTo>
                    <a:pt x="18" y="7"/>
                  </a:lnTo>
                  <a:lnTo>
                    <a:pt x="26" y="3"/>
                  </a:lnTo>
                  <a:lnTo>
                    <a:pt x="34" y="1"/>
                  </a:lnTo>
                  <a:lnTo>
                    <a:pt x="43" y="0"/>
                  </a:lnTo>
                  <a:lnTo>
                    <a:pt x="43" y="0"/>
                  </a:lnTo>
                  <a:lnTo>
                    <a:pt x="51" y="1"/>
                  </a:lnTo>
                  <a:lnTo>
                    <a:pt x="59" y="3"/>
                  </a:lnTo>
                  <a:lnTo>
                    <a:pt x="66" y="7"/>
                  </a:lnTo>
                  <a:lnTo>
                    <a:pt x="73" y="12"/>
                  </a:lnTo>
                  <a:lnTo>
                    <a:pt x="78" y="19"/>
                  </a:lnTo>
                  <a:lnTo>
                    <a:pt x="83" y="26"/>
                  </a:lnTo>
                  <a:lnTo>
                    <a:pt x="84" y="34"/>
                  </a:lnTo>
                  <a:lnTo>
                    <a:pt x="85" y="43"/>
                  </a:lnTo>
                  <a:lnTo>
                    <a:pt x="85" y="43"/>
                  </a:lnTo>
                  <a:lnTo>
                    <a:pt x="84" y="51"/>
                  </a:lnTo>
                  <a:lnTo>
                    <a:pt x="83" y="59"/>
                  </a:lnTo>
                  <a:lnTo>
                    <a:pt x="78" y="67"/>
                  </a:lnTo>
                  <a:lnTo>
                    <a:pt x="73" y="73"/>
                  </a:lnTo>
                  <a:lnTo>
                    <a:pt x="66" y="78"/>
                  </a:lnTo>
                  <a:lnTo>
                    <a:pt x="59" y="83"/>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6"/>
            <p:cNvSpPr>
              <a:spLocks/>
            </p:cNvSpPr>
            <p:nvPr userDrawn="1"/>
          </p:nvSpPr>
          <p:spPr bwMode="auto">
            <a:xfrm>
              <a:off x="3592" y="947"/>
              <a:ext cx="43" cy="43"/>
            </a:xfrm>
            <a:custGeom>
              <a:avLst/>
              <a:gdLst>
                <a:gd name="T0" fmla="*/ 43 w 85"/>
                <a:gd name="T1" fmla="*/ 85 h 85"/>
                <a:gd name="T2" fmla="*/ 43 w 85"/>
                <a:gd name="T3" fmla="*/ 85 h 85"/>
                <a:gd name="T4" fmla="*/ 34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4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3 w 85"/>
                <a:gd name="T51" fmla="*/ 26 h 85"/>
                <a:gd name="T52" fmla="*/ 84 w 85"/>
                <a:gd name="T53" fmla="*/ 34 h 85"/>
                <a:gd name="T54" fmla="*/ 85 w 85"/>
                <a:gd name="T55" fmla="*/ 42 h 85"/>
                <a:gd name="T56" fmla="*/ 85 w 85"/>
                <a:gd name="T57" fmla="*/ 42 h 85"/>
                <a:gd name="T58" fmla="*/ 84 w 85"/>
                <a:gd name="T59" fmla="*/ 51 h 85"/>
                <a:gd name="T60" fmla="*/ 83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4" y="1"/>
                  </a:lnTo>
                  <a:lnTo>
                    <a:pt x="43" y="0"/>
                  </a:lnTo>
                  <a:lnTo>
                    <a:pt x="43" y="0"/>
                  </a:lnTo>
                  <a:lnTo>
                    <a:pt x="51" y="1"/>
                  </a:lnTo>
                  <a:lnTo>
                    <a:pt x="59" y="2"/>
                  </a:lnTo>
                  <a:lnTo>
                    <a:pt x="66" y="7"/>
                  </a:lnTo>
                  <a:lnTo>
                    <a:pt x="73" y="12"/>
                  </a:lnTo>
                  <a:lnTo>
                    <a:pt x="78" y="19"/>
                  </a:lnTo>
                  <a:lnTo>
                    <a:pt x="83" y="26"/>
                  </a:lnTo>
                  <a:lnTo>
                    <a:pt x="84" y="34"/>
                  </a:lnTo>
                  <a:lnTo>
                    <a:pt x="85" y="42"/>
                  </a:lnTo>
                  <a:lnTo>
                    <a:pt x="85" y="42"/>
                  </a:lnTo>
                  <a:lnTo>
                    <a:pt x="84" y="51"/>
                  </a:lnTo>
                  <a:lnTo>
                    <a:pt x="83" y="59"/>
                  </a:lnTo>
                  <a:lnTo>
                    <a:pt x="78" y="67"/>
                  </a:lnTo>
                  <a:lnTo>
                    <a:pt x="73" y="73"/>
                  </a:lnTo>
                  <a:lnTo>
                    <a:pt x="66" y="78"/>
                  </a:lnTo>
                  <a:lnTo>
                    <a:pt x="59" y="82"/>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7"/>
            <p:cNvSpPr>
              <a:spLocks/>
            </p:cNvSpPr>
            <p:nvPr userDrawn="1"/>
          </p:nvSpPr>
          <p:spPr bwMode="auto">
            <a:xfrm>
              <a:off x="3592" y="1004"/>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4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3 w 85"/>
                <a:gd name="T51" fmla="*/ 27 h 86"/>
                <a:gd name="T52" fmla="*/ 84 w 85"/>
                <a:gd name="T53" fmla="*/ 35 h 86"/>
                <a:gd name="T54" fmla="*/ 85 w 85"/>
                <a:gd name="T55" fmla="*/ 43 h 86"/>
                <a:gd name="T56" fmla="*/ 85 w 85"/>
                <a:gd name="T57" fmla="*/ 43 h 86"/>
                <a:gd name="T58" fmla="*/ 84 w 85"/>
                <a:gd name="T59" fmla="*/ 53 h 86"/>
                <a:gd name="T60" fmla="*/ 83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4" y="2"/>
                  </a:lnTo>
                  <a:lnTo>
                    <a:pt x="43" y="0"/>
                  </a:lnTo>
                  <a:lnTo>
                    <a:pt x="43" y="0"/>
                  </a:lnTo>
                  <a:lnTo>
                    <a:pt x="51" y="2"/>
                  </a:lnTo>
                  <a:lnTo>
                    <a:pt x="59" y="5"/>
                  </a:lnTo>
                  <a:lnTo>
                    <a:pt x="66" y="7"/>
                  </a:lnTo>
                  <a:lnTo>
                    <a:pt x="73" y="13"/>
                  </a:lnTo>
                  <a:lnTo>
                    <a:pt x="78" y="20"/>
                  </a:lnTo>
                  <a:lnTo>
                    <a:pt x="83" y="27"/>
                  </a:lnTo>
                  <a:lnTo>
                    <a:pt x="84" y="35"/>
                  </a:lnTo>
                  <a:lnTo>
                    <a:pt x="85" y="43"/>
                  </a:lnTo>
                  <a:lnTo>
                    <a:pt x="85" y="43"/>
                  </a:lnTo>
                  <a:lnTo>
                    <a:pt x="84" y="53"/>
                  </a:lnTo>
                  <a:lnTo>
                    <a:pt x="83" y="59"/>
                  </a:lnTo>
                  <a:lnTo>
                    <a:pt x="78" y="68"/>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8"/>
            <p:cNvSpPr>
              <a:spLocks/>
            </p:cNvSpPr>
            <p:nvPr userDrawn="1"/>
          </p:nvSpPr>
          <p:spPr bwMode="auto">
            <a:xfrm>
              <a:off x="3592" y="1060"/>
              <a:ext cx="43" cy="43"/>
            </a:xfrm>
            <a:custGeom>
              <a:avLst/>
              <a:gdLst>
                <a:gd name="T0" fmla="*/ 43 w 85"/>
                <a:gd name="T1" fmla="*/ 87 h 87"/>
                <a:gd name="T2" fmla="*/ 43 w 85"/>
                <a:gd name="T3" fmla="*/ 87 h 87"/>
                <a:gd name="T4" fmla="*/ 34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4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3 w 85"/>
                <a:gd name="T51" fmla="*/ 26 h 87"/>
                <a:gd name="T52" fmla="*/ 84 w 85"/>
                <a:gd name="T53" fmla="*/ 34 h 87"/>
                <a:gd name="T54" fmla="*/ 85 w 85"/>
                <a:gd name="T55" fmla="*/ 43 h 87"/>
                <a:gd name="T56" fmla="*/ 85 w 85"/>
                <a:gd name="T57" fmla="*/ 43 h 87"/>
                <a:gd name="T58" fmla="*/ 84 w 85"/>
                <a:gd name="T59" fmla="*/ 52 h 87"/>
                <a:gd name="T60" fmla="*/ 83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4"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3" y="26"/>
                  </a:lnTo>
                  <a:lnTo>
                    <a:pt x="84" y="34"/>
                  </a:lnTo>
                  <a:lnTo>
                    <a:pt x="85" y="43"/>
                  </a:lnTo>
                  <a:lnTo>
                    <a:pt x="85" y="43"/>
                  </a:lnTo>
                  <a:lnTo>
                    <a:pt x="84" y="52"/>
                  </a:lnTo>
                  <a:lnTo>
                    <a:pt x="83" y="61"/>
                  </a:lnTo>
                  <a:lnTo>
                    <a:pt x="78" y="67"/>
                  </a:lnTo>
                  <a:lnTo>
                    <a:pt x="73" y="73"/>
                  </a:lnTo>
                  <a:lnTo>
                    <a:pt x="66" y="78"/>
                  </a:lnTo>
                  <a:lnTo>
                    <a:pt x="59" y="83"/>
                  </a:lnTo>
                  <a:lnTo>
                    <a:pt x="51" y="85"/>
                  </a:lnTo>
                  <a:lnTo>
                    <a:pt x="43" y="87"/>
                  </a:lnTo>
                  <a:lnTo>
                    <a:pt x="43"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9"/>
            <p:cNvSpPr>
              <a:spLocks/>
            </p:cNvSpPr>
            <p:nvPr userDrawn="1"/>
          </p:nvSpPr>
          <p:spPr bwMode="auto">
            <a:xfrm>
              <a:off x="3592" y="1116"/>
              <a:ext cx="43" cy="44"/>
            </a:xfrm>
            <a:custGeom>
              <a:avLst/>
              <a:gdLst>
                <a:gd name="T0" fmla="*/ 43 w 85"/>
                <a:gd name="T1" fmla="*/ 86 h 86"/>
                <a:gd name="T2" fmla="*/ 43 w 85"/>
                <a:gd name="T3" fmla="*/ 86 h 86"/>
                <a:gd name="T4" fmla="*/ 34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4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3 w 85"/>
                <a:gd name="T51" fmla="*/ 26 h 86"/>
                <a:gd name="T52" fmla="*/ 84 w 85"/>
                <a:gd name="T53" fmla="*/ 34 h 86"/>
                <a:gd name="T54" fmla="*/ 85 w 85"/>
                <a:gd name="T55" fmla="*/ 44 h 86"/>
                <a:gd name="T56" fmla="*/ 85 w 85"/>
                <a:gd name="T57" fmla="*/ 44 h 86"/>
                <a:gd name="T58" fmla="*/ 84 w 85"/>
                <a:gd name="T59" fmla="*/ 52 h 86"/>
                <a:gd name="T60" fmla="*/ 83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3" y="26"/>
                  </a:lnTo>
                  <a:lnTo>
                    <a:pt x="84" y="34"/>
                  </a:lnTo>
                  <a:lnTo>
                    <a:pt x="85" y="44"/>
                  </a:lnTo>
                  <a:lnTo>
                    <a:pt x="85" y="44"/>
                  </a:lnTo>
                  <a:lnTo>
                    <a:pt x="84" y="52"/>
                  </a:lnTo>
                  <a:lnTo>
                    <a:pt x="83" y="60"/>
                  </a:lnTo>
                  <a:lnTo>
                    <a:pt x="78" y="67"/>
                  </a:lnTo>
                  <a:lnTo>
                    <a:pt x="73" y="74"/>
                  </a:lnTo>
                  <a:lnTo>
                    <a:pt x="66" y="78"/>
                  </a:lnTo>
                  <a:lnTo>
                    <a:pt x="59" y="82"/>
                  </a:lnTo>
                  <a:lnTo>
                    <a:pt x="51"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30"/>
            <p:cNvSpPr>
              <a:spLocks/>
            </p:cNvSpPr>
            <p:nvPr userDrawn="1"/>
          </p:nvSpPr>
          <p:spPr bwMode="auto">
            <a:xfrm>
              <a:off x="3536" y="835"/>
              <a:ext cx="43" cy="42"/>
            </a:xfrm>
            <a:custGeom>
              <a:avLst/>
              <a:gdLst>
                <a:gd name="T0" fmla="*/ 43 w 85"/>
                <a:gd name="T1" fmla="*/ 86 h 86"/>
                <a:gd name="T2" fmla="*/ 43 w 85"/>
                <a:gd name="T3" fmla="*/ 86 h 86"/>
                <a:gd name="T4" fmla="*/ 33 w 85"/>
                <a:gd name="T5" fmla="*/ 86 h 86"/>
                <a:gd name="T6" fmla="*/ 26 w 85"/>
                <a:gd name="T7" fmla="*/ 83 h 86"/>
                <a:gd name="T8" fmla="*/ 18 w 85"/>
                <a:gd name="T9" fmla="*/ 79 h 86"/>
                <a:gd name="T10" fmla="*/ 12 w 85"/>
                <a:gd name="T11" fmla="*/ 73 h 86"/>
                <a:gd name="T12" fmla="*/ 7 w 85"/>
                <a:gd name="T13" fmla="*/ 66 h 86"/>
                <a:gd name="T14" fmla="*/ 3 w 85"/>
                <a:gd name="T15" fmla="*/ 59 h 86"/>
                <a:gd name="T16" fmla="*/ 0 w 85"/>
                <a:gd name="T17" fmla="*/ 51 h 86"/>
                <a:gd name="T18" fmla="*/ 0 w 85"/>
                <a:gd name="T19" fmla="*/ 43 h 86"/>
                <a:gd name="T20" fmla="*/ 0 w 85"/>
                <a:gd name="T21" fmla="*/ 43 h 86"/>
                <a:gd name="T22" fmla="*/ 0 w 85"/>
                <a:gd name="T23" fmla="*/ 35 h 86"/>
                <a:gd name="T24" fmla="*/ 3 w 85"/>
                <a:gd name="T25" fmla="*/ 26 h 86"/>
                <a:gd name="T26" fmla="*/ 7 w 85"/>
                <a:gd name="T27" fmla="*/ 20 h 86"/>
                <a:gd name="T28" fmla="*/ 12 w 85"/>
                <a:gd name="T29" fmla="*/ 13 h 86"/>
                <a:gd name="T30" fmla="*/ 18 w 85"/>
                <a:gd name="T31" fmla="*/ 7 h 86"/>
                <a:gd name="T32" fmla="*/ 26 w 85"/>
                <a:gd name="T33" fmla="*/ 3 h 86"/>
                <a:gd name="T34" fmla="*/ 33 w 85"/>
                <a:gd name="T35" fmla="*/ 0 h 86"/>
                <a:gd name="T36" fmla="*/ 43 w 85"/>
                <a:gd name="T37" fmla="*/ 0 h 86"/>
                <a:gd name="T38" fmla="*/ 43 w 85"/>
                <a:gd name="T39" fmla="*/ 0 h 86"/>
                <a:gd name="T40" fmla="*/ 51 w 85"/>
                <a:gd name="T41" fmla="*/ 0 h 86"/>
                <a:gd name="T42" fmla="*/ 59 w 85"/>
                <a:gd name="T43" fmla="*/ 3 h 86"/>
                <a:gd name="T44" fmla="*/ 66 w 85"/>
                <a:gd name="T45" fmla="*/ 7 h 86"/>
                <a:gd name="T46" fmla="*/ 73 w 85"/>
                <a:gd name="T47" fmla="*/ 13 h 86"/>
                <a:gd name="T48" fmla="*/ 78 w 85"/>
                <a:gd name="T49" fmla="*/ 20 h 86"/>
                <a:gd name="T50" fmla="*/ 81 w 85"/>
                <a:gd name="T51" fmla="*/ 26 h 86"/>
                <a:gd name="T52" fmla="*/ 84 w 85"/>
                <a:gd name="T53" fmla="*/ 35 h 86"/>
                <a:gd name="T54" fmla="*/ 85 w 85"/>
                <a:gd name="T55" fmla="*/ 43 h 86"/>
                <a:gd name="T56" fmla="*/ 85 w 85"/>
                <a:gd name="T57" fmla="*/ 43 h 86"/>
                <a:gd name="T58" fmla="*/ 84 w 85"/>
                <a:gd name="T59" fmla="*/ 51 h 86"/>
                <a:gd name="T60" fmla="*/ 81 w 85"/>
                <a:gd name="T61" fmla="*/ 59 h 86"/>
                <a:gd name="T62" fmla="*/ 78 w 85"/>
                <a:gd name="T63" fmla="*/ 66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6"/>
                  </a:lnTo>
                  <a:lnTo>
                    <a:pt x="26" y="83"/>
                  </a:lnTo>
                  <a:lnTo>
                    <a:pt x="18" y="79"/>
                  </a:lnTo>
                  <a:lnTo>
                    <a:pt x="12" y="73"/>
                  </a:lnTo>
                  <a:lnTo>
                    <a:pt x="7" y="66"/>
                  </a:lnTo>
                  <a:lnTo>
                    <a:pt x="3" y="59"/>
                  </a:lnTo>
                  <a:lnTo>
                    <a:pt x="0" y="51"/>
                  </a:lnTo>
                  <a:lnTo>
                    <a:pt x="0" y="43"/>
                  </a:lnTo>
                  <a:lnTo>
                    <a:pt x="0" y="43"/>
                  </a:lnTo>
                  <a:lnTo>
                    <a:pt x="0" y="35"/>
                  </a:lnTo>
                  <a:lnTo>
                    <a:pt x="3" y="26"/>
                  </a:lnTo>
                  <a:lnTo>
                    <a:pt x="7" y="20"/>
                  </a:lnTo>
                  <a:lnTo>
                    <a:pt x="12" y="13"/>
                  </a:lnTo>
                  <a:lnTo>
                    <a:pt x="18" y="7"/>
                  </a:lnTo>
                  <a:lnTo>
                    <a:pt x="26" y="3"/>
                  </a:lnTo>
                  <a:lnTo>
                    <a:pt x="33" y="0"/>
                  </a:lnTo>
                  <a:lnTo>
                    <a:pt x="43" y="0"/>
                  </a:lnTo>
                  <a:lnTo>
                    <a:pt x="43" y="0"/>
                  </a:lnTo>
                  <a:lnTo>
                    <a:pt x="51" y="0"/>
                  </a:lnTo>
                  <a:lnTo>
                    <a:pt x="59" y="3"/>
                  </a:lnTo>
                  <a:lnTo>
                    <a:pt x="66" y="7"/>
                  </a:lnTo>
                  <a:lnTo>
                    <a:pt x="73" y="13"/>
                  </a:lnTo>
                  <a:lnTo>
                    <a:pt x="78" y="20"/>
                  </a:lnTo>
                  <a:lnTo>
                    <a:pt x="81" y="26"/>
                  </a:lnTo>
                  <a:lnTo>
                    <a:pt x="84" y="35"/>
                  </a:lnTo>
                  <a:lnTo>
                    <a:pt x="85" y="43"/>
                  </a:lnTo>
                  <a:lnTo>
                    <a:pt x="85" y="43"/>
                  </a:lnTo>
                  <a:lnTo>
                    <a:pt x="84" y="51"/>
                  </a:lnTo>
                  <a:lnTo>
                    <a:pt x="81" y="59"/>
                  </a:lnTo>
                  <a:lnTo>
                    <a:pt x="78" y="66"/>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1"/>
            <p:cNvSpPr>
              <a:spLocks/>
            </p:cNvSpPr>
            <p:nvPr userDrawn="1"/>
          </p:nvSpPr>
          <p:spPr bwMode="auto">
            <a:xfrm>
              <a:off x="3536" y="891"/>
              <a:ext cx="43" cy="43"/>
            </a:xfrm>
            <a:custGeom>
              <a:avLst/>
              <a:gdLst>
                <a:gd name="T0" fmla="*/ 43 w 85"/>
                <a:gd name="T1" fmla="*/ 85 h 85"/>
                <a:gd name="T2" fmla="*/ 43 w 85"/>
                <a:gd name="T3" fmla="*/ 85 h 85"/>
                <a:gd name="T4" fmla="*/ 33 w 85"/>
                <a:gd name="T5" fmla="*/ 85 h 85"/>
                <a:gd name="T6" fmla="*/ 26 w 85"/>
                <a:gd name="T7" fmla="*/ 83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3 h 85"/>
                <a:gd name="T34" fmla="*/ 33 w 85"/>
                <a:gd name="T35" fmla="*/ 1 h 85"/>
                <a:gd name="T36" fmla="*/ 43 w 85"/>
                <a:gd name="T37" fmla="*/ 0 h 85"/>
                <a:gd name="T38" fmla="*/ 43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1 w 85"/>
                <a:gd name="T51" fmla="*/ 26 h 85"/>
                <a:gd name="T52" fmla="*/ 84 w 85"/>
                <a:gd name="T53" fmla="*/ 34 h 85"/>
                <a:gd name="T54" fmla="*/ 85 w 85"/>
                <a:gd name="T55" fmla="*/ 43 h 85"/>
                <a:gd name="T56" fmla="*/ 85 w 85"/>
                <a:gd name="T57" fmla="*/ 43 h 85"/>
                <a:gd name="T58" fmla="*/ 84 w 85"/>
                <a:gd name="T59" fmla="*/ 51 h 85"/>
                <a:gd name="T60" fmla="*/ 81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3" y="85"/>
                  </a:lnTo>
                  <a:lnTo>
                    <a:pt x="26" y="83"/>
                  </a:lnTo>
                  <a:lnTo>
                    <a:pt x="18" y="78"/>
                  </a:lnTo>
                  <a:lnTo>
                    <a:pt x="12" y="73"/>
                  </a:lnTo>
                  <a:lnTo>
                    <a:pt x="7" y="67"/>
                  </a:lnTo>
                  <a:lnTo>
                    <a:pt x="3" y="59"/>
                  </a:lnTo>
                  <a:lnTo>
                    <a:pt x="0" y="51"/>
                  </a:lnTo>
                  <a:lnTo>
                    <a:pt x="0" y="43"/>
                  </a:lnTo>
                  <a:lnTo>
                    <a:pt x="0" y="43"/>
                  </a:lnTo>
                  <a:lnTo>
                    <a:pt x="0" y="34"/>
                  </a:lnTo>
                  <a:lnTo>
                    <a:pt x="3" y="26"/>
                  </a:lnTo>
                  <a:lnTo>
                    <a:pt x="7" y="19"/>
                  </a:lnTo>
                  <a:lnTo>
                    <a:pt x="12" y="12"/>
                  </a:lnTo>
                  <a:lnTo>
                    <a:pt x="18" y="7"/>
                  </a:lnTo>
                  <a:lnTo>
                    <a:pt x="26" y="3"/>
                  </a:lnTo>
                  <a:lnTo>
                    <a:pt x="33" y="1"/>
                  </a:lnTo>
                  <a:lnTo>
                    <a:pt x="43" y="0"/>
                  </a:lnTo>
                  <a:lnTo>
                    <a:pt x="43" y="0"/>
                  </a:lnTo>
                  <a:lnTo>
                    <a:pt x="51" y="1"/>
                  </a:lnTo>
                  <a:lnTo>
                    <a:pt x="59" y="3"/>
                  </a:lnTo>
                  <a:lnTo>
                    <a:pt x="66" y="7"/>
                  </a:lnTo>
                  <a:lnTo>
                    <a:pt x="73" y="12"/>
                  </a:lnTo>
                  <a:lnTo>
                    <a:pt x="78" y="19"/>
                  </a:lnTo>
                  <a:lnTo>
                    <a:pt x="81" y="26"/>
                  </a:lnTo>
                  <a:lnTo>
                    <a:pt x="84" y="34"/>
                  </a:lnTo>
                  <a:lnTo>
                    <a:pt x="85" y="43"/>
                  </a:lnTo>
                  <a:lnTo>
                    <a:pt x="85" y="43"/>
                  </a:lnTo>
                  <a:lnTo>
                    <a:pt x="84" y="51"/>
                  </a:lnTo>
                  <a:lnTo>
                    <a:pt x="81" y="59"/>
                  </a:lnTo>
                  <a:lnTo>
                    <a:pt x="78" y="67"/>
                  </a:lnTo>
                  <a:lnTo>
                    <a:pt x="73" y="73"/>
                  </a:lnTo>
                  <a:lnTo>
                    <a:pt x="66" y="78"/>
                  </a:lnTo>
                  <a:lnTo>
                    <a:pt x="59" y="83"/>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2"/>
            <p:cNvSpPr>
              <a:spLocks/>
            </p:cNvSpPr>
            <p:nvPr userDrawn="1"/>
          </p:nvSpPr>
          <p:spPr bwMode="auto">
            <a:xfrm>
              <a:off x="3536" y="947"/>
              <a:ext cx="43" cy="43"/>
            </a:xfrm>
            <a:custGeom>
              <a:avLst/>
              <a:gdLst>
                <a:gd name="T0" fmla="*/ 43 w 85"/>
                <a:gd name="T1" fmla="*/ 85 h 85"/>
                <a:gd name="T2" fmla="*/ 43 w 85"/>
                <a:gd name="T3" fmla="*/ 85 h 85"/>
                <a:gd name="T4" fmla="*/ 33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3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1 w 85"/>
                <a:gd name="T51" fmla="*/ 26 h 85"/>
                <a:gd name="T52" fmla="*/ 84 w 85"/>
                <a:gd name="T53" fmla="*/ 34 h 85"/>
                <a:gd name="T54" fmla="*/ 85 w 85"/>
                <a:gd name="T55" fmla="*/ 42 h 85"/>
                <a:gd name="T56" fmla="*/ 85 w 85"/>
                <a:gd name="T57" fmla="*/ 42 h 85"/>
                <a:gd name="T58" fmla="*/ 84 w 85"/>
                <a:gd name="T59" fmla="*/ 51 h 85"/>
                <a:gd name="T60" fmla="*/ 81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3"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3" y="1"/>
                  </a:lnTo>
                  <a:lnTo>
                    <a:pt x="43" y="0"/>
                  </a:lnTo>
                  <a:lnTo>
                    <a:pt x="43" y="0"/>
                  </a:lnTo>
                  <a:lnTo>
                    <a:pt x="51" y="1"/>
                  </a:lnTo>
                  <a:lnTo>
                    <a:pt x="59" y="2"/>
                  </a:lnTo>
                  <a:lnTo>
                    <a:pt x="66" y="7"/>
                  </a:lnTo>
                  <a:lnTo>
                    <a:pt x="73" y="12"/>
                  </a:lnTo>
                  <a:lnTo>
                    <a:pt x="78" y="19"/>
                  </a:lnTo>
                  <a:lnTo>
                    <a:pt x="81" y="26"/>
                  </a:lnTo>
                  <a:lnTo>
                    <a:pt x="84" y="34"/>
                  </a:lnTo>
                  <a:lnTo>
                    <a:pt x="85" y="42"/>
                  </a:lnTo>
                  <a:lnTo>
                    <a:pt x="85" y="42"/>
                  </a:lnTo>
                  <a:lnTo>
                    <a:pt x="84" y="51"/>
                  </a:lnTo>
                  <a:lnTo>
                    <a:pt x="81" y="59"/>
                  </a:lnTo>
                  <a:lnTo>
                    <a:pt x="78" y="67"/>
                  </a:lnTo>
                  <a:lnTo>
                    <a:pt x="73" y="73"/>
                  </a:lnTo>
                  <a:lnTo>
                    <a:pt x="66" y="78"/>
                  </a:lnTo>
                  <a:lnTo>
                    <a:pt x="59" y="82"/>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3"/>
            <p:cNvSpPr>
              <a:spLocks/>
            </p:cNvSpPr>
            <p:nvPr userDrawn="1"/>
          </p:nvSpPr>
          <p:spPr bwMode="auto">
            <a:xfrm>
              <a:off x="3536" y="1004"/>
              <a:ext cx="43" cy="42"/>
            </a:xfrm>
            <a:custGeom>
              <a:avLst/>
              <a:gdLst>
                <a:gd name="T0" fmla="*/ 43 w 85"/>
                <a:gd name="T1" fmla="*/ 86 h 86"/>
                <a:gd name="T2" fmla="*/ 43 w 85"/>
                <a:gd name="T3" fmla="*/ 86 h 86"/>
                <a:gd name="T4" fmla="*/ 33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3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1 w 85"/>
                <a:gd name="T51" fmla="*/ 27 h 86"/>
                <a:gd name="T52" fmla="*/ 84 w 85"/>
                <a:gd name="T53" fmla="*/ 35 h 86"/>
                <a:gd name="T54" fmla="*/ 85 w 85"/>
                <a:gd name="T55" fmla="*/ 43 h 86"/>
                <a:gd name="T56" fmla="*/ 85 w 85"/>
                <a:gd name="T57" fmla="*/ 43 h 86"/>
                <a:gd name="T58" fmla="*/ 84 w 85"/>
                <a:gd name="T59" fmla="*/ 53 h 86"/>
                <a:gd name="T60" fmla="*/ 81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3" y="2"/>
                  </a:lnTo>
                  <a:lnTo>
                    <a:pt x="43" y="0"/>
                  </a:lnTo>
                  <a:lnTo>
                    <a:pt x="43" y="0"/>
                  </a:lnTo>
                  <a:lnTo>
                    <a:pt x="51" y="2"/>
                  </a:lnTo>
                  <a:lnTo>
                    <a:pt x="59" y="5"/>
                  </a:lnTo>
                  <a:lnTo>
                    <a:pt x="66" y="7"/>
                  </a:lnTo>
                  <a:lnTo>
                    <a:pt x="73" y="13"/>
                  </a:lnTo>
                  <a:lnTo>
                    <a:pt x="78" y="20"/>
                  </a:lnTo>
                  <a:lnTo>
                    <a:pt x="81" y="27"/>
                  </a:lnTo>
                  <a:lnTo>
                    <a:pt x="84" y="35"/>
                  </a:lnTo>
                  <a:lnTo>
                    <a:pt x="85" y="43"/>
                  </a:lnTo>
                  <a:lnTo>
                    <a:pt x="85" y="43"/>
                  </a:lnTo>
                  <a:lnTo>
                    <a:pt x="84" y="53"/>
                  </a:lnTo>
                  <a:lnTo>
                    <a:pt x="81" y="59"/>
                  </a:lnTo>
                  <a:lnTo>
                    <a:pt x="78" y="68"/>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4"/>
            <p:cNvSpPr>
              <a:spLocks/>
            </p:cNvSpPr>
            <p:nvPr userDrawn="1"/>
          </p:nvSpPr>
          <p:spPr bwMode="auto">
            <a:xfrm>
              <a:off x="3536" y="1060"/>
              <a:ext cx="43" cy="43"/>
            </a:xfrm>
            <a:custGeom>
              <a:avLst/>
              <a:gdLst>
                <a:gd name="T0" fmla="*/ 43 w 85"/>
                <a:gd name="T1" fmla="*/ 87 h 87"/>
                <a:gd name="T2" fmla="*/ 43 w 85"/>
                <a:gd name="T3" fmla="*/ 87 h 87"/>
                <a:gd name="T4" fmla="*/ 33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3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1 w 85"/>
                <a:gd name="T51" fmla="*/ 26 h 87"/>
                <a:gd name="T52" fmla="*/ 84 w 85"/>
                <a:gd name="T53" fmla="*/ 34 h 87"/>
                <a:gd name="T54" fmla="*/ 85 w 85"/>
                <a:gd name="T55" fmla="*/ 43 h 87"/>
                <a:gd name="T56" fmla="*/ 85 w 85"/>
                <a:gd name="T57" fmla="*/ 43 h 87"/>
                <a:gd name="T58" fmla="*/ 84 w 85"/>
                <a:gd name="T59" fmla="*/ 52 h 87"/>
                <a:gd name="T60" fmla="*/ 81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3"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3" y="1"/>
                  </a:lnTo>
                  <a:lnTo>
                    <a:pt x="43" y="0"/>
                  </a:lnTo>
                  <a:lnTo>
                    <a:pt x="43" y="0"/>
                  </a:lnTo>
                  <a:lnTo>
                    <a:pt x="51" y="1"/>
                  </a:lnTo>
                  <a:lnTo>
                    <a:pt x="59" y="4"/>
                  </a:lnTo>
                  <a:lnTo>
                    <a:pt x="66" y="8"/>
                  </a:lnTo>
                  <a:lnTo>
                    <a:pt x="73" y="12"/>
                  </a:lnTo>
                  <a:lnTo>
                    <a:pt x="78" y="19"/>
                  </a:lnTo>
                  <a:lnTo>
                    <a:pt x="81" y="26"/>
                  </a:lnTo>
                  <a:lnTo>
                    <a:pt x="84" y="34"/>
                  </a:lnTo>
                  <a:lnTo>
                    <a:pt x="85" y="43"/>
                  </a:lnTo>
                  <a:lnTo>
                    <a:pt x="85" y="43"/>
                  </a:lnTo>
                  <a:lnTo>
                    <a:pt x="84" y="52"/>
                  </a:lnTo>
                  <a:lnTo>
                    <a:pt x="81" y="61"/>
                  </a:lnTo>
                  <a:lnTo>
                    <a:pt x="78" y="67"/>
                  </a:lnTo>
                  <a:lnTo>
                    <a:pt x="73" y="73"/>
                  </a:lnTo>
                  <a:lnTo>
                    <a:pt x="66" y="78"/>
                  </a:lnTo>
                  <a:lnTo>
                    <a:pt x="59" y="83"/>
                  </a:lnTo>
                  <a:lnTo>
                    <a:pt x="51" y="85"/>
                  </a:lnTo>
                  <a:lnTo>
                    <a:pt x="43" y="87"/>
                  </a:lnTo>
                  <a:lnTo>
                    <a:pt x="43"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35"/>
            <p:cNvSpPr>
              <a:spLocks/>
            </p:cNvSpPr>
            <p:nvPr userDrawn="1"/>
          </p:nvSpPr>
          <p:spPr bwMode="auto">
            <a:xfrm>
              <a:off x="3536" y="1116"/>
              <a:ext cx="43" cy="44"/>
            </a:xfrm>
            <a:custGeom>
              <a:avLst/>
              <a:gdLst>
                <a:gd name="T0" fmla="*/ 43 w 85"/>
                <a:gd name="T1" fmla="*/ 86 h 86"/>
                <a:gd name="T2" fmla="*/ 43 w 85"/>
                <a:gd name="T3" fmla="*/ 86 h 86"/>
                <a:gd name="T4" fmla="*/ 33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3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1 w 85"/>
                <a:gd name="T51" fmla="*/ 26 h 86"/>
                <a:gd name="T52" fmla="*/ 84 w 85"/>
                <a:gd name="T53" fmla="*/ 34 h 86"/>
                <a:gd name="T54" fmla="*/ 85 w 85"/>
                <a:gd name="T55" fmla="*/ 44 h 86"/>
                <a:gd name="T56" fmla="*/ 85 w 85"/>
                <a:gd name="T57" fmla="*/ 44 h 86"/>
                <a:gd name="T58" fmla="*/ 84 w 85"/>
                <a:gd name="T59" fmla="*/ 52 h 86"/>
                <a:gd name="T60" fmla="*/ 81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3" y="1"/>
                  </a:lnTo>
                  <a:lnTo>
                    <a:pt x="43" y="0"/>
                  </a:lnTo>
                  <a:lnTo>
                    <a:pt x="43" y="0"/>
                  </a:lnTo>
                  <a:lnTo>
                    <a:pt x="51" y="1"/>
                  </a:lnTo>
                  <a:lnTo>
                    <a:pt x="59" y="4"/>
                  </a:lnTo>
                  <a:lnTo>
                    <a:pt x="66" y="8"/>
                  </a:lnTo>
                  <a:lnTo>
                    <a:pt x="73" y="12"/>
                  </a:lnTo>
                  <a:lnTo>
                    <a:pt x="78" y="19"/>
                  </a:lnTo>
                  <a:lnTo>
                    <a:pt x="81" y="26"/>
                  </a:lnTo>
                  <a:lnTo>
                    <a:pt x="84" y="34"/>
                  </a:lnTo>
                  <a:lnTo>
                    <a:pt x="85" y="44"/>
                  </a:lnTo>
                  <a:lnTo>
                    <a:pt x="85" y="44"/>
                  </a:lnTo>
                  <a:lnTo>
                    <a:pt x="84" y="52"/>
                  </a:lnTo>
                  <a:lnTo>
                    <a:pt x="81" y="60"/>
                  </a:lnTo>
                  <a:lnTo>
                    <a:pt x="78" y="67"/>
                  </a:lnTo>
                  <a:lnTo>
                    <a:pt x="73" y="74"/>
                  </a:lnTo>
                  <a:lnTo>
                    <a:pt x="66" y="78"/>
                  </a:lnTo>
                  <a:lnTo>
                    <a:pt x="59" y="82"/>
                  </a:lnTo>
                  <a:lnTo>
                    <a:pt x="51"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36"/>
            <p:cNvSpPr>
              <a:spLocks/>
            </p:cNvSpPr>
            <p:nvPr userDrawn="1"/>
          </p:nvSpPr>
          <p:spPr bwMode="auto">
            <a:xfrm>
              <a:off x="3762" y="947"/>
              <a:ext cx="43" cy="43"/>
            </a:xfrm>
            <a:custGeom>
              <a:avLst/>
              <a:gdLst>
                <a:gd name="T0" fmla="*/ 42 w 85"/>
                <a:gd name="T1" fmla="*/ 85 h 85"/>
                <a:gd name="T2" fmla="*/ 42 w 85"/>
                <a:gd name="T3" fmla="*/ 85 h 85"/>
                <a:gd name="T4" fmla="*/ 34 w 85"/>
                <a:gd name="T5" fmla="*/ 85 h 85"/>
                <a:gd name="T6" fmla="*/ 26 w 85"/>
                <a:gd name="T7" fmla="*/ 82 h 85"/>
                <a:gd name="T8" fmla="*/ 19 w 85"/>
                <a:gd name="T9" fmla="*/ 78 h 85"/>
                <a:gd name="T10" fmla="*/ 12 w 85"/>
                <a:gd name="T11" fmla="*/ 73 h 85"/>
                <a:gd name="T12" fmla="*/ 7 w 85"/>
                <a:gd name="T13" fmla="*/ 67 h 85"/>
                <a:gd name="T14" fmla="*/ 2 w 85"/>
                <a:gd name="T15" fmla="*/ 59 h 85"/>
                <a:gd name="T16" fmla="*/ 1 w 85"/>
                <a:gd name="T17" fmla="*/ 51 h 85"/>
                <a:gd name="T18" fmla="*/ 0 w 85"/>
                <a:gd name="T19" fmla="*/ 42 h 85"/>
                <a:gd name="T20" fmla="*/ 0 w 85"/>
                <a:gd name="T21" fmla="*/ 42 h 85"/>
                <a:gd name="T22" fmla="*/ 1 w 85"/>
                <a:gd name="T23" fmla="*/ 34 h 85"/>
                <a:gd name="T24" fmla="*/ 2 w 85"/>
                <a:gd name="T25" fmla="*/ 26 h 85"/>
                <a:gd name="T26" fmla="*/ 7 w 85"/>
                <a:gd name="T27" fmla="*/ 19 h 85"/>
                <a:gd name="T28" fmla="*/ 12 w 85"/>
                <a:gd name="T29" fmla="*/ 12 h 85"/>
                <a:gd name="T30" fmla="*/ 19 w 85"/>
                <a:gd name="T31" fmla="*/ 7 h 85"/>
                <a:gd name="T32" fmla="*/ 26 w 85"/>
                <a:gd name="T33" fmla="*/ 2 h 85"/>
                <a:gd name="T34" fmla="*/ 34 w 85"/>
                <a:gd name="T35" fmla="*/ 1 h 85"/>
                <a:gd name="T36" fmla="*/ 42 w 85"/>
                <a:gd name="T37" fmla="*/ 0 h 85"/>
                <a:gd name="T38" fmla="*/ 42 w 85"/>
                <a:gd name="T39" fmla="*/ 0 h 85"/>
                <a:gd name="T40" fmla="*/ 51 w 85"/>
                <a:gd name="T41" fmla="*/ 1 h 85"/>
                <a:gd name="T42" fmla="*/ 59 w 85"/>
                <a:gd name="T43" fmla="*/ 2 h 85"/>
                <a:gd name="T44" fmla="*/ 67 w 85"/>
                <a:gd name="T45" fmla="*/ 7 h 85"/>
                <a:gd name="T46" fmla="*/ 73 w 85"/>
                <a:gd name="T47" fmla="*/ 12 h 85"/>
                <a:gd name="T48" fmla="*/ 78 w 85"/>
                <a:gd name="T49" fmla="*/ 19 h 85"/>
                <a:gd name="T50" fmla="*/ 82 w 85"/>
                <a:gd name="T51" fmla="*/ 26 h 85"/>
                <a:gd name="T52" fmla="*/ 85 w 85"/>
                <a:gd name="T53" fmla="*/ 34 h 85"/>
                <a:gd name="T54" fmla="*/ 85 w 85"/>
                <a:gd name="T55" fmla="*/ 42 h 85"/>
                <a:gd name="T56" fmla="*/ 85 w 85"/>
                <a:gd name="T57" fmla="*/ 42 h 85"/>
                <a:gd name="T58" fmla="*/ 85 w 85"/>
                <a:gd name="T59" fmla="*/ 51 h 85"/>
                <a:gd name="T60" fmla="*/ 82 w 85"/>
                <a:gd name="T61" fmla="*/ 59 h 85"/>
                <a:gd name="T62" fmla="*/ 78 w 85"/>
                <a:gd name="T63" fmla="*/ 67 h 85"/>
                <a:gd name="T64" fmla="*/ 73 w 85"/>
                <a:gd name="T65" fmla="*/ 73 h 85"/>
                <a:gd name="T66" fmla="*/ 67 w 85"/>
                <a:gd name="T67" fmla="*/ 78 h 85"/>
                <a:gd name="T68" fmla="*/ 59 w 85"/>
                <a:gd name="T69" fmla="*/ 82 h 85"/>
                <a:gd name="T70" fmla="*/ 51 w 85"/>
                <a:gd name="T71" fmla="*/ 85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5"/>
                  </a:lnTo>
                  <a:lnTo>
                    <a:pt x="26" y="82"/>
                  </a:lnTo>
                  <a:lnTo>
                    <a:pt x="19" y="78"/>
                  </a:lnTo>
                  <a:lnTo>
                    <a:pt x="12" y="73"/>
                  </a:lnTo>
                  <a:lnTo>
                    <a:pt x="7" y="67"/>
                  </a:lnTo>
                  <a:lnTo>
                    <a:pt x="2" y="59"/>
                  </a:lnTo>
                  <a:lnTo>
                    <a:pt x="1" y="51"/>
                  </a:lnTo>
                  <a:lnTo>
                    <a:pt x="0" y="42"/>
                  </a:lnTo>
                  <a:lnTo>
                    <a:pt x="0" y="42"/>
                  </a:lnTo>
                  <a:lnTo>
                    <a:pt x="1" y="34"/>
                  </a:lnTo>
                  <a:lnTo>
                    <a:pt x="2" y="26"/>
                  </a:lnTo>
                  <a:lnTo>
                    <a:pt x="7" y="19"/>
                  </a:lnTo>
                  <a:lnTo>
                    <a:pt x="12" y="12"/>
                  </a:lnTo>
                  <a:lnTo>
                    <a:pt x="19" y="7"/>
                  </a:lnTo>
                  <a:lnTo>
                    <a:pt x="26" y="2"/>
                  </a:lnTo>
                  <a:lnTo>
                    <a:pt x="34" y="1"/>
                  </a:lnTo>
                  <a:lnTo>
                    <a:pt x="42" y="0"/>
                  </a:lnTo>
                  <a:lnTo>
                    <a:pt x="42" y="0"/>
                  </a:lnTo>
                  <a:lnTo>
                    <a:pt x="51" y="1"/>
                  </a:lnTo>
                  <a:lnTo>
                    <a:pt x="59" y="2"/>
                  </a:lnTo>
                  <a:lnTo>
                    <a:pt x="67" y="7"/>
                  </a:lnTo>
                  <a:lnTo>
                    <a:pt x="73" y="12"/>
                  </a:lnTo>
                  <a:lnTo>
                    <a:pt x="78" y="19"/>
                  </a:lnTo>
                  <a:lnTo>
                    <a:pt x="82" y="26"/>
                  </a:lnTo>
                  <a:lnTo>
                    <a:pt x="85" y="34"/>
                  </a:lnTo>
                  <a:lnTo>
                    <a:pt x="85" y="42"/>
                  </a:lnTo>
                  <a:lnTo>
                    <a:pt x="85" y="42"/>
                  </a:lnTo>
                  <a:lnTo>
                    <a:pt x="85" y="51"/>
                  </a:lnTo>
                  <a:lnTo>
                    <a:pt x="82" y="59"/>
                  </a:lnTo>
                  <a:lnTo>
                    <a:pt x="78" y="67"/>
                  </a:lnTo>
                  <a:lnTo>
                    <a:pt x="73" y="73"/>
                  </a:lnTo>
                  <a:lnTo>
                    <a:pt x="67" y="78"/>
                  </a:lnTo>
                  <a:lnTo>
                    <a:pt x="59" y="82"/>
                  </a:lnTo>
                  <a:lnTo>
                    <a:pt x="51" y="85"/>
                  </a:lnTo>
                  <a:lnTo>
                    <a:pt x="42" y="85"/>
                  </a:lnTo>
                  <a:lnTo>
                    <a:pt x="42"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37"/>
            <p:cNvSpPr>
              <a:spLocks/>
            </p:cNvSpPr>
            <p:nvPr userDrawn="1"/>
          </p:nvSpPr>
          <p:spPr bwMode="auto">
            <a:xfrm>
              <a:off x="3762" y="1004"/>
              <a:ext cx="43" cy="42"/>
            </a:xfrm>
            <a:custGeom>
              <a:avLst/>
              <a:gdLst>
                <a:gd name="T0" fmla="*/ 42 w 85"/>
                <a:gd name="T1" fmla="*/ 86 h 86"/>
                <a:gd name="T2" fmla="*/ 42 w 85"/>
                <a:gd name="T3" fmla="*/ 86 h 86"/>
                <a:gd name="T4" fmla="*/ 34 w 85"/>
                <a:gd name="T5" fmla="*/ 86 h 86"/>
                <a:gd name="T6" fmla="*/ 26 w 85"/>
                <a:gd name="T7" fmla="*/ 83 h 86"/>
                <a:gd name="T8" fmla="*/ 19 w 85"/>
                <a:gd name="T9" fmla="*/ 79 h 86"/>
                <a:gd name="T10" fmla="*/ 12 w 85"/>
                <a:gd name="T11" fmla="*/ 73 h 86"/>
                <a:gd name="T12" fmla="*/ 7 w 85"/>
                <a:gd name="T13" fmla="*/ 68 h 86"/>
                <a:gd name="T14" fmla="*/ 2 w 85"/>
                <a:gd name="T15" fmla="*/ 59 h 86"/>
                <a:gd name="T16" fmla="*/ 1 w 85"/>
                <a:gd name="T17" fmla="*/ 53 h 86"/>
                <a:gd name="T18" fmla="*/ 0 w 85"/>
                <a:gd name="T19" fmla="*/ 43 h 86"/>
                <a:gd name="T20" fmla="*/ 0 w 85"/>
                <a:gd name="T21" fmla="*/ 43 h 86"/>
                <a:gd name="T22" fmla="*/ 1 w 85"/>
                <a:gd name="T23" fmla="*/ 35 h 86"/>
                <a:gd name="T24" fmla="*/ 2 w 85"/>
                <a:gd name="T25" fmla="*/ 27 h 86"/>
                <a:gd name="T26" fmla="*/ 7 w 85"/>
                <a:gd name="T27" fmla="*/ 20 h 86"/>
                <a:gd name="T28" fmla="*/ 12 w 85"/>
                <a:gd name="T29" fmla="*/ 13 h 86"/>
                <a:gd name="T30" fmla="*/ 19 w 85"/>
                <a:gd name="T31" fmla="*/ 7 h 86"/>
                <a:gd name="T32" fmla="*/ 26 w 85"/>
                <a:gd name="T33" fmla="*/ 5 h 86"/>
                <a:gd name="T34" fmla="*/ 34 w 85"/>
                <a:gd name="T35" fmla="*/ 2 h 86"/>
                <a:gd name="T36" fmla="*/ 42 w 85"/>
                <a:gd name="T37" fmla="*/ 0 h 86"/>
                <a:gd name="T38" fmla="*/ 42 w 85"/>
                <a:gd name="T39" fmla="*/ 0 h 86"/>
                <a:gd name="T40" fmla="*/ 51 w 85"/>
                <a:gd name="T41" fmla="*/ 2 h 86"/>
                <a:gd name="T42" fmla="*/ 59 w 85"/>
                <a:gd name="T43" fmla="*/ 5 h 86"/>
                <a:gd name="T44" fmla="*/ 67 w 85"/>
                <a:gd name="T45" fmla="*/ 7 h 86"/>
                <a:gd name="T46" fmla="*/ 73 w 85"/>
                <a:gd name="T47" fmla="*/ 13 h 86"/>
                <a:gd name="T48" fmla="*/ 78 w 85"/>
                <a:gd name="T49" fmla="*/ 20 h 86"/>
                <a:gd name="T50" fmla="*/ 82 w 85"/>
                <a:gd name="T51" fmla="*/ 27 h 86"/>
                <a:gd name="T52" fmla="*/ 85 w 85"/>
                <a:gd name="T53" fmla="*/ 35 h 86"/>
                <a:gd name="T54" fmla="*/ 85 w 85"/>
                <a:gd name="T55" fmla="*/ 43 h 86"/>
                <a:gd name="T56" fmla="*/ 85 w 85"/>
                <a:gd name="T57" fmla="*/ 43 h 86"/>
                <a:gd name="T58" fmla="*/ 85 w 85"/>
                <a:gd name="T59" fmla="*/ 53 h 86"/>
                <a:gd name="T60" fmla="*/ 82 w 85"/>
                <a:gd name="T61" fmla="*/ 59 h 86"/>
                <a:gd name="T62" fmla="*/ 78 w 85"/>
                <a:gd name="T63" fmla="*/ 68 h 86"/>
                <a:gd name="T64" fmla="*/ 73 w 85"/>
                <a:gd name="T65" fmla="*/ 73 h 86"/>
                <a:gd name="T66" fmla="*/ 67 w 85"/>
                <a:gd name="T67" fmla="*/ 79 h 86"/>
                <a:gd name="T68" fmla="*/ 59 w 85"/>
                <a:gd name="T69" fmla="*/ 83 h 86"/>
                <a:gd name="T70" fmla="*/ 51 w 85"/>
                <a:gd name="T71" fmla="*/ 86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6"/>
                  </a:lnTo>
                  <a:lnTo>
                    <a:pt x="26" y="83"/>
                  </a:lnTo>
                  <a:lnTo>
                    <a:pt x="19" y="79"/>
                  </a:lnTo>
                  <a:lnTo>
                    <a:pt x="12" y="73"/>
                  </a:lnTo>
                  <a:lnTo>
                    <a:pt x="7" y="68"/>
                  </a:lnTo>
                  <a:lnTo>
                    <a:pt x="2" y="59"/>
                  </a:lnTo>
                  <a:lnTo>
                    <a:pt x="1" y="53"/>
                  </a:lnTo>
                  <a:lnTo>
                    <a:pt x="0" y="43"/>
                  </a:lnTo>
                  <a:lnTo>
                    <a:pt x="0" y="43"/>
                  </a:lnTo>
                  <a:lnTo>
                    <a:pt x="1" y="35"/>
                  </a:lnTo>
                  <a:lnTo>
                    <a:pt x="2" y="27"/>
                  </a:lnTo>
                  <a:lnTo>
                    <a:pt x="7" y="20"/>
                  </a:lnTo>
                  <a:lnTo>
                    <a:pt x="12" y="13"/>
                  </a:lnTo>
                  <a:lnTo>
                    <a:pt x="19" y="7"/>
                  </a:lnTo>
                  <a:lnTo>
                    <a:pt x="26" y="5"/>
                  </a:lnTo>
                  <a:lnTo>
                    <a:pt x="34" y="2"/>
                  </a:lnTo>
                  <a:lnTo>
                    <a:pt x="42" y="0"/>
                  </a:lnTo>
                  <a:lnTo>
                    <a:pt x="42" y="0"/>
                  </a:lnTo>
                  <a:lnTo>
                    <a:pt x="51" y="2"/>
                  </a:lnTo>
                  <a:lnTo>
                    <a:pt x="59" y="5"/>
                  </a:lnTo>
                  <a:lnTo>
                    <a:pt x="67" y="7"/>
                  </a:lnTo>
                  <a:lnTo>
                    <a:pt x="73" y="13"/>
                  </a:lnTo>
                  <a:lnTo>
                    <a:pt x="78" y="20"/>
                  </a:lnTo>
                  <a:lnTo>
                    <a:pt x="82" y="27"/>
                  </a:lnTo>
                  <a:lnTo>
                    <a:pt x="85" y="35"/>
                  </a:lnTo>
                  <a:lnTo>
                    <a:pt x="85" y="43"/>
                  </a:lnTo>
                  <a:lnTo>
                    <a:pt x="85" y="43"/>
                  </a:lnTo>
                  <a:lnTo>
                    <a:pt x="85" y="53"/>
                  </a:lnTo>
                  <a:lnTo>
                    <a:pt x="82" y="59"/>
                  </a:lnTo>
                  <a:lnTo>
                    <a:pt x="78" y="68"/>
                  </a:lnTo>
                  <a:lnTo>
                    <a:pt x="73" y="73"/>
                  </a:lnTo>
                  <a:lnTo>
                    <a:pt x="67" y="79"/>
                  </a:lnTo>
                  <a:lnTo>
                    <a:pt x="59" y="83"/>
                  </a:lnTo>
                  <a:lnTo>
                    <a:pt x="51" y="86"/>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38"/>
            <p:cNvSpPr>
              <a:spLocks/>
            </p:cNvSpPr>
            <p:nvPr userDrawn="1"/>
          </p:nvSpPr>
          <p:spPr bwMode="auto">
            <a:xfrm>
              <a:off x="3762" y="1060"/>
              <a:ext cx="43" cy="43"/>
            </a:xfrm>
            <a:custGeom>
              <a:avLst/>
              <a:gdLst>
                <a:gd name="T0" fmla="*/ 42 w 85"/>
                <a:gd name="T1" fmla="*/ 87 h 87"/>
                <a:gd name="T2" fmla="*/ 42 w 85"/>
                <a:gd name="T3" fmla="*/ 87 h 87"/>
                <a:gd name="T4" fmla="*/ 34 w 85"/>
                <a:gd name="T5" fmla="*/ 85 h 87"/>
                <a:gd name="T6" fmla="*/ 26 w 85"/>
                <a:gd name="T7" fmla="*/ 83 h 87"/>
                <a:gd name="T8" fmla="*/ 19 w 85"/>
                <a:gd name="T9" fmla="*/ 78 h 87"/>
                <a:gd name="T10" fmla="*/ 12 w 85"/>
                <a:gd name="T11" fmla="*/ 73 h 87"/>
                <a:gd name="T12" fmla="*/ 7 w 85"/>
                <a:gd name="T13" fmla="*/ 67 h 87"/>
                <a:gd name="T14" fmla="*/ 2 w 85"/>
                <a:gd name="T15" fmla="*/ 61 h 87"/>
                <a:gd name="T16" fmla="*/ 1 w 85"/>
                <a:gd name="T17" fmla="*/ 52 h 87"/>
                <a:gd name="T18" fmla="*/ 0 w 85"/>
                <a:gd name="T19" fmla="*/ 43 h 87"/>
                <a:gd name="T20" fmla="*/ 0 w 85"/>
                <a:gd name="T21" fmla="*/ 43 h 87"/>
                <a:gd name="T22" fmla="*/ 1 w 85"/>
                <a:gd name="T23" fmla="*/ 34 h 87"/>
                <a:gd name="T24" fmla="*/ 2 w 85"/>
                <a:gd name="T25" fmla="*/ 26 h 87"/>
                <a:gd name="T26" fmla="*/ 7 w 85"/>
                <a:gd name="T27" fmla="*/ 19 h 87"/>
                <a:gd name="T28" fmla="*/ 12 w 85"/>
                <a:gd name="T29" fmla="*/ 12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7 w 85"/>
                <a:gd name="T45" fmla="*/ 8 h 87"/>
                <a:gd name="T46" fmla="*/ 73 w 85"/>
                <a:gd name="T47" fmla="*/ 12 h 87"/>
                <a:gd name="T48" fmla="*/ 78 w 85"/>
                <a:gd name="T49" fmla="*/ 19 h 87"/>
                <a:gd name="T50" fmla="*/ 82 w 85"/>
                <a:gd name="T51" fmla="*/ 26 h 87"/>
                <a:gd name="T52" fmla="*/ 85 w 85"/>
                <a:gd name="T53" fmla="*/ 34 h 87"/>
                <a:gd name="T54" fmla="*/ 85 w 85"/>
                <a:gd name="T55" fmla="*/ 43 h 87"/>
                <a:gd name="T56" fmla="*/ 85 w 85"/>
                <a:gd name="T57" fmla="*/ 43 h 87"/>
                <a:gd name="T58" fmla="*/ 85 w 85"/>
                <a:gd name="T59" fmla="*/ 52 h 87"/>
                <a:gd name="T60" fmla="*/ 82 w 85"/>
                <a:gd name="T61" fmla="*/ 61 h 87"/>
                <a:gd name="T62" fmla="*/ 78 w 85"/>
                <a:gd name="T63" fmla="*/ 67 h 87"/>
                <a:gd name="T64" fmla="*/ 73 w 85"/>
                <a:gd name="T65" fmla="*/ 73 h 87"/>
                <a:gd name="T66" fmla="*/ 67 w 85"/>
                <a:gd name="T67" fmla="*/ 78 h 87"/>
                <a:gd name="T68" fmla="*/ 59 w 85"/>
                <a:gd name="T69" fmla="*/ 83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3"/>
                  </a:lnTo>
                  <a:lnTo>
                    <a:pt x="19" y="78"/>
                  </a:lnTo>
                  <a:lnTo>
                    <a:pt x="12" y="73"/>
                  </a:lnTo>
                  <a:lnTo>
                    <a:pt x="7" y="67"/>
                  </a:lnTo>
                  <a:lnTo>
                    <a:pt x="2" y="61"/>
                  </a:lnTo>
                  <a:lnTo>
                    <a:pt x="1" y="52"/>
                  </a:lnTo>
                  <a:lnTo>
                    <a:pt x="0" y="43"/>
                  </a:lnTo>
                  <a:lnTo>
                    <a:pt x="0" y="43"/>
                  </a:lnTo>
                  <a:lnTo>
                    <a:pt x="1" y="34"/>
                  </a:lnTo>
                  <a:lnTo>
                    <a:pt x="2" y="26"/>
                  </a:lnTo>
                  <a:lnTo>
                    <a:pt x="7" y="19"/>
                  </a:lnTo>
                  <a:lnTo>
                    <a:pt x="12" y="12"/>
                  </a:lnTo>
                  <a:lnTo>
                    <a:pt x="19" y="8"/>
                  </a:lnTo>
                  <a:lnTo>
                    <a:pt x="26" y="4"/>
                  </a:lnTo>
                  <a:lnTo>
                    <a:pt x="34" y="1"/>
                  </a:lnTo>
                  <a:lnTo>
                    <a:pt x="42" y="0"/>
                  </a:lnTo>
                  <a:lnTo>
                    <a:pt x="42" y="0"/>
                  </a:lnTo>
                  <a:lnTo>
                    <a:pt x="51" y="1"/>
                  </a:lnTo>
                  <a:lnTo>
                    <a:pt x="59" y="4"/>
                  </a:lnTo>
                  <a:lnTo>
                    <a:pt x="67" y="8"/>
                  </a:lnTo>
                  <a:lnTo>
                    <a:pt x="73" y="12"/>
                  </a:lnTo>
                  <a:lnTo>
                    <a:pt x="78" y="19"/>
                  </a:lnTo>
                  <a:lnTo>
                    <a:pt x="82" y="26"/>
                  </a:lnTo>
                  <a:lnTo>
                    <a:pt x="85" y="34"/>
                  </a:lnTo>
                  <a:lnTo>
                    <a:pt x="85" y="43"/>
                  </a:lnTo>
                  <a:lnTo>
                    <a:pt x="85" y="43"/>
                  </a:lnTo>
                  <a:lnTo>
                    <a:pt x="85" y="52"/>
                  </a:lnTo>
                  <a:lnTo>
                    <a:pt x="82" y="61"/>
                  </a:lnTo>
                  <a:lnTo>
                    <a:pt x="78" y="67"/>
                  </a:lnTo>
                  <a:lnTo>
                    <a:pt x="73" y="73"/>
                  </a:lnTo>
                  <a:lnTo>
                    <a:pt x="67" y="78"/>
                  </a:lnTo>
                  <a:lnTo>
                    <a:pt x="59" y="83"/>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39"/>
            <p:cNvSpPr>
              <a:spLocks/>
            </p:cNvSpPr>
            <p:nvPr userDrawn="1"/>
          </p:nvSpPr>
          <p:spPr bwMode="auto">
            <a:xfrm>
              <a:off x="3705" y="665"/>
              <a:ext cx="43" cy="43"/>
            </a:xfrm>
            <a:custGeom>
              <a:avLst/>
              <a:gdLst>
                <a:gd name="T0" fmla="*/ 42 w 85"/>
                <a:gd name="T1" fmla="*/ 87 h 87"/>
                <a:gd name="T2" fmla="*/ 42 w 85"/>
                <a:gd name="T3" fmla="*/ 87 h 87"/>
                <a:gd name="T4" fmla="*/ 34 w 85"/>
                <a:gd name="T5" fmla="*/ 85 h 87"/>
                <a:gd name="T6" fmla="*/ 26 w 85"/>
                <a:gd name="T7" fmla="*/ 82 h 87"/>
                <a:gd name="T8" fmla="*/ 19 w 85"/>
                <a:gd name="T9" fmla="*/ 80 h 87"/>
                <a:gd name="T10" fmla="*/ 12 w 85"/>
                <a:gd name="T11" fmla="*/ 74 h 87"/>
                <a:gd name="T12" fmla="*/ 7 w 85"/>
                <a:gd name="T13" fmla="*/ 67 h 87"/>
                <a:gd name="T14" fmla="*/ 3 w 85"/>
                <a:gd name="T15" fmla="*/ 60 h 87"/>
                <a:gd name="T16" fmla="*/ 0 w 85"/>
                <a:gd name="T17" fmla="*/ 52 h 87"/>
                <a:gd name="T18" fmla="*/ 0 w 85"/>
                <a:gd name="T19" fmla="*/ 44 h 87"/>
                <a:gd name="T20" fmla="*/ 0 w 85"/>
                <a:gd name="T21" fmla="*/ 44 h 87"/>
                <a:gd name="T22" fmla="*/ 0 w 85"/>
                <a:gd name="T23" fmla="*/ 34 h 87"/>
                <a:gd name="T24" fmla="*/ 3 w 85"/>
                <a:gd name="T25" fmla="*/ 27 h 87"/>
                <a:gd name="T26" fmla="*/ 7 w 85"/>
                <a:gd name="T27" fmla="*/ 19 h 87"/>
                <a:gd name="T28" fmla="*/ 12 w 85"/>
                <a:gd name="T29" fmla="*/ 14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6 w 85"/>
                <a:gd name="T45" fmla="*/ 8 h 87"/>
                <a:gd name="T46" fmla="*/ 73 w 85"/>
                <a:gd name="T47" fmla="*/ 14 h 87"/>
                <a:gd name="T48" fmla="*/ 78 w 85"/>
                <a:gd name="T49" fmla="*/ 19 h 87"/>
                <a:gd name="T50" fmla="*/ 82 w 85"/>
                <a:gd name="T51" fmla="*/ 27 h 87"/>
                <a:gd name="T52" fmla="*/ 85 w 85"/>
                <a:gd name="T53" fmla="*/ 34 h 87"/>
                <a:gd name="T54" fmla="*/ 85 w 85"/>
                <a:gd name="T55" fmla="*/ 44 h 87"/>
                <a:gd name="T56" fmla="*/ 85 w 85"/>
                <a:gd name="T57" fmla="*/ 44 h 87"/>
                <a:gd name="T58" fmla="*/ 85 w 85"/>
                <a:gd name="T59" fmla="*/ 52 h 87"/>
                <a:gd name="T60" fmla="*/ 82 w 85"/>
                <a:gd name="T61" fmla="*/ 60 h 87"/>
                <a:gd name="T62" fmla="*/ 78 w 85"/>
                <a:gd name="T63" fmla="*/ 67 h 87"/>
                <a:gd name="T64" fmla="*/ 73 w 85"/>
                <a:gd name="T65" fmla="*/ 74 h 87"/>
                <a:gd name="T66" fmla="*/ 66 w 85"/>
                <a:gd name="T67" fmla="*/ 80 h 87"/>
                <a:gd name="T68" fmla="*/ 59 w 85"/>
                <a:gd name="T69" fmla="*/ 82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2"/>
                  </a:lnTo>
                  <a:lnTo>
                    <a:pt x="19" y="80"/>
                  </a:lnTo>
                  <a:lnTo>
                    <a:pt x="12" y="74"/>
                  </a:lnTo>
                  <a:lnTo>
                    <a:pt x="7" y="67"/>
                  </a:lnTo>
                  <a:lnTo>
                    <a:pt x="3" y="60"/>
                  </a:lnTo>
                  <a:lnTo>
                    <a:pt x="0" y="52"/>
                  </a:lnTo>
                  <a:lnTo>
                    <a:pt x="0" y="44"/>
                  </a:lnTo>
                  <a:lnTo>
                    <a:pt x="0" y="44"/>
                  </a:lnTo>
                  <a:lnTo>
                    <a:pt x="0" y="34"/>
                  </a:lnTo>
                  <a:lnTo>
                    <a:pt x="3" y="27"/>
                  </a:lnTo>
                  <a:lnTo>
                    <a:pt x="7" y="19"/>
                  </a:lnTo>
                  <a:lnTo>
                    <a:pt x="12" y="14"/>
                  </a:lnTo>
                  <a:lnTo>
                    <a:pt x="19" y="8"/>
                  </a:lnTo>
                  <a:lnTo>
                    <a:pt x="26" y="4"/>
                  </a:lnTo>
                  <a:lnTo>
                    <a:pt x="34" y="1"/>
                  </a:lnTo>
                  <a:lnTo>
                    <a:pt x="42" y="0"/>
                  </a:lnTo>
                  <a:lnTo>
                    <a:pt x="42" y="0"/>
                  </a:lnTo>
                  <a:lnTo>
                    <a:pt x="51" y="1"/>
                  </a:lnTo>
                  <a:lnTo>
                    <a:pt x="59" y="4"/>
                  </a:lnTo>
                  <a:lnTo>
                    <a:pt x="66" y="8"/>
                  </a:lnTo>
                  <a:lnTo>
                    <a:pt x="73" y="14"/>
                  </a:lnTo>
                  <a:lnTo>
                    <a:pt x="78" y="19"/>
                  </a:lnTo>
                  <a:lnTo>
                    <a:pt x="82" y="27"/>
                  </a:lnTo>
                  <a:lnTo>
                    <a:pt x="85" y="34"/>
                  </a:lnTo>
                  <a:lnTo>
                    <a:pt x="85" y="44"/>
                  </a:lnTo>
                  <a:lnTo>
                    <a:pt x="85" y="44"/>
                  </a:lnTo>
                  <a:lnTo>
                    <a:pt x="85" y="52"/>
                  </a:lnTo>
                  <a:lnTo>
                    <a:pt x="82" y="60"/>
                  </a:lnTo>
                  <a:lnTo>
                    <a:pt x="78" y="67"/>
                  </a:lnTo>
                  <a:lnTo>
                    <a:pt x="73" y="74"/>
                  </a:lnTo>
                  <a:lnTo>
                    <a:pt x="66" y="80"/>
                  </a:lnTo>
                  <a:lnTo>
                    <a:pt x="59" y="82"/>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0"/>
            <p:cNvSpPr>
              <a:spLocks/>
            </p:cNvSpPr>
            <p:nvPr userDrawn="1"/>
          </p:nvSpPr>
          <p:spPr bwMode="auto">
            <a:xfrm>
              <a:off x="3705" y="947"/>
              <a:ext cx="43" cy="43"/>
            </a:xfrm>
            <a:custGeom>
              <a:avLst/>
              <a:gdLst>
                <a:gd name="T0" fmla="*/ 42 w 85"/>
                <a:gd name="T1" fmla="*/ 85 h 85"/>
                <a:gd name="T2" fmla="*/ 42 w 85"/>
                <a:gd name="T3" fmla="*/ 85 h 85"/>
                <a:gd name="T4" fmla="*/ 34 w 85"/>
                <a:gd name="T5" fmla="*/ 85 h 85"/>
                <a:gd name="T6" fmla="*/ 26 w 85"/>
                <a:gd name="T7" fmla="*/ 82 h 85"/>
                <a:gd name="T8" fmla="*/ 19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9 w 85"/>
                <a:gd name="T31" fmla="*/ 7 h 85"/>
                <a:gd name="T32" fmla="*/ 26 w 85"/>
                <a:gd name="T33" fmla="*/ 2 h 85"/>
                <a:gd name="T34" fmla="*/ 34 w 85"/>
                <a:gd name="T35" fmla="*/ 1 h 85"/>
                <a:gd name="T36" fmla="*/ 42 w 85"/>
                <a:gd name="T37" fmla="*/ 0 h 85"/>
                <a:gd name="T38" fmla="*/ 42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2 w 85"/>
                <a:gd name="T51" fmla="*/ 26 h 85"/>
                <a:gd name="T52" fmla="*/ 85 w 85"/>
                <a:gd name="T53" fmla="*/ 34 h 85"/>
                <a:gd name="T54" fmla="*/ 85 w 85"/>
                <a:gd name="T55" fmla="*/ 42 h 85"/>
                <a:gd name="T56" fmla="*/ 85 w 85"/>
                <a:gd name="T57" fmla="*/ 42 h 85"/>
                <a:gd name="T58" fmla="*/ 85 w 85"/>
                <a:gd name="T59" fmla="*/ 51 h 85"/>
                <a:gd name="T60" fmla="*/ 82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5"/>
                  </a:lnTo>
                  <a:lnTo>
                    <a:pt x="26" y="82"/>
                  </a:lnTo>
                  <a:lnTo>
                    <a:pt x="19" y="78"/>
                  </a:lnTo>
                  <a:lnTo>
                    <a:pt x="12" y="73"/>
                  </a:lnTo>
                  <a:lnTo>
                    <a:pt x="7" y="67"/>
                  </a:lnTo>
                  <a:lnTo>
                    <a:pt x="3" y="59"/>
                  </a:lnTo>
                  <a:lnTo>
                    <a:pt x="0" y="51"/>
                  </a:lnTo>
                  <a:lnTo>
                    <a:pt x="0" y="42"/>
                  </a:lnTo>
                  <a:lnTo>
                    <a:pt x="0" y="42"/>
                  </a:lnTo>
                  <a:lnTo>
                    <a:pt x="0" y="34"/>
                  </a:lnTo>
                  <a:lnTo>
                    <a:pt x="3" y="26"/>
                  </a:lnTo>
                  <a:lnTo>
                    <a:pt x="7" y="19"/>
                  </a:lnTo>
                  <a:lnTo>
                    <a:pt x="12" y="12"/>
                  </a:lnTo>
                  <a:lnTo>
                    <a:pt x="19" y="7"/>
                  </a:lnTo>
                  <a:lnTo>
                    <a:pt x="26" y="2"/>
                  </a:lnTo>
                  <a:lnTo>
                    <a:pt x="34" y="1"/>
                  </a:lnTo>
                  <a:lnTo>
                    <a:pt x="42" y="0"/>
                  </a:lnTo>
                  <a:lnTo>
                    <a:pt x="42" y="0"/>
                  </a:lnTo>
                  <a:lnTo>
                    <a:pt x="51" y="1"/>
                  </a:lnTo>
                  <a:lnTo>
                    <a:pt x="59" y="2"/>
                  </a:lnTo>
                  <a:lnTo>
                    <a:pt x="66" y="7"/>
                  </a:lnTo>
                  <a:lnTo>
                    <a:pt x="73" y="12"/>
                  </a:lnTo>
                  <a:lnTo>
                    <a:pt x="78" y="19"/>
                  </a:lnTo>
                  <a:lnTo>
                    <a:pt x="82" y="26"/>
                  </a:lnTo>
                  <a:lnTo>
                    <a:pt x="85" y="34"/>
                  </a:lnTo>
                  <a:lnTo>
                    <a:pt x="85" y="42"/>
                  </a:lnTo>
                  <a:lnTo>
                    <a:pt x="85" y="42"/>
                  </a:lnTo>
                  <a:lnTo>
                    <a:pt x="85" y="51"/>
                  </a:lnTo>
                  <a:lnTo>
                    <a:pt x="82" y="59"/>
                  </a:lnTo>
                  <a:lnTo>
                    <a:pt x="78" y="67"/>
                  </a:lnTo>
                  <a:lnTo>
                    <a:pt x="73" y="73"/>
                  </a:lnTo>
                  <a:lnTo>
                    <a:pt x="66" y="78"/>
                  </a:lnTo>
                  <a:lnTo>
                    <a:pt x="59" y="82"/>
                  </a:lnTo>
                  <a:lnTo>
                    <a:pt x="51" y="85"/>
                  </a:lnTo>
                  <a:lnTo>
                    <a:pt x="42" y="85"/>
                  </a:lnTo>
                  <a:lnTo>
                    <a:pt x="42"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41"/>
            <p:cNvSpPr>
              <a:spLocks/>
            </p:cNvSpPr>
            <p:nvPr userDrawn="1"/>
          </p:nvSpPr>
          <p:spPr bwMode="auto">
            <a:xfrm>
              <a:off x="3705" y="1004"/>
              <a:ext cx="43" cy="42"/>
            </a:xfrm>
            <a:custGeom>
              <a:avLst/>
              <a:gdLst>
                <a:gd name="T0" fmla="*/ 42 w 85"/>
                <a:gd name="T1" fmla="*/ 86 h 86"/>
                <a:gd name="T2" fmla="*/ 42 w 85"/>
                <a:gd name="T3" fmla="*/ 86 h 86"/>
                <a:gd name="T4" fmla="*/ 34 w 85"/>
                <a:gd name="T5" fmla="*/ 86 h 86"/>
                <a:gd name="T6" fmla="*/ 26 w 85"/>
                <a:gd name="T7" fmla="*/ 83 h 86"/>
                <a:gd name="T8" fmla="*/ 19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9 w 85"/>
                <a:gd name="T31" fmla="*/ 7 h 86"/>
                <a:gd name="T32" fmla="*/ 26 w 85"/>
                <a:gd name="T33" fmla="*/ 5 h 86"/>
                <a:gd name="T34" fmla="*/ 34 w 85"/>
                <a:gd name="T35" fmla="*/ 2 h 86"/>
                <a:gd name="T36" fmla="*/ 42 w 85"/>
                <a:gd name="T37" fmla="*/ 0 h 86"/>
                <a:gd name="T38" fmla="*/ 42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2 w 85"/>
                <a:gd name="T51" fmla="*/ 27 h 86"/>
                <a:gd name="T52" fmla="*/ 85 w 85"/>
                <a:gd name="T53" fmla="*/ 35 h 86"/>
                <a:gd name="T54" fmla="*/ 85 w 85"/>
                <a:gd name="T55" fmla="*/ 43 h 86"/>
                <a:gd name="T56" fmla="*/ 85 w 85"/>
                <a:gd name="T57" fmla="*/ 43 h 86"/>
                <a:gd name="T58" fmla="*/ 85 w 85"/>
                <a:gd name="T59" fmla="*/ 53 h 86"/>
                <a:gd name="T60" fmla="*/ 82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6"/>
                  </a:lnTo>
                  <a:lnTo>
                    <a:pt x="26" y="83"/>
                  </a:lnTo>
                  <a:lnTo>
                    <a:pt x="19" y="79"/>
                  </a:lnTo>
                  <a:lnTo>
                    <a:pt x="12" y="73"/>
                  </a:lnTo>
                  <a:lnTo>
                    <a:pt x="7" y="68"/>
                  </a:lnTo>
                  <a:lnTo>
                    <a:pt x="3" y="59"/>
                  </a:lnTo>
                  <a:lnTo>
                    <a:pt x="0" y="53"/>
                  </a:lnTo>
                  <a:lnTo>
                    <a:pt x="0" y="43"/>
                  </a:lnTo>
                  <a:lnTo>
                    <a:pt x="0" y="43"/>
                  </a:lnTo>
                  <a:lnTo>
                    <a:pt x="0" y="35"/>
                  </a:lnTo>
                  <a:lnTo>
                    <a:pt x="3" y="27"/>
                  </a:lnTo>
                  <a:lnTo>
                    <a:pt x="7" y="20"/>
                  </a:lnTo>
                  <a:lnTo>
                    <a:pt x="12" y="13"/>
                  </a:lnTo>
                  <a:lnTo>
                    <a:pt x="19" y="7"/>
                  </a:lnTo>
                  <a:lnTo>
                    <a:pt x="26" y="5"/>
                  </a:lnTo>
                  <a:lnTo>
                    <a:pt x="34" y="2"/>
                  </a:lnTo>
                  <a:lnTo>
                    <a:pt x="42" y="0"/>
                  </a:lnTo>
                  <a:lnTo>
                    <a:pt x="42" y="0"/>
                  </a:lnTo>
                  <a:lnTo>
                    <a:pt x="51" y="2"/>
                  </a:lnTo>
                  <a:lnTo>
                    <a:pt x="59" y="5"/>
                  </a:lnTo>
                  <a:lnTo>
                    <a:pt x="66" y="7"/>
                  </a:lnTo>
                  <a:lnTo>
                    <a:pt x="73" y="13"/>
                  </a:lnTo>
                  <a:lnTo>
                    <a:pt x="78" y="20"/>
                  </a:lnTo>
                  <a:lnTo>
                    <a:pt x="82" y="27"/>
                  </a:lnTo>
                  <a:lnTo>
                    <a:pt x="85" y="35"/>
                  </a:lnTo>
                  <a:lnTo>
                    <a:pt x="85" y="43"/>
                  </a:lnTo>
                  <a:lnTo>
                    <a:pt x="85" y="43"/>
                  </a:lnTo>
                  <a:lnTo>
                    <a:pt x="85" y="53"/>
                  </a:lnTo>
                  <a:lnTo>
                    <a:pt x="82" y="59"/>
                  </a:lnTo>
                  <a:lnTo>
                    <a:pt x="78" y="68"/>
                  </a:lnTo>
                  <a:lnTo>
                    <a:pt x="73" y="73"/>
                  </a:lnTo>
                  <a:lnTo>
                    <a:pt x="66" y="79"/>
                  </a:lnTo>
                  <a:lnTo>
                    <a:pt x="59" y="83"/>
                  </a:lnTo>
                  <a:lnTo>
                    <a:pt x="51" y="86"/>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2"/>
            <p:cNvSpPr>
              <a:spLocks/>
            </p:cNvSpPr>
            <p:nvPr userDrawn="1"/>
          </p:nvSpPr>
          <p:spPr bwMode="auto">
            <a:xfrm>
              <a:off x="3705" y="1060"/>
              <a:ext cx="43" cy="43"/>
            </a:xfrm>
            <a:custGeom>
              <a:avLst/>
              <a:gdLst>
                <a:gd name="T0" fmla="*/ 42 w 85"/>
                <a:gd name="T1" fmla="*/ 87 h 87"/>
                <a:gd name="T2" fmla="*/ 42 w 85"/>
                <a:gd name="T3" fmla="*/ 87 h 87"/>
                <a:gd name="T4" fmla="*/ 34 w 85"/>
                <a:gd name="T5" fmla="*/ 85 h 87"/>
                <a:gd name="T6" fmla="*/ 26 w 85"/>
                <a:gd name="T7" fmla="*/ 83 h 87"/>
                <a:gd name="T8" fmla="*/ 19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2 w 85"/>
                <a:gd name="T51" fmla="*/ 26 h 87"/>
                <a:gd name="T52" fmla="*/ 85 w 85"/>
                <a:gd name="T53" fmla="*/ 34 h 87"/>
                <a:gd name="T54" fmla="*/ 85 w 85"/>
                <a:gd name="T55" fmla="*/ 43 h 87"/>
                <a:gd name="T56" fmla="*/ 85 w 85"/>
                <a:gd name="T57" fmla="*/ 43 h 87"/>
                <a:gd name="T58" fmla="*/ 85 w 85"/>
                <a:gd name="T59" fmla="*/ 52 h 87"/>
                <a:gd name="T60" fmla="*/ 82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3"/>
                  </a:lnTo>
                  <a:lnTo>
                    <a:pt x="19" y="78"/>
                  </a:lnTo>
                  <a:lnTo>
                    <a:pt x="12" y="73"/>
                  </a:lnTo>
                  <a:lnTo>
                    <a:pt x="7" y="67"/>
                  </a:lnTo>
                  <a:lnTo>
                    <a:pt x="3" y="61"/>
                  </a:lnTo>
                  <a:lnTo>
                    <a:pt x="0" y="52"/>
                  </a:lnTo>
                  <a:lnTo>
                    <a:pt x="0" y="43"/>
                  </a:lnTo>
                  <a:lnTo>
                    <a:pt x="0" y="43"/>
                  </a:lnTo>
                  <a:lnTo>
                    <a:pt x="0" y="34"/>
                  </a:lnTo>
                  <a:lnTo>
                    <a:pt x="3" y="26"/>
                  </a:lnTo>
                  <a:lnTo>
                    <a:pt x="7" y="19"/>
                  </a:lnTo>
                  <a:lnTo>
                    <a:pt x="12" y="12"/>
                  </a:lnTo>
                  <a:lnTo>
                    <a:pt x="19" y="8"/>
                  </a:lnTo>
                  <a:lnTo>
                    <a:pt x="26" y="4"/>
                  </a:lnTo>
                  <a:lnTo>
                    <a:pt x="34" y="1"/>
                  </a:lnTo>
                  <a:lnTo>
                    <a:pt x="42" y="0"/>
                  </a:lnTo>
                  <a:lnTo>
                    <a:pt x="42" y="0"/>
                  </a:lnTo>
                  <a:lnTo>
                    <a:pt x="51" y="1"/>
                  </a:lnTo>
                  <a:lnTo>
                    <a:pt x="59" y="4"/>
                  </a:lnTo>
                  <a:lnTo>
                    <a:pt x="66" y="8"/>
                  </a:lnTo>
                  <a:lnTo>
                    <a:pt x="73" y="12"/>
                  </a:lnTo>
                  <a:lnTo>
                    <a:pt x="78" y="19"/>
                  </a:lnTo>
                  <a:lnTo>
                    <a:pt x="82" y="26"/>
                  </a:lnTo>
                  <a:lnTo>
                    <a:pt x="85" y="34"/>
                  </a:lnTo>
                  <a:lnTo>
                    <a:pt x="85" y="43"/>
                  </a:lnTo>
                  <a:lnTo>
                    <a:pt x="85" y="43"/>
                  </a:lnTo>
                  <a:lnTo>
                    <a:pt x="85" y="52"/>
                  </a:lnTo>
                  <a:lnTo>
                    <a:pt x="82" y="61"/>
                  </a:lnTo>
                  <a:lnTo>
                    <a:pt x="78" y="67"/>
                  </a:lnTo>
                  <a:lnTo>
                    <a:pt x="73" y="73"/>
                  </a:lnTo>
                  <a:lnTo>
                    <a:pt x="66" y="78"/>
                  </a:lnTo>
                  <a:lnTo>
                    <a:pt x="59" y="83"/>
                  </a:lnTo>
                  <a:lnTo>
                    <a:pt x="51" y="85"/>
                  </a:lnTo>
                  <a:lnTo>
                    <a:pt x="42" y="87"/>
                  </a:lnTo>
                  <a:lnTo>
                    <a:pt x="42"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3"/>
            <p:cNvSpPr>
              <a:spLocks/>
            </p:cNvSpPr>
            <p:nvPr userDrawn="1"/>
          </p:nvSpPr>
          <p:spPr bwMode="auto">
            <a:xfrm>
              <a:off x="3705" y="1116"/>
              <a:ext cx="43" cy="44"/>
            </a:xfrm>
            <a:custGeom>
              <a:avLst/>
              <a:gdLst>
                <a:gd name="T0" fmla="*/ 42 w 85"/>
                <a:gd name="T1" fmla="*/ 86 h 86"/>
                <a:gd name="T2" fmla="*/ 42 w 85"/>
                <a:gd name="T3" fmla="*/ 86 h 86"/>
                <a:gd name="T4" fmla="*/ 34 w 85"/>
                <a:gd name="T5" fmla="*/ 85 h 86"/>
                <a:gd name="T6" fmla="*/ 26 w 85"/>
                <a:gd name="T7" fmla="*/ 82 h 86"/>
                <a:gd name="T8" fmla="*/ 19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9 w 85"/>
                <a:gd name="T31" fmla="*/ 8 h 86"/>
                <a:gd name="T32" fmla="*/ 26 w 85"/>
                <a:gd name="T33" fmla="*/ 4 h 86"/>
                <a:gd name="T34" fmla="*/ 34 w 85"/>
                <a:gd name="T35" fmla="*/ 1 h 86"/>
                <a:gd name="T36" fmla="*/ 42 w 85"/>
                <a:gd name="T37" fmla="*/ 0 h 86"/>
                <a:gd name="T38" fmla="*/ 42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2 w 85"/>
                <a:gd name="T51" fmla="*/ 26 h 86"/>
                <a:gd name="T52" fmla="*/ 85 w 85"/>
                <a:gd name="T53" fmla="*/ 34 h 86"/>
                <a:gd name="T54" fmla="*/ 85 w 85"/>
                <a:gd name="T55" fmla="*/ 44 h 86"/>
                <a:gd name="T56" fmla="*/ 85 w 85"/>
                <a:gd name="T57" fmla="*/ 44 h 86"/>
                <a:gd name="T58" fmla="*/ 85 w 85"/>
                <a:gd name="T59" fmla="*/ 52 h 86"/>
                <a:gd name="T60" fmla="*/ 82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2 w 85"/>
                <a:gd name="T73" fmla="*/ 86 h 86"/>
                <a:gd name="T74" fmla="*/ 42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86"/>
                  </a:moveTo>
                  <a:lnTo>
                    <a:pt x="42" y="86"/>
                  </a:lnTo>
                  <a:lnTo>
                    <a:pt x="34" y="85"/>
                  </a:lnTo>
                  <a:lnTo>
                    <a:pt x="26" y="82"/>
                  </a:lnTo>
                  <a:lnTo>
                    <a:pt x="19" y="78"/>
                  </a:lnTo>
                  <a:lnTo>
                    <a:pt x="12" y="74"/>
                  </a:lnTo>
                  <a:lnTo>
                    <a:pt x="7" y="67"/>
                  </a:lnTo>
                  <a:lnTo>
                    <a:pt x="3" y="60"/>
                  </a:lnTo>
                  <a:lnTo>
                    <a:pt x="0" y="52"/>
                  </a:lnTo>
                  <a:lnTo>
                    <a:pt x="0" y="44"/>
                  </a:lnTo>
                  <a:lnTo>
                    <a:pt x="0" y="44"/>
                  </a:lnTo>
                  <a:lnTo>
                    <a:pt x="0" y="34"/>
                  </a:lnTo>
                  <a:lnTo>
                    <a:pt x="3" y="26"/>
                  </a:lnTo>
                  <a:lnTo>
                    <a:pt x="7" y="19"/>
                  </a:lnTo>
                  <a:lnTo>
                    <a:pt x="12" y="12"/>
                  </a:lnTo>
                  <a:lnTo>
                    <a:pt x="19" y="8"/>
                  </a:lnTo>
                  <a:lnTo>
                    <a:pt x="26" y="4"/>
                  </a:lnTo>
                  <a:lnTo>
                    <a:pt x="34" y="1"/>
                  </a:lnTo>
                  <a:lnTo>
                    <a:pt x="42" y="0"/>
                  </a:lnTo>
                  <a:lnTo>
                    <a:pt x="42" y="0"/>
                  </a:lnTo>
                  <a:lnTo>
                    <a:pt x="51" y="1"/>
                  </a:lnTo>
                  <a:lnTo>
                    <a:pt x="59" y="4"/>
                  </a:lnTo>
                  <a:lnTo>
                    <a:pt x="66" y="8"/>
                  </a:lnTo>
                  <a:lnTo>
                    <a:pt x="73" y="12"/>
                  </a:lnTo>
                  <a:lnTo>
                    <a:pt x="78" y="19"/>
                  </a:lnTo>
                  <a:lnTo>
                    <a:pt x="82" y="26"/>
                  </a:lnTo>
                  <a:lnTo>
                    <a:pt x="85" y="34"/>
                  </a:lnTo>
                  <a:lnTo>
                    <a:pt x="85" y="44"/>
                  </a:lnTo>
                  <a:lnTo>
                    <a:pt x="85" y="44"/>
                  </a:lnTo>
                  <a:lnTo>
                    <a:pt x="85" y="52"/>
                  </a:lnTo>
                  <a:lnTo>
                    <a:pt x="82" y="60"/>
                  </a:lnTo>
                  <a:lnTo>
                    <a:pt x="78" y="67"/>
                  </a:lnTo>
                  <a:lnTo>
                    <a:pt x="73" y="74"/>
                  </a:lnTo>
                  <a:lnTo>
                    <a:pt x="66" y="78"/>
                  </a:lnTo>
                  <a:lnTo>
                    <a:pt x="59" y="82"/>
                  </a:lnTo>
                  <a:lnTo>
                    <a:pt x="51" y="85"/>
                  </a:lnTo>
                  <a:lnTo>
                    <a:pt x="42" y="86"/>
                  </a:lnTo>
                  <a:lnTo>
                    <a:pt x="42"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44"/>
            <p:cNvSpPr>
              <a:spLocks/>
            </p:cNvSpPr>
            <p:nvPr userDrawn="1"/>
          </p:nvSpPr>
          <p:spPr bwMode="auto">
            <a:xfrm>
              <a:off x="3649" y="722"/>
              <a:ext cx="43" cy="43"/>
            </a:xfrm>
            <a:custGeom>
              <a:avLst/>
              <a:gdLst>
                <a:gd name="T0" fmla="*/ 43 w 85"/>
                <a:gd name="T1" fmla="*/ 85 h 85"/>
                <a:gd name="T2" fmla="*/ 43 w 85"/>
                <a:gd name="T3" fmla="*/ 85 h 85"/>
                <a:gd name="T4" fmla="*/ 34 w 85"/>
                <a:gd name="T5" fmla="*/ 84 h 85"/>
                <a:gd name="T6" fmla="*/ 26 w 85"/>
                <a:gd name="T7" fmla="*/ 81 h 85"/>
                <a:gd name="T8" fmla="*/ 18 w 85"/>
                <a:gd name="T9" fmla="*/ 78 h 85"/>
                <a:gd name="T10" fmla="*/ 12 w 85"/>
                <a:gd name="T11" fmla="*/ 73 h 85"/>
                <a:gd name="T12" fmla="*/ 7 w 85"/>
                <a:gd name="T13" fmla="*/ 66 h 85"/>
                <a:gd name="T14" fmla="*/ 3 w 85"/>
                <a:gd name="T15" fmla="*/ 59 h 85"/>
                <a:gd name="T16" fmla="*/ 0 w 85"/>
                <a:gd name="T17" fmla="*/ 51 h 85"/>
                <a:gd name="T18" fmla="*/ 0 w 85"/>
                <a:gd name="T19" fmla="*/ 43 h 85"/>
                <a:gd name="T20" fmla="*/ 0 w 85"/>
                <a:gd name="T21" fmla="*/ 43 h 85"/>
                <a:gd name="T22" fmla="*/ 0 w 85"/>
                <a:gd name="T23" fmla="*/ 33 h 85"/>
                <a:gd name="T24" fmla="*/ 3 w 85"/>
                <a:gd name="T25" fmla="*/ 26 h 85"/>
                <a:gd name="T26" fmla="*/ 7 w 85"/>
                <a:gd name="T27" fmla="*/ 18 h 85"/>
                <a:gd name="T28" fmla="*/ 12 w 85"/>
                <a:gd name="T29" fmla="*/ 12 h 85"/>
                <a:gd name="T30" fmla="*/ 18 w 85"/>
                <a:gd name="T31" fmla="*/ 7 h 85"/>
                <a:gd name="T32" fmla="*/ 26 w 85"/>
                <a:gd name="T33" fmla="*/ 3 h 85"/>
                <a:gd name="T34" fmla="*/ 34 w 85"/>
                <a:gd name="T35" fmla="*/ 0 h 85"/>
                <a:gd name="T36" fmla="*/ 43 w 85"/>
                <a:gd name="T37" fmla="*/ 0 h 85"/>
                <a:gd name="T38" fmla="*/ 43 w 85"/>
                <a:gd name="T39" fmla="*/ 0 h 85"/>
                <a:gd name="T40" fmla="*/ 51 w 85"/>
                <a:gd name="T41" fmla="*/ 0 h 85"/>
                <a:gd name="T42" fmla="*/ 59 w 85"/>
                <a:gd name="T43" fmla="*/ 3 h 85"/>
                <a:gd name="T44" fmla="*/ 66 w 85"/>
                <a:gd name="T45" fmla="*/ 7 h 85"/>
                <a:gd name="T46" fmla="*/ 73 w 85"/>
                <a:gd name="T47" fmla="*/ 12 h 85"/>
                <a:gd name="T48" fmla="*/ 78 w 85"/>
                <a:gd name="T49" fmla="*/ 18 h 85"/>
                <a:gd name="T50" fmla="*/ 82 w 85"/>
                <a:gd name="T51" fmla="*/ 26 h 85"/>
                <a:gd name="T52" fmla="*/ 84 w 85"/>
                <a:gd name="T53" fmla="*/ 33 h 85"/>
                <a:gd name="T54" fmla="*/ 85 w 85"/>
                <a:gd name="T55" fmla="*/ 43 h 85"/>
                <a:gd name="T56" fmla="*/ 85 w 85"/>
                <a:gd name="T57" fmla="*/ 43 h 85"/>
                <a:gd name="T58" fmla="*/ 84 w 85"/>
                <a:gd name="T59" fmla="*/ 51 h 85"/>
                <a:gd name="T60" fmla="*/ 82 w 85"/>
                <a:gd name="T61" fmla="*/ 59 h 85"/>
                <a:gd name="T62" fmla="*/ 78 w 85"/>
                <a:gd name="T63" fmla="*/ 66 h 85"/>
                <a:gd name="T64" fmla="*/ 73 w 85"/>
                <a:gd name="T65" fmla="*/ 73 h 85"/>
                <a:gd name="T66" fmla="*/ 66 w 85"/>
                <a:gd name="T67" fmla="*/ 78 h 85"/>
                <a:gd name="T68" fmla="*/ 59 w 85"/>
                <a:gd name="T69" fmla="*/ 81 h 85"/>
                <a:gd name="T70" fmla="*/ 51 w 85"/>
                <a:gd name="T71" fmla="*/ 84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4"/>
                  </a:lnTo>
                  <a:lnTo>
                    <a:pt x="26" y="81"/>
                  </a:lnTo>
                  <a:lnTo>
                    <a:pt x="18" y="78"/>
                  </a:lnTo>
                  <a:lnTo>
                    <a:pt x="12" y="73"/>
                  </a:lnTo>
                  <a:lnTo>
                    <a:pt x="7" y="66"/>
                  </a:lnTo>
                  <a:lnTo>
                    <a:pt x="3" y="59"/>
                  </a:lnTo>
                  <a:lnTo>
                    <a:pt x="0" y="51"/>
                  </a:lnTo>
                  <a:lnTo>
                    <a:pt x="0" y="43"/>
                  </a:lnTo>
                  <a:lnTo>
                    <a:pt x="0" y="43"/>
                  </a:lnTo>
                  <a:lnTo>
                    <a:pt x="0" y="33"/>
                  </a:lnTo>
                  <a:lnTo>
                    <a:pt x="3" y="26"/>
                  </a:lnTo>
                  <a:lnTo>
                    <a:pt x="7" y="18"/>
                  </a:lnTo>
                  <a:lnTo>
                    <a:pt x="12" y="12"/>
                  </a:lnTo>
                  <a:lnTo>
                    <a:pt x="18" y="7"/>
                  </a:lnTo>
                  <a:lnTo>
                    <a:pt x="26" y="3"/>
                  </a:lnTo>
                  <a:lnTo>
                    <a:pt x="34" y="0"/>
                  </a:lnTo>
                  <a:lnTo>
                    <a:pt x="43" y="0"/>
                  </a:lnTo>
                  <a:lnTo>
                    <a:pt x="43" y="0"/>
                  </a:lnTo>
                  <a:lnTo>
                    <a:pt x="51" y="0"/>
                  </a:lnTo>
                  <a:lnTo>
                    <a:pt x="59" y="3"/>
                  </a:lnTo>
                  <a:lnTo>
                    <a:pt x="66" y="7"/>
                  </a:lnTo>
                  <a:lnTo>
                    <a:pt x="73" y="12"/>
                  </a:lnTo>
                  <a:lnTo>
                    <a:pt x="78" y="18"/>
                  </a:lnTo>
                  <a:lnTo>
                    <a:pt x="82" y="26"/>
                  </a:lnTo>
                  <a:lnTo>
                    <a:pt x="84" y="33"/>
                  </a:lnTo>
                  <a:lnTo>
                    <a:pt x="85" y="43"/>
                  </a:lnTo>
                  <a:lnTo>
                    <a:pt x="85" y="43"/>
                  </a:lnTo>
                  <a:lnTo>
                    <a:pt x="84" y="51"/>
                  </a:lnTo>
                  <a:lnTo>
                    <a:pt x="82" y="59"/>
                  </a:lnTo>
                  <a:lnTo>
                    <a:pt x="78" y="66"/>
                  </a:lnTo>
                  <a:lnTo>
                    <a:pt x="73" y="73"/>
                  </a:lnTo>
                  <a:lnTo>
                    <a:pt x="66" y="78"/>
                  </a:lnTo>
                  <a:lnTo>
                    <a:pt x="59" y="81"/>
                  </a:lnTo>
                  <a:lnTo>
                    <a:pt x="51" y="84"/>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45"/>
            <p:cNvSpPr>
              <a:spLocks/>
            </p:cNvSpPr>
            <p:nvPr userDrawn="1"/>
          </p:nvSpPr>
          <p:spPr bwMode="auto">
            <a:xfrm>
              <a:off x="3649" y="947"/>
              <a:ext cx="43" cy="43"/>
            </a:xfrm>
            <a:custGeom>
              <a:avLst/>
              <a:gdLst>
                <a:gd name="T0" fmla="*/ 43 w 85"/>
                <a:gd name="T1" fmla="*/ 85 h 85"/>
                <a:gd name="T2" fmla="*/ 43 w 85"/>
                <a:gd name="T3" fmla="*/ 85 h 85"/>
                <a:gd name="T4" fmla="*/ 34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4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2 w 85"/>
                <a:gd name="T51" fmla="*/ 26 h 85"/>
                <a:gd name="T52" fmla="*/ 84 w 85"/>
                <a:gd name="T53" fmla="*/ 34 h 85"/>
                <a:gd name="T54" fmla="*/ 85 w 85"/>
                <a:gd name="T55" fmla="*/ 42 h 85"/>
                <a:gd name="T56" fmla="*/ 85 w 85"/>
                <a:gd name="T57" fmla="*/ 42 h 85"/>
                <a:gd name="T58" fmla="*/ 84 w 85"/>
                <a:gd name="T59" fmla="*/ 51 h 85"/>
                <a:gd name="T60" fmla="*/ 82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4" y="1"/>
                  </a:lnTo>
                  <a:lnTo>
                    <a:pt x="43" y="0"/>
                  </a:lnTo>
                  <a:lnTo>
                    <a:pt x="43" y="0"/>
                  </a:lnTo>
                  <a:lnTo>
                    <a:pt x="51" y="1"/>
                  </a:lnTo>
                  <a:lnTo>
                    <a:pt x="59" y="2"/>
                  </a:lnTo>
                  <a:lnTo>
                    <a:pt x="66" y="7"/>
                  </a:lnTo>
                  <a:lnTo>
                    <a:pt x="73" y="12"/>
                  </a:lnTo>
                  <a:lnTo>
                    <a:pt x="78" y="19"/>
                  </a:lnTo>
                  <a:lnTo>
                    <a:pt x="82" y="26"/>
                  </a:lnTo>
                  <a:lnTo>
                    <a:pt x="84" y="34"/>
                  </a:lnTo>
                  <a:lnTo>
                    <a:pt x="85" y="42"/>
                  </a:lnTo>
                  <a:lnTo>
                    <a:pt x="85" y="42"/>
                  </a:lnTo>
                  <a:lnTo>
                    <a:pt x="84" y="51"/>
                  </a:lnTo>
                  <a:lnTo>
                    <a:pt x="82" y="59"/>
                  </a:lnTo>
                  <a:lnTo>
                    <a:pt x="78" y="67"/>
                  </a:lnTo>
                  <a:lnTo>
                    <a:pt x="73" y="73"/>
                  </a:lnTo>
                  <a:lnTo>
                    <a:pt x="66" y="78"/>
                  </a:lnTo>
                  <a:lnTo>
                    <a:pt x="59" y="82"/>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6"/>
            <p:cNvSpPr>
              <a:spLocks/>
            </p:cNvSpPr>
            <p:nvPr userDrawn="1"/>
          </p:nvSpPr>
          <p:spPr bwMode="auto">
            <a:xfrm>
              <a:off x="3649" y="1004"/>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4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2 w 85"/>
                <a:gd name="T51" fmla="*/ 27 h 86"/>
                <a:gd name="T52" fmla="*/ 84 w 85"/>
                <a:gd name="T53" fmla="*/ 35 h 86"/>
                <a:gd name="T54" fmla="*/ 85 w 85"/>
                <a:gd name="T55" fmla="*/ 43 h 86"/>
                <a:gd name="T56" fmla="*/ 85 w 85"/>
                <a:gd name="T57" fmla="*/ 43 h 86"/>
                <a:gd name="T58" fmla="*/ 84 w 85"/>
                <a:gd name="T59" fmla="*/ 53 h 86"/>
                <a:gd name="T60" fmla="*/ 82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4" y="2"/>
                  </a:lnTo>
                  <a:lnTo>
                    <a:pt x="43" y="0"/>
                  </a:lnTo>
                  <a:lnTo>
                    <a:pt x="43" y="0"/>
                  </a:lnTo>
                  <a:lnTo>
                    <a:pt x="51" y="2"/>
                  </a:lnTo>
                  <a:lnTo>
                    <a:pt x="59" y="5"/>
                  </a:lnTo>
                  <a:lnTo>
                    <a:pt x="66" y="7"/>
                  </a:lnTo>
                  <a:lnTo>
                    <a:pt x="73" y="13"/>
                  </a:lnTo>
                  <a:lnTo>
                    <a:pt x="78" y="20"/>
                  </a:lnTo>
                  <a:lnTo>
                    <a:pt x="82" y="27"/>
                  </a:lnTo>
                  <a:lnTo>
                    <a:pt x="84" y="35"/>
                  </a:lnTo>
                  <a:lnTo>
                    <a:pt x="85" y="43"/>
                  </a:lnTo>
                  <a:lnTo>
                    <a:pt x="85" y="43"/>
                  </a:lnTo>
                  <a:lnTo>
                    <a:pt x="84" y="53"/>
                  </a:lnTo>
                  <a:lnTo>
                    <a:pt x="82" y="59"/>
                  </a:lnTo>
                  <a:lnTo>
                    <a:pt x="78" y="68"/>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7"/>
            <p:cNvSpPr>
              <a:spLocks/>
            </p:cNvSpPr>
            <p:nvPr userDrawn="1"/>
          </p:nvSpPr>
          <p:spPr bwMode="auto">
            <a:xfrm>
              <a:off x="3649" y="1060"/>
              <a:ext cx="43" cy="43"/>
            </a:xfrm>
            <a:custGeom>
              <a:avLst/>
              <a:gdLst>
                <a:gd name="T0" fmla="*/ 43 w 85"/>
                <a:gd name="T1" fmla="*/ 87 h 87"/>
                <a:gd name="T2" fmla="*/ 43 w 85"/>
                <a:gd name="T3" fmla="*/ 87 h 87"/>
                <a:gd name="T4" fmla="*/ 34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4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2 w 85"/>
                <a:gd name="T51" fmla="*/ 26 h 87"/>
                <a:gd name="T52" fmla="*/ 84 w 85"/>
                <a:gd name="T53" fmla="*/ 34 h 87"/>
                <a:gd name="T54" fmla="*/ 85 w 85"/>
                <a:gd name="T55" fmla="*/ 43 h 87"/>
                <a:gd name="T56" fmla="*/ 85 w 85"/>
                <a:gd name="T57" fmla="*/ 43 h 87"/>
                <a:gd name="T58" fmla="*/ 84 w 85"/>
                <a:gd name="T59" fmla="*/ 52 h 87"/>
                <a:gd name="T60" fmla="*/ 82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4"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2" y="26"/>
                  </a:lnTo>
                  <a:lnTo>
                    <a:pt x="84" y="34"/>
                  </a:lnTo>
                  <a:lnTo>
                    <a:pt x="85" y="43"/>
                  </a:lnTo>
                  <a:lnTo>
                    <a:pt x="85" y="43"/>
                  </a:lnTo>
                  <a:lnTo>
                    <a:pt x="84" y="52"/>
                  </a:lnTo>
                  <a:lnTo>
                    <a:pt x="82" y="61"/>
                  </a:lnTo>
                  <a:lnTo>
                    <a:pt x="78" y="67"/>
                  </a:lnTo>
                  <a:lnTo>
                    <a:pt x="73" y="73"/>
                  </a:lnTo>
                  <a:lnTo>
                    <a:pt x="66" y="78"/>
                  </a:lnTo>
                  <a:lnTo>
                    <a:pt x="59" y="83"/>
                  </a:lnTo>
                  <a:lnTo>
                    <a:pt x="51" y="85"/>
                  </a:lnTo>
                  <a:lnTo>
                    <a:pt x="43" y="87"/>
                  </a:lnTo>
                  <a:lnTo>
                    <a:pt x="43"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48"/>
            <p:cNvSpPr>
              <a:spLocks/>
            </p:cNvSpPr>
            <p:nvPr userDrawn="1"/>
          </p:nvSpPr>
          <p:spPr bwMode="auto">
            <a:xfrm>
              <a:off x="3649" y="1116"/>
              <a:ext cx="43" cy="44"/>
            </a:xfrm>
            <a:custGeom>
              <a:avLst/>
              <a:gdLst>
                <a:gd name="T0" fmla="*/ 43 w 85"/>
                <a:gd name="T1" fmla="*/ 86 h 86"/>
                <a:gd name="T2" fmla="*/ 43 w 85"/>
                <a:gd name="T3" fmla="*/ 86 h 86"/>
                <a:gd name="T4" fmla="*/ 34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4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2 w 85"/>
                <a:gd name="T51" fmla="*/ 26 h 86"/>
                <a:gd name="T52" fmla="*/ 84 w 85"/>
                <a:gd name="T53" fmla="*/ 34 h 86"/>
                <a:gd name="T54" fmla="*/ 85 w 85"/>
                <a:gd name="T55" fmla="*/ 44 h 86"/>
                <a:gd name="T56" fmla="*/ 85 w 85"/>
                <a:gd name="T57" fmla="*/ 44 h 86"/>
                <a:gd name="T58" fmla="*/ 84 w 85"/>
                <a:gd name="T59" fmla="*/ 52 h 86"/>
                <a:gd name="T60" fmla="*/ 82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2" y="26"/>
                  </a:lnTo>
                  <a:lnTo>
                    <a:pt x="84" y="34"/>
                  </a:lnTo>
                  <a:lnTo>
                    <a:pt x="85" y="44"/>
                  </a:lnTo>
                  <a:lnTo>
                    <a:pt x="85" y="44"/>
                  </a:lnTo>
                  <a:lnTo>
                    <a:pt x="84" y="52"/>
                  </a:lnTo>
                  <a:lnTo>
                    <a:pt x="82" y="60"/>
                  </a:lnTo>
                  <a:lnTo>
                    <a:pt x="78" y="67"/>
                  </a:lnTo>
                  <a:lnTo>
                    <a:pt x="73" y="74"/>
                  </a:lnTo>
                  <a:lnTo>
                    <a:pt x="66" y="78"/>
                  </a:lnTo>
                  <a:lnTo>
                    <a:pt x="59" y="82"/>
                  </a:lnTo>
                  <a:lnTo>
                    <a:pt x="51"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49"/>
            <p:cNvSpPr>
              <a:spLocks/>
            </p:cNvSpPr>
            <p:nvPr userDrawn="1"/>
          </p:nvSpPr>
          <p:spPr bwMode="auto">
            <a:xfrm>
              <a:off x="3592" y="778"/>
              <a:ext cx="43" cy="43"/>
            </a:xfrm>
            <a:custGeom>
              <a:avLst/>
              <a:gdLst>
                <a:gd name="T0" fmla="*/ 43 w 85"/>
                <a:gd name="T1" fmla="*/ 85 h 85"/>
                <a:gd name="T2" fmla="*/ 43 w 85"/>
                <a:gd name="T3" fmla="*/ 85 h 85"/>
                <a:gd name="T4" fmla="*/ 34 w 85"/>
                <a:gd name="T5" fmla="*/ 84 h 85"/>
                <a:gd name="T6" fmla="*/ 26 w 85"/>
                <a:gd name="T7" fmla="*/ 82 h 85"/>
                <a:gd name="T8" fmla="*/ 18 w 85"/>
                <a:gd name="T9" fmla="*/ 78 h 85"/>
                <a:gd name="T10" fmla="*/ 12 w 85"/>
                <a:gd name="T11" fmla="*/ 73 h 85"/>
                <a:gd name="T12" fmla="*/ 7 w 85"/>
                <a:gd name="T13" fmla="*/ 66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8 h 85"/>
                <a:gd name="T28" fmla="*/ 12 w 85"/>
                <a:gd name="T29" fmla="*/ 12 h 85"/>
                <a:gd name="T30" fmla="*/ 18 w 85"/>
                <a:gd name="T31" fmla="*/ 7 h 85"/>
                <a:gd name="T32" fmla="*/ 26 w 85"/>
                <a:gd name="T33" fmla="*/ 2 h 85"/>
                <a:gd name="T34" fmla="*/ 34 w 85"/>
                <a:gd name="T35" fmla="*/ 0 h 85"/>
                <a:gd name="T36" fmla="*/ 43 w 85"/>
                <a:gd name="T37" fmla="*/ 0 h 85"/>
                <a:gd name="T38" fmla="*/ 43 w 85"/>
                <a:gd name="T39" fmla="*/ 0 h 85"/>
                <a:gd name="T40" fmla="*/ 51 w 85"/>
                <a:gd name="T41" fmla="*/ 0 h 85"/>
                <a:gd name="T42" fmla="*/ 59 w 85"/>
                <a:gd name="T43" fmla="*/ 2 h 85"/>
                <a:gd name="T44" fmla="*/ 66 w 85"/>
                <a:gd name="T45" fmla="*/ 7 h 85"/>
                <a:gd name="T46" fmla="*/ 73 w 85"/>
                <a:gd name="T47" fmla="*/ 12 h 85"/>
                <a:gd name="T48" fmla="*/ 78 w 85"/>
                <a:gd name="T49" fmla="*/ 18 h 85"/>
                <a:gd name="T50" fmla="*/ 83 w 85"/>
                <a:gd name="T51" fmla="*/ 26 h 85"/>
                <a:gd name="T52" fmla="*/ 84 w 85"/>
                <a:gd name="T53" fmla="*/ 34 h 85"/>
                <a:gd name="T54" fmla="*/ 85 w 85"/>
                <a:gd name="T55" fmla="*/ 42 h 85"/>
                <a:gd name="T56" fmla="*/ 85 w 85"/>
                <a:gd name="T57" fmla="*/ 42 h 85"/>
                <a:gd name="T58" fmla="*/ 84 w 85"/>
                <a:gd name="T59" fmla="*/ 51 h 85"/>
                <a:gd name="T60" fmla="*/ 83 w 85"/>
                <a:gd name="T61" fmla="*/ 59 h 85"/>
                <a:gd name="T62" fmla="*/ 78 w 85"/>
                <a:gd name="T63" fmla="*/ 66 h 85"/>
                <a:gd name="T64" fmla="*/ 73 w 85"/>
                <a:gd name="T65" fmla="*/ 73 h 85"/>
                <a:gd name="T66" fmla="*/ 66 w 85"/>
                <a:gd name="T67" fmla="*/ 78 h 85"/>
                <a:gd name="T68" fmla="*/ 59 w 85"/>
                <a:gd name="T69" fmla="*/ 82 h 85"/>
                <a:gd name="T70" fmla="*/ 51 w 85"/>
                <a:gd name="T71" fmla="*/ 84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4"/>
                  </a:lnTo>
                  <a:lnTo>
                    <a:pt x="26" y="82"/>
                  </a:lnTo>
                  <a:lnTo>
                    <a:pt x="18" y="78"/>
                  </a:lnTo>
                  <a:lnTo>
                    <a:pt x="12" y="73"/>
                  </a:lnTo>
                  <a:lnTo>
                    <a:pt x="7" y="66"/>
                  </a:lnTo>
                  <a:lnTo>
                    <a:pt x="3" y="59"/>
                  </a:lnTo>
                  <a:lnTo>
                    <a:pt x="0" y="51"/>
                  </a:lnTo>
                  <a:lnTo>
                    <a:pt x="0" y="42"/>
                  </a:lnTo>
                  <a:lnTo>
                    <a:pt x="0" y="42"/>
                  </a:lnTo>
                  <a:lnTo>
                    <a:pt x="0" y="34"/>
                  </a:lnTo>
                  <a:lnTo>
                    <a:pt x="3" y="26"/>
                  </a:lnTo>
                  <a:lnTo>
                    <a:pt x="7" y="18"/>
                  </a:lnTo>
                  <a:lnTo>
                    <a:pt x="12" y="12"/>
                  </a:lnTo>
                  <a:lnTo>
                    <a:pt x="18" y="7"/>
                  </a:lnTo>
                  <a:lnTo>
                    <a:pt x="26" y="2"/>
                  </a:lnTo>
                  <a:lnTo>
                    <a:pt x="34" y="0"/>
                  </a:lnTo>
                  <a:lnTo>
                    <a:pt x="43" y="0"/>
                  </a:lnTo>
                  <a:lnTo>
                    <a:pt x="43" y="0"/>
                  </a:lnTo>
                  <a:lnTo>
                    <a:pt x="51" y="0"/>
                  </a:lnTo>
                  <a:lnTo>
                    <a:pt x="59" y="2"/>
                  </a:lnTo>
                  <a:lnTo>
                    <a:pt x="66" y="7"/>
                  </a:lnTo>
                  <a:lnTo>
                    <a:pt x="73" y="12"/>
                  </a:lnTo>
                  <a:lnTo>
                    <a:pt x="78" y="18"/>
                  </a:lnTo>
                  <a:lnTo>
                    <a:pt x="83" y="26"/>
                  </a:lnTo>
                  <a:lnTo>
                    <a:pt x="84" y="34"/>
                  </a:lnTo>
                  <a:lnTo>
                    <a:pt x="85" y="42"/>
                  </a:lnTo>
                  <a:lnTo>
                    <a:pt x="85" y="42"/>
                  </a:lnTo>
                  <a:lnTo>
                    <a:pt x="84" y="51"/>
                  </a:lnTo>
                  <a:lnTo>
                    <a:pt x="83" y="59"/>
                  </a:lnTo>
                  <a:lnTo>
                    <a:pt x="78" y="66"/>
                  </a:lnTo>
                  <a:lnTo>
                    <a:pt x="73" y="73"/>
                  </a:lnTo>
                  <a:lnTo>
                    <a:pt x="66" y="78"/>
                  </a:lnTo>
                  <a:lnTo>
                    <a:pt x="59" y="82"/>
                  </a:lnTo>
                  <a:lnTo>
                    <a:pt x="51" y="84"/>
                  </a:lnTo>
                  <a:lnTo>
                    <a:pt x="43" y="85"/>
                  </a:lnTo>
                  <a:lnTo>
                    <a:pt x="43" y="85"/>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50"/>
            <p:cNvSpPr>
              <a:spLocks/>
            </p:cNvSpPr>
            <p:nvPr userDrawn="1"/>
          </p:nvSpPr>
          <p:spPr bwMode="auto">
            <a:xfrm>
              <a:off x="3592" y="835"/>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6 h 86"/>
                <a:gd name="T14" fmla="*/ 3 w 85"/>
                <a:gd name="T15" fmla="*/ 59 h 86"/>
                <a:gd name="T16" fmla="*/ 0 w 85"/>
                <a:gd name="T17" fmla="*/ 51 h 86"/>
                <a:gd name="T18" fmla="*/ 0 w 85"/>
                <a:gd name="T19" fmla="*/ 43 h 86"/>
                <a:gd name="T20" fmla="*/ 0 w 85"/>
                <a:gd name="T21" fmla="*/ 43 h 86"/>
                <a:gd name="T22" fmla="*/ 0 w 85"/>
                <a:gd name="T23" fmla="*/ 35 h 86"/>
                <a:gd name="T24" fmla="*/ 3 w 85"/>
                <a:gd name="T25" fmla="*/ 26 h 86"/>
                <a:gd name="T26" fmla="*/ 7 w 85"/>
                <a:gd name="T27" fmla="*/ 20 h 86"/>
                <a:gd name="T28" fmla="*/ 12 w 85"/>
                <a:gd name="T29" fmla="*/ 13 h 86"/>
                <a:gd name="T30" fmla="*/ 18 w 85"/>
                <a:gd name="T31" fmla="*/ 7 h 86"/>
                <a:gd name="T32" fmla="*/ 26 w 85"/>
                <a:gd name="T33" fmla="*/ 3 h 86"/>
                <a:gd name="T34" fmla="*/ 34 w 85"/>
                <a:gd name="T35" fmla="*/ 0 h 86"/>
                <a:gd name="T36" fmla="*/ 43 w 85"/>
                <a:gd name="T37" fmla="*/ 0 h 86"/>
                <a:gd name="T38" fmla="*/ 43 w 85"/>
                <a:gd name="T39" fmla="*/ 0 h 86"/>
                <a:gd name="T40" fmla="*/ 51 w 85"/>
                <a:gd name="T41" fmla="*/ 0 h 86"/>
                <a:gd name="T42" fmla="*/ 59 w 85"/>
                <a:gd name="T43" fmla="*/ 3 h 86"/>
                <a:gd name="T44" fmla="*/ 66 w 85"/>
                <a:gd name="T45" fmla="*/ 7 h 86"/>
                <a:gd name="T46" fmla="*/ 73 w 85"/>
                <a:gd name="T47" fmla="*/ 13 h 86"/>
                <a:gd name="T48" fmla="*/ 78 w 85"/>
                <a:gd name="T49" fmla="*/ 20 h 86"/>
                <a:gd name="T50" fmla="*/ 83 w 85"/>
                <a:gd name="T51" fmla="*/ 26 h 86"/>
                <a:gd name="T52" fmla="*/ 84 w 85"/>
                <a:gd name="T53" fmla="*/ 35 h 86"/>
                <a:gd name="T54" fmla="*/ 85 w 85"/>
                <a:gd name="T55" fmla="*/ 43 h 86"/>
                <a:gd name="T56" fmla="*/ 85 w 85"/>
                <a:gd name="T57" fmla="*/ 43 h 86"/>
                <a:gd name="T58" fmla="*/ 84 w 85"/>
                <a:gd name="T59" fmla="*/ 51 h 86"/>
                <a:gd name="T60" fmla="*/ 83 w 85"/>
                <a:gd name="T61" fmla="*/ 59 h 86"/>
                <a:gd name="T62" fmla="*/ 78 w 85"/>
                <a:gd name="T63" fmla="*/ 66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6"/>
                  </a:lnTo>
                  <a:lnTo>
                    <a:pt x="3" y="59"/>
                  </a:lnTo>
                  <a:lnTo>
                    <a:pt x="0" y="51"/>
                  </a:lnTo>
                  <a:lnTo>
                    <a:pt x="0" y="43"/>
                  </a:lnTo>
                  <a:lnTo>
                    <a:pt x="0" y="43"/>
                  </a:lnTo>
                  <a:lnTo>
                    <a:pt x="0" y="35"/>
                  </a:lnTo>
                  <a:lnTo>
                    <a:pt x="3" y="26"/>
                  </a:lnTo>
                  <a:lnTo>
                    <a:pt x="7" y="20"/>
                  </a:lnTo>
                  <a:lnTo>
                    <a:pt x="12" y="13"/>
                  </a:lnTo>
                  <a:lnTo>
                    <a:pt x="18" y="7"/>
                  </a:lnTo>
                  <a:lnTo>
                    <a:pt x="26" y="3"/>
                  </a:lnTo>
                  <a:lnTo>
                    <a:pt x="34" y="0"/>
                  </a:lnTo>
                  <a:lnTo>
                    <a:pt x="43" y="0"/>
                  </a:lnTo>
                  <a:lnTo>
                    <a:pt x="43" y="0"/>
                  </a:lnTo>
                  <a:lnTo>
                    <a:pt x="51" y="0"/>
                  </a:lnTo>
                  <a:lnTo>
                    <a:pt x="59" y="3"/>
                  </a:lnTo>
                  <a:lnTo>
                    <a:pt x="66" y="7"/>
                  </a:lnTo>
                  <a:lnTo>
                    <a:pt x="73" y="13"/>
                  </a:lnTo>
                  <a:lnTo>
                    <a:pt x="78" y="20"/>
                  </a:lnTo>
                  <a:lnTo>
                    <a:pt x="83" y="26"/>
                  </a:lnTo>
                  <a:lnTo>
                    <a:pt x="84" y="35"/>
                  </a:lnTo>
                  <a:lnTo>
                    <a:pt x="85" y="43"/>
                  </a:lnTo>
                  <a:lnTo>
                    <a:pt x="85" y="43"/>
                  </a:lnTo>
                  <a:lnTo>
                    <a:pt x="84" y="51"/>
                  </a:lnTo>
                  <a:lnTo>
                    <a:pt x="83" y="59"/>
                  </a:lnTo>
                  <a:lnTo>
                    <a:pt x="78" y="66"/>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51"/>
            <p:cNvSpPr>
              <a:spLocks/>
            </p:cNvSpPr>
            <p:nvPr userDrawn="1"/>
          </p:nvSpPr>
          <p:spPr bwMode="auto">
            <a:xfrm>
              <a:off x="3592" y="891"/>
              <a:ext cx="43" cy="43"/>
            </a:xfrm>
            <a:custGeom>
              <a:avLst/>
              <a:gdLst>
                <a:gd name="T0" fmla="*/ 43 w 85"/>
                <a:gd name="T1" fmla="*/ 85 h 85"/>
                <a:gd name="T2" fmla="*/ 43 w 85"/>
                <a:gd name="T3" fmla="*/ 85 h 85"/>
                <a:gd name="T4" fmla="*/ 34 w 85"/>
                <a:gd name="T5" fmla="*/ 85 h 85"/>
                <a:gd name="T6" fmla="*/ 26 w 85"/>
                <a:gd name="T7" fmla="*/ 83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3 h 85"/>
                <a:gd name="T34" fmla="*/ 34 w 85"/>
                <a:gd name="T35" fmla="*/ 1 h 85"/>
                <a:gd name="T36" fmla="*/ 43 w 85"/>
                <a:gd name="T37" fmla="*/ 0 h 85"/>
                <a:gd name="T38" fmla="*/ 43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3 w 85"/>
                <a:gd name="T51" fmla="*/ 26 h 85"/>
                <a:gd name="T52" fmla="*/ 84 w 85"/>
                <a:gd name="T53" fmla="*/ 34 h 85"/>
                <a:gd name="T54" fmla="*/ 85 w 85"/>
                <a:gd name="T55" fmla="*/ 43 h 85"/>
                <a:gd name="T56" fmla="*/ 85 w 85"/>
                <a:gd name="T57" fmla="*/ 43 h 85"/>
                <a:gd name="T58" fmla="*/ 84 w 85"/>
                <a:gd name="T59" fmla="*/ 51 h 85"/>
                <a:gd name="T60" fmla="*/ 83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3"/>
                  </a:lnTo>
                  <a:lnTo>
                    <a:pt x="18" y="78"/>
                  </a:lnTo>
                  <a:lnTo>
                    <a:pt x="12" y="73"/>
                  </a:lnTo>
                  <a:lnTo>
                    <a:pt x="7" y="67"/>
                  </a:lnTo>
                  <a:lnTo>
                    <a:pt x="3" y="59"/>
                  </a:lnTo>
                  <a:lnTo>
                    <a:pt x="0" y="51"/>
                  </a:lnTo>
                  <a:lnTo>
                    <a:pt x="0" y="43"/>
                  </a:lnTo>
                  <a:lnTo>
                    <a:pt x="0" y="43"/>
                  </a:lnTo>
                  <a:lnTo>
                    <a:pt x="0" y="34"/>
                  </a:lnTo>
                  <a:lnTo>
                    <a:pt x="3" y="26"/>
                  </a:lnTo>
                  <a:lnTo>
                    <a:pt x="7" y="19"/>
                  </a:lnTo>
                  <a:lnTo>
                    <a:pt x="12" y="12"/>
                  </a:lnTo>
                  <a:lnTo>
                    <a:pt x="18" y="7"/>
                  </a:lnTo>
                  <a:lnTo>
                    <a:pt x="26" y="3"/>
                  </a:lnTo>
                  <a:lnTo>
                    <a:pt x="34" y="1"/>
                  </a:lnTo>
                  <a:lnTo>
                    <a:pt x="43" y="0"/>
                  </a:lnTo>
                  <a:lnTo>
                    <a:pt x="43" y="0"/>
                  </a:lnTo>
                  <a:lnTo>
                    <a:pt x="51" y="1"/>
                  </a:lnTo>
                  <a:lnTo>
                    <a:pt x="59" y="3"/>
                  </a:lnTo>
                  <a:lnTo>
                    <a:pt x="66" y="7"/>
                  </a:lnTo>
                  <a:lnTo>
                    <a:pt x="73" y="12"/>
                  </a:lnTo>
                  <a:lnTo>
                    <a:pt x="78" y="19"/>
                  </a:lnTo>
                  <a:lnTo>
                    <a:pt x="83" y="26"/>
                  </a:lnTo>
                  <a:lnTo>
                    <a:pt x="84" y="34"/>
                  </a:lnTo>
                  <a:lnTo>
                    <a:pt x="85" y="43"/>
                  </a:lnTo>
                  <a:lnTo>
                    <a:pt x="85" y="43"/>
                  </a:lnTo>
                  <a:lnTo>
                    <a:pt x="84" y="51"/>
                  </a:lnTo>
                  <a:lnTo>
                    <a:pt x="83" y="59"/>
                  </a:lnTo>
                  <a:lnTo>
                    <a:pt x="78" y="67"/>
                  </a:lnTo>
                  <a:lnTo>
                    <a:pt x="73" y="73"/>
                  </a:lnTo>
                  <a:lnTo>
                    <a:pt x="66" y="78"/>
                  </a:lnTo>
                  <a:lnTo>
                    <a:pt x="59" y="83"/>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52"/>
            <p:cNvSpPr>
              <a:spLocks/>
            </p:cNvSpPr>
            <p:nvPr userDrawn="1"/>
          </p:nvSpPr>
          <p:spPr bwMode="auto">
            <a:xfrm>
              <a:off x="3592" y="947"/>
              <a:ext cx="43" cy="43"/>
            </a:xfrm>
            <a:custGeom>
              <a:avLst/>
              <a:gdLst>
                <a:gd name="T0" fmla="*/ 43 w 85"/>
                <a:gd name="T1" fmla="*/ 85 h 85"/>
                <a:gd name="T2" fmla="*/ 43 w 85"/>
                <a:gd name="T3" fmla="*/ 85 h 85"/>
                <a:gd name="T4" fmla="*/ 34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4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3 w 85"/>
                <a:gd name="T51" fmla="*/ 26 h 85"/>
                <a:gd name="T52" fmla="*/ 84 w 85"/>
                <a:gd name="T53" fmla="*/ 34 h 85"/>
                <a:gd name="T54" fmla="*/ 85 w 85"/>
                <a:gd name="T55" fmla="*/ 42 h 85"/>
                <a:gd name="T56" fmla="*/ 85 w 85"/>
                <a:gd name="T57" fmla="*/ 42 h 85"/>
                <a:gd name="T58" fmla="*/ 84 w 85"/>
                <a:gd name="T59" fmla="*/ 51 h 85"/>
                <a:gd name="T60" fmla="*/ 83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4"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4" y="1"/>
                  </a:lnTo>
                  <a:lnTo>
                    <a:pt x="43" y="0"/>
                  </a:lnTo>
                  <a:lnTo>
                    <a:pt x="43" y="0"/>
                  </a:lnTo>
                  <a:lnTo>
                    <a:pt x="51" y="1"/>
                  </a:lnTo>
                  <a:lnTo>
                    <a:pt x="59" y="2"/>
                  </a:lnTo>
                  <a:lnTo>
                    <a:pt x="66" y="7"/>
                  </a:lnTo>
                  <a:lnTo>
                    <a:pt x="73" y="12"/>
                  </a:lnTo>
                  <a:lnTo>
                    <a:pt x="78" y="19"/>
                  </a:lnTo>
                  <a:lnTo>
                    <a:pt x="83" y="26"/>
                  </a:lnTo>
                  <a:lnTo>
                    <a:pt x="84" y="34"/>
                  </a:lnTo>
                  <a:lnTo>
                    <a:pt x="85" y="42"/>
                  </a:lnTo>
                  <a:lnTo>
                    <a:pt x="85" y="42"/>
                  </a:lnTo>
                  <a:lnTo>
                    <a:pt x="84" y="51"/>
                  </a:lnTo>
                  <a:lnTo>
                    <a:pt x="83" y="59"/>
                  </a:lnTo>
                  <a:lnTo>
                    <a:pt x="78" y="67"/>
                  </a:lnTo>
                  <a:lnTo>
                    <a:pt x="73" y="73"/>
                  </a:lnTo>
                  <a:lnTo>
                    <a:pt x="66" y="78"/>
                  </a:lnTo>
                  <a:lnTo>
                    <a:pt x="59" y="82"/>
                  </a:lnTo>
                  <a:lnTo>
                    <a:pt x="51" y="85"/>
                  </a:lnTo>
                  <a:lnTo>
                    <a:pt x="43" y="85"/>
                  </a:lnTo>
                  <a:lnTo>
                    <a:pt x="43" y="85"/>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53"/>
            <p:cNvSpPr>
              <a:spLocks/>
            </p:cNvSpPr>
            <p:nvPr userDrawn="1"/>
          </p:nvSpPr>
          <p:spPr bwMode="auto">
            <a:xfrm>
              <a:off x="3592" y="1004"/>
              <a:ext cx="43" cy="42"/>
            </a:xfrm>
            <a:custGeom>
              <a:avLst/>
              <a:gdLst>
                <a:gd name="T0" fmla="*/ 43 w 85"/>
                <a:gd name="T1" fmla="*/ 86 h 86"/>
                <a:gd name="T2" fmla="*/ 43 w 85"/>
                <a:gd name="T3" fmla="*/ 86 h 86"/>
                <a:gd name="T4" fmla="*/ 34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4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3 w 85"/>
                <a:gd name="T51" fmla="*/ 27 h 86"/>
                <a:gd name="T52" fmla="*/ 84 w 85"/>
                <a:gd name="T53" fmla="*/ 35 h 86"/>
                <a:gd name="T54" fmla="*/ 85 w 85"/>
                <a:gd name="T55" fmla="*/ 43 h 86"/>
                <a:gd name="T56" fmla="*/ 85 w 85"/>
                <a:gd name="T57" fmla="*/ 43 h 86"/>
                <a:gd name="T58" fmla="*/ 84 w 85"/>
                <a:gd name="T59" fmla="*/ 53 h 86"/>
                <a:gd name="T60" fmla="*/ 83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4" y="2"/>
                  </a:lnTo>
                  <a:lnTo>
                    <a:pt x="43" y="0"/>
                  </a:lnTo>
                  <a:lnTo>
                    <a:pt x="43" y="0"/>
                  </a:lnTo>
                  <a:lnTo>
                    <a:pt x="51" y="2"/>
                  </a:lnTo>
                  <a:lnTo>
                    <a:pt x="59" y="5"/>
                  </a:lnTo>
                  <a:lnTo>
                    <a:pt x="66" y="7"/>
                  </a:lnTo>
                  <a:lnTo>
                    <a:pt x="73" y="13"/>
                  </a:lnTo>
                  <a:lnTo>
                    <a:pt x="78" y="20"/>
                  </a:lnTo>
                  <a:lnTo>
                    <a:pt x="83" y="27"/>
                  </a:lnTo>
                  <a:lnTo>
                    <a:pt x="84" y="35"/>
                  </a:lnTo>
                  <a:lnTo>
                    <a:pt x="85" y="43"/>
                  </a:lnTo>
                  <a:lnTo>
                    <a:pt x="85" y="43"/>
                  </a:lnTo>
                  <a:lnTo>
                    <a:pt x="84" y="53"/>
                  </a:lnTo>
                  <a:lnTo>
                    <a:pt x="83" y="59"/>
                  </a:lnTo>
                  <a:lnTo>
                    <a:pt x="78" y="68"/>
                  </a:lnTo>
                  <a:lnTo>
                    <a:pt x="73" y="73"/>
                  </a:lnTo>
                  <a:lnTo>
                    <a:pt x="66" y="79"/>
                  </a:lnTo>
                  <a:lnTo>
                    <a:pt x="59" y="83"/>
                  </a:lnTo>
                  <a:lnTo>
                    <a:pt x="51" y="86"/>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4"/>
            <p:cNvSpPr>
              <a:spLocks/>
            </p:cNvSpPr>
            <p:nvPr userDrawn="1"/>
          </p:nvSpPr>
          <p:spPr bwMode="auto">
            <a:xfrm>
              <a:off x="3592" y="1060"/>
              <a:ext cx="43" cy="43"/>
            </a:xfrm>
            <a:custGeom>
              <a:avLst/>
              <a:gdLst>
                <a:gd name="T0" fmla="*/ 43 w 85"/>
                <a:gd name="T1" fmla="*/ 87 h 87"/>
                <a:gd name="T2" fmla="*/ 43 w 85"/>
                <a:gd name="T3" fmla="*/ 87 h 87"/>
                <a:gd name="T4" fmla="*/ 34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4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3 w 85"/>
                <a:gd name="T51" fmla="*/ 26 h 87"/>
                <a:gd name="T52" fmla="*/ 84 w 85"/>
                <a:gd name="T53" fmla="*/ 34 h 87"/>
                <a:gd name="T54" fmla="*/ 85 w 85"/>
                <a:gd name="T55" fmla="*/ 43 h 87"/>
                <a:gd name="T56" fmla="*/ 85 w 85"/>
                <a:gd name="T57" fmla="*/ 43 h 87"/>
                <a:gd name="T58" fmla="*/ 84 w 85"/>
                <a:gd name="T59" fmla="*/ 52 h 87"/>
                <a:gd name="T60" fmla="*/ 83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4"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3" y="26"/>
                  </a:lnTo>
                  <a:lnTo>
                    <a:pt x="84" y="34"/>
                  </a:lnTo>
                  <a:lnTo>
                    <a:pt x="85" y="43"/>
                  </a:lnTo>
                  <a:lnTo>
                    <a:pt x="85" y="43"/>
                  </a:lnTo>
                  <a:lnTo>
                    <a:pt x="84" y="52"/>
                  </a:lnTo>
                  <a:lnTo>
                    <a:pt x="83" y="61"/>
                  </a:lnTo>
                  <a:lnTo>
                    <a:pt x="78" y="67"/>
                  </a:lnTo>
                  <a:lnTo>
                    <a:pt x="73" y="73"/>
                  </a:lnTo>
                  <a:lnTo>
                    <a:pt x="66" y="78"/>
                  </a:lnTo>
                  <a:lnTo>
                    <a:pt x="59" y="83"/>
                  </a:lnTo>
                  <a:lnTo>
                    <a:pt x="51" y="85"/>
                  </a:lnTo>
                  <a:lnTo>
                    <a:pt x="43" y="87"/>
                  </a:lnTo>
                  <a:lnTo>
                    <a:pt x="43" y="87"/>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55"/>
            <p:cNvSpPr>
              <a:spLocks/>
            </p:cNvSpPr>
            <p:nvPr userDrawn="1"/>
          </p:nvSpPr>
          <p:spPr bwMode="auto">
            <a:xfrm>
              <a:off x="3592" y="1116"/>
              <a:ext cx="43" cy="44"/>
            </a:xfrm>
            <a:custGeom>
              <a:avLst/>
              <a:gdLst>
                <a:gd name="T0" fmla="*/ 43 w 85"/>
                <a:gd name="T1" fmla="*/ 86 h 86"/>
                <a:gd name="T2" fmla="*/ 43 w 85"/>
                <a:gd name="T3" fmla="*/ 86 h 86"/>
                <a:gd name="T4" fmla="*/ 34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4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3 w 85"/>
                <a:gd name="T51" fmla="*/ 26 h 86"/>
                <a:gd name="T52" fmla="*/ 84 w 85"/>
                <a:gd name="T53" fmla="*/ 34 h 86"/>
                <a:gd name="T54" fmla="*/ 85 w 85"/>
                <a:gd name="T55" fmla="*/ 44 h 86"/>
                <a:gd name="T56" fmla="*/ 85 w 85"/>
                <a:gd name="T57" fmla="*/ 44 h 86"/>
                <a:gd name="T58" fmla="*/ 84 w 85"/>
                <a:gd name="T59" fmla="*/ 52 h 86"/>
                <a:gd name="T60" fmla="*/ 83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4"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4" y="1"/>
                  </a:lnTo>
                  <a:lnTo>
                    <a:pt x="43" y="0"/>
                  </a:lnTo>
                  <a:lnTo>
                    <a:pt x="43" y="0"/>
                  </a:lnTo>
                  <a:lnTo>
                    <a:pt x="51" y="1"/>
                  </a:lnTo>
                  <a:lnTo>
                    <a:pt x="59" y="4"/>
                  </a:lnTo>
                  <a:lnTo>
                    <a:pt x="66" y="8"/>
                  </a:lnTo>
                  <a:lnTo>
                    <a:pt x="73" y="12"/>
                  </a:lnTo>
                  <a:lnTo>
                    <a:pt x="78" y="19"/>
                  </a:lnTo>
                  <a:lnTo>
                    <a:pt x="83" y="26"/>
                  </a:lnTo>
                  <a:lnTo>
                    <a:pt x="84" y="34"/>
                  </a:lnTo>
                  <a:lnTo>
                    <a:pt x="85" y="44"/>
                  </a:lnTo>
                  <a:lnTo>
                    <a:pt x="85" y="44"/>
                  </a:lnTo>
                  <a:lnTo>
                    <a:pt x="84" y="52"/>
                  </a:lnTo>
                  <a:lnTo>
                    <a:pt x="83" y="60"/>
                  </a:lnTo>
                  <a:lnTo>
                    <a:pt x="78" y="67"/>
                  </a:lnTo>
                  <a:lnTo>
                    <a:pt x="73" y="74"/>
                  </a:lnTo>
                  <a:lnTo>
                    <a:pt x="66" y="78"/>
                  </a:lnTo>
                  <a:lnTo>
                    <a:pt x="59" y="82"/>
                  </a:lnTo>
                  <a:lnTo>
                    <a:pt x="51" y="85"/>
                  </a:lnTo>
                  <a:lnTo>
                    <a:pt x="43" y="86"/>
                  </a:lnTo>
                  <a:lnTo>
                    <a:pt x="43" y="86"/>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56"/>
            <p:cNvSpPr>
              <a:spLocks/>
            </p:cNvSpPr>
            <p:nvPr userDrawn="1"/>
          </p:nvSpPr>
          <p:spPr bwMode="auto">
            <a:xfrm>
              <a:off x="3536" y="835"/>
              <a:ext cx="43" cy="42"/>
            </a:xfrm>
            <a:custGeom>
              <a:avLst/>
              <a:gdLst>
                <a:gd name="T0" fmla="*/ 43 w 85"/>
                <a:gd name="T1" fmla="*/ 86 h 86"/>
                <a:gd name="T2" fmla="*/ 43 w 85"/>
                <a:gd name="T3" fmla="*/ 86 h 86"/>
                <a:gd name="T4" fmla="*/ 33 w 85"/>
                <a:gd name="T5" fmla="*/ 86 h 86"/>
                <a:gd name="T6" fmla="*/ 26 w 85"/>
                <a:gd name="T7" fmla="*/ 83 h 86"/>
                <a:gd name="T8" fmla="*/ 18 w 85"/>
                <a:gd name="T9" fmla="*/ 79 h 86"/>
                <a:gd name="T10" fmla="*/ 12 w 85"/>
                <a:gd name="T11" fmla="*/ 73 h 86"/>
                <a:gd name="T12" fmla="*/ 7 w 85"/>
                <a:gd name="T13" fmla="*/ 66 h 86"/>
                <a:gd name="T14" fmla="*/ 3 w 85"/>
                <a:gd name="T15" fmla="*/ 59 h 86"/>
                <a:gd name="T16" fmla="*/ 0 w 85"/>
                <a:gd name="T17" fmla="*/ 51 h 86"/>
                <a:gd name="T18" fmla="*/ 0 w 85"/>
                <a:gd name="T19" fmla="*/ 43 h 86"/>
                <a:gd name="T20" fmla="*/ 0 w 85"/>
                <a:gd name="T21" fmla="*/ 43 h 86"/>
                <a:gd name="T22" fmla="*/ 0 w 85"/>
                <a:gd name="T23" fmla="*/ 35 h 86"/>
                <a:gd name="T24" fmla="*/ 3 w 85"/>
                <a:gd name="T25" fmla="*/ 26 h 86"/>
                <a:gd name="T26" fmla="*/ 7 w 85"/>
                <a:gd name="T27" fmla="*/ 20 h 86"/>
                <a:gd name="T28" fmla="*/ 12 w 85"/>
                <a:gd name="T29" fmla="*/ 13 h 86"/>
                <a:gd name="T30" fmla="*/ 18 w 85"/>
                <a:gd name="T31" fmla="*/ 7 h 86"/>
                <a:gd name="T32" fmla="*/ 26 w 85"/>
                <a:gd name="T33" fmla="*/ 3 h 86"/>
                <a:gd name="T34" fmla="*/ 33 w 85"/>
                <a:gd name="T35" fmla="*/ 0 h 86"/>
                <a:gd name="T36" fmla="*/ 43 w 85"/>
                <a:gd name="T37" fmla="*/ 0 h 86"/>
                <a:gd name="T38" fmla="*/ 43 w 85"/>
                <a:gd name="T39" fmla="*/ 0 h 86"/>
                <a:gd name="T40" fmla="*/ 51 w 85"/>
                <a:gd name="T41" fmla="*/ 0 h 86"/>
                <a:gd name="T42" fmla="*/ 59 w 85"/>
                <a:gd name="T43" fmla="*/ 3 h 86"/>
                <a:gd name="T44" fmla="*/ 66 w 85"/>
                <a:gd name="T45" fmla="*/ 7 h 86"/>
                <a:gd name="T46" fmla="*/ 73 w 85"/>
                <a:gd name="T47" fmla="*/ 13 h 86"/>
                <a:gd name="T48" fmla="*/ 78 w 85"/>
                <a:gd name="T49" fmla="*/ 20 h 86"/>
                <a:gd name="T50" fmla="*/ 81 w 85"/>
                <a:gd name="T51" fmla="*/ 26 h 86"/>
                <a:gd name="T52" fmla="*/ 84 w 85"/>
                <a:gd name="T53" fmla="*/ 35 h 86"/>
                <a:gd name="T54" fmla="*/ 85 w 85"/>
                <a:gd name="T55" fmla="*/ 43 h 86"/>
                <a:gd name="T56" fmla="*/ 85 w 85"/>
                <a:gd name="T57" fmla="*/ 43 h 86"/>
                <a:gd name="T58" fmla="*/ 84 w 85"/>
                <a:gd name="T59" fmla="*/ 51 h 86"/>
                <a:gd name="T60" fmla="*/ 81 w 85"/>
                <a:gd name="T61" fmla="*/ 59 h 86"/>
                <a:gd name="T62" fmla="*/ 78 w 85"/>
                <a:gd name="T63" fmla="*/ 66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6"/>
                  </a:lnTo>
                  <a:lnTo>
                    <a:pt x="26" y="83"/>
                  </a:lnTo>
                  <a:lnTo>
                    <a:pt x="18" y="79"/>
                  </a:lnTo>
                  <a:lnTo>
                    <a:pt x="12" y="73"/>
                  </a:lnTo>
                  <a:lnTo>
                    <a:pt x="7" y="66"/>
                  </a:lnTo>
                  <a:lnTo>
                    <a:pt x="3" y="59"/>
                  </a:lnTo>
                  <a:lnTo>
                    <a:pt x="0" y="51"/>
                  </a:lnTo>
                  <a:lnTo>
                    <a:pt x="0" y="43"/>
                  </a:lnTo>
                  <a:lnTo>
                    <a:pt x="0" y="43"/>
                  </a:lnTo>
                  <a:lnTo>
                    <a:pt x="0" y="35"/>
                  </a:lnTo>
                  <a:lnTo>
                    <a:pt x="3" y="26"/>
                  </a:lnTo>
                  <a:lnTo>
                    <a:pt x="7" y="20"/>
                  </a:lnTo>
                  <a:lnTo>
                    <a:pt x="12" y="13"/>
                  </a:lnTo>
                  <a:lnTo>
                    <a:pt x="18" y="7"/>
                  </a:lnTo>
                  <a:lnTo>
                    <a:pt x="26" y="3"/>
                  </a:lnTo>
                  <a:lnTo>
                    <a:pt x="33" y="0"/>
                  </a:lnTo>
                  <a:lnTo>
                    <a:pt x="43" y="0"/>
                  </a:lnTo>
                  <a:lnTo>
                    <a:pt x="43" y="0"/>
                  </a:lnTo>
                  <a:lnTo>
                    <a:pt x="51" y="0"/>
                  </a:lnTo>
                  <a:lnTo>
                    <a:pt x="59" y="3"/>
                  </a:lnTo>
                  <a:lnTo>
                    <a:pt x="66" y="7"/>
                  </a:lnTo>
                  <a:lnTo>
                    <a:pt x="73" y="13"/>
                  </a:lnTo>
                  <a:lnTo>
                    <a:pt x="78" y="20"/>
                  </a:lnTo>
                  <a:lnTo>
                    <a:pt x="81" y="26"/>
                  </a:lnTo>
                  <a:lnTo>
                    <a:pt x="84" y="35"/>
                  </a:lnTo>
                  <a:lnTo>
                    <a:pt x="85" y="43"/>
                  </a:lnTo>
                  <a:lnTo>
                    <a:pt x="85" y="43"/>
                  </a:lnTo>
                  <a:lnTo>
                    <a:pt x="84" y="51"/>
                  </a:lnTo>
                  <a:lnTo>
                    <a:pt x="81" y="59"/>
                  </a:lnTo>
                  <a:lnTo>
                    <a:pt x="78" y="66"/>
                  </a:lnTo>
                  <a:lnTo>
                    <a:pt x="73" y="73"/>
                  </a:lnTo>
                  <a:lnTo>
                    <a:pt x="66" y="79"/>
                  </a:lnTo>
                  <a:lnTo>
                    <a:pt x="59" y="83"/>
                  </a:lnTo>
                  <a:lnTo>
                    <a:pt x="51" y="86"/>
                  </a:lnTo>
                  <a:lnTo>
                    <a:pt x="43" y="86"/>
                  </a:lnTo>
                  <a:lnTo>
                    <a:pt x="43" y="86"/>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57"/>
            <p:cNvSpPr>
              <a:spLocks/>
            </p:cNvSpPr>
            <p:nvPr userDrawn="1"/>
          </p:nvSpPr>
          <p:spPr bwMode="auto">
            <a:xfrm>
              <a:off x="3536" y="891"/>
              <a:ext cx="43" cy="43"/>
            </a:xfrm>
            <a:custGeom>
              <a:avLst/>
              <a:gdLst>
                <a:gd name="T0" fmla="*/ 43 w 85"/>
                <a:gd name="T1" fmla="*/ 85 h 85"/>
                <a:gd name="T2" fmla="*/ 43 w 85"/>
                <a:gd name="T3" fmla="*/ 85 h 85"/>
                <a:gd name="T4" fmla="*/ 33 w 85"/>
                <a:gd name="T5" fmla="*/ 85 h 85"/>
                <a:gd name="T6" fmla="*/ 26 w 85"/>
                <a:gd name="T7" fmla="*/ 83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3 h 85"/>
                <a:gd name="T20" fmla="*/ 0 w 85"/>
                <a:gd name="T21" fmla="*/ 43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3 h 85"/>
                <a:gd name="T34" fmla="*/ 33 w 85"/>
                <a:gd name="T35" fmla="*/ 1 h 85"/>
                <a:gd name="T36" fmla="*/ 43 w 85"/>
                <a:gd name="T37" fmla="*/ 0 h 85"/>
                <a:gd name="T38" fmla="*/ 43 w 85"/>
                <a:gd name="T39" fmla="*/ 0 h 85"/>
                <a:gd name="T40" fmla="*/ 51 w 85"/>
                <a:gd name="T41" fmla="*/ 1 h 85"/>
                <a:gd name="T42" fmla="*/ 59 w 85"/>
                <a:gd name="T43" fmla="*/ 3 h 85"/>
                <a:gd name="T44" fmla="*/ 66 w 85"/>
                <a:gd name="T45" fmla="*/ 7 h 85"/>
                <a:gd name="T46" fmla="*/ 73 w 85"/>
                <a:gd name="T47" fmla="*/ 12 h 85"/>
                <a:gd name="T48" fmla="*/ 78 w 85"/>
                <a:gd name="T49" fmla="*/ 19 h 85"/>
                <a:gd name="T50" fmla="*/ 81 w 85"/>
                <a:gd name="T51" fmla="*/ 26 h 85"/>
                <a:gd name="T52" fmla="*/ 84 w 85"/>
                <a:gd name="T53" fmla="*/ 34 h 85"/>
                <a:gd name="T54" fmla="*/ 85 w 85"/>
                <a:gd name="T55" fmla="*/ 43 h 85"/>
                <a:gd name="T56" fmla="*/ 85 w 85"/>
                <a:gd name="T57" fmla="*/ 43 h 85"/>
                <a:gd name="T58" fmla="*/ 84 w 85"/>
                <a:gd name="T59" fmla="*/ 51 h 85"/>
                <a:gd name="T60" fmla="*/ 81 w 85"/>
                <a:gd name="T61" fmla="*/ 59 h 85"/>
                <a:gd name="T62" fmla="*/ 78 w 85"/>
                <a:gd name="T63" fmla="*/ 67 h 85"/>
                <a:gd name="T64" fmla="*/ 73 w 85"/>
                <a:gd name="T65" fmla="*/ 73 h 85"/>
                <a:gd name="T66" fmla="*/ 66 w 85"/>
                <a:gd name="T67" fmla="*/ 78 h 85"/>
                <a:gd name="T68" fmla="*/ 59 w 85"/>
                <a:gd name="T69" fmla="*/ 83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3" y="85"/>
                  </a:lnTo>
                  <a:lnTo>
                    <a:pt x="26" y="83"/>
                  </a:lnTo>
                  <a:lnTo>
                    <a:pt x="18" y="78"/>
                  </a:lnTo>
                  <a:lnTo>
                    <a:pt x="12" y="73"/>
                  </a:lnTo>
                  <a:lnTo>
                    <a:pt x="7" y="67"/>
                  </a:lnTo>
                  <a:lnTo>
                    <a:pt x="3" y="59"/>
                  </a:lnTo>
                  <a:lnTo>
                    <a:pt x="0" y="51"/>
                  </a:lnTo>
                  <a:lnTo>
                    <a:pt x="0" y="43"/>
                  </a:lnTo>
                  <a:lnTo>
                    <a:pt x="0" y="43"/>
                  </a:lnTo>
                  <a:lnTo>
                    <a:pt x="0" y="34"/>
                  </a:lnTo>
                  <a:lnTo>
                    <a:pt x="3" y="26"/>
                  </a:lnTo>
                  <a:lnTo>
                    <a:pt x="7" y="19"/>
                  </a:lnTo>
                  <a:lnTo>
                    <a:pt x="12" y="12"/>
                  </a:lnTo>
                  <a:lnTo>
                    <a:pt x="18" y="7"/>
                  </a:lnTo>
                  <a:lnTo>
                    <a:pt x="26" y="3"/>
                  </a:lnTo>
                  <a:lnTo>
                    <a:pt x="33" y="1"/>
                  </a:lnTo>
                  <a:lnTo>
                    <a:pt x="43" y="0"/>
                  </a:lnTo>
                  <a:lnTo>
                    <a:pt x="43" y="0"/>
                  </a:lnTo>
                  <a:lnTo>
                    <a:pt x="51" y="1"/>
                  </a:lnTo>
                  <a:lnTo>
                    <a:pt x="59" y="3"/>
                  </a:lnTo>
                  <a:lnTo>
                    <a:pt x="66" y="7"/>
                  </a:lnTo>
                  <a:lnTo>
                    <a:pt x="73" y="12"/>
                  </a:lnTo>
                  <a:lnTo>
                    <a:pt x="78" y="19"/>
                  </a:lnTo>
                  <a:lnTo>
                    <a:pt x="81" y="26"/>
                  </a:lnTo>
                  <a:lnTo>
                    <a:pt x="84" y="34"/>
                  </a:lnTo>
                  <a:lnTo>
                    <a:pt x="85" y="43"/>
                  </a:lnTo>
                  <a:lnTo>
                    <a:pt x="85" y="43"/>
                  </a:lnTo>
                  <a:lnTo>
                    <a:pt x="84" y="51"/>
                  </a:lnTo>
                  <a:lnTo>
                    <a:pt x="81" y="59"/>
                  </a:lnTo>
                  <a:lnTo>
                    <a:pt x="78" y="67"/>
                  </a:lnTo>
                  <a:lnTo>
                    <a:pt x="73" y="73"/>
                  </a:lnTo>
                  <a:lnTo>
                    <a:pt x="66" y="78"/>
                  </a:lnTo>
                  <a:lnTo>
                    <a:pt x="59" y="83"/>
                  </a:lnTo>
                  <a:lnTo>
                    <a:pt x="51" y="85"/>
                  </a:lnTo>
                  <a:lnTo>
                    <a:pt x="43" y="85"/>
                  </a:lnTo>
                  <a:lnTo>
                    <a:pt x="43" y="85"/>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58"/>
            <p:cNvSpPr>
              <a:spLocks/>
            </p:cNvSpPr>
            <p:nvPr userDrawn="1"/>
          </p:nvSpPr>
          <p:spPr bwMode="auto">
            <a:xfrm>
              <a:off x="3536" y="947"/>
              <a:ext cx="43" cy="43"/>
            </a:xfrm>
            <a:custGeom>
              <a:avLst/>
              <a:gdLst>
                <a:gd name="T0" fmla="*/ 43 w 85"/>
                <a:gd name="T1" fmla="*/ 85 h 85"/>
                <a:gd name="T2" fmla="*/ 43 w 85"/>
                <a:gd name="T3" fmla="*/ 85 h 85"/>
                <a:gd name="T4" fmla="*/ 33 w 85"/>
                <a:gd name="T5" fmla="*/ 85 h 85"/>
                <a:gd name="T6" fmla="*/ 26 w 85"/>
                <a:gd name="T7" fmla="*/ 82 h 85"/>
                <a:gd name="T8" fmla="*/ 18 w 85"/>
                <a:gd name="T9" fmla="*/ 78 h 85"/>
                <a:gd name="T10" fmla="*/ 12 w 85"/>
                <a:gd name="T11" fmla="*/ 73 h 85"/>
                <a:gd name="T12" fmla="*/ 7 w 85"/>
                <a:gd name="T13" fmla="*/ 67 h 85"/>
                <a:gd name="T14" fmla="*/ 3 w 85"/>
                <a:gd name="T15" fmla="*/ 59 h 85"/>
                <a:gd name="T16" fmla="*/ 0 w 85"/>
                <a:gd name="T17" fmla="*/ 51 h 85"/>
                <a:gd name="T18" fmla="*/ 0 w 85"/>
                <a:gd name="T19" fmla="*/ 42 h 85"/>
                <a:gd name="T20" fmla="*/ 0 w 85"/>
                <a:gd name="T21" fmla="*/ 42 h 85"/>
                <a:gd name="T22" fmla="*/ 0 w 85"/>
                <a:gd name="T23" fmla="*/ 34 h 85"/>
                <a:gd name="T24" fmla="*/ 3 w 85"/>
                <a:gd name="T25" fmla="*/ 26 h 85"/>
                <a:gd name="T26" fmla="*/ 7 w 85"/>
                <a:gd name="T27" fmla="*/ 19 h 85"/>
                <a:gd name="T28" fmla="*/ 12 w 85"/>
                <a:gd name="T29" fmla="*/ 12 h 85"/>
                <a:gd name="T30" fmla="*/ 18 w 85"/>
                <a:gd name="T31" fmla="*/ 7 h 85"/>
                <a:gd name="T32" fmla="*/ 26 w 85"/>
                <a:gd name="T33" fmla="*/ 2 h 85"/>
                <a:gd name="T34" fmla="*/ 33 w 85"/>
                <a:gd name="T35" fmla="*/ 1 h 85"/>
                <a:gd name="T36" fmla="*/ 43 w 85"/>
                <a:gd name="T37" fmla="*/ 0 h 85"/>
                <a:gd name="T38" fmla="*/ 43 w 85"/>
                <a:gd name="T39" fmla="*/ 0 h 85"/>
                <a:gd name="T40" fmla="*/ 51 w 85"/>
                <a:gd name="T41" fmla="*/ 1 h 85"/>
                <a:gd name="T42" fmla="*/ 59 w 85"/>
                <a:gd name="T43" fmla="*/ 2 h 85"/>
                <a:gd name="T44" fmla="*/ 66 w 85"/>
                <a:gd name="T45" fmla="*/ 7 h 85"/>
                <a:gd name="T46" fmla="*/ 73 w 85"/>
                <a:gd name="T47" fmla="*/ 12 h 85"/>
                <a:gd name="T48" fmla="*/ 78 w 85"/>
                <a:gd name="T49" fmla="*/ 19 h 85"/>
                <a:gd name="T50" fmla="*/ 81 w 85"/>
                <a:gd name="T51" fmla="*/ 26 h 85"/>
                <a:gd name="T52" fmla="*/ 84 w 85"/>
                <a:gd name="T53" fmla="*/ 34 h 85"/>
                <a:gd name="T54" fmla="*/ 85 w 85"/>
                <a:gd name="T55" fmla="*/ 42 h 85"/>
                <a:gd name="T56" fmla="*/ 85 w 85"/>
                <a:gd name="T57" fmla="*/ 42 h 85"/>
                <a:gd name="T58" fmla="*/ 84 w 85"/>
                <a:gd name="T59" fmla="*/ 51 h 85"/>
                <a:gd name="T60" fmla="*/ 81 w 85"/>
                <a:gd name="T61" fmla="*/ 59 h 85"/>
                <a:gd name="T62" fmla="*/ 78 w 85"/>
                <a:gd name="T63" fmla="*/ 67 h 85"/>
                <a:gd name="T64" fmla="*/ 73 w 85"/>
                <a:gd name="T65" fmla="*/ 73 h 85"/>
                <a:gd name="T66" fmla="*/ 66 w 85"/>
                <a:gd name="T67" fmla="*/ 78 h 85"/>
                <a:gd name="T68" fmla="*/ 59 w 85"/>
                <a:gd name="T69" fmla="*/ 82 h 85"/>
                <a:gd name="T70" fmla="*/ 51 w 85"/>
                <a:gd name="T71" fmla="*/ 85 h 85"/>
                <a:gd name="T72" fmla="*/ 43 w 85"/>
                <a:gd name="T73" fmla="*/ 85 h 85"/>
                <a:gd name="T74" fmla="*/ 43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3" y="85"/>
                  </a:moveTo>
                  <a:lnTo>
                    <a:pt x="43" y="85"/>
                  </a:lnTo>
                  <a:lnTo>
                    <a:pt x="33" y="85"/>
                  </a:lnTo>
                  <a:lnTo>
                    <a:pt x="26" y="82"/>
                  </a:lnTo>
                  <a:lnTo>
                    <a:pt x="18" y="78"/>
                  </a:lnTo>
                  <a:lnTo>
                    <a:pt x="12" y="73"/>
                  </a:lnTo>
                  <a:lnTo>
                    <a:pt x="7" y="67"/>
                  </a:lnTo>
                  <a:lnTo>
                    <a:pt x="3" y="59"/>
                  </a:lnTo>
                  <a:lnTo>
                    <a:pt x="0" y="51"/>
                  </a:lnTo>
                  <a:lnTo>
                    <a:pt x="0" y="42"/>
                  </a:lnTo>
                  <a:lnTo>
                    <a:pt x="0" y="42"/>
                  </a:lnTo>
                  <a:lnTo>
                    <a:pt x="0" y="34"/>
                  </a:lnTo>
                  <a:lnTo>
                    <a:pt x="3" y="26"/>
                  </a:lnTo>
                  <a:lnTo>
                    <a:pt x="7" y="19"/>
                  </a:lnTo>
                  <a:lnTo>
                    <a:pt x="12" y="12"/>
                  </a:lnTo>
                  <a:lnTo>
                    <a:pt x="18" y="7"/>
                  </a:lnTo>
                  <a:lnTo>
                    <a:pt x="26" y="2"/>
                  </a:lnTo>
                  <a:lnTo>
                    <a:pt x="33" y="1"/>
                  </a:lnTo>
                  <a:lnTo>
                    <a:pt x="43" y="0"/>
                  </a:lnTo>
                  <a:lnTo>
                    <a:pt x="43" y="0"/>
                  </a:lnTo>
                  <a:lnTo>
                    <a:pt x="51" y="1"/>
                  </a:lnTo>
                  <a:lnTo>
                    <a:pt x="59" y="2"/>
                  </a:lnTo>
                  <a:lnTo>
                    <a:pt x="66" y="7"/>
                  </a:lnTo>
                  <a:lnTo>
                    <a:pt x="73" y="12"/>
                  </a:lnTo>
                  <a:lnTo>
                    <a:pt x="78" y="19"/>
                  </a:lnTo>
                  <a:lnTo>
                    <a:pt x="81" y="26"/>
                  </a:lnTo>
                  <a:lnTo>
                    <a:pt x="84" y="34"/>
                  </a:lnTo>
                  <a:lnTo>
                    <a:pt x="85" y="42"/>
                  </a:lnTo>
                  <a:lnTo>
                    <a:pt x="85" y="42"/>
                  </a:lnTo>
                  <a:lnTo>
                    <a:pt x="84" y="51"/>
                  </a:lnTo>
                  <a:lnTo>
                    <a:pt x="81" y="59"/>
                  </a:lnTo>
                  <a:lnTo>
                    <a:pt x="78" y="67"/>
                  </a:lnTo>
                  <a:lnTo>
                    <a:pt x="73" y="73"/>
                  </a:lnTo>
                  <a:lnTo>
                    <a:pt x="66" y="78"/>
                  </a:lnTo>
                  <a:lnTo>
                    <a:pt x="59" y="82"/>
                  </a:lnTo>
                  <a:lnTo>
                    <a:pt x="51" y="85"/>
                  </a:lnTo>
                  <a:lnTo>
                    <a:pt x="43" y="85"/>
                  </a:lnTo>
                  <a:lnTo>
                    <a:pt x="43" y="85"/>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59"/>
            <p:cNvSpPr>
              <a:spLocks/>
            </p:cNvSpPr>
            <p:nvPr userDrawn="1"/>
          </p:nvSpPr>
          <p:spPr bwMode="auto">
            <a:xfrm>
              <a:off x="3536" y="1004"/>
              <a:ext cx="43" cy="42"/>
            </a:xfrm>
            <a:custGeom>
              <a:avLst/>
              <a:gdLst>
                <a:gd name="T0" fmla="*/ 43 w 85"/>
                <a:gd name="T1" fmla="*/ 86 h 86"/>
                <a:gd name="T2" fmla="*/ 43 w 85"/>
                <a:gd name="T3" fmla="*/ 86 h 86"/>
                <a:gd name="T4" fmla="*/ 33 w 85"/>
                <a:gd name="T5" fmla="*/ 86 h 86"/>
                <a:gd name="T6" fmla="*/ 26 w 85"/>
                <a:gd name="T7" fmla="*/ 83 h 86"/>
                <a:gd name="T8" fmla="*/ 18 w 85"/>
                <a:gd name="T9" fmla="*/ 79 h 86"/>
                <a:gd name="T10" fmla="*/ 12 w 85"/>
                <a:gd name="T11" fmla="*/ 73 h 86"/>
                <a:gd name="T12" fmla="*/ 7 w 85"/>
                <a:gd name="T13" fmla="*/ 68 h 86"/>
                <a:gd name="T14" fmla="*/ 3 w 85"/>
                <a:gd name="T15" fmla="*/ 59 h 86"/>
                <a:gd name="T16" fmla="*/ 0 w 85"/>
                <a:gd name="T17" fmla="*/ 53 h 86"/>
                <a:gd name="T18" fmla="*/ 0 w 85"/>
                <a:gd name="T19" fmla="*/ 43 h 86"/>
                <a:gd name="T20" fmla="*/ 0 w 85"/>
                <a:gd name="T21" fmla="*/ 43 h 86"/>
                <a:gd name="T22" fmla="*/ 0 w 85"/>
                <a:gd name="T23" fmla="*/ 35 h 86"/>
                <a:gd name="T24" fmla="*/ 3 w 85"/>
                <a:gd name="T25" fmla="*/ 27 h 86"/>
                <a:gd name="T26" fmla="*/ 7 w 85"/>
                <a:gd name="T27" fmla="*/ 20 h 86"/>
                <a:gd name="T28" fmla="*/ 12 w 85"/>
                <a:gd name="T29" fmla="*/ 13 h 86"/>
                <a:gd name="T30" fmla="*/ 18 w 85"/>
                <a:gd name="T31" fmla="*/ 7 h 86"/>
                <a:gd name="T32" fmla="*/ 26 w 85"/>
                <a:gd name="T33" fmla="*/ 5 h 86"/>
                <a:gd name="T34" fmla="*/ 33 w 85"/>
                <a:gd name="T35" fmla="*/ 2 h 86"/>
                <a:gd name="T36" fmla="*/ 43 w 85"/>
                <a:gd name="T37" fmla="*/ 0 h 86"/>
                <a:gd name="T38" fmla="*/ 43 w 85"/>
                <a:gd name="T39" fmla="*/ 0 h 86"/>
                <a:gd name="T40" fmla="*/ 51 w 85"/>
                <a:gd name="T41" fmla="*/ 2 h 86"/>
                <a:gd name="T42" fmla="*/ 59 w 85"/>
                <a:gd name="T43" fmla="*/ 5 h 86"/>
                <a:gd name="T44" fmla="*/ 66 w 85"/>
                <a:gd name="T45" fmla="*/ 7 h 86"/>
                <a:gd name="T46" fmla="*/ 73 w 85"/>
                <a:gd name="T47" fmla="*/ 13 h 86"/>
                <a:gd name="T48" fmla="*/ 78 w 85"/>
                <a:gd name="T49" fmla="*/ 20 h 86"/>
                <a:gd name="T50" fmla="*/ 81 w 85"/>
                <a:gd name="T51" fmla="*/ 27 h 86"/>
                <a:gd name="T52" fmla="*/ 84 w 85"/>
                <a:gd name="T53" fmla="*/ 35 h 86"/>
                <a:gd name="T54" fmla="*/ 85 w 85"/>
                <a:gd name="T55" fmla="*/ 43 h 86"/>
                <a:gd name="T56" fmla="*/ 85 w 85"/>
                <a:gd name="T57" fmla="*/ 43 h 86"/>
                <a:gd name="T58" fmla="*/ 84 w 85"/>
                <a:gd name="T59" fmla="*/ 53 h 86"/>
                <a:gd name="T60" fmla="*/ 81 w 85"/>
                <a:gd name="T61" fmla="*/ 59 h 86"/>
                <a:gd name="T62" fmla="*/ 78 w 85"/>
                <a:gd name="T63" fmla="*/ 68 h 86"/>
                <a:gd name="T64" fmla="*/ 73 w 85"/>
                <a:gd name="T65" fmla="*/ 73 h 86"/>
                <a:gd name="T66" fmla="*/ 66 w 85"/>
                <a:gd name="T67" fmla="*/ 79 h 86"/>
                <a:gd name="T68" fmla="*/ 59 w 85"/>
                <a:gd name="T69" fmla="*/ 83 h 86"/>
                <a:gd name="T70" fmla="*/ 51 w 85"/>
                <a:gd name="T71" fmla="*/ 86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6"/>
                  </a:lnTo>
                  <a:lnTo>
                    <a:pt x="26" y="83"/>
                  </a:lnTo>
                  <a:lnTo>
                    <a:pt x="18" y="79"/>
                  </a:lnTo>
                  <a:lnTo>
                    <a:pt x="12" y="73"/>
                  </a:lnTo>
                  <a:lnTo>
                    <a:pt x="7" y="68"/>
                  </a:lnTo>
                  <a:lnTo>
                    <a:pt x="3" y="59"/>
                  </a:lnTo>
                  <a:lnTo>
                    <a:pt x="0" y="53"/>
                  </a:lnTo>
                  <a:lnTo>
                    <a:pt x="0" y="43"/>
                  </a:lnTo>
                  <a:lnTo>
                    <a:pt x="0" y="43"/>
                  </a:lnTo>
                  <a:lnTo>
                    <a:pt x="0" y="35"/>
                  </a:lnTo>
                  <a:lnTo>
                    <a:pt x="3" y="27"/>
                  </a:lnTo>
                  <a:lnTo>
                    <a:pt x="7" y="20"/>
                  </a:lnTo>
                  <a:lnTo>
                    <a:pt x="12" y="13"/>
                  </a:lnTo>
                  <a:lnTo>
                    <a:pt x="18" y="7"/>
                  </a:lnTo>
                  <a:lnTo>
                    <a:pt x="26" y="5"/>
                  </a:lnTo>
                  <a:lnTo>
                    <a:pt x="33" y="2"/>
                  </a:lnTo>
                  <a:lnTo>
                    <a:pt x="43" y="0"/>
                  </a:lnTo>
                  <a:lnTo>
                    <a:pt x="43" y="0"/>
                  </a:lnTo>
                  <a:lnTo>
                    <a:pt x="51" y="2"/>
                  </a:lnTo>
                  <a:lnTo>
                    <a:pt x="59" y="5"/>
                  </a:lnTo>
                  <a:lnTo>
                    <a:pt x="66" y="7"/>
                  </a:lnTo>
                  <a:lnTo>
                    <a:pt x="73" y="13"/>
                  </a:lnTo>
                  <a:lnTo>
                    <a:pt x="78" y="20"/>
                  </a:lnTo>
                  <a:lnTo>
                    <a:pt x="81" y="27"/>
                  </a:lnTo>
                  <a:lnTo>
                    <a:pt x="84" y="35"/>
                  </a:lnTo>
                  <a:lnTo>
                    <a:pt x="85" y="43"/>
                  </a:lnTo>
                  <a:lnTo>
                    <a:pt x="85" y="43"/>
                  </a:lnTo>
                  <a:lnTo>
                    <a:pt x="84" y="53"/>
                  </a:lnTo>
                  <a:lnTo>
                    <a:pt x="81" y="59"/>
                  </a:lnTo>
                  <a:lnTo>
                    <a:pt x="78" y="68"/>
                  </a:lnTo>
                  <a:lnTo>
                    <a:pt x="73" y="73"/>
                  </a:lnTo>
                  <a:lnTo>
                    <a:pt x="66" y="79"/>
                  </a:lnTo>
                  <a:lnTo>
                    <a:pt x="59" y="83"/>
                  </a:lnTo>
                  <a:lnTo>
                    <a:pt x="51" y="86"/>
                  </a:lnTo>
                  <a:lnTo>
                    <a:pt x="43" y="86"/>
                  </a:lnTo>
                  <a:lnTo>
                    <a:pt x="43" y="86"/>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60"/>
            <p:cNvSpPr>
              <a:spLocks/>
            </p:cNvSpPr>
            <p:nvPr userDrawn="1"/>
          </p:nvSpPr>
          <p:spPr bwMode="auto">
            <a:xfrm>
              <a:off x="3536" y="1060"/>
              <a:ext cx="43" cy="43"/>
            </a:xfrm>
            <a:custGeom>
              <a:avLst/>
              <a:gdLst>
                <a:gd name="T0" fmla="*/ 43 w 85"/>
                <a:gd name="T1" fmla="*/ 87 h 87"/>
                <a:gd name="T2" fmla="*/ 43 w 85"/>
                <a:gd name="T3" fmla="*/ 87 h 87"/>
                <a:gd name="T4" fmla="*/ 33 w 85"/>
                <a:gd name="T5" fmla="*/ 85 h 87"/>
                <a:gd name="T6" fmla="*/ 26 w 85"/>
                <a:gd name="T7" fmla="*/ 83 h 87"/>
                <a:gd name="T8" fmla="*/ 18 w 85"/>
                <a:gd name="T9" fmla="*/ 78 h 87"/>
                <a:gd name="T10" fmla="*/ 12 w 85"/>
                <a:gd name="T11" fmla="*/ 73 h 87"/>
                <a:gd name="T12" fmla="*/ 7 w 85"/>
                <a:gd name="T13" fmla="*/ 67 h 87"/>
                <a:gd name="T14" fmla="*/ 3 w 85"/>
                <a:gd name="T15" fmla="*/ 61 h 87"/>
                <a:gd name="T16" fmla="*/ 0 w 85"/>
                <a:gd name="T17" fmla="*/ 52 h 87"/>
                <a:gd name="T18" fmla="*/ 0 w 85"/>
                <a:gd name="T19" fmla="*/ 43 h 87"/>
                <a:gd name="T20" fmla="*/ 0 w 85"/>
                <a:gd name="T21" fmla="*/ 43 h 87"/>
                <a:gd name="T22" fmla="*/ 0 w 85"/>
                <a:gd name="T23" fmla="*/ 34 h 87"/>
                <a:gd name="T24" fmla="*/ 3 w 85"/>
                <a:gd name="T25" fmla="*/ 26 h 87"/>
                <a:gd name="T26" fmla="*/ 7 w 85"/>
                <a:gd name="T27" fmla="*/ 19 h 87"/>
                <a:gd name="T28" fmla="*/ 12 w 85"/>
                <a:gd name="T29" fmla="*/ 12 h 87"/>
                <a:gd name="T30" fmla="*/ 18 w 85"/>
                <a:gd name="T31" fmla="*/ 8 h 87"/>
                <a:gd name="T32" fmla="*/ 26 w 85"/>
                <a:gd name="T33" fmla="*/ 4 h 87"/>
                <a:gd name="T34" fmla="*/ 33 w 85"/>
                <a:gd name="T35" fmla="*/ 1 h 87"/>
                <a:gd name="T36" fmla="*/ 43 w 85"/>
                <a:gd name="T37" fmla="*/ 0 h 87"/>
                <a:gd name="T38" fmla="*/ 43 w 85"/>
                <a:gd name="T39" fmla="*/ 0 h 87"/>
                <a:gd name="T40" fmla="*/ 51 w 85"/>
                <a:gd name="T41" fmla="*/ 1 h 87"/>
                <a:gd name="T42" fmla="*/ 59 w 85"/>
                <a:gd name="T43" fmla="*/ 4 h 87"/>
                <a:gd name="T44" fmla="*/ 66 w 85"/>
                <a:gd name="T45" fmla="*/ 8 h 87"/>
                <a:gd name="T46" fmla="*/ 73 w 85"/>
                <a:gd name="T47" fmla="*/ 12 h 87"/>
                <a:gd name="T48" fmla="*/ 78 w 85"/>
                <a:gd name="T49" fmla="*/ 19 h 87"/>
                <a:gd name="T50" fmla="*/ 81 w 85"/>
                <a:gd name="T51" fmla="*/ 26 h 87"/>
                <a:gd name="T52" fmla="*/ 84 w 85"/>
                <a:gd name="T53" fmla="*/ 34 h 87"/>
                <a:gd name="T54" fmla="*/ 85 w 85"/>
                <a:gd name="T55" fmla="*/ 43 h 87"/>
                <a:gd name="T56" fmla="*/ 85 w 85"/>
                <a:gd name="T57" fmla="*/ 43 h 87"/>
                <a:gd name="T58" fmla="*/ 84 w 85"/>
                <a:gd name="T59" fmla="*/ 52 h 87"/>
                <a:gd name="T60" fmla="*/ 81 w 85"/>
                <a:gd name="T61" fmla="*/ 61 h 87"/>
                <a:gd name="T62" fmla="*/ 78 w 85"/>
                <a:gd name="T63" fmla="*/ 67 h 87"/>
                <a:gd name="T64" fmla="*/ 73 w 85"/>
                <a:gd name="T65" fmla="*/ 73 h 87"/>
                <a:gd name="T66" fmla="*/ 66 w 85"/>
                <a:gd name="T67" fmla="*/ 78 h 87"/>
                <a:gd name="T68" fmla="*/ 59 w 85"/>
                <a:gd name="T69" fmla="*/ 83 h 87"/>
                <a:gd name="T70" fmla="*/ 51 w 85"/>
                <a:gd name="T71" fmla="*/ 85 h 87"/>
                <a:gd name="T72" fmla="*/ 43 w 85"/>
                <a:gd name="T73" fmla="*/ 87 h 87"/>
                <a:gd name="T74" fmla="*/ 43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3" y="87"/>
                  </a:moveTo>
                  <a:lnTo>
                    <a:pt x="43" y="87"/>
                  </a:lnTo>
                  <a:lnTo>
                    <a:pt x="33" y="85"/>
                  </a:lnTo>
                  <a:lnTo>
                    <a:pt x="26" y="83"/>
                  </a:lnTo>
                  <a:lnTo>
                    <a:pt x="18" y="78"/>
                  </a:lnTo>
                  <a:lnTo>
                    <a:pt x="12" y="73"/>
                  </a:lnTo>
                  <a:lnTo>
                    <a:pt x="7" y="67"/>
                  </a:lnTo>
                  <a:lnTo>
                    <a:pt x="3" y="61"/>
                  </a:lnTo>
                  <a:lnTo>
                    <a:pt x="0" y="52"/>
                  </a:lnTo>
                  <a:lnTo>
                    <a:pt x="0" y="43"/>
                  </a:lnTo>
                  <a:lnTo>
                    <a:pt x="0" y="43"/>
                  </a:lnTo>
                  <a:lnTo>
                    <a:pt x="0" y="34"/>
                  </a:lnTo>
                  <a:lnTo>
                    <a:pt x="3" y="26"/>
                  </a:lnTo>
                  <a:lnTo>
                    <a:pt x="7" y="19"/>
                  </a:lnTo>
                  <a:lnTo>
                    <a:pt x="12" y="12"/>
                  </a:lnTo>
                  <a:lnTo>
                    <a:pt x="18" y="8"/>
                  </a:lnTo>
                  <a:lnTo>
                    <a:pt x="26" y="4"/>
                  </a:lnTo>
                  <a:lnTo>
                    <a:pt x="33" y="1"/>
                  </a:lnTo>
                  <a:lnTo>
                    <a:pt x="43" y="0"/>
                  </a:lnTo>
                  <a:lnTo>
                    <a:pt x="43" y="0"/>
                  </a:lnTo>
                  <a:lnTo>
                    <a:pt x="51" y="1"/>
                  </a:lnTo>
                  <a:lnTo>
                    <a:pt x="59" y="4"/>
                  </a:lnTo>
                  <a:lnTo>
                    <a:pt x="66" y="8"/>
                  </a:lnTo>
                  <a:lnTo>
                    <a:pt x="73" y="12"/>
                  </a:lnTo>
                  <a:lnTo>
                    <a:pt x="78" y="19"/>
                  </a:lnTo>
                  <a:lnTo>
                    <a:pt x="81" y="26"/>
                  </a:lnTo>
                  <a:lnTo>
                    <a:pt x="84" y="34"/>
                  </a:lnTo>
                  <a:lnTo>
                    <a:pt x="85" y="43"/>
                  </a:lnTo>
                  <a:lnTo>
                    <a:pt x="85" y="43"/>
                  </a:lnTo>
                  <a:lnTo>
                    <a:pt x="84" y="52"/>
                  </a:lnTo>
                  <a:lnTo>
                    <a:pt x="81" y="61"/>
                  </a:lnTo>
                  <a:lnTo>
                    <a:pt x="78" y="67"/>
                  </a:lnTo>
                  <a:lnTo>
                    <a:pt x="73" y="73"/>
                  </a:lnTo>
                  <a:lnTo>
                    <a:pt x="66" y="78"/>
                  </a:lnTo>
                  <a:lnTo>
                    <a:pt x="59" y="83"/>
                  </a:lnTo>
                  <a:lnTo>
                    <a:pt x="51" y="85"/>
                  </a:lnTo>
                  <a:lnTo>
                    <a:pt x="43" y="87"/>
                  </a:lnTo>
                  <a:lnTo>
                    <a:pt x="43" y="87"/>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61"/>
            <p:cNvSpPr>
              <a:spLocks/>
            </p:cNvSpPr>
            <p:nvPr userDrawn="1"/>
          </p:nvSpPr>
          <p:spPr bwMode="auto">
            <a:xfrm>
              <a:off x="3536" y="1116"/>
              <a:ext cx="43" cy="44"/>
            </a:xfrm>
            <a:custGeom>
              <a:avLst/>
              <a:gdLst>
                <a:gd name="T0" fmla="*/ 43 w 85"/>
                <a:gd name="T1" fmla="*/ 86 h 86"/>
                <a:gd name="T2" fmla="*/ 43 w 85"/>
                <a:gd name="T3" fmla="*/ 86 h 86"/>
                <a:gd name="T4" fmla="*/ 33 w 85"/>
                <a:gd name="T5" fmla="*/ 85 h 86"/>
                <a:gd name="T6" fmla="*/ 26 w 85"/>
                <a:gd name="T7" fmla="*/ 82 h 86"/>
                <a:gd name="T8" fmla="*/ 18 w 85"/>
                <a:gd name="T9" fmla="*/ 78 h 86"/>
                <a:gd name="T10" fmla="*/ 12 w 85"/>
                <a:gd name="T11" fmla="*/ 74 h 86"/>
                <a:gd name="T12" fmla="*/ 7 w 85"/>
                <a:gd name="T13" fmla="*/ 67 h 86"/>
                <a:gd name="T14" fmla="*/ 3 w 85"/>
                <a:gd name="T15" fmla="*/ 60 h 86"/>
                <a:gd name="T16" fmla="*/ 0 w 85"/>
                <a:gd name="T17" fmla="*/ 52 h 86"/>
                <a:gd name="T18" fmla="*/ 0 w 85"/>
                <a:gd name="T19" fmla="*/ 44 h 86"/>
                <a:gd name="T20" fmla="*/ 0 w 85"/>
                <a:gd name="T21" fmla="*/ 44 h 86"/>
                <a:gd name="T22" fmla="*/ 0 w 85"/>
                <a:gd name="T23" fmla="*/ 34 h 86"/>
                <a:gd name="T24" fmla="*/ 3 w 85"/>
                <a:gd name="T25" fmla="*/ 26 h 86"/>
                <a:gd name="T26" fmla="*/ 7 w 85"/>
                <a:gd name="T27" fmla="*/ 19 h 86"/>
                <a:gd name="T28" fmla="*/ 12 w 85"/>
                <a:gd name="T29" fmla="*/ 12 h 86"/>
                <a:gd name="T30" fmla="*/ 18 w 85"/>
                <a:gd name="T31" fmla="*/ 8 h 86"/>
                <a:gd name="T32" fmla="*/ 26 w 85"/>
                <a:gd name="T33" fmla="*/ 4 h 86"/>
                <a:gd name="T34" fmla="*/ 33 w 85"/>
                <a:gd name="T35" fmla="*/ 1 h 86"/>
                <a:gd name="T36" fmla="*/ 43 w 85"/>
                <a:gd name="T37" fmla="*/ 0 h 86"/>
                <a:gd name="T38" fmla="*/ 43 w 85"/>
                <a:gd name="T39" fmla="*/ 0 h 86"/>
                <a:gd name="T40" fmla="*/ 51 w 85"/>
                <a:gd name="T41" fmla="*/ 1 h 86"/>
                <a:gd name="T42" fmla="*/ 59 w 85"/>
                <a:gd name="T43" fmla="*/ 4 h 86"/>
                <a:gd name="T44" fmla="*/ 66 w 85"/>
                <a:gd name="T45" fmla="*/ 8 h 86"/>
                <a:gd name="T46" fmla="*/ 73 w 85"/>
                <a:gd name="T47" fmla="*/ 12 h 86"/>
                <a:gd name="T48" fmla="*/ 78 w 85"/>
                <a:gd name="T49" fmla="*/ 19 h 86"/>
                <a:gd name="T50" fmla="*/ 81 w 85"/>
                <a:gd name="T51" fmla="*/ 26 h 86"/>
                <a:gd name="T52" fmla="*/ 84 w 85"/>
                <a:gd name="T53" fmla="*/ 34 h 86"/>
                <a:gd name="T54" fmla="*/ 85 w 85"/>
                <a:gd name="T55" fmla="*/ 44 h 86"/>
                <a:gd name="T56" fmla="*/ 85 w 85"/>
                <a:gd name="T57" fmla="*/ 44 h 86"/>
                <a:gd name="T58" fmla="*/ 84 w 85"/>
                <a:gd name="T59" fmla="*/ 52 h 86"/>
                <a:gd name="T60" fmla="*/ 81 w 85"/>
                <a:gd name="T61" fmla="*/ 60 h 86"/>
                <a:gd name="T62" fmla="*/ 78 w 85"/>
                <a:gd name="T63" fmla="*/ 67 h 86"/>
                <a:gd name="T64" fmla="*/ 73 w 85"/>
                <a:gd name="T65" fmla="*/ 74 h 86"/>
                <a:gd name="T66" fmla="*/ 66 w 85"/>
                <a:gd name="T67" fmla="*/ 78 h 86"/>
                <a:gd name="T68" fmla="*/ 59 w 85"/>
                <a:gd name="T69" fmla="*/ 82 h 86"/>
                <a:gd name="T70" fmla="*/ 51 w 85"/>
                <a:gd name="T71" fmla="*/ 85 h 86"/>
                <a:gd name="T72" fmla="*/ 43 w 85"/>
                <a:gd name="T73" fmla="*/ 86 h 86"/>
                <a:gd name="T74" fmla="*/ 43 w 85"/>
                <a:gd name="T75"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3" y="86"/>
                  </a:moveTo>
                  <a:lnTo>
                    <a:pt x="43" y="86"/>
                  </a:lnTo>
                  <a:lnTo>
                    <a:pt x="33" y="85"/>
                  </a:lnTo>
                  <a:lnTo>
                    <a:pt x="26" y="82"/>
                  </a:lnTo>
                  <a:lnTo>
                    <a:pt x="18" y="78"/>
                  </a:lnTo>
                  <a:lnTo>
                    <a:pt x="12" y="74"/>
                  </a:lnTo>
                  <a:lnTo>
                    <a:pt x="7" y="67"/>
                  </a:lnTo>
                  <a:lnTo>
                    <a:pt x="3" y="60"/>
                  </a:lnTo>
                  <a:lnTo>
                    <a:pt x="0" y="52"/>
                  </a:lnTo>
                  <a:lnTo>
                    <a:pt x="0" y="44"/>
                  </a:lnTo>
                  <a:lnTo>
                    <a:pt x="0" y="44"/>
                  </a:lnTo>
                  <a:lnTo>
                    <a:pt x="0" y="34"/>
                  </a:lnTo>
                  <a:lnTo>
                    <a:pt x="3" y="26"/>
                  </a:lnTo>
                  <a:lnTo>
                    <a:pt x="7" y="19"/>
                  </a:lnTo>
                  <a:lnTo>
                    <a:pt x="12" y="12"/>
                  </a:lnTo>
                  <a:lnTo>
                    <a:pt x="18" y="8"/>
                  </a:lnTo>
                  <a:lnTo>
                    <a:pt x="26" y="4"/>
                  </a:lnTo>
                  <a:lnTo>
                    <a:pt x="33" y="1"/>
                  </a:lnTo>
                  <a:lnTo>
                    <a:pt x="43" y="0"/>
                  </a:lnTo>
                  <a:lnTo>
                    <a:pt x="43" y="0"/>
                  </a:lnTo>
                  <a:lnTo>
                    <a:pt x="51" y="1"/>
                  </a:lnTo>
                  <a:lnTo>
                    <a:pt x="59" y="4"/>
                  </a:lnTo>
                  <a:lnTo>
                    <a:pt x="66" y="8"/>
                  </a:lnTo>
                  <a:lnTo>
                    <a:pt x="73" y="12"/>
                  </a:lnTo>
                  <a:lnTo>
                    <a:pt x="78" y="19"/>
                  </a:lnTo>
                  <a:lnTo>
                    <a:pt x="81" y="26"/>
                  </a:lnTo>
                  <a:lnTo>
                    <a:pt x="84" y="34"/>
                  </a:lnTo>
                  <a:lnTo>
                    <a:pt x="85" y="44"/>
                  </a:lnTo>
                  <a:lnTo>
                    <a:pt x="85" y="44"/>
                  </a:lnTo>
                  <a:lnTo>
                    <a:pt x="84" y="52"/>
                  </a:lnTo>
                  <a:lnTo>
                    <a:pt x="81" y="60"/>
                  </a:lnTo>
                  <a:lnTo>
                    <a:pt x="78" y="67"/>
                  </a:lnTo>
                  <a:lnTo>
                    <a:pt x="73" y="74"/>
                  </a:lnTo>
                  <a:lnTo>
                    <a:pt x="66" y="78"/>
                  </a:lnTo>
                  <a:lnTo>
                    <a:pt x="59" y="82"/>
                  </a:lnTo>
                  <a:lnTo>
                    <a:pt x="51" y="85"/>
                  </a:lnTo>
                  <a:lnTo>
                    <a:pt x="43" y="86"/>
                  </a:lnTo>
                  <a:lnTo>
                    <a:pt x="43" y="86"/>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62"/>
            <p:cNvSpPr>
              <a:spLocks/>
            </p:cNvSpPr>
            <p:nvPr userDrawn="1"/>
          </p:nvSpPr>
          <p:spPr bwMode="auto">
            <a:xfrm>
              <a:off x="3875" y="1342"/>
              <a:ext cx="43" cy="43"/>
            </a:xfrm>
            <a:custGeom>
              <a:avLst/>
              <a:gdLst>
                <a:gd name="T0" fmla="*/ 42 w 86"/>
                <a:gd name="T1" fmla="*/ 0 h 85"/>
                <a:gd name="T2" fmla="*/ 42 w 86"/>
                <a:gd name="T3" fmla="*/ 0 h 85"/>
                <a:gd name="T4" fmla="*/ 52 w 86"/>
                <a:gd name="T5" fmla="*/ 0 h 85"/>
                <a:gd name="T6" fmla="*/ 59 w 86"/>
                <a:gd name="T7" fmla="*/ 3 h 85"/>
                <a:gd name="T8" fmla="*/ 67 w 86"/>
                <a:gd name="T9" fmla="*/ 7 h 85"/>
                <a:gd name="T10" fmla="*/ 73 w 86"/>
                <a:gd name="T11" fmla="*/ 12 h 85"/>
                <a:gd name="T12" fmla="*/ 78 w 86"/>
                <a:gd name="T13" fmla="*/ 18 h 85"/>
                <a:gd name="T14" fmla="*/ 82 w 86"/>
                <a:gd name="T15" fmla="*/ 26 h 85"/>
                <a:gd name="T16" fmla="*/ 85 w 86"/>
                <a:gd name="T17" fmla="*/ 34 h 85"/>
                <a:gd name="T18" fmla="*/ 86 w 86"/>
                <a:gd name="T19" fmla="*/ 42 h 85"/>
                <a:gd name="T20" fmla="*/ 86 w 86"/>
                <a:gd name="T21" fmla="*/ 42 h 85"/>
                <a:gd name="T22" fmla="*/ 85 w 86"/>
                <a:gd name="T23" fmla="*/ 51 h 85"/>
                <a:gd name="T24" fmla="*/ 82 w 86"/>
                <a:gd name="T25" fmla="*/ 59 h 85"/>
                <a:gd name="T26" fmla="*/ 78 w 86"/>
                <a:gd name="T27" fmla="*/ 66 h 85"/>
                <a:gd name="T28" fmla="*/ 73 w 86"/>
                <a:gd name="T29" fmla="*/ 73 h 85"/>
                <a:gd name="T30" fmla="*/ 67 w 86"/>
                <a:gd name="T31" fmla="*/ 78 h 85"/>
                <a:gd name="T32" fmla="*/ 59 w 86"/>
                <a:gd name="T33" fmla="*/ 82 h 85"/>
                <a:gd name="T34" fmla="*/ 52 w 86"/>
                <a:gd name="T35" fmla="*/ 84 h 85"/>
                <a:gd name="T36" fmla="*/ 42 w 86"/>
                <a:gd name="T37" fmla="*/ 85 h 85"/>
                <a:gd name="T38" fmla="*/ 42 w 86"/>
                <a:gd name="T39" fmla="*/ 85 h 85"/>
                <a:gd name="T40" fmla="*/ 34 w 86"/>
                <a:gd name="T41" fmla="*/ 84 h 85"/>
                <a:gd name="T42" fmla="*/ 26 w 86"/>
                <a:gd name="T43" fmla="*/ 82 h 85"/>
                <a:gd name="T44" fmla="*/ 19 w 86"/>
                <a:gd name="T45" fmla="*/ 78 h 85"/>
                <a:gd name="T46" fmla="*/ 12 w 86"/>
                <a:gd name="T47" fmla="*/ 73 h 85"/>
                <a:gd name="T48" fmla="*/ 6 w 86"/>
                <a:gd name="T49" fmla="*/ 66 h 85"/>
                <a:gd name="T50" fmla="*/ 4 w 86"/>
                <a:gd name="T51" fmla="*/ 59 h 85"/>
                <a:gd name="T52" fmla="*/ 1 w 86"/>
                <a:gd name="T53" fmla="*/ 51 h 85"/>
                <a:gd name="T54" fmla="*/ 0 w 86"/>
                <a:gd name="T55" fmla="*/ 42 h 85"/>
                <a:gd name="T56" fmla="*/ 0 w 86"/>
                <a:gd name="T57" fmla="*/ 42 h 85"/>
                <a:gd name="T58" fmla="*/ 1 w 86"/>
                <a:gd name="T59" fmla="*/ 34 h 85"/>
                <a:gd name="T60" fmla="*/ 4 w 86"/>
                <a:gd name="T61" fmla="*/ 26 h 85"/>
                <a:gd name="T62" fmla="*/ 6 w 86"/>
                <a:gd name="T63" fmla="*/ 18 h 85"/>
                <a:gd name="T64" fmla="*/ 12 w 86"/>
                <a:gd name="T65" fmla="*/ 12 h 85"/>
                <a:gd name="T66" fmla="*/ 19 w 86"/>
                <a:gd name="T67" fmla="*/ 7 h 85"/>
                <a:gd name="T68" fmla="*/ 26 w 86"/>
                <a:gd name="T69" fmla="*/ 3 h 85"/>
                <a:gd name="T70" fmla="*/ 34 w 86"/>
                <a:gd name="T71" fmla="*/ 0 h 85"/>
                <a:gd name="T72" fmla="*/ 42 w 86"/>
                <a:gd name="T73" fmla="*/ 0 h 85"/>
                <a:gd name="T74" fmla="*/ 42 w 86"/>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5">
                  <a:moveTo>
                    <a:pt x="42" y="0"/>
                  </a:moveTo>
                  <a:lnTo>
                    <a:pt x="42" y="0"/>
                  </a:lnTo>
                  <a:lnTo>
                    <a:pt x="52" y="0"/>
                  </a:lnTo>
                  <a:lnTo>
                    <a:pt x="59" y="3"/>
                  </a:lnTo>
                  <a:lnTo>
                    <a:pt x="67" y="7"/>
                  </a:lnTo>
                  <a:lnTo>
                    <a:pt x="73" y="12"/>
                  </a:lnTo>
                  <a:lnTo>
                    <a:pt x="78" y="18"/>
                  </a:lnTo>
                  <a:lnTo>
                    <a:pt x="82" y="26"/>
                  </a:lnTo>
                  <a:lnTo>
                    <a:pt x="85" y="34"/>
                  </a:lnTo>
                  <a:lnTo>
                    <a:pt x="86" y="42"/>
                  </a:lnTo>
                  <a:lnTo>
                    <a:pt x="86" y="42"/>
                  </a:lnTo>
                  <a:lnTo>
                    <a:pt x="85" y="51"/>
                  </a:lnTo>
                  <a:lnTo>
                    <a:pt x="82" y="59"/>
                  </a:lnTo>
                  <a:lnTo>
                    <a:pt x="78" y="66"/>
                  </a:lnTo>
                  <a:lnTo>
                    <a:pt x="73" y="73"/>
                  </a:lnTo>
                  <a:lnTo>
                    <a:pt x="67" y="78"/>
                  </a:lnTo>
                  <a:lnTo>
                    <a:pt x="59" y="82"/>
                  </a:lnTo>
                  <a:lnTo>
                    <a:pt x="52" y="84"/>
                  </a:lnTo>
                  <a:lnTo>
                    <a:pt x="42" y="85"/>
                  </a:lnTo>
                  <a:lnTo>
                    <a:pt x="42" y="85"/>
                  </a:lnTo>
                  <a:lnTo>
                    <a:pt x="34" y="84"/>
                  </a:lnTo>
                  <a:lnTo>
                    <a:pt x="26" y="82"/>
                  </a:lnTo>
                  <a:lnTo>
                    <a:pt x="19" y="78"/>
                  </a:lnTo>
                  <a:lnTo>
                    <a:pt x="12" y="73"/>
                  </a:lnTo>
                  <a:lnTo>
                    <a:pt x="6" y="66"/>
                  </a:lnTo>
                  <a:lnTo>
                    <a:pt x="4" y="59"/>
                  </a:lnTo>
                  <a:lnTo>
                    <a:pt x="1" y="51"/>
                  </a:lnTo>
                  <a:lnTo>
                    <a:pt x="0" y="42"/>
                  </a:lnTo>
                  <a:lnTo>
                    <a:pt x="0" y="42"/>
                  </a:lnTo>
                  <a:lnTo>
                    <a:pt x="1" y="34"/>
                  </a:lnTo>
                  <a:lnTo>
                    <a:pt x="4" y="26"/>
                  </a:lnTo>
                  <a:lnTo>
                    <a:pt x="6" y="18"/>
                  </a:lnTo>
                  <a:lnTo>
                    <a:pt x="12" y="12"/>
                  </a:lnTo>
                  <a:lnTo>
                    <a:pt x="19" y="7"/>
                  </a:lnTo>
                  <a:lnTo>
                    <a:pt x="26" y="3"/>
                  </a:lnTo>
                  <a:lnTo>
                    <a:pt x="34" y="0"/>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63"/>
            <p:cNvSpPr>
              <a:spLocks/>
            </p:cNvSpPr>
            <p:nvPr userDrawn="1"/>
          </p:nvSpPr>
          <p:spPr bwMode="auto">
            <a:xfrm>
              <a:off x="3875" y="1060"/>
              <a:ext cx="43" cy="43"/>
            </a:xfrm>
            <a:custGeom>
              <a:avLst/>
              <a:gdLst>
                <a:gd name="T0" fmla="*/ 42 w 86"/>
                <a:gd name="T1" fmla="*/ 0 h 87"/>
                <a:gd name="T2" fmla="*/ 42 w 86"/>
                <a:gd name="T3" fmla="*/ 0 h 87"/>
                <a:gd name="T4" fmla="*/ 52 w 86"/>
                <a:gd name="T5" fmla="*/ 1 h 87"/>
                <a:gd name="T6" fmla="*/ 59 w 86"/>
                <a:gd name="T7" fmla="*/ 4 h 87"/>
                <a:gd name="T8" fmla="*/ 67 w 86"/>
                <a:gd name="T9" fmla="*/ 8 h 87"/>
                <a:gd name="T10" fmla="*/ 73 w 86"/>
                <a:gd name="T11" fmla="*/ 12 h 87"/>
                <a:gd name="T12" fmla="*/ 78 w 86"/>
                <a:gd name="T13" fmla="*/ 19 h 87"/>
                <a:gd name="T14" fmla="*/ 82 w 86"/>
                <a:gd name="T15" fmla="*/ 26 h 87"/>
                <a:gd name="T16" fmla="*/ 85 w 86"/>
                <a:gd name="T17" fmla="*/ 34 h 87"/>
                <a:gd name="T18" fmla="*/ 86 w 86"/>
                <a:gd name="T19" fmla="*/ 43 h 87"/>
                <a:gd name="T20" fmla="*/ 86 w 86"/>
                <a:gd name="T21" fmla="*/ 43 h 87"/>
                <a:gd name="T22" fmla="*/ 85 w 86"/>
                <a:gd name="T23" fmla="*/ 52 h 87"/>
                <a:gd name="T24" fmla="*/ 82 w 86"/>
                <a:gd name="T25" fmla="*/ 61 h 87"/>
                <a:gd name="T26" fmla="*/ 78 w 86"/>
                <a:gd name="T27" fmla="*/ 67 h 87"/>
                <a:gd name="T28" fmla="*/ 73 w 86"/>
                <a:gd name="T29" fmla="*/ 73 h 87"/>
                <a:gd name="T30" fmla="*/ 67 w 86"/>
                <a:gd name="T31" fmla="*/ 78 h 87"/>
                <a:gd name="T32" fmla="*/ 59 w 86"/>
                <a:gd name="T33" fmla="*/ 83 h 87"/>
                <a:gd name="T34" fmla="*/ 52 w 86"/>
                <a:gd name="T35" fmla="*/ 85 h 87"/>
                <a:gd name="T36" fmla="*/ 42 w 86"/>
                <a:gd name="T37" fmla="*/ 87 h 87"/>
                <a:gd name="T38" fmla="*/ 42 w 86"/>
                <a:gd name="T39" fmla="*/ 87 h 87"/>
                <a:gd name="T40" fmla="*/ 34 w 86"/>
                <a:gd name="T41" fmla="*/ 85 h 87"/>
                <a:gd name="T42" fmla="*/ 26 w 86"/>
                <a:gd name="T43" fmla="*/ 83 h 87"/>
                <a:gd name="T44" fmla="*/ 19 w 86"/>
                <a:gd name="T45" fmla="*/ 78 h 87"/>
                <a:gd name="T46" fmla="*/ 12 w 86"/>
                <a:gd name="T47" fmla="*/ 73 h 87"/>
                <a:gd name="T48" fmla="*/ 6 w 86"/>
                <a:gd name="T49" fmla="*/ 67 h 87"/>
                <a:gd name="T50" fmla="*/ 4 w 86"/>
                <a:gd name="T51" fmla="*/ 61 h 87"/>
                <a:gd name="T52" fmla="*/ 1 w 86"/>
                <a:gd name="T53" fmla="*/ 52 h 87"/>
                <a:gd name="T54" fmla="*/ 0 w 86"/>
                <a:gd name="T55" fmla="*/ 43 h 87"/>
                <a:gd name="T56" fmla="*/ 0 w 86"/>
                <a:gd name="T57" fmla="*/ 43 h 87"/>
                <a:gd name="T58" fmla="*/ 1 w 86"/>
                <a:gd name="T59" fmla="*/ 34 h 87"/>
                <a:gd name="T60" fmla="*/ 4 w 86"/>
                <a:gd name="T61" fmla="*/ 26 h 87"/>
                <a:gd name="T62" fmla="*/ 6 w 86"/>
                <a:gd name="T63" fmla="*/ 19 h 87"/>
                <a:gd name="T64" fmla="*/ 12 w 86"/>
                <a:gd name="T65" fmla="*/ 12 h 87"/>
                <a:gd name="T66" fmla="*/ 19 w 86"/>
                <a:gd name="T67" fmla="*/ 8 h 87"/>
                <a:gd name="T68" fmla="*/ 26 w 86"/>
                <a:gd name="T69" fmla="*/ 4 h 87"/>
                <a:gd name="T70" fmla="*/ 34 w 86"/>
                <a:gd name="T71" fmla="*/ 1 h 87"/>
                <a:gd name="T72" fmla="*/ 42 w 86"/>
                <a:gd name="T73" fmla="*/ 0 h 87"/>
                <a:gd name="T74" fmla="*/ 42 w 86"/>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7">
                  <a:moveTo>
                    <a:pt x="42" y="0"/>
                  </a:moveTo>
                  <a:lnTo>
                    <a:pt x="42" y="0"/>
                  </a:lnTo>
                  <a:lnTo>
                    <a:pt x="52" y="1"/>
                  </a:lnTo>
                  <a:lnTo>
                    <a:pt x="59" y="4"/>
                  </a:lnTo>
                  <a:lnTo>
                    <a:pt x="67" y="8"/>
                  </a:lnTo>
                  <a:lnTo>
                    <a:pt x="73" y="12"/>
                  </a:lnTo>
                  <a:lnTo>
                    <a:pt x="78" y="19"/>
                  </a:lnTo>
                  <a:lnTo>
                    <a:pt x="82" y="26"/>
                  </a:lnTo>
                  <a:lnTo>
                    <a:pt x="85" y="34"/>
                  </a:lnTo>
                  <a:lnTo>
                    <a:pt x="86" y="43"/>
                  </a:lnTo>
                  <a:lnTo>
                    <a:pt x="86" y="43"/>
                  </a:lnTo>
                  <a:lnTo>
                    <a:pt x="85" y="52"/>
                  </a:lnTo>
                  <a:lnTo>
                    <a:pt x="82" y="61"/>
                  </a:lnTo>
                  <a:lnTo>
                    <a:pt x="78" y="67"/>
                  </a:lnTo>
                  <a:lnTo>
                    <a:pt x="73" y="73"/>
                  </a:lnTo>
                  <a:lnTo>
                    <a:pt x="67" y="78"/>
                  </a:lnTo>
                  <a:lnTo>
                    <a:pt x="59" y="83"/>
                  </a:lnTo>
                  <a:lnTo>
                    <a:pt x="52" y="85"/>
                  </a:lnTo>
                  <a:lnTo>
                    <a:pt x="42" y="87"/>
                  </a:lnTo>
                  <a:lnTo>
                    <a:pt x="42" y="87"/>
                  </a:lnTo>
                  <a:lnTo>
                    <a:pt x="34" y="85"/>
                  </a:lnTo>
                  <a:lnTo>
                    <a:pt x="26" y="83"/>
                  </a:lnTo>
                  <a:lnTo>
                    <a:pt x="19" y="78"/>
                  </a:lnTo>
                  <a:lnTo>
                    <a:pt x="12" y="73"/>
                  </a:lnTo>
                  <a:lnTo>
                    <a:pt x="6" y="67"/>
                  </a:lnTo>
                  <a:lnTo>
                    <a:pt x="4" y="61"/>
                  </a:lnTo>
                  <a:lnTo>
                    <a:pt x="1" y="52"/>
                  </a:lnTo>
                  <a:lnTo>
                    <a:pt x="0" y="43"/>
                  </a:lnTo>
                  <a:lnTo>
                    <a:pt x="0" y="43"/>
                  </a:lnTo>
                  <a:lnTo>
                    <a:pt x="1" y="34"/>
                  </a:lnTo>
                  <a:lnTo>
                    <a:pt x="4" y="26"/>
                  </a:lnTo>
                  <a:lnTo>
                    <a:pt x="6" y="19"/>
                  </a:lnTo>
                  <a:lnTo>
                    <a:pt x="12" y="12"/>
                  </a:lnTo>
                  <a:lnTo>
                    <a:pt x="19" y="8"/>
                  </a:lnTo>
                  <a:lnTo>
                    <a:pt x="26" y="4"/>
                  </a:lnTo>
                  <a:lnTo>
                    <a:pt x="34" y="1"/>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64"/>
            <p:cNvSpPr>
              <a:spLocks/>
            </p:cNvSpPr>
            <p:nvPr userDrawn="1"/>
          </p:nvSpPr>
          <p:spPr bwMode="auto">
            <a:xfrm>
              <a:off x="3875" y="1004"/>
              <a:ext cx="43" cy="42"/>
            </a:xfrm>
            <a:custGeom>
              <a:avLst/>
              <a:gdLst>
                <a:gd name="T0" fmla="*/ 42 w 86"/>
                <a:gd name="T1" fmla="*/ 0 h 86"/>
                <a:gd name="T2" fmla="*/ 42 w 86"/>
                <a:gd name="T3" fmla="*/ 0 h 86"/>
                <a:gd name="T4" fmla="*/ 52 w 86"/>
                <a:gd name="T5" fmla="*/ 2 h 86"/>
                <a:gd name="T6" fmla="*/ 59 w 86"/>
                <a:gd name="T7" fmla="*/ 5 h 86"/>
                <a:gd name="T8" fmla="*/ 67 w 86"/>
                <a:gd name="T9" fmla="*/ 7 h 86"/>
                <a:gd name="T10" fmla="*/ 73 w 86"/>
                <a:gd name="T11" fmla="*/ 13 h 86"/>
                <a:gd name="T12" fmla="*/ 78 w 86"/>
                <a:gd name="T13" fmla="*/ 20 h 86"/>
                <a:gd name="T14" fmla="*/ 82 w 86"/>
                <a:gd name="T15" fmla="*/ 27 h 86"/>
                <a:gd name="T16" fmla="*/ 85 w 86"/>
                <a:gd name="T17" fmla="*/ 35 h 86"/>
                <a:gd name="T18" fmla="*/ 86 w 86"/>
                <a:gd name="T19" fmla="*/ 43 h 86"/>
                <a:gd name="T20" fmla="*/ 86 w 86"/>
                <a:gd name="T21" fmla="*/ 43 h 86"/>
                <a:gd name="T22" fmla="*/ 85 w 86"/>
                <a:gd name="T23" fmla="*/ 53 h 86"/>
                <a:gd name="T24" fmla="*/ 82 w 86"/>
                <a:gd name="T25" fmla="*/ 59 h 86"/>
                <a:gd name="T26" fmla="*/ 78 w 86"/>
                <a:gd name="T27" fmla="*/ 68 h 86"/>
                <a:gd name="T28" fmla="*/ 73 w 86"/>
                <a:gd name="T29" fmla="*/ 73 h 86"/>
                <a:gd name="T30" fmla="*/ 67 w 86"/>
                <a:gd name="T31" fmla="*/ 79 h 86"/>
                <a:gd name="T32" fmla="*/ 59 w 86"/>
                <a:gd name="T33" fmla="*/ 83 h 86"/>
                <a:gd name="T34" fmla="*/ 52 w 86"/>
                <a:gd name="T35" fmla="*/ 86 h 86"/>
                <a:gd name="T36" fmla="*/ 42 w 86"/>
                <a:gd name="T37" fmla="*/ 86 h 86"/>
                <a:gd name="T38" fmla="*/ 42 w 86"/>
                <a:gd name="T39" fmla="*/ 86 h 86"/>
                <a:gd name="T40" fmla="*/ 34 w 86"/>
                <a:gd name="T41" fmla="*/ 86 h 86"/>
                <a:gd name="T42" fmla="*/ 26 w 86"/>
                <a:gd name="T43" fmla="*/ 83 h 86"/>
                <a:gd name="T44" fmla="*/ 19 w 86"/>
                <a:gd name="T45" fmla="*/ 79 h 86"/>
                <a:gd name="T46" fmla="*/ 12 w 86"/>
                <a:gd name="T47" fmla="*/ 73 h 86"/>
                <a:gd name="T48" fmla="*/ 6 w 86"/>
                <a:gd name="T49" fmla="*/ 68 h 86"/>
                <a:gd name="T50" fmla="*/ 4 w 86"/>
                <a:gd name="T51" fmla="*/ 59 h 86"/>
                <a:gd name="T52" fmla="*/ 1 w 86"/>
                <a:gd name="T53" fmla="*/ 53 h 86"/>
                <a:gd name="T54" fmla="*/ 0 w 86"/>
                <a:gd name="T55" fmla="*/ 43 h 86"/>
                <a:gd name="T56" fmla="*/ 0 w 86"/>
                <a:gd name="T57" fmla="*/ 43 h 86"/>
                <a:gd name="T58" fmla="*/ 1 w 86"/>
                <a:gd name="T59" fmla="*/ 35 h 86"/>
                <a:gd name="T60" fmla="*/ 4 w 86"/>
                <a:gd name="T61" fmla="*/ 27 h 86"/>
                <a:gd name="T62" fmla="*/ 6 w 86"/>
                <a:gd name="T63" fmla="*/ 20 h 86"/>
                <a:gd name="T64" fmla="*/ 12 w 86"/>
                <a:gd name="T65" fmla="*/ 13 h 86"/>
                <a:gd name="T66" fmla="*/ 19 w 86"/>
                <a:gd name="T67" fmla="*/ 7 h 86"/>
                <a:gd name="T68" fmla="*/ 26 w 86"/>
                <a:gd name="T69" fmla="*/ 5 h 86"/>
                <a:gd name="T70" fmla="*/ 34 w 86"/>
                <a:gd name="T71" fmla="*/ 2 h 86"/>
                <a:gd name="T72" fmla="*/ 42 w 86"/>
                <a:gd name="T73" fmla="*/ 0 h 86"/>
                <a:gd name="T74" fmla="*/ 42 w 86"/>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6">
                  <a:moveTo>
                    <a:pt x="42" y="0"/>
                  </a:moveTo>
                  <a:lnTo>
                    <a:pt x="42" y="0"/>
                  </a:lnTo>
                  <a:lnTo>
                    <a:pt x="52" y="2"/>
                  </a:lnTo>
                  <a:lnTo>
                    <a:pt x="59" y="5"/>
                  </a:lnTo>
                  <a:lnTo>
                    <a:pt x="67" y="7"/>
                  </a:lnTo>
                  <a:lnTo>
                    <a:pt x="73" y="13"/>
                  </a:lnTo>
                  <a:lnTo>
                    <a:pt x="78" y="20"/>
                  </a:lnTo>
                  <a:lnTo>
                    <a:pt x="82" y="27"/>
                  </a:lnTo>
                  <a:lnTo>
                    <a:pt x="85" y="35"/>
                  </a:lnTo>
                  <a:lnTo>
                    <a:pt x="86" y="43"/>
                  </a:lnTo>
                  <a:lnTo>
                    <a:pt x="86" y="43"/>
                  </a:lnTo>
                  <a:lnTo>
                    <a:pt x="85" y="53"/>
                  </a:lnTo>
                  <a:lnTo>
                    <a:pt x="82" y="59"/>
                  </a:lnTo>
                  <a:lnTo>
                    <a:pt x="78" y="68"/>
                  </a:lnTo>
                  <a:lnTo>
                    <a:pt x="73" y="73"/>
                  </a:lnTo>
                  <a:lnTo>
                    <a:pt x="67" y="79"/>
                  </a:lnTo>
                  <a:lnTo>
                    <a:pt x="59" y="83"/>
                  </a:lnTo>
                  <a:lnTo>
                    <a:pt x="52" y="86"/>
                  </a:lnTo>
                  <a:lnTo>
                    <a:pt x="42" y="86"/>
                  </a:lnTo>
                  <a:lnTo>
                    <a:pt x="42" y="86"/>
                  </a:lnTo>
                  <a:lnTo>
                    <a:pt x="34" y="86"/>
                  </a:lnTo>
                  <a:lnTo>
                    <a:pt x="26" y="83"/>
                  </a:lnTo>
                  <a:lnTo>
                    <a:pt x="19" y="79"/>
                  </a:lnTo>
                  <a:lnTo>
                    <a:pt x="12" y="73"/>
                  </a:lnTo>
                  <a:lnTo>
                    <a:pt x="6" y="68"/>
                  </a:lnTo>
                  <a:lnTo>
                    <a:pt x="4" y="59"/>
                  </a:lnTo>
                  <a:lnTo>
                    <a:pt x="1" y="53"/>
                  </a:lnTo>
                  <a:lnTo>
                    <a:pt x="0" y="43"/>
                  </a:lnTo>
                  <a:lnTo>
                    <a:pt x="0" y="43"/>
                  </a:lnTo>
                  <a:lnTo>
                    <a:pt x="1" y="35"/>
                  </a:lnTo>
                  <a:lnTo>
                    <a:pt x="4" y="27"/>
                  </a:lnTo>
                  <a:lnTo>
                    <a:pt x="6" y="20"/>
                  </a:lnTo>
                  <a:lnTo>
                    <a:pt x="12" y="13"/>
                  </a:lnTo>
                  <a:lnTo>
                    <a:pt x="19" y="7"/>
                  </a:lnTo>
                  <a:lnTo>
                    <a:pt x="26" y="5"/>
                  </a:lnTo>
                  <a:lnTo>
                    <a:pt x="34" y="2"/>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65"/>
            <p:cNvSpPr>
              <a:spLocks/>
            </p:cNvSpPr>
            <p:nvPr userDrawn="1"/>
          </p:nvSpPr>
          <p:spPr bwMode="auto">
            <a:xfrm>
              <a:off x="3875" y="947"/>
              <a:ext cx="43" cy="43"/>
            </a:xfrm>
            <a:custGeom>
              <a:avLst/>
              <a:gdLst>
                <a:gd name="T0" fmla="*/ 42 w 86"/>
                <a:gd name="T1" fmla="*/ 0 h 85"/>
                <a:gd name="T2" fmla="*/ 42 w 86"/>
                <a:gd name="T3" fmla="*/ 0 h 85"/>
                <a:gd name="T4" fmla="*/ 52 w 86"/>
                <a:gd name="T5" fmla="*/ 1 h 85"/>
                <a:gd name="T6" fmla="*/ 59 w 86"/>
                <a:gd name="T7" fmla="*/ 2 h 85"/>
                <a:gd name="T8" fmla="*/ 67 w 86"/>
                <a:gd name="T9" fmla="*/ 7 h 85"/>
                <a:gd name="T10" fmla="*/ 73 w 86"/>
                <a:gd name="T11" fmla="*/ 12 h 85"/>
                <a:gd name="T12" fmla="*/ 78 w 86"/>
                <a:gd name="T13" fmla="*/ 19 h 85"/>
                <a:gd name="T14" fmla="*/ 82 w 86"/>
                <a:gd name="T15" fmla="*/ 26 h 85"/>
                <a:gd name="T16" fmla="*/ 85 w 86"/>
                <a:gd name="T17" fmla="*/ 34 h 85"/>
                <a:gd name="T18" fmla="*/ 86 w 86"/>
                <a:gd name="T19" fmla="*/ 42 h 85"/>
                <a:gd name="T20" fmla="*/ 86 w 86"/>
                <a:gd name="T21" fmla="*/ 42 h 85"/>
                <a:gd name="T22" fmla="*/ 85 w 86"/>
                <a:gd name="T23" fmla="*/ 51 h 85"/>
                <a:gd name="T24" fmla="*/ 82 w 86"/>
                <a:gd name="T25" fmla="*/ 59 h 85"/>
                <a:gd name="T26" fmla="*/ 78 w 86"/>
                <a:gd name="T27" fmla="*/ 67 h 85"/>
                <a:gd name="T28" fmla="*/ 73 w 86"/>
                <a:gd name="T29" fmla="*/ 73 h 85"/>
                <a:gd name="T30" fmla="*/ 67 w 86"/>
                <a:gd name="T31" fmla="*/ 78 h 85"/>
                <a:gd name="T32" fmla="*/ 59 w 86"/>
                <a:gd name="T33" fmla="*/ 82 h 85"/>
                <a:gd name="T34" fmla="*/ 52 w 86"/>
                <a:gd name="T35" fmla="*/ 85 h 85"/>
                <a:gd name="T36" fmla="*/ 42 w 86"/>
                <a:gd name="T37" fmla="*/ 85 h 85"/>
                <a:gd name="T38" fmla="*/ 42 w 86"/>
                <a:gd name="T39" fmla="*/ 85 h 85"/>
                <a:gd name="T40" fmla="*/ 34 w 86"/>
                <a:gd name="T41" fmla="*/ 85 h 85"/>
                <a:gd name="T42" fmla="*/ 26 w 86"/>
                <a:gd name="T43" fmla="*/ 82 h 85"/>
                <a:gd name="T44" fmla="*/ 19 w 86"/>
                <a:gd name="T45" fmla="*/ 78 h 85"/>
                <a:gd name="T46" fmla="*/ 12 w 86"/>
                <a:gd name="T47" fmla="*/ 73 h 85"/>
                <a:gd name="T48" fmla="*/ 6 w 86"/>
                <a:gd name="T49" fmla="*/ 67 h 85"/>
                <a:gd name="T50" fmla="*/ 4 w 86"/>
                <a:gd name="T51" fmla="*/ 59 h 85"/>
                <a:gd name="T52" fmla="*/ 1 w 86"/>
                <a:gd name="T53" fmla="*/ 51 h 85"/>
                <a:gd name="T54" fmla="*/ 0 w 86"/>
                <a:gd name="T55" fmla="*/ 42 h 85"/>
                <a:gd name="T56" fmla="*/ 0 w 86"/>
                <a:gd name="T57" fmla="*/ 42 h 85"/>
                <a:gd name="T58" fmla="*/ 1 w 86"/>
                <a:gd name="T59" fmla="*/ 34 h 85"/>
                <a:gd name="T60" fmla="*/ 4 w 86"/>
                <a:gd name="T61" fmla="*/ 26 h 85"/>
                <a:gd name="T62" fmla="*/ 6 w 86"/>
                <a:gd name="T63" fmla="*/ 19 h 85"/>
                <a:gd name="T64" fmla="*/ 12 w 86"/>
                <a:gd name="T65" fmla="*/ 12 h 85"/>
                <a:gd name="T66" fmla="*/ 19 w 86"/>
                <a:gd name="T67" fmla="*/ 7 h 85"/>
                <a:gd name="T68" fmla="*/ 26 w 86"/>
                <a:gd name="T69" fmla="*/ 2 h 85"/>
                <a:gd name="T70" fmla="*/ 34 w 86"/>
                <a:gd name="T71" fmla="*/ 1 h 85"/>
                <a:gd name="T72" fmla="*/ 42 w 86"/>
                <a:gd name="T73" fmla="*/ 0 h 85"/>
                <a:gd name="T74" fmla="*/ 42 w 86"/>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5">
                  <a:moveTo>
                    <a:pt x="42" y="0"/>
                  </a:moveTo>
                  <a:lnTo>
                    <a:pt x="42" y="0"/>
                  </a:lnTo>
                  <a:lnTo>
                    <a:pt x="52" y="1"/>
                  </a:lnTo>
                  <a:lnTo>
                    <a:pt x="59" y="2"/>
                  </a:lnTo>
                  <a:lnTo>
                    <a:pt x="67" y="7"/>
                  </a:lnTo>
                  <a:lnTo>
                    <a:pt x="73" y="12"/>
                  </a:lnTo>
                  <a:lnTo>
                    <a:pt x="78" y="19"/>
                  </a:lnTo>
                  <a:lnTo>
                    <a:pt x="82" y="26"/>
                  </a:lnTo>
                  <a:lnTo>
                    <a:pt x="85" y="34"/>
                  </a:lnTo>
                  <a:lnTo>
                    <a:pt x="86" y="42"/>
                  </a:lnTo>
                  <a:lnTo>
                    <a:pt x="86" y="42"/>
                  </a:lnTo>
                  <a:lnTo>
                    <a:pt x="85" y="51"/>
                  </a:lnTo>
                  <a:lnTo>
                    <a:pt x="82" y="59"/>
                  </a:lnTo>
                  <a:lnTo>
                    <a:pt x="78" y="67"/>
                  </a:lnTo>
                  <a:lnTo>
                    <a:pt x="73" y="73"/>
                  </a:lnTo>
                  <a:lnTo>
                    <a:pt x="67" y="78"/>
                  </a:lnTo>
                  <a:lnTo>
                    <a:pt x="59" y="82"/>
                  </a:lnTo>
                  <a:lnTo>
                    <a:pt x="52" y="85"/>
                  </a:lnTo>
                  <a:lnTo>
                    <a:pt x="42" y="85"/>
                  </a:lnTo>
                  <a:lnTo>
                    <a:pt x="42" y="85"/>
                  </a:lnTo>
                  <a:lnTo>
                    <a:pt x="34" y="85"/>
                  </a:lnTo>
                  <a:lnTo>
                    <a:pt x="26" y="82"/>
                  </a:lnTo>
                  <a:lnTo>
                    <a:pt x="19" y="78"/>
                  </a:lnTo>
                  <a:lnTo>
                    <a:pt x="12" y="73"/>
                  </a:lnTo>
                  <a:lnTo>
                    <a:pt x="6" y="67"/>
                  </a:lnTo>
                  <a:lnTo>
                    <a:pt x="4" y="59"/>
                  </a:lnTo>
                  <a:lnTo>
                    <a:pt x="1" y="51"/>
                  </a:lnTo>
                  <a:lnTo>
                    <a:pt x="0" y="42"/>
                  </a:lnTo>
                  <a:lnTo>
                    <a:pt x="0" y="42"/>
                  </a:lnTo>
                  <a:lnTo>
                    <a:pt x="1" y="34"/>
                  </a:lnTo>
                  <a:lnTo>
                    <a:pt x="4" y="26"/>
                  </a:lnTo>
                  <a:lnTo>
                    <a:pt x="6" y="19"/>
                  </a:lnTo>
                  <a:lnTo>
                    <a:pt x="12" y="12"/>
                  </a:lnTo>
                  <a:lnTo>
                    <a:pt x="19" y="7"/>
                  </a:lnTo>
                  <a:lnTo>
                    <a:pt x="26" y="2"/>
                  </a:lnTo>
                  <a:lnTo>
                    <a:pt x="34" y="1"/>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66"/>
            <p:cNvSpPr>
              <a:spLocks/>
            </p:cNvSpPr>
            <p:nvPr userDrawn="1"/>
          </p:nvSpPr>
          <p:spPr bwMode="auto">
            <a:xfrm>
              <a:off x="3931" y="1342"/>
              <a:ext cx="44" cy="43"/>
            </a:xfrm>
            <a:custGeom>
              <a:avLst/>
              <a:gdLst>
                <a:gd name="T0" fmla="*/ 43 w 87"/>
                <a:gd name="T1" fmla="*/ 0 h 85"/>
                <a:gd name="T2" fmla="*/ 43 w 87"/>
                <a:gd name="T3" fmla="*/ 0 h 85"/>
                <a:gd name="T4" fmla="*/ 53 w 87"/>
                <a:gd name="T5" fmla="*/ 0 h 85"/>
                <a:gd name="T6" fmla="*/ 61 w 87"/>
                <a:gd name="T7" fmla="*/ 3 h 85"/>
                <a:gd name="T8" fmla="*/ 68 w 87"/>
                <a:gd name="T9" fmla="*/ 7 h 85"/>
                <a:gd name="T10" fmla="*/ 73 w 87"/>
                <a:gd name="T11" fmla="*/ 12 h 85"/>
                <a:gd name="T12" fmla="*/ 79 w 87"/>
                <a:gd name="T13" fmla="*/ 18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6 h 85"/>
                <a:gd name="T28" fmla="*/ 73 w 87"/>
                <a:gd name="T29" fmla="*/ 73 h 85"/>
                <a:gd name="T30" fmla="*/ 68 w 87"/>
                <a:gd name="T31" fmla="*/ 78 h 85"/>
                <a:gd name="T32" fmla="*/ 61 w 87"/>
                <a:gd name="T33" fmla="*/ 82 h 85"/>
                <a:gd name="T34" fmla="*/ 53 w 87"/>
                <a:gd name="T35" fmla="*/ 84 h 85"/>
                <a:gd name="T36" fmla="*/ 43 w 87"/>
                <a:gd name="T37" fmla="*/ 85 h 85"/>
                <a:gd name="T38" fmla="*/ 43 w 87"/>
                <a:gd name="T39" fmla="*/ 85 h 85"/>
                <a:gd name="T40" fmla="*/ 35 w 87"/>
                <a:gd name="T41" fmla="*/ 84 h 85"/>
                <a:gd name="T42" fmla="*/ 27 w 87"/>
                <a:gd name="T43" fmla="*/ 82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8 h 85"/>
                <a:gd name="T64" fmla="*/ 13 w 87"/>
                <a:gd name="T65" fmla="*/ 12 h 85"/>
                <a:gd name="T66" fmla="*/ 20 w 87"/>
                <a:gd name="T67" fmla="*/ 7 h 85"/>
                <a:gd name="T68" fmla="*/ 27 w 87"/>
                <a:gd name="T69" fmla="*/ 3 h 85"/>
                <a:gd name="T70" fmla="*/ 35 w 87"/>
                <a:gd name="T71" fmla="*/ 0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0"/>
                  </a:lnTo>
                  <a:lnTo>
                    <a:pt x="61" y="3"/>
                  </a:lnTo>
                  <a:lnTo>
                    <a:pt x="68" y="7"/>
                  </a:lnTo>
                  <a:lnTo>
                    <a:pt x="73" y="12"/>
                  </a:lnTo>
                  <a:lnTo>
                    <a:pt x="79" y="18"/>
                  </a:lnTo>
                  <a:lnTo>
                    <a:pt x="83" y="26"/>
                  </a:lnTo>
                  <a:lnTo>
                    <a:pt x="86" y="34"/>
                  </a:lnTo>
                  <a:lnTo>
                    <a:pt x="87" y="42"/>
                  </a:lnTo>
                  <a:lnTo>
                    <a:pt x="87" y="42"/>
                  </a:lnTo>
                  <a:lnTo>
                    <a:pt x="86" y="51"/>
                  </a:lnTo>
                  <a:lnTo>
                    <a:pt x="83" y="59"/>
                  </a:lnTo>
                  <a:lnTo>
                    <a:pt x="79" y="66"/>
                  </a:lnTo>
                  <a:lnTo>
                    <a:pt x="73" y="73"/>
                  </a:lnTo>
                  <a:lnTo>
                    <a:pt x="68" y="78"/>
                  </a:lnTo>
                  <a:lnTo>
                    <a:pt x="61" y="82"/>
                  </a:lnTo>
                  <a:lnTo>
                    <a:pt x="53" y="84"/>
                  </a:lnTo>
                  <a:lnTo>
                    <a:pt x="43" y="85"/>
                  </a:lnTo>
                  <a:lnTo>
                    <a:pt x="43" y="85"/>
                  </a:lnTo>
                  <a:lnTo>
                    <a:pt x="35" y="84"/>
                  </a:lnTo>
                  <a:lnTo>
                    <a:pt x="27" y="82"/>
                  </a:lnTo>
                  <a:lnTo>
                    <a:pt x="20" y="78"/>
                  </a:lnTo>
                  <a:lnTo>
                    <a:pt x="13" y="73"/>
                  </a:lnTo>
                  <a:lnTo>
                    <a:pt x="9" y="66"/>
                  </a:lnTo>
                  <a:lnTo>
                    <a:pt x="5" y="59"/>
                  </a:lnTo>
                  <a:lnTo>
                    <a:pt x="2" y="51"/>
                  </a:lnTo>
                  <a:lnTo>
                    <a:pt x="0" y="42"/>
                  </a:lnTo>
                  <a:lnTo>
                    <a:pt x="0" y="42"/>
                  </a:lnTo>
                  <a:lnTo>
                    <a:pt x="2" y="34"/>
                  </a:lnTo>
                  <a:lnTo>
                    <a:pt x="5" y="26"/>
                  </a:lnTo>
                  <a:lnTo>
                    <a:pt x="9" y="18"/>
                  </a:lnTo>
                  <a:lnTo>
                    <a:pt x="13" y="12"/>
                  </a:lnTo>
                  <a:lnTo>
                    <a:pt x="20" y="7"/>
                  </a:lnTo>
                  <a:lnTo>
                    <a:pt x="27" y="3"/>
                  </a:lnTo>
                  <a:lnTo>
                    <a:pt x="35" y="0"/>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67"/>
            <p:cNvSpPr>
              <a:spLocks/>
            </p:cNvSpPr>
            <p:nvPr userDrawn="1"/>
          </p:nvSpPr>
          <p:spPr bwMode="auto">
            <a:xfrm>
              <a:off x="3931" y="1286"/>
              <a:ext cx="44" cy="43"/>
            </a:xfrm>
            <a:custGeom>
              <a:avLst/>
              <a:gdLst>
                <a:gd name="T0" fmla="*/ 43 w 87"/>
                <a:gd name="T1" fmla="*/ 0 h 85"/>
                <a:gd name="T2" fmla="*/ 43 w 87"/>
                <a:gd name="T3" fmla="*/ 0 h 85"/>
                <a:gd name="T4" fmla="*/ 53 w 87"/>
                <a:gd name="T5" fmla="*/ 0 h 85"/>
                <a:gd name="T6" fmla="*/ 61 w 87"/>
                <a:gd name="T7" fmla="*/ 3 h 85"/>
                <a:gd name="T8" fmla="*/ 68 w 87"/>
                <a:gd name="T9" fmla="*/ 7 h 85"/>
                <a:gd name="T10" fmla="*/ 73 w 87"/>
                <a:gd name="T11" fmla="*/ 13 h 85"/>
                <a:gd name="T12" fmla="*/ 79 w 87"/>
                <a:gd name="T13" fmla="*/ 18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6 h 85"/>
                <a:gd name="T28" fmla="*/ 73 w 87"/>
                <a:gd name="T29" fmla="*/ 73 h 85"/>
                <a:gd name="T30" fmla="*/ 68 w 87"/>
                <a:gd name="T31" fmla="*/ 78 h 85"/>
                <a:gd name="T32" fmla="*/ 61 w 87"/>
                <a:gd name="T33" fmla="*/ 83 h 85"/>
                <a:gd name="T34" fmla="*/ 53 w 87"/>
                <a:gd name="T35" fmla="*/ 84 h 85"/>
                <a:gd name="T36" fmla="*/ 43 w 87"/>
                <a:gd name="T37" fmla="*/ 85 h 85"/>
                <a:gd name="T38" fmla="*/ 43 w 87"/>
                <a:gd name="T39" fmla="*/ 85 h 85"/>
                <a:gd name="T40" fmla="*/ 35 w 87"/>
                <a:gd name="T41" fmla="*/ 84 h 85"/>
                <a:gd name="T42" fmla="*/ 27 w 87"/>
                <a:gd name="T43" fmla="*/ 83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8 h 85"/>
                <a:gd name="T64" fmla="*/ 13 w 87"/>
                <a:gd name="T65" fmla="*/ 13 h 85"/>
                <a:gd name="T66" fmla="*/ 20 w 87"/>
                <a:gd name="T67" fmla="*/ 7 h 85"/>
                <a:gd name="T68" fmla="*/ 27 w 87"/>
                <a:gd name="T69" fmla="*/ 3 h 85"/>
                <a:gd name="T70" fmla="*/ 35 w 87"/>
                <a:gd name="T71" fmla="*/ 0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0"/>
                  </a:lnTo>
                  <a:lnTo>
                    <a:pt x="61" y="3"/>
                  </a:lnTo>
                  <a:lnTo>
                    <a:pt x="68" y="7"/>
                  </a:lnTo>
                  <a:lnTo>
                    <a:pt x="73" y="13"/>
                  </a:lnTo>
                  <a:lnTo>
                    <a:pt x="79" y="18"/>
                  </a:lnTo>
                  <a:lnTo>
                    <a:pt x="83" y="26"/>
                  </a:lnTo>
                  <a:lnTo>
                    <a:pt x="86" y="34"/>
                  </a:lnTo>
                  <a:lnTo>
                    <a:pt x="87" y="43"/>
                  </a:lnTo>
                  <a:lnTo>
                    <a:pt x="87" y="43"/>
                  </a:lnTo>
                  <a:lnTo>
                    <a:pt x="86" y="51"/>
                  </a:lnTo>
                  <a:lnTo>
                    <a:pt x="83" y="59"/>
                  </a:lnTo>
                  <a:lnTo>
                    <a:pt x="79" y="66"/>
                  </a:lnTo>
                  <a:lnTo>
                    <a:pt x="73" y="73"/>
                  </a:lnTo>
                  <a:lnTo>
                    <a:pt x="68" y="78"/>
                  </a:lnTo>
                  <a:lnTo>
                    <a:pt x="61" y="83"/>
                  </a:lnTo>
                  <a:lnTo>
                    <a:pt x="53" y="84"/>
                  </a:lnTo>
                  <a:lnTo>
                    <a:pt x="43" y="85"/>
                  </a:lnTo>
                  <a:lnTo>
                    <a:pt x="43" y="85"/>
                  </a:lnTo>
                  <a:lnTo>
                    <a:pt x="35" y="84"/>
                  </a:lnTo>
                  <a:lnTo>
                    <a:pt x="27" y="83"/>
                  </a:lnTo>
                  <a:lnTo>
                    <a:pt x="20" y="78"/>
                  </a:lnTo>
                  <a:lnTo>
                    <a:pt x="13" y="73"/>
                  </a:lnTo>
                  <a:lnTo>
                    <a:pt x="9" y="66"/>
                  </a:lnTo>
                  <a:lnTo>
                    <a:pt x="5" y="59"/>
                  </a:lnTo>
                  <a:lnTo>
                    <a:pt x="2" y="51"/>
                  </a:lnTo>
                  <a:lnTo>
                    <a:pt x="0" y="43"/>
                  </a:lnTo>
                  <a:lnTo>
                    <a:pt x="0" y="43"/>
                  </a:lnTo>
                  <a:lnTo>
                    <a:pt x="2" y="34"/>
                  </a:lnTo>
                  <a:lnTo>
                    <a:pt x="5" y="26"/>
                  </a:lnTo>
                  <a:lnTo>
                    <a:pt x="9" y="18"/>
                  </a:lnTo>
                  <a:lnTo>
                    <a:pt x="13" y="13"/>
                  </a:lnTo>
                  <a:lnTo>
                    <a:pt x="20" y="7"/>
                  </a:lnTo>
                  <a:lnTo>
                    <a:pt x="27" y="3"/>
                  </a:lnTo>
                  <a:lnTo>
                    <a:pt x="35" y="0"/>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68"/>
            <p:cNvSpPr>
              <a:spLocks/>
            </p:cNvSpPr>
            <p:nvPr userDrawn="1"/>
          </p:nvSpPr>
          <p:spPr bwMode="auto">
            <a:xfrm>
              <a:off x="3931" y="1060"/>
              <a:ext cx="44" cy="43"/>
            </a:xfrm>
            <a:custGeom>
              <a:avLst/>
              <a:gdLst>
                <a:gd name="T0" fmla="*/ 43 w 87"/>
                <a:gd name="T1" fmla="*/ 0 h 87"/>
                <a:gd name="T2" fmla="*/ 43 w 87"/>
                <a:gd name="T3" fmla="*/ 0 h 87"/>
                <a:gd name="T4" fmla="*/ 53 w 87"/>
                <a:gd name="T5" fmla="*/ 1 h 87"/>
                <a:gd name="T6" fmla="*/ 61 w 87"/>
                <a:gd name="T7" fmla="*/ 4 h 87"/>
                <a:gd name="T8" fmla="*/ 68 w 87"/>
                <a:gd name="T9" fmla="*/ 8 h 87"/>
                <a:gd name="T10" fmla="*/ 73 w 87"/>
                <a:gd name="T11" fmla="*/ 12 h 87"/>
                <a:gd name="T12" fmla="*/ 79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79 w 87"/>
                <a:gd name="T27" fmla="*/ 67 h 87"/>
                <a:gd name="T28" fmla="*/ 73 w 87"/>
                <a:gd name="T29" fmla="*/ 73 h 87"/>
                <a:gd name="T30" fmla="*/ 68 w 87"/>
                <a:gd name="T31" fmla="*/ 78 h 87"/>
                <a:gd name="T32" fmla="*/ 61 w 87"/>
                <a:gd name="T33" fmla="*/ 83 h 87"/>
                <a:gd name="T34" fmla="*/ 53 w 87"/>
                <a:gd name="T35" fmla="*/ 85 h 87"/>
                <a:gd name="T36" fmla="*/ 43 w 87"/>
                <a:gd name="T37" fmla="*/ 87 h 87"/>
                <a:gd name="T38" fmla="*/ 43 w 87"/>
                <a:gd name="T39" fmla="*/ 87 h 87"/>
                <a:gd name="T40" fmla="*/ 35 w 87"/>
                <a:gd name="T41" fmla="*/ 85 h 87"/>
                <a:gd name="T42" fmla="*/ 27 w 87"/>
                <a:gd name="T43" fmla="*/ 83 h 87"/>
                <a:gd name="T44" fmla="*/ 20 w 87"/>
                <a:gd name="T45" fmla="*/ 78 h 87"/>
                <a:gd name="T46" fmla="*/ 13 w 87"/>
                <a:gd name="T47" fmla="*/ 73 h 87"/>
                <a:gd name="T48" fmla="*/ 9 w 87"/>
                <a:gd name="T49" fmla="*/ 67 h 87"/>
                <a:gd name="T50" fmla="*/ 5 w 87"/>
                <a:gd name="T51" fmla="*/ 61 h 87"/>
                <a:gd name="T52" fmla="*/ 2 w 87"/>
                <a:gd name="T53" fmla="*/ 52 h 87"/>
                <a:gd name="T54" fmla="*/ 0 w 87"/>
                <a:gd name="T55" fmla="*/ 43 h 87"/>
                <a:gd name="T56" fmla="*/ 0 w 87"/>
                <a:gd name="T57" fmla="*/ 43 h 87"/>
                <a:gd name="T58" fmla="*/ 2 w 87"/>
                <a:gd name="T59" fmla="*/ 34 h 87"/>
                <a:gd name="T60" fmla="*/ 5 w 87"/>
                <a:gd name="T61" fmla="*/ 26 h 87"/>
                <a:gd name="T62" fmla="*/ 9 w 87"/>
                <a:gd name="T63" fmla="*/ 19 h 87"/>
                <a:gd name="T64" fmla="*/ 13 w 87"/>
                <a:gd name="T65" fmla="*/ 12 h 87"/>
                <a:gd name="T66" fmla="*/ 20 w 87"/>
                <a:gd name="T67" fmla="*/ 8 h 87"/>
                <a:gd name="T68" fmla="*/ 27 w 87"/>
                <a:gd name="T69" fmla="*/ 4 h 87"/>
                <a:gd name="T70" fmla="*/ 35 w 87"/>
                <a:gd name="T71" fmla="*/ 1 h 87"/>
                <a:gd name="T72" fmla="*/ 43 w 87"/>
                <a:gd name="T73" fmla="*/ 0 h 87"/>
                <a:gd name="T74" fmla="*/ 43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3" y="0"/>
                  </a:moveTo>
                  <a:lnTo>
                    <a:pt x="43" y="0"/>
                  </a:lnTo>
                  <a:lnTo>
                    <a:pt x="53" y="1"/>
                  </a:lnTo>
                  <a:lnTo>
                    <a:pt x="61" y="4"/>
                  </a:lnTo>
                  <a:lnTo>
                    <a:pt x="68" y="8"/>
                  </a:lnTo>
                  <a:lnTo>
                    <a:pt x="73" y="12"/>
                  </a:lnTo>
                  <a:lnTo>
                    <a:pt x="79" y="19"/>
                  </a:lnTo>
                  <a:lnTo>
                    <a:pt x="83" y="26"/>
                  </a:lnTo>
                  <a:lnTo>
                    <a:pt x="86" y="34"/>
                  </a:lnTo>
                  <a:lnTo>
                    <a:pt x="87" y="43"/>
                  </a:lnTo>
                  <a:lnTo>
                    <a:pt x="87" y="43"/>
                  </a:lnTo>
                  <a:lnTo>
                    <a:pt x="86" y="52"/>
                  </a:lnTo>
                  <a:lnTo>
                    <a:pt x="83" y="61"/>
                  </a:lnTo>
                  <a:lnTo>
                    <a:pt x="79" y="67"/>
                  </a:lnTo>
                  <a:lnTo>
                    <a:pt x="73" y="73"/>
                  </a:lnTo>
                  <a:lnTo>
                    <a:pt x="68" y="78"/>
                  </a:lnTo>
                  <a:lnTo>
                    <a:pt x="61" y="83"/>
                  </a:lnTo>
                  <a:lnTo>
                    <a:pt x="53" y="85"/>
                  </a:lnTo>
                  <a:lnTo>
                    <a:pt x="43" y="87"/>
                  </a:lnTo>
                  <a:lnTo>
                    <a:pt x="43" y="87"/>
                  </a:lnTo>
                  <a:lnTo>
                    <a:pt x="35" y="85"/>
                  </a:lnTo>
                  <a:lnTo>
                    <a:pt x="27" y="83"/>
                  </a:lnTo>
                  <a:lnTo>
                    <a:pt x="20" y="78"/>
                  </a:lnTo>
                  <a:lnTo>
                    <a:pt x="13" y="73"/>
                  </a:lnTo>
                  <a:lnTo>
                    <a:pt x="9" y="67"/>
                  </a:lnTo>
                  <a:lnTo>
                    <a:pt x="5" y="61"/>
                  </a:lnTo>
                  <a:lnTo>
                    <a:pt x="2" y="52"/>
                  </a:lnTo>
                  <a:lnTo>
                    <a:pt x="0" y="43"/>
                  </a:lnTo>
                  <a:lnTo>
                    <a:pt x="0" y="43"/>
                  </a:lnTo>
                  <a:lnTo>
                    <a:pt x="2" y="34"/>
                  </a:lnTo>
                  <a:lnTo>
                    <a:pt x="5" y="26"/>
                  </a:lnTo>
                  <a:lnTo>
                    <a:pt x="9" y="19"/>
                  </a:lnTo>
                  <a:lnTo>
                    <a:pt x="13" y="12"/>
                  </a:lnTo>
                  <a:lnTo>
                    <a:pt x="20" y="8"/>
                  </a:lnTo>
                  <a:lnTo>
                    <a:pt x="27" y="4"/>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69"/>
            <p:cNvSpPr>
              <a:spLocks/>
            </p:cNvSpPr>
            <p:nvPr userDrawn="1"/>
          </p:nvSpPr>
          <p:spPr bwMode="auto">
            <a:xfrm>
              <a:off x="3931" y="1004"/>
              <a:ext cx="44" cy="42"/>
            </a:xfrm>
            <a:custGeom>
              <a:avLst/>
              <a:gdLst>
                <a:gd name="T0" fmla="*/ 43 w 87"/>
                <a:gd name="T1" fmla="*/ 0 h 86"/>
                <a:gd name="T2" fmla="*/ 43 w 87"/>
                <a:gd name="T3" fmla="*/ 0 h 86"/>
                <a:gd name="T4" fmla="*/ 53 w 87"/>
                <a:gd name="T5" fmla="*/ 2 h 86"/>
                <a:gd name="T6" fmla="*/ 61 w 87"/>
                <a:gd name="T7" fmla="*/ 5 h 86"/>
                <a:gd name="T8" fmla="*/ 68 w 87"/>
                <a:gd name="T9" fmla="*/ 7 h 86"/>
                <a:gd name="T10" fmla="*/ 73 w 87"/>
                <a:gd name="T11" fmla="*/ 13 h 86"/>
                <a:gd name="T12" fmla="*/ 79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79 w 87"/>
                <a:gd name="T27" fmla="*/ 68 h 86"/>
                <a:gd name="T28" fmla="*/ 73 w 87"/>
                <a:gd name="T29" fmla="*/ 73 h 86"/>
                <a:gd name="T30" fmla="*/ 68 w 87"/>
                <a:gd name="T31" fmla="*/ 79 h 86"/>
                <a:gd name="T32" fmla="*/ 61 w 87"/>
                <a:gd name="T33" fmla="*/ 83 h 86"/>
                <a:gd name="T34" fmla="*/ 53 w 87"/>
                <a:gd name="T35" fmla="*/ 86 h 86"/>
                <a:gd name="T36" fmla="*/ 43 w 87"/>
                <a:gd name="T37" fmla="*/ 86 h 86"/>
                <a:gd name="T38" fmla="*/ 43 w 87"/>
                <a:gd name="T39" fmla="*/ 86 h 86"/>
                <a:gd name="T40" fmla="*/ 35 w 87"/>
                <a:gd name="T41" fmla="*/ 86 h 86"/>
                <a:gd name="T42" fmla="*/ 27 w 87"/>
                <a:gd name="T43" fmla="*/ 83 h 86"/>
                <a:gd name="T44" fmla="*/ 20 w 87"/>
                <a:gd name="T45" fmla="*/ 79 h 86"/>
                <a:gd name="T46" fmla="*/ 13 w 87"/>
                <a:gd name="T47" fmla="*/ 73 h 86"/>
                <a:gd name="T48" fmla="*/ 9 w 87"/>
                <a:gd name="T49" fmla="*/ 68 h 86"/>
                <a:gd name="T50" fmla="*/ 5 w 87"/>
                <a:gd name="T51" fmla="*/ 59 h 86"/>
                <a:gd name="T52" fmla="*/ 2 w 87"/>
                <a:gd name="T53" fmla="*/ 53 h 86"/>
                <a:gd name="T54" fmla="*/ 0 w 87"/>
                <a:gd name="T55" fmla="*/ 43 h 86"/>
                <a:gd name="T56" fmla="*/ 0 w 87"/>
                <a:gd name="T57" fmla="*/ 43 h 86"/>
                <a:gd name="T58" fmla="*/ 2 w 87"/>
                <a:gd name="T59" fmla="*/ 35 h 86"/>
                <a:gd name="T60" fmla="*/ 5 w 87"/>
                <a:gd name="T61" fmla="*/ 27 h 86"/>
                <a:gd name="T62" fmla="*/ 9 w 87"/>
                <a:gd name="T63" fmla="*/ 20 h 86"/>
                <a:gd name="T64" fmla="*/ 13 w 87"/>
                <a:gd name="T65" fmla="*/ 13 h 86"/>
                <a:gd name="T66" fmla="*/ 20 w 87"/>
                <a:gd name="T67" fmla="*/ 7 h 86"/>
                <a:gd name="T68" fmla="*/ 27 w 87"/>
                <a:gd name="T69" fmla="*/ 5 h 86"/>
                <a:gd name="T70" fmla="*/ 35 w 87"/>
                <a:gd name="T71" fmla="*/ 2 h 86"/>
                <a:gd name="T72" fmla="*/ 43 w 87"/>
                <a:gd name="T73" fmla="*/ 0 h 86"/>
                <a:gd name="T74" fmla="*/ 43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3" y="0"/>
                  </a:moveTo>
                  <a:lnTo>
                    <a:pt x="43" y="0"/>
                  </a:lnTo>
                  <a:lnTo>
                    <a:pt x="53" y="2"/>
                  </a:lnTo>
                  <a:lnTo>
                    <a:pt x="61" y="5"/>
                  </a:lnTo>
                  <a:lnTo>
                    <a:pt x="68" y="7"/>
                  </a:lnTo>
                  <a:lnTo>
                    <a:pt x="73" y="13"/>
                  </a:lnTo>
                  <a:lnTo>
                    <a:pt x="79" y="20"/>
                  </a:lnTo>
                  <a:lnTo>
                    <a:pt x="83" y="27"/>
                  </a:lnTo>
                  <a:lnTo>
                    <a:pt x="86" y="35"/>
                  </a:lnTo>
                  <a:lnTo>
                    <a:pt x="87" y="43"/>
                  </a:lnTo>
                  <a:lnTo>
                    <a:pt x="87" y="43"/>
                  </a:lnTo>
                  <a:lnTo>
                    <a:pt x="86" y="53"/>
                  </a:lnTo>
                  <a:lnTo>
                    <a:pt x="83" y="59"/>
                  </a:lnTo>
                  <a:lnTo>
                    <a:pt x="79" y="68"/>
                  </a:lnTo>
                  <a:lnTo>
                    <a:pt x="73" y="73"/>
                  </a:lnTo>
                  <a:lnTo>
                    <a:pt x="68" y="79"/>
                  </a:lnTo>
                  <a:lnTo>
                    <a:pt x="61" y="83"/>
                  </a:lnTo>
                  <a:lnTo>
                    <a:pt x="53" y="86"/>
                  </a:lnTo>
                  <a:lnTo>
                    <a:pt x="43" y="86"/>
                  </a:lnTo>
                  <a:lnTo>
                    <a:pt x="43" y="86"/>
                  </a:lnTo>
                  <a:lnTo>
                    <a:pt x="35" y="86"/>
                  </a:lnTo>
                  <a:lnTo>
                    <a:pt x="27" y="83"/>
                  </a:lnTo>
                  <a:lnTo>
                    <a:pt x="20" y="79"/>
                  </a:lnTo>
                  <a:lnTo>
                    <a:pt x="13" y="73"/>
                  </a:lnTo>
                  <a:lnTo>
                    <a:pt x="9" y="68"/>
                  </a:lnTo>
                  <a:lnTo>
                    <a:pt x="5" y="59"/>
                  </a:lnTo>
                  <a:lnTo>
                    <a:pt x="2" y="53"/>
                  </a:lnTo>
                  <a:lnTo>
                    <a:pt x="0" y="43"/>
                  </a:lnTo>
                  <a:lnTo>
                    <a:pt x="0" y="43"/>
                  </a:lnTo>
                  <a:lnTo>
                    <a:pt x="2" y="35"/>
                  </a:lnTo>
                  <a:lnTo>
                    <a:pt x="5" y="27"/>
                  </a:lnTo>
                  <a:lnTo>
                    <a:pt x="9" y="20"/>
                  </a:lnTo>
                  <a:lnTo>
                    <a:pt x="13" y="13"/>
                  </a:lnTo>
                  <a:lnTo>
                    <a:pt x="20" y="7"/>
                  </a:lnTo>
                  <a:lnTo>
                    <a:pt x="27" y="5"/>
                  </a:lnTo>
                  <a:lnTo>
                    <a:pt x="35" y="2"/>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70"/>
            <p:cNvSpPr>
              <a:spLocks/>
            </p:cNvSpPr>
            <p:nvPr userDrawn="1"/>
          </p:nvSpPr>
          <p:spPr bwMode="auto">
            <a:xfrm>
              <a:off x="3931" y="947"/>
              <a:ext cx="44" cy="43"/>
            </a:xfrm>
            <a:custGeom>
              <a:avLst/>
              <a:gdLst>
                <a:gd name="T0" fmla="*/ 43 w 87"/>
                <a:gd name="T1" fmla="*/ 0 h 85"/>
                <a:gd name="T2" fmla="*/ 43 w 87"/>
                <a:gd name="T3" fmla="*/ 0 h 85"/>
                <a:gd name="T4" fmla="*/ 53 w 87"/>
                <a:gd name="T5" fmla="*/ 1 h 85"/>
                <a:gd name="T6" fmla="*/ 61 w 87"/>
                <a:gd name="T7" fmla="*/ 2 h 85"/>
                <a:gd name="T8" fmla="*/ 68 w 87"/>
                <a:gd name="T9" fmla="*/ 7 h 85"/>
                <a:gd name="T10" fmla="*/ 73 w 87"/>
                <a:gd name="T11" fmla="*/ 12 h 85"/>
                <a:gd name="T12" fmla="*/ 79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7 h 85"/>
                <a:gd name="T28" fmla="*/ 73 w 87"/>
                <a:gd name="T29" fmla="*/ 73 h 85"/>
                <a:gd name="T30" fmla="*/ 68 w 87"/>
                <a:gd name="T31" fmla="*/ 78 h 85"/>
                <a:gd name="T32" fmla="*/ 61 w 87"/>
                <a:gd name="T33" fmla="*/ 82 h 85"/>
                <a:gd name="T34" fmla="*/ 53 w 87"/>
                <a:gd name="T35" fmla="*/ 85 h 85"/>
                <a:gd name="T36" fmla="*/ 43 w 87"/>
                <a:gd name="T37" fmla="*/ 85 h 85"/>
                <a:gd name="T38" fmla="*/ 43 w 87"/>
                <a:gd name="T39" fmla="*/ 85 h 85"/>
                <a:gd name="T40" fmla="*/ 35 w 87"/>
                <a:gd name="T41" fmla="*/ 85 h 85"/>
                <a:gd name="T42" fmla="*/ 27 w 87"/>
                <a:gd name="T43" fmla="*/ 82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2 h 85"/>
                <a:gd name="T70" fmla="*/ 35 w 87"/>
                <a:gd name="T71" fmla="*/ 1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1"/>
                  </a:lnTo>
                  <a:lnTo>
                    <a:pt x="61" y="2"/>
                  </a:lnTo>
                  <a:lnTo>
                    <a:pt x="68" y="7"/>
                  </a:lnTo>
                  <a:lnTo>
                    <a:pt x="73" y="12"/>
                  </a:lnTo>
                  <a:lnTo>
                    <a:pt x="79" y="19"/>
                  </a:lnTo>
                  <a:lnTo>
                    <a:pt x="83" y="26"/>
                  </a:lnTo>
                  <a:lnTo>
                    <a:pt x="86" y="34"/>
                  </a:lnTo>
                  <a:lnTo>
                    <a:pt x="87" y="42"/>
                  </a:lnTo>
                  <a:lnTo>
                    <a:pt x="87" y="42"/>
                  </a:lnTo>
                  <a:lnTo>
                    <a:pt x="86" y="51"/>
                  </a:lnTo>
                  <a:lnTo>
                    <a:pt x="83" y="59"/>
                  </a:lnTo>
                  <a:lnTo>
                    <a:pt x="79" y="67"/>
                  </a:lnTo>
                  <a:lnTo>
                    <a:pt x="73" y="73"/>
                  </a:lnTo>
                  <a:lnTo>
                    <a:pt x="68" y="78"/>
                  </a:lnTo>
                  <a:lnTo>
                    <a:pt x="61" y="82"/>
                  </a:lnTo>
                  <a:lnTo>
                    <a:pt x="53" y="85"/>
                  </a:lnTo>
                  <a:lnTo>
                    <a:pt x="43" y="85"/>
                  </a:lnTo>
                  <a:lnTo>
                    <a:pt x="43" y="85"/>
                  </a:lnTo>
                  <a:lnTo>
                    <a:pt x="35" y="85"/>
                  </a:lnTo>
                  <a:lnTo>
                    <a:pt x="27" y="82"/>
                  </a:lnTo>
                  <a:lnTo>
                    <a:pt x="20" y="78"/>
                  </a:lnTo>
                  <a:lnTo>
                    <a:pt x="13" y="73"/>
                  </a:lnTo>
                  <a:lnTo>
                    <a:pt x="9" y="67"/>
                  </a:lnTo>
                  <a:lnTo>
                    <a:pt x="5" y="59"/>
                  </a:lnTo>
                  <a:lnTo>
                    <a:pt x="2" y="51"/>
                  </a:lnTo>
                  <a:lnTo>
                    <a:pt x="0" y="42"/>
                  </a:lnTo>
                  <a:lnTo>
                    <a:pt x="0" y="42"/>
                  </a:lnTo>
                  <a:lnTo>
                    <a:pt x="2" y="34"/>
                  </a:lnTo>
                  <a:lnTo>
                    <a:pt x="5" y="26"/>
                  </a:lnTo>
                  <a:lnTo>
                    <a:pt x="9" y="19"/>
                  </a:lnTo>
                  <a:lnTo>
                    <a:pt x="13" y="12"/>
                  </a:lnTo>
                  <a:lnTo>
                    <a:pt x="20" y="7"/>
                  </a:lnTo>
                  <a:lnTo>
                    <a:pt x="27" y="2"/>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71"/>
            <p:cNvSpPr>
              <a:spLocks/>
            </p:cNvSpPr>
            <p:nvPr userDrawn="1"/>
          </p:nvSpPr>
          <p:spPr bwMode="auto">
            <a:xfrm>
              <a:off x="3931" y="891"/>
              <a:ext cx="44" cy="43"/>
            </a:xfrm>
            <a:custGeom>
              <a:avLst/>
              <a:gdLst>
                <a:gd name="T0" fmla="*/ 43 w 87"/>
                <a:gd name="T1" fmla="*/ 0 h 85"/>
                <a:gd name="T2" fmla="*/ 43 w 87"/>
                <a:gd name="T3" fmla="*/ 0 h 85"/>
                <a:gd name="T4" fmla="*/ 53 w 87"/>
                <a:gd name="T5" fmla="*/ 1 h 85"/>
                <a:gd name="T6" fmla="*/ 61 w 87"/>
                <a:gd name="T7" fmla="*/ 3 h 85"/>
                <a:gd name="T8" fmla="*/ 68 w 87"/>
                <a:gd name="T9" fmla="*/ 7 h 85"/>
                <a:gd name="T10" fmla="*/ 73 w 87"/>
                <a:gd name="T11" fmla="*/ 12 h 85"/>
                <a:gd name="T12" fmla="*/ 79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7 h 85"/>
                <a:gd name="T28" fmla="*/ 73 w 87"/>
                <a:gd name="T29" fmla="*/ 73 h 85"/>
                <a:gd name="T30" fmla="*/ 68 w 87"/>
                <a:gd name="T31" fmla="*/ 78 h 85"/>
                <a:gd name="T32" fmla="*/ 61 w 87"/>
                <a:gd name="T33" fmla="*/ 83 h 85"/>
                <a:gd name="T34" fmla="*/ 53 w 87"/>
                <a:gd name="T35" fmla="*/ 85 h 85"/>
                <a:gd name="T36" fmla="*/ 43 w 87"/>
                <a:gd name="T37" fmla="*/ 85 h 85"/>
                <a:gd name="T38" fmla="*/ 43 w 87"/>
                <a:gd name="T39" fmla="*/ 85 h 85"/>
                <a:gd name="T40" fmla="*/ 35 w 87"/>
                <a:gd name="T41" fmla="*/ 85 h 85"/>
                <a:gd name="T42" fmla="*/ 27 w 87"/>
                <a:gd name="T43" fmla="*/ 83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3 h 85"/>
                <a:gd name="T70" fmla="*/ 35 w 87"/>
                <a:gd name="T71" fmla="*/ 1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1"/>
                  </a:lnTo>
                  <a:lnTo>
                    <a:pt x="61" y="3"/>
                  </a:lnTo>
                  <a:lnTo>
                    <a:pt x="68" y="7"/>
                  </a:lnTo>
                  <a:lnTo>
                    <a:pt x="73" y="12"/>
                  </a:lnTo>
                  <a:lnTo>
                    <a:pt x="79" y="19"/>
                  </a:lnTo>
                  <a:lnTo>
                    <a:pt x="83" y="26"/>
                  </a:lnTo>
                  <a:lnTo>
                    <a:pt x="86" y="34"/>
                  </a:lnTo>
                  <a:lnTo>
                    <a:pt x="87" y="43"/>
                  </a:lnTo>
                  <a:lnTo>
                    <a:pt x="87" y="43"/>
                  </a:lnTo>
                  <a:lnTo>
                    <a:pt x="86" y="51"/>
                  </a:lnTo>
                  <a:lnTo>
                    <a:pt x="83" y="59"/>
                  </a:lnTo>
                  <a:lnTo>
                    <a:pt x="79" y="67"/>
                  </a:lnTo>
                  <a:lnTo>
                    <a:pt x="73" y="73"/>
                  </a:lnTo>
                  <a:lnTo>
                    <a:pt x="68" y="78"/>
                  </a:lnTo>
                  <a:lnTo>
                    <a:pt x="61" y="83"/>
                  </a:lnTo>
                  <a:lnTo>
                    <a:pt x="53" y="85"/>
                  </a:lnTo>
                  <a:lnTo>
                    <a:pt x="43" y="85"/>
                  </a:lnTo>
                  <a:lnTo>
                    <a:pt x="43" y="85"/>
                  </a:lnTo>
                  <a:lnTo>
                    <a:pt x="35" y="85"/>
                  </a:lnTo>
                  <a:lnTo>
                    <a:pt x="27" y="83"/>
                  </a:lnTo>
                  <a:lnTo>
                    <a:pt x="20" y="78"/>
                  </a:lnTo>
                  <a:lnTo>
                    <a:pt x="13" y="73"/>
                  </a:lnTo>
                  <a:lnTo>
                    <a:pt x="9" y="67"/>
                  </a:lnTo>
                  <a:lnTo>
                    <a:pt x="5" y="59"/>
                  </a:lnTo>
                  <a:lnTo>
                    <a:pt x="2" y="51"/>
                  </a:lnTo>
                  <a:lnTo>
                    <a:pt x="0" y="43"/>
                  </a:lnTo>
                  <a:lnTo>
                    <a:pt x="0" y="43"/>
                  </a:lnTo>
                  <a:lnTo>
                    <a:pt x="2" y="34"/>
                  </a:lnTo>
                  <a:lnTo>
                    <a:pt x="5" y="26"/>
                  </a:lnTo>
                  <a:lnTo>
                    <a:pt x="9" y="19"/>
                  </a:lnTo>
                  <a:lnTo>
                    <a:pt x="13" y="12"/>
                  </a:lnTo>
                  <a:lnTo>
                    <a:pt x="20" y="7"/>
                  </a:lnTo>
                  <a:lnTo>
                    <a:pt x="27" y="3"/>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72"/>
            <p:cNvSpPr>
              <a:spLocks/>
            </p:cNvSpPr>
            <p:nvPr userDrawn="1"/>
          </p:nvSpPr>
          <p:spPr bwMode="auto">
            <a:xfrm>
              <a:off x="3988" y="1286"/>
              <a:ext cx="43" cy="43"/>
            </a:xfrm>
            <a:custGeom>
              <a:avLst/>
              <a:gdLst>
                <a:gd name="T0" fmla="*/ 44 w 87"/>
                <a:gd name="T1" fmla="*/ 0 h 85"/>
                <a:gd name="T2" fmla="*/ 44 w 87"/>
                <a:gd name="T3" fmla="*/ 0 h 85"/>
                <a:gd name="T4" fmla="*/ 53 w 87"/>
                <a:gd name="T5" fmla="*/ 0 h 85"/>
                <a:gd name="T6" fmla="*/ 61 w 87"/>
                <a:gd name="T7" fmla="*/ 3 h 85"/>
                <a:gd name="T8" fmla="*/ 68 w 87"/>
                <a:gd name="T9" fmla="*/ 7 h 85"/>
                <a:gd name="T10" fmla="*/ 75 w 87"/>
                <a:gd name="T11" fmla="*/ 13 h 85"/>
                <a:gd name="T12" fmla="*/ 79 w 87"/>
                <a:gd name="T13" fmla="*/ 18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6 h 85"/>
                <a:gd name="T28" fmla="*/ 75 w 87"/>
                <a:gd name="T29" fmla="*/ 73 h 85"/>
                <a:gd name="T30" fmla="*/ 68 w 87"/>
                <a:gd name="T31" fmla="*/ 78 h 85"/>
                <a:gd name="T32" fmla="*/ 61 w 87"/>
                <a:gd name="T33" fmla="*/ 83 h 85"/>
                <a:gd name="T34" fmla="*/ 53 w 87"/>
                <a:gd name="T35" fmla="*/ 84 h 85"/>
                <a:gd name="T36" fmla="*/ 44 w 87"/>
                <a:gd name="T37" fmla="*/ 85 h 85"/>
                <a:gd name="T38" fmla="*/ 44 w 87"/>
                <a:gd name="T39" fmla="*/ 85 h 85"/>
                <a:gd name="T40" fmla="*/ 35 w 87"/>
                <a:gd name="T41" fmla="*/ 84 h 85"/>
                <a:gd name="T42" fmla="*/ 27 w 87"/>
                <a:gd name="T43" fmla="*/ 83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8 h 85"/>
                <a:gd name="T64" fmla="*/ 13 w 87"/>
                <a:gd name="T65" fmla="*/ 13 h 85"/>
                <a:gd name="T66" fmla="*/ 20 w 87"/>
                <a:gd name="T67" fmla="*/ 7 h 85"/>
                <a:gd name="T68" fmla="*/ 27 w 87"/>
                <a:gd name="T69" fmla="*/ 3 h 85"/>
                <a:gd name="T70" fmla="*/ 35 w 87"/>
                <a:gd name="T71" fmla="*/ 0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0"/>
                  </a:lnTo>
                  <a:lnTo>
                    <a:pt x="61" y="3"/>
                  </a:lnTo>
                  <a:lnTo>
                    <a:pt x="68" y="7"/>
                  </a:lnTo>
                  <a:lnTo>
                    <a:pt x="75" y="13"/>
                  </a:lnTo>
                  <a:lnTo>
                    <a:pt x="79" y="18"/>
                  </a:lnTo>
                  <a:lnTo>
                    <a:pt x="83" y="26"/>
                  </a:lnTo>
                  <a:lnTo>
                    <a:pt x="86" y="34"/>
                  </a:lnTo>
                  <a:lnTo>
                    <a:pt x="87" y="43"/>
                  </a:lnTo>
                  <a:lnTo>
                    <a:pt x="87" y="43"/>
                  </a:lnTo>
                  <a:lnTo>
                    <a:pt x="86" y="51"/>
                  </a:lnTo>
                  <a:lnTo>
                    <a:pt x="83" y="59"/>
                  </a:lnTo>
                  <a:lnTo>
                    <a:pt x="79" y="66"/>
                  </a:lnTo>
                  <a:lnTo>
                    <a:pt x="75" y="73"/>
                  </a:lnTo>
                  <a:lnTo>
                    <a:pt x="68" y="78"/>
                  </a:lnTo>
                  <a:lnTo>
                    <a:pt x="61" y="83"/>
                  </a:lnTo>
                  <a:lnTo>
                    <a:pt x="53" y="84"/>
                  </a:lnTo>
                  <a:lnTo>
                    <a:pt x="44" y="85"/>
                  </a:lnTo>
                  <a:lnTo>
                    <a:pt x="44" y="85"/>
                  </a:lnTo>
                  <a:lnTo>
                    <a:pt x="35" y="84"/>
                  </a:lnTo>
                  <a:lnTo>
                    <a:pt x="27" y="83"/>
                  </a:lnTo>
                  <a:lnTo>
                    <a:pt x="20" y="78"/>
                  </a:lnTo>
                  <a:lnTo>
                    <a:pt x="13" y="73"/>
                  </a:lnTo>
                  <a:lnTo>
                    <a:pt x="9" y="66"/>
                  </a:lnTo>
                  <a:lnTo>
                    <a:pt x="5" y="59"/>
                  </a:lnTo>
                  <a:lnTo>
                    <a:pt x="2" y="51"/>
                  </a:lnTo>
                  <a:lnTo>
                    <a:pt x="0" y="43"/>
                  </a:lnTo>
                  <a:lnTo>
                    <a:pt x="0" y="43"/>
                  </a:lnTo>
                  <a:lnTo>
                    <a:pt x="2" y="34"/>
                  </a:lnTo>
                  <a:lnTo>
                    <a:pt x="5" y="26"/>
                  </a:lnTo>
                  <a:lnTo>
                    <a:pt x="9" y="18"/>
                  </a:lnTo>
                  <a:lnTo>
                    <a:pt x="13" y="13"/>
                  </a:lnTo>
                  <a:lnTo>
                    <a:pt x="20" y="7"/>
                  </a:lnTo>
                  <a:lnTo>
                    <a:pt x="27" y="3"/>
                  </a:lnTo>
                  <a:lnTo>
                    <a:pt x="35" y="0"/>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73"/>
            <p:cNvSpPr>
              <a:spLocks/>
            </p:cNvSpPr>
            <p:nvPr userDrawn="1"/>
          </p:nvSpPr>
          <p:spPr bwMode="auto">
            <a:xfrm>
              <a:off x="3988" y="1230"/>
              <a:ext cx="43" cy="42"/>
            </a:xfrm>
            <a:custGeom>
              <a:avLst/>
              <a:gdLst>
                <a:gd name="T0" fmla="*/ 44 w 87"/>
                <a:gd name="T1" fmla="*/ 0 h 86"/>
                <a:gd name="T2" fmla="*/ 44 w 87"/>
                <a:gd name="T3" fmla="*/ 0 h 86"/>
                <a:gd name="T4" fmla="*/ 53 w 87"/>
                <a:gd name="T5" fmla="*/ 0 h 86"/>
                <a:gd name="T6" fmla="*/ 61 w 87"/>
                <a:gd name="T7" fmla="*/ 3 h 86"/>
                <a:gd name="T8" fmla="*/ 68 w 87"/>
                <a:gd name="T9" fmla="*/ 7 h 86"/>
                <a:gd name="T10" fmla="*/ 75 w 87"/>
                <a:gd name="T11" fmla="*/ 13 h 86"/>
                <a:gd name="T12" fmla="*/ 79 w 87"/>
                <a:gd name="T13" fmla="*/ 18 h 86"/>
                <a:gd name="T14" fmla="*/ 83 w 87"/>
                <a:gd name="T15" fmla="*/ 27 h 86"/>
                <a:gd name="T16" fmla="*/ 86 w 87"/>
                <a:gd name="T17" fmla="*/ 33 h 86"/>
                <a:gd name="T18" fmla="*/ 87 w 87"/>
                <a:gd name="T19" fmla="*/ 43 h 86"/>
                <a:gd name="T20" fmla="*/ 87 w 87"/>
                <a:gd name="T21" fmla="*/ 43 h 86"/>
                <a:gd name="T22" fmla="*/ 86 w 87"/>
                <a:gd name="T23" fmla="*/ 51 h 86"/>
                <a:gd name="T24" fmla="*/ 83 w 87"/>
                <a:gd name="T25" fmla="*/ 60 h 86"/>
                <a:gd name="T26" fmla="*/ 79 w 87"/>
                <a:gd name="T27" fmla="*/ 66 h 86"/>
                <a:gd name="T28" fmla="*/ 75 w 87"/>
                <a:gd name="T29" fmla="*/ 73 h 86"/>
                <a:gd name="T30" fmla="*/ 68 w 87"/>
                <a:gd name="T31" fmla="*/ 79 h 86"/>
                <a:gd name="T32" fmla="*/ 61 w 87"/>
                <a:gd name="T33" fmla="*/ 82 h 86"/>
                <a:gd name="T34" fmla="*/ 53 w 87"/>
                <a:gd name="T35" fmla="*/ 84 h 86"/>
                <a:gd name="T36" fmla="*/ 44 w 87"/>
                <a:gd name="T37" fmla="*/ 86 h 86"/>
                <a:gd name="T38" fmla="*/ 44 w 87"/>
                <a:gd name="T39" fmla="*/ 86 h 86"/>
                <a:gd name="T40" fmla="*/ 35 w 87"/>
                <a:gd name="T41" fmla="*/ 84 h 86"/>
                <a:gd name="T42" fmla="*/ 27 w 87"/>
                <a:gd name="T43" fmla="*/ 82 h 86"/>
                <a:gd name="T44" fmla="*/ 20 w 87"/>
                <a:gd name="T45" fmla="*/ 79 h 86"/>
                <a:gd name="T46" fmla="*/ 13 w 87"/>
                <a:gd name="T47" fmla="*/ 73 h 86"/>
                <a:gd name="T48" fmla="*/ 9 w 87"/>
                <a:gd name="T49" fmla="*/ 66 h 86"/>
                <a:gd name="T50" fmla="*/ 5 w 87"/>
                <a:gd name="T51" fmla="*/ 60 h 86"/>
                <a:gd name="T52" fmla="*/ 2 w 87"/>
                <a:gd name="T53" fmla="*/ 51 h 86"/>
                <a:gd name="T54" fmla="*/ 0 w 87"/>
                <a:gd name="T55" fmla="*/ 43 h 86"/>
                <a:gd name="T56" fmla="*/ 0 w 87"/>
                <a:gd name="T57" fmla="*/ 43 h 86"/>
                <a:gd name="T58" fmla="*/ 2 w 87"/>
                <a:gd name="T59" fmla="*/ 33 h 86"/>
                <a:gd name="T60" fmla="*/ 5 w 87"/>
                <a:gd name="T61" fmla="*/ 27 h 86"/>
                <a:gd name="T62" fmla="*/ 9 w 87"/>
                <a:gd name="T63" fmla="*/ 18 h 86"/>
                <a:gd name="T64" fmla="*/ 13 w 87"/>
                <a:gd name="T65" fmla="*/ 13 h 86"/>
                <a:gd name="T66" fmla="*/ 20 w 87"/>
                <a:gd name="T67" fmla="*/ 7 h 86"/>
                <a:gd name="T68" fmla="*/ 27 w 87"/>
                <a:gd name="T69" fmla="*/ 3 h 86"/>
                <a:gd name="T70" fmla="*/ 35 w 87"/>
                <a:gd name="T71" fmla="*/ 0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0"/>
                  </a:lnTo>
                  <a:lnTo>
                    <a:pt x="61" y="3"/>
                  </a:lnTo>
                  <a:lnTo>
                    <a:pt x="68" y="7"/>
                  </a:lnTo>
                  <a:lnTo>
                    <a:pt x="75" y="13"/>
                  </a:lnTo>
                  <a:lnTo>
                    <a:pt x="79" y="18"/>
                  </a:lnTo>
                  <a:lnTo>
                    <a:pt x="83" y="27"/>
                  </a:lnTo>
                  <a:lnTo>
                    <a:pt x="86" y="33"/>
                  </a:lnTo>
                  <a:lnTo>
                    <a:pt x="87" y="43"/>
                  </a:lnTo>
                  <a:lnTo>
                    <a:pt x="87" y="43"/>
                  </a:lnTo>
                  <a:lnTo>
                    <a:pt x="86" y="51"/>
                  </a:lnTo>
                  <a:lnTo>
                    <a:pt x="83" y="60"/>
                  </a:lnTo>
                  <a:lnTo>
                    <a:pt x="79" y="66"/>
                  </a:lnTo>
                  <a:lnTo>
                    <a:pt x="75" y="73"/>
                  </a:lnTo>
                  <a:lnTo>
                    <a:pt x="68" y="79"/>
                  </a:lnTo>
                  <a:lnTo>
                    <a:pt x="61" y="82"/>
                  </a:lnTo>
                  <a:lnTo>
                    <a:pt x="53" y="84"/>
                  </a:lnTo>
                  <a:lnTo>
                    <a:pt x="44" y="86"/>
                  </a:lnTo>
                  <a:lnTo>
                    <a:pt x="44" y="86"/>
                  </a:lnTo>
                  <a:lnTo>
                    <a:pt x="35" y="84"/>
                  </a:lnTo>
                  <a:lnTo>
                    <a:pt x="27" y="82"/>
                  </a:lnTo>
                  <a:lnTo>
                    <a:pt x="20" y="79"/>
                  </a:lnTo>
                  <a:lnTo>
                    <a:pt x="13" y="73"/>
                  </a:lnTo>
                  <a:lnTo>
                    <a:pt x="9" y="66"/>
                  </a:lnTo>
                  <a:lnTo>
                    <a:pt x="5" y="60"/>
                  </a:lnTo>
                  <a:lnTo>
                    <a:pt x="2" y="51"/>
                  </a:lnTo>
                  <a:lnTo>
                    <a:pt x="0" y="43"/>
                  </a:lnTo>
                  <a:lnTo>
                    <a:pt x="0" y="43"/>
                  </a:lnTo>
                  <a:lnTo>
                    <a:pt x="2" y="33"/>
                  </a:lnTo>
                  <a:lnTo>
                    <a:pt x="5" y="27"/>
                  </a:lnTo>
                  <a:lnTo>
                    <a:pt x="9" y="18"/>
                  </a:lnTo>
                  <a:lnTo>
                    <a:pt x="13" y="13"/>
                  </a:lnTo>
                  <a:lnTo>
                    <a:pt x="20" y="7"/>
                  </a:lnTo>
                  <a:lnTo>
                    <a:pt x="27" y="3"/>
                  </a:lnTo>
                  <a:lnTo>
                    <a:pt x="35" y="0"/>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74"/>
            <p:cNvSpPr>
              <a:spLocks/>
            </p:cNvSpPr>
            <p:nvPr userDrawn="1"/>
          </p:nvSpPr>
          <p:spPr bwMode="auto">
            <a:xfrm>
              <a:off x="3988" y="1060"/>
              <a:ext cx="43" cy="43"/>
            </a:xfrm>
            <a:custGeom>
              <a:avLst/>
              <a:gdLst>
                <a:gd name="T0" fmla="*/ 44 w 87"/>
                <a:gd name="T1" fmla="*/ 0 h 87"/>
                <a:gd name="T2" fmla="*/ 44 w 87"/>
                <a:gd name="T3" fmla="*/ 0 h 87"/>
                <a:gd name="T4" fmla="*/ 53 w 87"/>
                <a:gd name="T5" fmla="*/ 1 h 87"/>
                <a:gd name="T6" fmla="*/ 61 w 87"/>
                <a:gd name="T7" fmla="*/ 4 h 87"/>
                <a:gd name="T8" fmla="*/ 68 w 87"/>
                <a:gd name="T9" fmla="*/ 8 h 87"/>
                <a:gd name="T10" fmla="*/ 75 w 87"/>
                <a:gd name="T11" fmla="*/ 12 h 87"/>
                <a:gd name="T12" fmla="*/ 79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79 w 87"/>
                <a:gd name="T27" fmla="*/ 67 h 87"/>
                <a:gd name="T28" fmla="*/ 75 w 87"/>
                <a:gd name="T29" fmla="*/ 73 h 87"/>
                <a:gd name="T30" fmla="*/ 68 w 87"/>
                <a:gd name="T31" fmla="*/ 78 h 87"/>
                <a:gd name="T32" fmla="*/ 61 w 87"/>
                <a:gd name="T33" fmla="*/ 83 h 87"/>
                <a:gd name="T34" fmla="*/ 53 w 87"/>
                <a:gd name="T35" fmla="*/ 85 h 87"/>
                <a:gd name="T36" fmla="*/ 44 w 87"/>
                <a:gd name="T37" fmla="*/ 87 h 87"/>
                <a:gd name="T38" fmla="*/ 44 w 87"/>
                <a:gd name="T39" fmla="*/ 87 h 87"/>
                <a:gd name="T40" fmla="*/ 35 w 87"/>
                <a:gd name="T41" fmla="*/ 85 h 87"/>
                <a:gd name="T42" fmla="*/ 27 w 87"/>
                <a:gd name="T43" fmla="*/ 83 h 87"/>
                <a:gd name="T44" fmla="*/ 20 w 87"/>
                <a:gd name="T45" fmla="*/ 78 h 87"/>
                <a:gd name="T46" fmla="*/ 13 w 87"/>
                <a:gd name="T47" fmla="*/ 73 h 87"/>
                <a:gd name="T48" fmla="*/ 9 w 87"/>
                <a:gd name="T49" fmla="*/ 67 h 87"/>
                <a:gd name="T50" fmla="*/ 5 w 87"/>
                <a:gd name="T51" fmla="*/ 61 h 87"/>
                <a:gd name="T52" fmla="*/ 2 w 87"/>
                <a:gd name="T53" fmla="*/ 52 h 87"/>
                <a:gd name="T54" fmla="*/ 0 w 87"/>
                <a:gd name="T55" fmla="*/ 43 h 87"/>
                <a:gd name="T56" fmla="*/ 0 w 87"/>
                <a:gd name="T57" fmla="*/ 43 h 87"/>
                <a:gd name="T58" fmla="*/ 2 w 87"/>
                <a:gd name="T59" fmla="*/ 34 h 87"/>
                <a:gd name="T60" fmla="*/ 5 w 87"/>
                <a:gd name="T61" fmla="*/ 26 h 87"/>
                <a:gd name="T62" fmla="*/ 9 w 87"/>
                <a:gd name="T63" fmla="*/ 19 h 87"/>
                <a:gd name="T64" fmla="*/ 13 w 87"/>
                <a:gd name="T65" fmla="*/ 12 h 87"/>
                <a:gd name="T66" fmla="*/ 20 w 87"/>
                <a:gd name="T67" fmla="*/ 8 h 87"/>
                <a:gd name="T68" fmla="*/ 27 w 87"/>
                <a:gd name="T69" fmla="*/ 4 h 87"/>
                <a:gd name="T70" fmla="*/ 35 w 87"/>
                <a:gd name="T71" fmla="*/ 1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1"/>
                  </a:lnTo>
                  <a:lnTo>
                    <a:pt x="61" y="4"/>
                  </a:lnTo>
                  <a:lnTo>
                    <a:pt x="68" y="8"/>
                  </a:lnTo>
                  <a:lnTo>
                    <a:pt x="75" y="12"/>
                  </a:lnTo>
                  <a:lnTo>
                    <a:pt x="79" y="19"/>
                  </a:lnTo>
                  <a:lnTo>
                    <a:pt x="83" y="26"/>
                  </a:lnTo>
                  <a:lnTo>
                    <a:pt x="86" y="34"/>
                  </a:lnTo>
                  <a:lnTo>
                    <a:pt x="87" y="43"/>
                  </a:lnTo>
                  <a:lnTo>
                    <a:pt x="87" y="43"/>
                  </a:lnTo>
                  <a:lnTo>
                    <a:pt x="86" y="52"/>
                  </a:lnTo>
                  <a:lnTo>
                    <a:pt x="83" y="61"/>
                  </a:lnTo>
                  <a:lnTo>
                    <a:pt x="79" y="67"/>
                  </a:lnTo>
                  <a:lnTo>
                    <a:pt x="75" y="73"/>
                  </a:lnTo>
                  <a:lnTo>
                    <a:pt x="68" y="78"/>
                  </a:lnTo>
                  <a:lnTo>
                    <a:pt x="61" y="83"/>
                  </a:lnTo>
                  <a:lnTo>
                    <a:pt x="53" y="85"/>
                  </a:lnTo>
                  <a:lnTo>
                    <a:pt x="44" y="87"/>
                  </a:lnTo>
                  <a:lnTo>
                    <a:pt x="44" y="87"/>
                  </a:lnTo>
                  <a:lnTo>
                    <a:pt x="35" y="85"/>
                  </a:lnTo>
                  <a:lnTo>
                    <a:pt x="27" y="83"/>
                  </a:lnTo>
                  <a:lnTo>
                    <a:pt x="20" y="78"/>
                  </a:lnTo>
                  <a:lnTo>
                    <a:pt x="13" y="73"/>
                  </a:lnTo>
                  <a:lnTo>
                    <a:pt x="9" y="67"/>
                  </a:lnTo>
                  <a:lnTo>
                    <a:pt x="5" y="61"/>
                  </a:lnTo>
                  <a:lnTo>
                    <a:pt x="2" y="52"/>
                  </a:lnTo>
                  <a:lnTo>
                    <a:pt x="0" y="43"/>
                  </a:lnTo>
                  <a:lnTo>
                    <a:pt x="0" y="43"/>
                  </a:lnTo>
                  <a:lnTo>
                    <a:pt x="2" y="34"/>
                  </a:lnTo>
                  <a:lnTo>
                    <a:pt x="5" y="26"/>
                  </a:lnTo>
                  <a:lnTo>
                    <a:pt x="9" y="19"/>
                  </a:lnTo>
                  <a:lnTo>
                    <a:pt x="13" y="12"/>
                  </a:lnTo>
                  <a:lnTo>
                    <a:pt x="20" y="8"/>
                  </a:lnTo>
                  <a:lnTo>
                    <a:pt x="27"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75"/>
            <p:cNvSpPr>
              <a:spLocks/>
            </p:cNvSpPr>
            <p:nvPr userDrawn="1"/>
          </p:nvSpPr>
          <p:spPr bwMode="auto">
            <a:xfrm>
              <a:off x="3988" y="1004"/>
              <a:ext cx="43" cy="42"/>
            </a:xfrm>
            <a:custGeom>
              <a:avLst/>
              <a:gdLst>
                <a:gd name="T0" fmla="*/ 44 w 87"/>
                <a:gd name="T1" fmla="*/ 0 h 86"/>
                <a:gd name="T2" fmla="*/ 44 w 87"/>
                <a:gd name="T3" fmla="*/ 0 h 86"/>
                <a:gd name="T4" fmla="*/ 53 w 87"/>
                <a:gd name="T5" fmla="*/ 2 h 86"/>
                <a:gd name="T6" fmla="*/ 61 w 87"/>
                <a:gd name="T7" fmla="*/ 5 h 86"/>
                <a:gd name="T8" fmla="*/ 68 w 87"/>
                <a:gd name="T9" fmla="*/ 7 h 86"/>
                <a:gd name="T10" fmla="*/ 75 w 87"/>
                <a:gd name="T11" fmla="*/ 13 h 86"/>
                <a:gd name="T12" fmla="*/ 79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79 w 87"/>
                <a:gd name="T27" fmla="*/ 68 h 86"/>
                <a:gd name="T28" fmla="*/ 75 w 87"/>
                <a:gd name="T29" fmla="*/ 73 h 86"/>
                <a:gd name="T30" fmla="*/ 68 w 87"/>
                <a:gd name="T31" fmla="*/ 79 h 86"/>
                <a:gd name="T32" fmla="*/ 61 w 87"/>
                <a:gd name="T33" fmla="*/ 83 h 86"/>
                <a:gd name="T34" fmla="*/ 53 w 87"/>
                <a:gd name="T35" fmla="*/ 86 h 86"/>
                <a:gd name="T36" fmla="*/ 44 w 87"/>
                <a:gd name="T37" fmla="*/ 86 h 86"/>
                <a:gd name="T38" fmla="*/ 44 w 87"/>
                <a:gd name="T39" fmla="*/ 86 h 86"/>
                <a:gd name="T40" fmla="*/ 35 w 87"/>
                <a:gd name="T41" fmla="*/ 86 h 86"/>
                <a:gd name="T42" fmla="*/ 27 w 87"/>
                <a:gd name="T43" fmla="*/ 83 h 86"/>
                <a:gd name="T44" fmla="*/ 20 w 87"/>
                <a:gd name="T45" fmla="*/ 79 h 86"/>
                <a:gd name="T46" fmla="*/ 13 w 87"/>
                <a:gd name="T47" fmla="*/ 73 h 86"/>
                <a:gd name="T48" fmla="*/ 9 w 87"/>
                <a:gd name="T49" fmla="*/ 68 h 86"/>
                <a:gd name="T50" fmla="*/ 5 w 87"/>
                <a:gd name="T51" fmla="*/ 59 h 86"/>
                <a:gd name="T52" fmla="*/ 2 w 87"/>
                <a:gd name="T53" fmla="*/ 53 h 86"/>
                <a:gd name="T54" fmla="*/ 0 w 87"/>
                <a:gd name="T55" fmla="*/ 43 h 86"/>
                <a:gd name="T56" fmla="*/ 0 w 87"/>
                <a:gd name="T57" fmla="*/ 43 h 86"/>
                <a:gd name="T58" fmla="*/ 2 w 87"/>
                <a:gd name="T59" fmla="*/ 35 h 86"/>
                <a:gd name="T60" fmla="*/ 5 w 87"/>
                <a:gd name="T61" fmla="*/ 27 h 86"/>
                <a:gd name="T62" fmla="*/ 9 w 87"/>
                <a:gd name="T63" fmla="*/ 20 h 86"/>
                <a:gd name="T64" fmla="*/ 13 w 87"/>
                <a:gd name="T65" fmla="*/ 13 h 86"/>
                <a:gd name="T66" fmla="*/ 20 w 87"/>
                <a:gd name="T67" fmla="*/ 7 h 86"/>
                <a:gd name="T68" fmla="*/ 27 w 87"/>
                <a:gd name="T69" fmla="*/ 5 h 86"/>
                <a:gd name="T70" fmla="*/ 35 w 87"/>
                <a:gd name="T71" fmla="*/ 2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2"/>
                  </a:lnTo>
                  <a:lnTo>
                    <a:pt x="61" y="5"/>
                  </a:lnTo>
                  <a:lnTo>
                    <a:pt x="68" y="7"/>
                  </a:lnTo>
                  <a:lnTo>
                    <a:pt x="75" y="13"/>
                  </a:lnTo>
                  <a:lnTo>
                    <a:pt x="79" y="20"/>
                  </a:lnTo>
                  <a:lnTo>
                    <a:pt x="83" y="27"/>
                  </a:lnTo>
                  <a:lnTo>
                    <a:pt x="86" y="35"/>
                  </a:lnTo>
                  <a:lnTo>
                    <a:pt x="87" y="43"/>
                  </a:lnTo>
                  <a:lnTo>
                    <a:pt x="87" y="43"/>
                  </a:lnTo>
                  <a:lnTo>
                    <a:pt x="86" y="53"/>
                  </a:lnTo>
                  <a:lnTo>
                    <a:pt x="83" y="59"/>
                  </a:lnTo>
                  <a:lnTo>
                    <a:pt x="79" y="68"/>
                  </a:lnTo>
                  <a:lnTo>
                    <a:pt x="75" y="73"/>
                  </a:lnTo>
                  <a:lnTo>
                    <a:pt x="68" y="79"/>
                  </a:lnTo>
                  <a:lnTo>
                    <a:pt x="61" y="83"/>
                  </a:lnTo>
                  <a:lnTo>
                    <a:pt x="53" y="86"/>
                  </a:lnTo>
                  <a:lnTo>
                    <a:pt x="44" y="86"/>
                  </a:lnTo>
                  <a:lnTo>
                    <a:pt x="44" y="86"/>
                  </a:lnTo>
                  <a:lnTo>
                    <a:pt x="35" y="86"/>
                  </a:lnTo>
                  <a:lnTo>
                    <a:pt x="27" y="83"/>
                  </a:lnTo>
                  <a:lnTo>
                    <a:pt x="20" y="79"/>
                  </a:lnTo>
                  <a:lnTo>
                    <a:pt x="13" y="73"/>
                  </a:lnTo>
                  <a:lnTo>
                    <a:pt x="9" y="68"/>
                  </a:lnTo>
                  <a:lnTo>
                    <a:pt x="5" y="59"/>
                  </a:lnTo>
                  <a:lnTo>
                    <a:pt x="2" y="53"/>
                  </a:lnTo>
                  <a:lnTo>
                    <a:pt x="0" y="43"/>
                  </a:lnTo>
                  <a:lnTo>
                    <a:pt x="0" y="43"/>
                  </a:lnTo>
                  <a:lnTo>
                    <a:pt x="2" y="35"/>
                  </a:lnTo>
                  <a:lnTo>
                    <a:pt x="5" y="27"/>
                  </a:lnTo>
                  <a:lnTo>
                    <a:pt x="9" y="20"/>
                  </a:lnTo>
                  <a:lnTo>
                    <a:pt x="13" y="13"/>
                  </a:lnTo>
                  <a:lnTo>
                    <a:pt x="20" y="7"/>
                  </a:lnTo>
                  <a:lnTo>
                    <a:pt x="27"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76"/>
            <p:cNvSpPr>
              <a:spLocks/>
            </p:cNvSpPr>
            <p:nvPr userDrawn="1"/>
          </p:nvSpPr>
          <p:spPr bwMode="auto">
            <a:xfrm>
              <a:off x="3988" y="947"/>
              <a:ext cx="43" cy="43"/>
            </a:xfrm>
            <a:custGeom>
              <a:avLst/>
              <a:gdLst>
                <a:gd name="T0" fmla="*/ 44 w 87"/>
                <a:gd name="T1" fmla="*/ 0 h 85"/>
                <a:gd name="T2" fmla="*/ 44 w 87"/>
                <a:gd name="T3" fmla="*/ 0 h 85"/>
                <a:gd name="T4" fmla="*/ 53 w 87"/>
                <a:gd name="T5" fmla="*/ 1 h 85"/>
                <a:gd name="T6" fmla="*/ 61 w 87"/>
                <a:gd name="T7" fmla="*/ 2 h 85"/>
                <a:gd name="T8" fmla="*/ 68 w 87"/>
                <a:gd name="T9" fmla="*/ 7 h 85"/>
                <a:gd name="T10" fmla="*/ 75 w 87"/>
                <a:gd name="T11" fmla="*/ 12 h 85"/>
                <a:gd name="T12" fmla="*/ 79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7 h 85"/>
                <a:gd name="T28" fmla="*/ 75 w 87"/>
                <a:gd name="T29" fmla="*/ 73 h 85"/>
                <a:gd name="T30" fmla="*/ 68 w 87"/>
                <a:gd name="T31" fmla="*/ 78 h 85"/>
                <a:gd name="T32" fmla="*/ 61 w 87"/>
                <a:gd name="T33" fmla="*/ 82 h 85"/>
                <a:gd name="T34" fmla="*/ 53 w 87"/>
                <a:gd name="T35" fmla="*/ 85 h 85"/>
                <a:gd name="T36" fmla="*/ 44 w 87"/>
                <a:gd name="T37" fmla="*/ 85 h 85"/>
                <a:gd name="T38" fmla="*/ 44 w 87"/>
                <a:gd name="T39" fmla="*/ 85 h 85"/>
                <a:gd name="T40" fmla="*/ 35 w 87"/>
                <a:gd name="T41" fmla="*/ 85 h 85"/>
                <a:gd name="T42" fmla="*/ 27 w 87"/>
                <a:gd name="T43" fmla="*/ 82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2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2"/>
                  </a:lnTo>
                  <a:lnTo>
                    <a:pt x="68" y="7"/>
                  </a:lnTo>
                  <a:lnTo>
                    <a:pt x="75" y="12"/>
                  </a:lnTo>
                  <a:lnTo>
                    <a:pt x="79" y="19"/>
                  </a:lnTo>
                  <a:lnTo>
                    <a:pt x="83" y="26"/>
                  </a:lnTo>
                  <a:lnTo>
                    <a:pt x="86" y="34"/>
                  </a:lnTo>
                  <a:lnTo>
                    <a:pt x="87" y="42"/>
                  </a:lnTo>
                  <a:lnTo>
                    <a:pt x="87" y="42"/>
                  </a:lnTo>
                  <a:lnTo>
                    <a:pt x="86" y="51"/>
                  </a:lnTo>
                  <a:lnTo>
                    <a:pt x="83" y="59"/>
                  </a:lnTo>
                  <a:lnTo>
                    <a:pt x="79" y="67"/>
                  </a:lnTo>
                  <a:lnTo>
                    <a:pt x="75" y="73"/>
                  </a:lnTo>
                  <a:lnTo>
                    <a:pt x="68" y="78"/>
                  </a:lnTo>
                  <a:lnTo>
                    <a:pt x="61" y="82"/>
                  </a:lnTo>
                  <a:lnTo>
                    <a:pt x="53" y="85"/>
                  </a:lnTo>
                  <a:lnTo>
                    <a:pt x="44" y="85"/>
                  </a:lnTo>
                  <a:lnTo>
                    <a:pt x="44" y="85"/>
                  </a:lnTo>
                  <a:lnTo>
                    <a:pt x="35" y="85"/>
                  </a:lnTo>
                  <a:lnTo>
                    <a:pt x="27" y="82"/>
                  </a:lnTo>
                  <a:lnTo>
                    <a:pt x="20" y="78"/>
                  </a:lnTo>
                  <a:lnTo>
                    <a:pt x="13" y="73"/>
                  </a:lnTo>
                  <a:lnTo>
                    <a:pt x="9" y="67"/>
                  </a:lnTo>
                  <a:lnTo>
                    <a:pt x="5" y="59"/>
                  </a:lnTo>
                  <a:lnTo>
                    <a:pt x="2" y="51"/>
                  </a:lnTo>
                  <a:lnTo>
                    <a:pt x="0" y="42"/>
                  </a:lnTo>
                  <a:lnTo>
                    <a:pt x="0" y="42"/>
                  </a:lnTo>
                  <a:lnTo>
                    <a:pt x="2" y="34"/>
                  </a:lnTo>
                  <a:lnTo>
                    <a:pt x="5" y="26"/>
                  </a:lnTo>
                  <a:lnTo>
                    <a:pt x="9" y="19"/>
                  </a:lnTo>
                  <a:lnTo>
                    <a:pt x="13" y="12"/>
                  </a:lnTo>
                  <a:lnTo>
                    <a:pt x="20" y="7"/>
                  </a:lnTo>
                  <a:lnTo>
                    <a:pt x="27" y="2"/>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77"/>
            <p:cNvSpPr>
              <a:spLocks/>
            </p:cNvSpPr>
            <p:nvPr userDrawn="1"/>
          </p:nvSpPr>
          <p:spPr bwMode="auto">
            <a:xfrm>
              <a:off x="3988" y="891"/>
              <a:ext cx="43" cy="43"/>
            </a:xfrm>
            <a:custGeom>
              <a:avLst/>
              <a:gdLst>
                <a:gd name="T0" fmla="*/ 44 w 87"/>
                <a:gd name="T1" fmla="*/ 0 h 85"/>
                <a:gd name="T2" fmla="*/ 44 w 87"/>
                <a:gd name="T3" fmla="*/ 0 h 85"/>
                <a:gd name="T4" fmla="*/ 53 w 87"/>
                <a:gd name="T5" fmla="*/ 1 h 85"/>
                <a:gd name="T6" fmla="*/ 61 w 87"/>
                <a:gd name="T7" fmla="*/ 3 h 85"/>
                <a:gd name="T8" fmla="*/ 68 w 87"/>
                <a:gd name="T9" fmla="*/ 7 h 85"/>
                <a:gd name="T10" fmla="*/ 75 w 87"/>
                <a:gd name="T11" fmla="*/ 12 h 85"/>
                <a:gd name="T12" fmla="*/ 79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7 h 85"/>
                <a:gd name="T28" fmla="*/ 75 w 87"/>
                <a:gd name="T29" fmla="*/ 73 h 85"/>
                <a:gd name="T30" fmla="*/ 68 w 87"/>
                <a:gd name="T31" fmla="*/ 78 h 85"/>
                <a:gd name="T32" fmla="*/ 61 w 87"/>
                <a:gd name="T33" fmla="*/ 83 h 85"/>
                <a:gd name="T34" fmla="*/ 53 w 87"/>
                <a:gd name="T35" fmla="*/ 85 h 85"/>
                <a:gd name="T36" fmla="*/ 44 w 87"/>
                <a:gd name="T37" fmla="*/ 85 h 85"/>
                <a:gd name="T38" fmla="*/ 44 w 87"/>
                <a:gd name="T39" fmla="*/ 85 h 85"/>
                <a:gd name="T40" fmla="*/ 35 w 87"/>
                <a:gd name="T41" fmla="*/ 85 h 85"/>
                <a:gd name="T42" fmla="*/ 27 w 87"/>
                <a:gd name="T43" fmla="*/ 83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3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3"/>
                  </a:lnTo>
                  <a:lnTo>
                    <a:pt x="68" y="7"/>
                  </a:lnTo>
                  <a:lnTo>
                    <a:pt x="75" y="12"/>
                  </a:lnTo>
                  <a:lnTo>
                    <a:pt x="79" y="19"/>
                  </a:lnTo>
                  <a:lnTo>
                    <a:pt x="83" y="26"/>
                  </a:lnTo>
                  <a:lnTo>
                    <a:pt x="86" y="34"/>
                  </a:lnTo>
                  <a:lnTo>
                    <a:pt x="87" y="43"/>
                  </a:lnTo>
                  <a:lnTo>
                    <a:pt x="87" y="43"/>
                  </a:lnTo>
                  <a:lnTo>
                    <a:pt x="86" y="51"/>
                  </a:lnTo>
                  <a:lnTo>
                    <a:pt x="83" y="59"/>
                  </a:lnTo>
                  <a:lnTo>
                    <a:pt x="79" y="67"/>
                  </a:lnTo>
                  <a:lnTo>
                    <a:pt x="75" y="73"/>
                  </a:lnTo>
                  <a:lnTo>
                    <a:pt x="68" y="78"/>
                  </a:lnTo>
                  <a:lnTo>
                    <a:pt x="61" y="83"/>
                  </a:lnTo>
                  <a:lnTo>
                    <a:pt x="53" y="85"/>
                  </a:lnTo>
                  <a:lnTo>
                    <a:pt x="44" y="85"/>
                  </a:lnTo>
                  <a:lnTo>
                    <a:pt x="44" y="85"/>
                  </a:lnTo>
                  <a:lnTo>
                    <a:pt x="35" y="85"/>
                  </a:lnTo>
                  <a:lnTo>
                    <a:pt x="27" y="83"/>
                  </a:lnTo>
                  <a:lnTo>
                    <a:pt x="20" y="78"/>
                  </a:lnTo>
                  <a:lnTo>
                    <a:pt x="13" y="73"/>
                  </a:lnTo>
                  <a:lnTo>
                    <a:pt x="9" y="67"/>
                  </a:lnTo>
                  <a:lnTo>
                    <a:pt x="5" y="59"/>
                  </a:lnTo>
                  <a:lnTo>
                    <a:pt x="2" y="51"/>
                  </a:lnTo>
                  <a:lnTo>
                    <a:pt x="0" y="43"/>
                  </a:lnTo>
                  <a:lnTo>
                    <a:pt x="0" y="43"/>
                  </a:lnTo>
                  <a:lnTo>
                    <a:pt x="2" y="34"/>
                  </a:lnTo>
                  <a:lnTo>
                    <a:pt x="5" y="26"/>
                  </a:lnTo>
                  <a:lnTo>
                    <a:pt x="9" y="19"/>
                  </a:lnTo>
                  <a:lnTo>
                    <a:pt x="13" y="12"/>
                  </a:lnTo>
                  <a:lnTo>
                    <a:pt x="20" y="7"/>
                  </a:lnTo>
                  <a:lnTo>
                    <a:pt x="27" y="3"/>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78"/>
            <p:cNvSpPr>
              <a:spLocks/>
            </p:cNvSpPr>
            <p:nvPr userDrawn="1"/>
          </p:nvSpPr>
          <p:spPr bwMode="auto">
            <a:xfrm>
              <a:off x="4044" y="1230"/>
              <a:ext cx="44" cy="42"/>
            </a:xfrm>
            <a:custGeom>
              <a:avLst/>
              <a:gdLst>
                <a:gd name="T0" fmla="*/ 44 w 87"/>
                <a:gd name="T1" fmla="*/ 0 h 86"/>
                <a:gd name="T2" fmla="*/ 44 w 87"/>
                <a:gd name="T3" fmla="*/ 0 h 86"/>
                <a:gd name="T4" fmla="*/ 53 w 87"/>
                <a:gd name="T5" fmla="*/ 0 h 86"/>
                <a:gd name="T6" fmla="*/ 61 w 87"/>
                <a:gd name="T7" fmla="*/ 3 h 86"/>
                <a:gd name="T8" fmla="*/ 68 w 87"/>
                <a:gd name="T9" fmla="*/ 7 h 86"/>
                <a:gd name="T10" fmla="*/ 75 w 87"/>
                <a:gd name="T11" fmla="*/ 13 h 86"/>
                <a:gd name="T12" fmla="*/ 80 w 87"/>
                <a:gd name="T13" fmla="*/ 18 h 86"/>
                <a:gd name="T14" fmla="*/ 83 w 87"/>
                <a:gd name="T15" fmla="*/ 27 h 86"/>
                <a:gd name="T16" fmla="*/ 86 w 87"/>
                <a:gd name="T17" fmla="*/ 33 h 86"/>
                <a:gd name="T18" fmla="*/ 87 w 87"/>
                <a:gd name="T19" fmla="*/ 43 h 86"/>
                <a:gd name="T20" fmla="*/ 87 w 87"/>
                <a:gd name="T21" fmla="*/ 43 h 86"/>
                <a:gd name="T22" fmla="*/ 86 w 87"/>
                <a:gd name="T23" fmla="*/ 51 h 86"/>
                <a:gd name="T24" fmla="*/ 83 w 87"/>
                <a:gd name="T25" fmla="*/ 60 h 86"/>
                <a:gd name="T26" fmla="*/ 80 w 87"/>
                <a:gd name="T27" fmla="*/ 66 h 86"/>
                <a:gd name="T28" fmla="*/ 75 w 87"/>
                <a:gd name="T29" fmla="*/ 73 h 86"/>
                <a:gd name="T30" fmla="*/ 68 w 87"/>
                <a:gd name="T31" fmla="*/ 79 h 86"/>
                <a:gd name="T32" fmla="*/ 61 w 87"/>
                <a:gd name="T33" fmla="*/ 82 h 86"/>
                <a:gd name="T34" fmla="*/ 53 w 87"/>
                <a:gd name="T35" fmla="*/ 84 h 86"/>
                <a:gd name="T36" fmla="*/ 44 w 87"/>
                <a:gd name="T37" fmla="*/ 86 h 86"/>
                <a:gd name="T38" fmla="*/ 44 w 87"/>
                <a:gd name="T39" fmla="*/ 86 h 86"/>
                <a:gd name="T40" fmla="*/ 35 w 87"/>
                <a:gd name="T41" fmla="*/ 84 h 86"/>
                <a:gd name="T42" fmla="*/ 28 w 87"/>
                <a:gd name="T43" fmla="*/ 82 h 86"/>
                <a:gd name="T44" fmla="*/ 20 w 87"/>
                <a:gd name="T45" fmla="*/ 79 h 86"/>
                <a:gd name="T46" fmla="*/ 14 w 87"/>
                <a:gd name="T47" fmla="*/ 73 h 86"/>
                <a:gd name="T48" fmla="*/ 9 w 87"/>
                <a:gd name="T49" fmla="*/ 66 h 86"/>
                <a:gd name="T50" fmla="*/ 4 w 87"/>
                <a:gd name="T51" fmla="*/ 60 h 86"/>
                <a:gd name="T52" fmla="*/ 2 w 87"/>
                <a:gd name="T53" fmla="*/ 51 h 86"/>
                <a:gd name="T54" fmla="*/ 0 w 87"/>
                <a:gd name="T55" fmla="*/ 43 h 86"/>
                <a:gd name="T56" fmla="*/ 0 w 87"/>
                <a:gd name="T57" fmla="*/ 43 h 86"/>
                <a:gd name="T58" fmla="*/ 2 w 87"/>
                <a:gd name="T59" fmla="*/ 33 h 86"/>
                <a:gd name="T60" fmla="*/ 4 w 87"/>
                <a:gd name="T61" fmla="*/ 27 h 86"/>
                <a:gd name="T62" fmla="*/ 9 w 87"/>
                <a:gd name="T63" fmla="*/ 18 h 86"/>
                <a:gd name="T64" fmla="*/ 14 w 87"/>
                <a:gd name="T65" fmla="*/ 13 h 86"/>
                <a:gd name="T66" fmla="*/ 20 w 87"/>
                <a:gd name="T67" fmla="*/ 7 h 86"/>
                <a:gd name="T68" fmla="*/ 28 w 87"/>
                <a:gd name="T69" fmla="*/ 3 h 86"/>
                <a:gd name="T70" fmla="*/ 35 w 87"/>
                <a:gd name="T71" fmla="*/ 0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0"/>
                  </a:lnTo>
                  <a:lnTo>
                    <a:pt x="61" y="3"/>
                  </a:lnTo>
                  <a:lnTo>
                    <a:pt x="68" y="7"/>
                  </a:lnTo>
                  <a:lnTo>
                    <a:pt x="75" y="13"/>
                  </a:lnTo>
                  <a:lnTo>
                    <a:pt x="80" y="18"/>
                  </a:lnTo>
                  <a:lnTo>
                    <a:pt x="83" y="27"/>
                  </a:lnTo>
                  <a:lnTo>
                    <a:pt x="86" y="33"/>
                  </a:lnTo>
                  <a:lnTo>
                    <a:pt x="87" y="43"/>
                  </a:lnTo>
                  <a:lnTo>
                    <a:pt x="87" y="43"/>
                  </a:lnTo>
                  <a:lnTo>
                    <a:pt x="86" y="51"/>
                  </a:lnTo>
                  <a:lnTo>
                    <a:pt x="83" y="60"/>
                  </a:lnTo>
                  <a:lnTo>
                    <a:pt x="80" y="66"/>
                  </a:lnTo>
                  <a:lnTo>
                    <a:pt x="75" y="73"/>
                  </a:lnTo>
                  <a:lnTo>
                    <a:pt x="68" y="79"/>
                  </a:lnTo>
                  <a:lnTo>
                    <a:pt x="61" y="82"/>
                  </a:lnTo>
                  <a:lnTo>
                    <a:pt x="53" y="84"/>
                  </a:lnTo>
                  <a:lnTo>
                    <a:pt x="44" y="86"/>
                  </a:lnTo>
                  <a:lnTo>
                    <a:pt x="44" y="86"/>
                  </a:lnTo>
                  <a:lnTo>
                    <a:pt x="35" y="84"/>
                  </a:lnTo>
                  <a:lnTo>
                    <a:pt x="28" y="82"/>
                  </a:lnTo>
                  <a:lnTo>
                    <a:pt x="20" y="79"/>
                  </a:lnTo>
                  <a:lnTo>
                    <a:pt x="14" y="73"/>
                  </a:lnTo>
                  <a:lnTo>
                    <a:pt x="9" y="66"/>
                  </a:lnTo>
                  <a:lnTo>
                    <a:pt x="4" y="60"/>
                  </a:lnTo>
                  <a:lnTo>
                    <a:pt x="2" y="51"/>
                  </a:lnTo>
                  <a:lnTo>
                    <a:pt x="0" y="43"/>
                  </a:lnTo>
                  <a:lnTo>
                    <a:pt x="0" y="43"/>
                  </a:lnTo>
                  <a:lnTo>
                    <a:pt x="2" y="33"/>
                  </a:lnTo>
                  <a:lnTo>
                    <a:pt x="4" y="27"/>
                  </a:lnTo>
                  <a:lnTo>
                    <a:pt x="9" y="18"/>
                  </a:lnTo>
                  <a:lnTo>
                    <a:pt x="14" y="13"/>
                  </a:lnTo>
                  <a:lnTo>
                    <a:pt x="20" y="7"/>
                  </a:lnTo>
                  <a:lnTo>
                    <a:pt x="28" y="3"/>
                  </a:lnTo>
                  <a:lnTo>
                    <a:pt x="35" y="0"/>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79"/>
            <p:cNvSpPr>
              <a:spLocks/>
            </p:cNvSpPr>
            <p:nvPr userDrawn="1"/>
          </p:nvSpPr>
          <p:spPr bwMode="auto">
            <a:xfrm>
              <a:off x="4044" y="1173"/>
              <a:ext cx="44" cy="43"/>
            </a:xfrm>
            <a:custGeom>
              <a:avLst/>
              <a:gdLst>
                <a:gd name="T0" fmla="*/ 44 w 87"/>
                <a:gd name="T1" fmla="*/ 0 h 87"/>
                <a:gd name="T2" fmla="*/ 44 w 87"/>
                <a:gd name="T3" fmla="*/ 0 h 87"/>
                <a:gd name="T4" fmla="*/ 53 w 87"/>
                <a:gd name="T5" fmla="*/ 2 h 87"/>
                <a:gd name="T6" fmla="*/ 61 w 87"/>
                <a:gd name="T7" fmla="*/ 5 h 87"/>
                <a:gd name="T8" fmla="*/ 68 w 87"/>
                <a:gd name="T9" fmla="*/ 9 h 87"/>
                <a:gd name="T10" fmla="*/ 75 w 87"/>
                <a:gd name="T11" fmla="*/ 14 h 87"/>
                <a:gd name="T12" fmla="*/ 80 w 87"/>
                <a:gd name="T13" fmla="*/ 20 h 87"/>
                <a:gd name="T14" fmla="*/ 83 w 87"/>
                <a:gd name="T15" fmla="*/ 27 h 87"/>
                <a:gd name="T16" fmla="*/ 86 w 87"/>
                <a:gd name="T17" fmla="*/ 35 h 87"/>
                <a:gd name="T18" fmla="*/ 87 w 87"/>
                <a:gd name="T19" fmla="*/ 44 h 87"/>
                <a:gd name="T20" fmla="*/ 87 w 87"/>
                <a:gd name="T21" fmla="*/ 44 h 87"/>
                <a:gd name="T22" fmla="*/ 86 w 87"/>
                <a:gd name="T23" fmla="*/ 53 h 87"/>
                <a:gd name="T24" fmla="*/ 83 w 87"/>
                <a:gd name="T25" fmla="*/ 61 h 87"/>
                <a:gd name="T26" fmla="*/ 80 w 87"/>
                <a:gd name="T27" fmla="*/ 68 h 87"/>
                <a:gd name="T28" fmla="*/ 75 w 87"/>
                <a:gd name="T29" fmla="*/ 75 h 87"/>
                <a:gd name="T30" fmla="*/ 68 w 87"/>
                <a:gd name="T31" fmla="*/ 79 h 87"/>
                <a:gd name="T32" fmla="*/ 61 w 87"/>
                <a:gd name="T33" fmla="*/ 83 h 87"/>
                <a:gd name="T34" fmla="*/ 53 w 87"/>
                <a:gd name="T35" fmla="*/ 86 h 87"/>
                <a:gd name="T36" fmla="*/ 44 w 87"/>
                <a:gd name="T37" fmla="*/ 87 h 87"/>
                <a:gd name="T38" fmla="*/ 44 w 87"/>
                <a:gd name="T39" fmla="*/ 87 h 87"/>
                <a:gd name="T40" fmla="*/ 35 w 87"/>
                <a:gd name="T41" fmla="*/ 86 h 87"/>
                <a:gd name="T42" fmla="*/ 28 w 87"/>
                <a:gd name="T43" fmla="*/ 83 h 87"/>
                <a:gd name="T44" fmla="*/ 20 w 87"/>
                <a:gd name="T45" fmla="*/ 79 h 87"/>
                <a:gd name="T46" fmla="*/ 14 w 87"/>
                <a:gd name="T47" fmla="*/ 75 h 87"/>
                <a:gd name="T48" fmla="*/ 9 w 87"/>
                <a:gd name="T49" fmla="*/ 68 h 87"/>
                <a:gd name="T50" fmla="*/ 4 w 87"/>
                <a:gd name="T51" fmla="*/ 61 h 87"/>
                <a:gd name="T52" fmla="*/ 2 w 87"/>
                <a:gd name="T53" fmla="*/ 53 h 87"/>
                <a:gd name="T54" fmla="*/ 0 w 87"/>
                <a:gd name="T55" fmla="*/ 44 h 87"/>
                <a:gd name="T56" fmla="*/ 0 w 87"/>
                <a:gd name="T57" fmla="*/ 44 h 87"/>
                <a:gd name="T58" fmla="*/ 2 w 87"/>
                <a:gd name="T59" fmla="*/ 35 h 87"/>
                <a:gd name="T60" fmla="*/ 4 w 87"/>
                <a:gd name="T61" fmla="*/ 27 h 87"/>
                <a:gd name="T62" fmla="*/ 9 w 87"/>
                <a:gd name="T63" fmla="*/ 20 h 87"/>
                <a:gd name="T64" fmla="*/ 14 w 87"/>
                <a:gd name="T65" fmla="*/ 14 h 87"/>
                <a:gd name="T66" fmla="*/ 20 w 87"/>
                <a:gd name="T67" fmla="*/ 9 h 87"/>
                <a:gd name="T68" fmla="*/ 28 w 87"/>
                <a:gd name="T69" fmla="*/ 5 h 87"/>
                <a:gd name="T70" fmla="*/ 35 w 87"/>
                <a:gd name="T71" fmla="*/ 2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2"/>
                  </a:lnTo>
                  <a:lnTo>
                    <a:pt x="61" y="5"/>
                  </a:lnTo>
                  <a:lnTo>
                    <a:pt x="68" y="9"/>
                  </a:lnTo>
                  <a:lnTo>
                    <a:pt x="75" y="14"/>
                  </a:lnTo>
                  <a:lnTo>
                    <a:pt x="80" y="20"/>
                  </a:lnTo>
                  <a:lnTo>
                    <a:pt x="83" y="27"/>
                  </a:lnTo>
                  <a:lnTo>
                    <a:pt x="86" y="35"/>
                  </a:lnTo>
                  <a:lnTo>
                    <a:pt x="87" y="44"/>
                  </a:lnTo>
                  <a:lnTo>
                    <a:pt x="87" y="44"/>
                  </a:lnTo>
                  <a:lnTo>
                    <a:pt x="86" y="53"/>
                  </a:lnTo>
                  <a:lnTo>
                    <a:pt x="83" y="61"/>
                  </a:lnTo>
                  <a:lnTo>
                    <a:pt x="80" y="68"/>
                  </a:lnTo>
                  <a:lnTo>
                    <a:pt x="75" y="75"/>
                  </a:lnTo>
                  <a:lnTo>
                    <a:pt x="68" y="79"/>
                  </a:lnTo>
                  <a:lnTo>
                    <a:pt x="61" y="83"/>
                  </a:lnTo>
                  <a:lnTo>
                    <a:pt x="53" y="86"/>
                  </a:lnTo>
                  <a:lnTo>
                    <a:pt x="44" y="87"/>
                  </a:lnTo>
                  <a:lnTo>
                    <a:pt x="44" y="87"/>
                  </a:lnTo>
                  <a:lnTo>
                    <a:pt x="35" y="86"/>
                  </a:lnTo>
                  <a:lnTo>
                    <a:pt x="28" y="83"/>
                  </a:lnTo>
                  <a:lnTo>
                    <a:pt x="20" y="79"/>
                  </a:lnTo>
                  <a:lnTo>
                    <a:pt x="14" y="75"/>
                  </a:lnTo>
                  <a:lnTo>
                    <a:pt x="9" y="68"/>
                  </a:lnTo>
                  <a:lnTo>
                    <a:pt x="4" y="61"/>
                  </a:lnTo>
                  <a:lnTo>
                    <a:pt x="2" y="53"/>
                  </a:lnTo>
                  <a:lnTo>
                    <a:pt x="0" y="44"/>
                  </a:lnTo>
                  <a:lnTo>
                    <a:pt x="0" y="44"/>
                  </a:lnTo>
                  <a:lnTo>
                    <a:pt x="2" y="35"/>
                  </a:lnTo>
                  <a:lnTo>
                    <a:pt x="4" y="27"/>
                  </a:lnTo>
                  <a:lnTo>
                    <a:pt x="9" y="20"/>
                  </a:lnTo>
                  <a:lnTo>
                    <a:pt x="14" y="14"/>
                  </a:lnTo>
                  <a:lnTo>
                    <a:pt x="20" y="9"/>
                  </a:lnTo>
                  <a:lnTo>
                    <a:pt x="28"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80"/>
            <p:cNvSpPr>
              <a:spLocks/>
            </p:cNvSpPr>
            <p:nvPr userDrawn="1"/>
          </p:nvSpPr>
          <p:spPr bwMode="auto">
            <a:xfrm>
              <a:off x="4044" y="1116"/>
              <a:ext cx="44" cy="44"/>
            </a:xfrm>
            <a:custGeom>
              <a:avLst/>
              <a:gdLst>
                <a:gd name="T0" fmla="*/ 44 w 87"/>
                <a:gd name="T1" fmla="*/ 0 h 86"/>
                <a:gd name="T2" fmla="*/ 44 w 87"/>
                <a:gd name="T3" fmla="*/ 0 h 86"/>
                <a:gd name="T4" fmla="*/ 53 w 87"/>
                <a:gd name="T5" fmla="*/ 1 h 86"/>
                <a:gd name="T6" fmla="*/ 61 w 87"/>
                <a:gd name="T7" fmla="*/ 4 h 86"/>
                <a:gd name="T8" fmla="*/ 68 w 87"/>
                <a:gd name="T9" fmla="*/ 8 h 86"/>
                <a:gd name="T10" fmla="*/ 75 w 87"/>
                <a:gd name="T11" fmla="*/ 12 h 86"/>
                <a:gd name="T12" fmla="*/ 80 w 87"/>
                <a:gd name="T13" fmla="*/ 19 h 86"/>
                <a:gd name="T14" fmla="*/ 83 w 87"/>
                <a:gd name="T15" fmla="*/ 26 h 86"/>
                <a:gd name="T16" fmla="*/ 86 w 87"/>
                <a:gd name="T17" fmla="*/ 34 h 86"/>
                <a:gd name="T18" fmla="*/ 87 w 87"/>
                <a:gd name="T19" fmla="*/ 44 h 86"/>
                <a:gd name="T20" fmla="*/ 87 w 87"/>
                <a:gd name="T21" fmla="*/ 44 h 86"/>
                <a:gd name="T22" fmla="*/ 86 w 87"/>
                <a:gd name="T23" fmla="*/ 52 h 86"/>
                <a:gd name="T24" fmla="*/ 83 w 87"/>
                <a:gd name="T25" fmla="*/ 60 h 86"/>
                <a:gd name="T26" fmla="*/ 80 w 87"/>
                <a:gd name="T27" fmla="*/ 67 h 86"/>
                <a:gd name="T28" fmla="*/ 75 w 87"/>
                <a:gd name="T29" fmla="*/ 74 h 86"/>
                <a:gd name="T30" fmla="*/ 68 w 87"/>
                <a:gd name="T31" fmla="*/ 78 h 86"/>
                <a:gd name="T32" fmla="*/ 61 w 87"/>
                <a:gd name="T33" fmla="*/ 82 h 86"/>
                <a:gd name="T34" fmla="*/ 53 w 87"/>
                <a:gd name="T35" fmla="*/ 85 h 86"/>
                <a:gd name="T36" fmla="*/ 44 w 87"/>
                <a:gd name="T37" fmla="*/ 86 h 86"/>
                <a:gd name="T38" fmla="*/ 44 w 87"/>
                <a:gd name="T39" fmla="*/ 86 h 86"/>
                <a:gd name="T40" fmla="*/ 35 w 87"/>
                <a:gd name="T41" fmla="*/ 85 h 86"/>
                <a:gd name="T42" fmla="*/ 28 w 87"/>
                <a:gd name="T43" fmla="*/ 82 h 86"/>
                <a:gd name="T44" fmla="*/ 20 w 87"/>
                <a:gd name="T45" fmla="*/ 78 h 86"/>
                <a:gd name="T46" fmla="*/ 14 w 87"/>
                <a:gd name="T47" fmla="*/ 74 h 86"/>
                <a:gd name="T48" fmla="*/ 9 w 87"/>
                <a:gd name="T49" fmla="*/ 67 h 86"/>
                <a:gd name="T50" fmla="*/ 4 w 87"/>
                <a:gd name="T51" fmla="*/ 60 h 86"/>
                <a:gd name="T52" fmla="*/ 2 w 87"/>
                <a:gd name="T53" fmla="*/ 52 h 86"/>
                <a:gd name="T54" fmla="*/ 0 w 87"/>
                <a:gd name="T55" fmla="*/ 44 h 86"/>
                <a:gd name="T56" fmla="*/ 0 w 87"/>
                <a:gd name="T57" fmla="*/ 44 h 86"/>
                <a:gd name="T58" fmla="*/ 2 w 87"/>
                <a:gd name="T59" fmla="*/ 34 h 86"/>
                <a:gd name="T60" fmla="*/ 4 w 87"/>
                <a:gd name="T61" fmla="*/ 26 h 86"/>
                <a:gd name="T62" fmla="*/ 9 w 87"/>
                <a:gd name="T63" fmla="*/ 19 h 86"/>
                <a:gd name="T64" fmla="*/ 14 w 87"/>
                <a:gd name="T65" fmla="*/ 12 h 86"/>
                <a:gd name="T66" fmla="*/ 20 w 87"/>
                <a:gd name="T67" fmla="*/ 8 h 86"/>
                <a:gd name="T68" fmla="*/ 28 w 87"/>
                <a:gd name="T69" fmla="*/ 4 h 86"/>
                <a:gd name="T70" fmla="*/ 35 w 87"/>
                <a:gd name="T71" fmla="*/ 1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1"/>
                  </a:lnTo>
                  <a:lnTo>
                    <a:pt x="61" y="4"/>
                  </a:lnTo>
                  <a:lnTo>
                    <a:pt x="68" y="8"/>
                  </a:lnTo>
                  <a:lnTo>
                    <a:pt x="75" y="12"/>
                  </a:lnTo>
                  <a:lnTo>
                    <a:pt x="80" y="19"/>
                  </a:lnTo>
                  <a:lnTo>
                    <a:pt x="83" y="26"/>
                  </a:lnTo>
                  <a:lnTo>
                    <a:pt x="86" y="34"/>
                  </a:lnTo>
                  <a:lnTo>
                    <a:pt x="87" y="44"/>
                  </a:lnTo>
                  <a:lnTo>
                    <a:pt x="87" y="44"/>
                  </a:lnTo>
                  <a:lnTo>
                    <a:pt x="86" y="52"/>
                  </a:lnTo>
                  <a:lnTo>
                    <a:pt x="83" y="60"/>
                  </a:lnTo>
                  <a:lnTo>
                    <a:pt x="80" y="67"/>
                  </a:lnTo>
                  <a:lnTo>
                    <a:pt x="75" y="74"/>
                  </a:lnTo>
                  <a:lnTo>
                    <a:pt x="68" y="78"/>
                  </a:lnTo>
                  <a:lnTo>
                    <a:pt x="61" y="82"/>
                  </a:lnTo>
                  <a:lnTo>
                    <a:pt x="53" y="85"/>
                  </a:lnTo>
                  <a:lnTo>
                    <a:pt x="44" y="86"/>
                  </a:lnTo>
                  <a:lnTo>
                    <a:pt x="44" y="86"/>
                  </a:lnTo>
                  <a:lnTo>
                    <a:pt x="35" y="85"/>
                  </a:lnTo>
                  <a:lnTo>
                    <a:pt x="28" y="82"/>
                  </a:lnTo>
                  <a:lnTo>
                    <a:pt x="20" y="78"/>
                  </a:lnTo>
                  <a:lnTo>
                    <a:pt x="14" y="74"/>
                  </a:lnTo>
                  <a:lnTo>
                    <a:pt x="9" y="67"/>
                  </a:lnTo>
                  <a:lnTo>
                    <a:pt x="4" y="60"/>
                  </a:lnTo>
                  <a:lnTo>
                    <a:pt x="2" y="52"/>
                  </a:lnTo>
                  <a:lnTo>
                    <a:pt x="0" y="44"/>
                  </a:lnTo>
                  <a:lnTo>
                    <a:pt x="0" y="44"/>
                  </a:lnTo>
                  <a:lnTo>
                    <a:pt x="2" y="34"/>
                  </a:lnTo>
                  <a:lnTo>
                    <a:pt x="4" y="26"/>
                  </a:lnTo>
                  <a:lnTo>
                    <a:pt x="9" y="19"/>
                  </a:lnTo>
                  <a:lnTo>
                    <a:pt x="14" y="12"/>
                  </a:lnTo>
                  <a:lnTo>
                    <a:pt x="20" y="8"/>
                  </a:lnTo>
                  <a:lnTo>
                    <a:pt x="28"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81"/>
            <p:cNvSpPr>
              <a:spLocks/>
            </p:cNvSpPr>
            <p:nvPr userDrawn="1"/>
          </p:nvSpPr>
          <p:spPr bwMode="auto">
            <a:xfrm>
              <a:off x="4044" y="1060"/>
              <a:ext cx="44" cy="43"/>
            </a:xfrm>
            <a:custGeom>
              <a:avLst/>
              <a:gdLst>
                <a:gd name="T0" fmla="*/ 44 w 87"/>
                <a:gd name="T1" fmla="*/ 0 h 87"/>
                <a:gd name="T2" fmla="*/ 44 w 87"/>
                <a:gd name="T3" fmla="*/ 0 h 87"/>
                <a:gd name="T4" fmla="*/ 53 w 87"/>
                <a:gd name="T5" fmla="*/ 1 h 87"/>
                <a:gd name="T6" fmla="*/ 61 w 87"/>
                <a:gd name="T7" fmla="*/ 4 h 87"/>
                <a:gd name="T8" fmla="*/ 68 w 87"/>
                <a:gd name="T9" fmla="*/ 8 h 87"/>
                <a:gd name="T10" fmla="*/ 75 w 87"/>
                <a:gd name="T11" fmla="*/ 12 h 87"/>
                <a:gd name="T12" fmla="*/ 80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80 w 87"/>
                <a:gd name="T27" fmla="*/ 67 h 87"/>
                <a:gd name="T28" fmla="*/ 75 w 87"/>
                <a:gd name="T29" fmla="*/ 73 h 87"/>
                <a:gd name="T30" fmla="*/ 68 w 87"/>
                <a:gd name="T31" fmla="*/ 78 h 87"/>
                <a:gd name="T32" fmla="*/ 61 w 87"/>
                <a:gd name="T33" fmla="*/ 83 h 87"/>
                <a:gd name="T34" fmla="*/ 53 w 87"/>
                <a:gd name="T35" fmla="*/ 85 h 87"/>
                <a:gd name="T36" fmla="*/ 44 w 87"/>
                <a:gd name="T37" fmla="*/ 87 h 87"/>
                <a:gd name="T38" fmla="*/ 44 w 87"/>
                <a:gd name="T39" fmla="*/ 87 h 87"/>
                <a:gd name="T40" fmla="*/ 35 w 87"/>
                <a:gd name="T41" fmla="*/ 85 h 87"/>
                <a:gd name="T42" fmla="*/ 28 w 87"/>
                <a:gd name="T43" fmla="*/ 83 h 87"/>
                <a:gd name="T44" fmla="*/ 20 w 87"/>
                <a:gd name="T45" fmla="*/ 78 h 87"/>
                <a:gd name="T46" fmla="*/ 14 w 87"/>
                <a:gd name="T47" fmla="*/ 73 h 87"/>
                <a:gd name="T48" fmla="*/ 9 w 87"/>
                <a:gd name="T49" fmla="*/ 67 h 87"/>
                <a:gd name="T50" fmla="*/ 4 w 87"/>
                <a:gd name="T51" fmla="*/ 61 h 87"/>
                <a:gd name="T52" fmla="*/ 2 w 87"/>
                <a:gd name="T53" fmla="*/ 52 h 87"/>
                <a:gd name="T54" fmla="*/ 0 w 87"/>
                <a:gd name="T55" fmla="*/ 43 h 87"/>
                <a:gd name="T56" fmla="*/ 0 w 87"/>
                <a:gd name="T57" fmla="*/ 43 h 87"/>
                <a:gd name="T58" fmla="*/ 2 w 87"/>
                <a:gd name="T59" fmla="*/ 34 h 87"/>
                <a:gd name="T60" fmla="*/ 4 w 87"/>
                <a:gd name="T61" fmla="*/ 26 h 87"/>
                <a:gd name="T62" fmla="*/ 9 w 87"/>
                <a:gd name="T63" fmla="*/ 19 h 87"/>
                <a:gd name="T64" fmla="*/ 14 w 87"/>
                <a:gd name="T65" fmla="*/ 12 h 87"/>
                <a:gd name="T66" fmla="*/ 20 w 87"/>
                <a:gd name="T67" fmla="*/ 8 h 87"/>
                <a:gd name="T68" fmla="*/ 28 w 87"/>
                <a:gd name="T69" fmla="*/ 4 h 87"/>
                <a:gd name="T70" fmla="*/ 35 w 87"/>
                <a:gd name="T71" fmla="*/ 1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1"/>
                  </a:lnTo>
                  <a:lnTo>
                    <a:pt x="61" y="4"/>
                  </a:lnTo>
                  <a:lnTo>
                    <a:pt x="68" y="8"/>
                  </a:lnTo>
                  <a:lnTo>
                    <a:pt x="75" y="12"/>
                  </a:lnTo>
                  <a:lnTo>
                    <a:pt x="80" y="19"/>
                  </a:lnTo>
                  <a:lnTo>
                    <a:pt x="83" y="26"/>
                  </a:lnTo>
                  <a:lnTo>
                    <a:pt x="86" y="34"/>
                  </a:lnTo>
                  <a:lnTo>
                    <a:pt x="87" y="43"/>
                  </a:lnTo>
                  <a:lnTo>
                    <a:pt x="87" y="43"/>
                  </a:lnTo>
                  <a:lnTo>
                    <a:pt x="86" y="52"/>
                  </a:lnTo>
                  <a:lnTo>
                    <a:pt x="83" y="61"/>
                  </a:lnTo>
                  <a:lnTo>
                    <a:pt x="80" y="67"/>
                  </a:lnTo>
                  <a:lnTo>
                    <a:pt x="75" y="73"/>
                  </a:lnTo>
                  <a:lnTo>
                    <a:pt x="68" y="78"/>
                  </a:lnTo>
                  <a:lnTo>
                    <a:pt x="61" y="83"/>
                  </a:lnTo>
                  <a:lnTo>
                    <a:pt x="53" y="85"/>
                  </a:lnTo>
                  <a:lnTo>
                    <a:pt x="44" y="87"/>
                  </a:lnTo>
                  <a:lnTo>
                    <a:pt x="44" y="87"/>
                  </a:lnTo>
                  <a:lnTo>
                    <a:pt x="35" y="85"/>
                  </a:lnTo>
                  <a:lnTo>
                    <a:pt x="28" y="83"/>
                  </a:lnTo>
                  <a:lnTo>
                    <a:pt x="20" y="78"/>
                  </a:lnTo>
                  <a:lnTo>
                    <a:pt x="14" y="73"/>
                  </a:lnTo>
                  <a:lnTo>
                    <a:pt x="9" y="67"/>
                  </a:lnTo>
                  <a:lnTo>
                    <a:pt x="4" y="61"/>
                  </a:lnTo>
                  <a:lnTo>
                    <a:pt x="2" y="52"/>
                  </a:lnTo>
                  <a:lnTo>
                    <a:pt x="0" y="43"/>
                  </a:lnTo>
                  <a:lnTo>
                    <a:pt x="0" y="43"/>
                  </a:lnTo>
                  <a:lnTo>
                    <a:pt x="2" y="34"/>
                  </a:lnTo>
                  <a:lnTo>
                    <a:pt x="4" y="26"/>
                  </a:lnTo>
                  <a:lnTo>
                    <a:pt x="9" y="19"/>
                  </a:lnTo>
                  <a:lnTo>
                    <a:pt x="14" y="12"/>
                  </a:lnTo>
                  <a:lnTo>
                    <a:pt x="20" y="8"/>
                  </a:lnTo>
                  <a:lnTo>
                    <a:pt x="28"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82"/>
            <p:cNvSpPr>
              <a:spLocks/>
            </p:cNvSpPr>
            <p:nvPr userDrawn="1"/>
          </p:nvSpPr>
          <p:spPr bwMode="auto">
            <a:xfrm>
              <a:off x="4044" y="1004"/>
              <a:ext cx="44" cy="42"/>
            </a:xfrm>
            <a:custGeom>
              <a:avLst/>
              <a:gdLst>
                <a:gd name="T0" fmla="*/ 44 w 87"/>
                <a:gd name="T1" fmla="*/ 0 h 86"/>
                <a:gd name="T2" fmla="*/ 44 w 87"/>
                <a:gd name="T3" fmla="*/ 0 h 86"/>
                <a:gd name="T4" fmla="*/ 53 w 87"/>
                <a:gd name="T5" fmla="*/ 2 h 86"/>
                <a:gd name="T6" fmla="*/ 61 w 87"/>
                <a:gd name="T7" fmla="*/ 5 h 86"/>
                <a:gd name="T8" fmla="*/ 68 w 87"/>
                <a:gd name="T9" fmla="*/ 7 h 86"/>
                <a:gd name="T10" fmla="*/ 75 w 87"/>
                <a:gd name="T11" fmla="*/ 13 h 86"/>
                <a:gd name="T12" fmla="*/ 80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80 w 87"/>
                <a:gd name="T27" fmla="*/ 68 h 86"/>
                <a:gd name="T28" fmla="*/ 75 w 87"/>
                <a:gd name="T29" fmla="*/ 73 h 86"/>
                <a:gd name="T30" fmla="*/ 68 w 87"/>
                <a:gd name="T31" fmla="*/ 79 h 86"/>
                <a:gd name="T32" fmla="*/ 61 w 87"/>
                <a:gd name="T33" fmla="*/ 83 h 86"/>
                <a:gd name="T34" fmla="*/ 53 w 87"/>
                <a:gd name="T35" fmla="*/ 86 h 86"/>
                <a:gd name="T36" fmla="*/ 44 w 87"/>
                <a:gd name="T37" fmla="*/ 86 h 86"/>
                <a:gd name="T38" fmla="*/ 44 w 87"/>
                <a:gd name="T39" fmla="*/ 86 h 86"/>
                <a:gd name="T40" fmla="*/ 35 w 87"/>
                <a:gd name="T41" fmla="*/ 86 h 86"/>
                <a:gd name="T42" fmla="*/ 28 w 87"/>
                <a:gd name="T43" fmla="*/ 83 h 86"/>
                <a:gd name="T44" fmla="*/ 20 w 87"/>
                <a:gd name="T45" fmla="*/ 79 h 86"/>
                <a:gd name="T46" fmla="*/ 14 w 87"/>
                <a:gd name="T47" fmla="*/ 73 h 86"/>
                <a:gd name="T48" fmla="*/ 9 w 87"/>
                <a:gd name="T49" fmla="*/ 68 h 86"/>
                <a:gd name="T50" fmla="*/ 4 w 87"/>
                <a:gd name="T51" fmla="*/ 59 h 86"/>
                <a:gd name="T52" fmla="*/ 2 w 87"/>
                <a:gd name="T53" fmla="*/ 53 h 86"/>
                <a:gd name="T54" fmla="*/ 0 w 87"/>
                <a:gd name="T55" fmla="*/ 43 h 86"/>
                <a:gd name="T56" fmla="*/ 0 w 87"/>
                <a:gd name="T57" fmla="*/ 43 h 86"/>
                <a:gd name="T58" fmla="*/ 2 w 87"/>
                <a:gd name="T59" fmla="*/ 35 h 86"/>
                <a:gd name="T60" fmla="*/ 4 w 87"/>
                <a:gd name="T61" fmla="*/ 27 h 86"/>
                <a:gd name="T62" fmla="*/ 9 w 87"/>
                <a:gd name="T63" fmla="*/ 20 h 86"/>
                <a:gd name="T64" fmla="*/ 14 w 87"/>
                <a:gd name="T65" fmla="*/ 13 h 86"/>
                <a:gd name="T66" fmla="*/ 20 w 87"/>
                <a:gd name="T67" fmla="*/ 7 h 86"/>
                <a:gd name="T68" fmla="*/ 28 w 87"/>
                <a:gd name="T69" fmla="*/ 5 h 86"/>
                <a:gd name="T70" fmla="*/ 35 w 87"/>
                <a:gd name="T71" fmla="*/ 2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2"/>
                  </a:lnTo>
                  <a:lnTo>
                    <a:pt x="61" y="5"/>
                  </a:lnTo>
                  <a:lnTo>
                    <a:pt x="68" y="7"/>
                  </a:lnTo>
                  <a:lnTo>
                    <a:pt x="75" y="13"/>
                  </a:lnTo>
                  <a:lnTo>
                    <a:pt x="80" y="20"/>
                  </a:lnTo>
                  <a:lnTo>
                    <a:pt x="83" y="27"/>
                  </a:lnTo>
                  <a:lnTo>
                    <a:pt x="86" y="35"/>
                  </a:lnTo>
                  <a:lnTo>
                    <a:pt x="87" y="43"/>
                  </a:lnTo>
                  <a:lnTo>
                    <a:pt x="87" y="43"/>
                  </a:lnTo>
                  <a:lnTo>
                    <a:pt x="86" y="53"/>
                  </a:lnTo>
                  <a:lnTo>
                    <a:pt x="83" y="59"/>
                  </a:lnTo>
                  <a:lnTo>
                    <a:pt x="80" y="68"/>
                  </a:lnTo>
                  <a:lnTo>
                    <a:pt x="75" y="73"/>
                  </a:lnTo>
                  <a:lnTo>
                    <a:pt x="68" y="79"/>
                  </a:lnTo>
                  <a:lnTo>
                    <a:pt x="61" y="83"/>
                  </a:lnTo>
                  <a:lnTo>
                    <a:pt x="53" y="86"/>
                  </a:lnTo>
                  <a:lnTo>
                    <a:pt x="44" y="86"/>
                  </a:lnTo>
                  <a:lnTo>
                    <a:pt x="44" y="86"/>
                  </a:lnTo>
                  <a:lnTo>
                    <a:pt x="35" y="86"/>
                  </a:lnTo>
                  <a:lnTo>
                    <a:pt x="28" y="83"/>
                  </a:lnTo>
                  <a:lnTo>
                    <a:pt x="20" y="79"/>
                  </a:lnTo>
                  <a:lnTo>
                    <a:pt x="14" y="73"/>
                  </a:lnTo>
                  <a:lnTo>
                    <a:pt x="9" y="68"/>
                  </a:lnTo>
                  <a:lnTo>
                    <a:pt x="4" y="59"/>
                  </a:lnTo>
                  <a:lnTo>
                    <a:pt x="2" y="53"/>
                  </a:lnTo>
                  <a:lnTo>
                    <a:pt x="0" y="43"/>
                  </a:lnTo>
                  <a:lnTo>
                    <a:pt x="0" y="43"/>
                  </a:lnTo>
                  <a:lnTo>
                    <a:pt x="2" y="35"/>
                  </a:lnTo>
                  <a:lnTo>
                    <a:pt x="4" y="27"/>
                  </a:lnTo>
                  <a:lnTo>
                    <a:pt x="9" y="20"/>
                  </a:lnTo>
                  <a:lnTo>
                    <a:pt x="14" y="13"/>
                  </a:lnTo>
                  <a:lnTo>
                    <a:pt x="20" y="7"/>
                  </a:lnTo>
                  <a:lnTo>
                    <a:pt x="28"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83"/>
            <p:cNvSpPr>
              <a:spLocks/>
            </p:cNvSpPr>
            <p:nvPr userDrawn="1"/>
          </p:nvSpPr>
          <p:spPr bwMode="auto">
            <a:xfrm>
              <a:off x="4044" y="947"/>
              <a:ext cx="44" cy="43"/>
            </a:xfrm>
            <a:custGeom>
              <a:avLst/>
              <a:gdLst>
                <a:gd name="T0" fmla="*/ 44 w 87"/>
                <a:gd name="T1" fmla="*/ 0 h 85"/>
                <a:gd name="T2" fmla="*/ 44 w 87"/>
                <a:gd name="T3" fmla="*/ 0 h 85"/>
                <a:gd name="T4" fmla="*/ 53 w 87"/>
                <a:gd name="T5" fmla="*/ 1 h 85"/>
                <a:gd name="T6" fmla="*/ 61 w 87"/>
                <a:gd name="T7" fmla="*/ 2 h 85"/>
                <a:gd name="T8" fmla="*/ 68 w 87"/>
                <a:gd name="T9" fmla="*/ 7 h 85"/>
                <a:gd name="T10" fmla="*/ 75 w 87"/>
                <a:gd name="T11" fmla="*/ 12 h 85"/>
                <a:gd name="T12" fmla="*/ 80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80 w 87"/>
                <a:gd name="T27" fmla="*/ 67 h 85"/>
                <a:gd name="T28" fmla="*/ 75 w 87"/>
                <a:gd name="T29" fmla="*/ 73 h 85"/>
                <a:gd name="T30" fmla="*/ 68 w 87"/>
                <a:gd name="T31" fmla="*/ 78 h 85"/>
                <a:gd name="T32" fmla="*/ 61 w 87"/>
                <a:gd name="T33" fmla="*/ 82 h 85"/>
                <a:gd name="T34" fmla="*/ 53 w 87"/>
                <a:gd name="T35" fmla="*/ 85 h 85"/>
                <a:gd name="T36" fmla="*/ 44 w 87"/>
                <a:gd name="T37" fmla="*/ 85 h 85"/>
                <a:gd name="T38" fmla="*/ 44 w 87"/>
                <a:gd name="T39" fmla="*/ 85 h 85"/>
                <a:gd name="T40" fmla="*/ 35 w 87"/>
                <a:gd name="T41" fmla="*/ 85 h 85"/>
                <a:gd name="T42" fmla="*/ 28 w 87"/>
                <a:gd name="T43" fmla="*/ 82 h 85"/>
                <a:gd name="T44" fmla="*/ 20 w 87"/>
                <a:gd name="T45" fmla="*/ 78 h 85"/>
                <a:gd name="T46" fmla="*/ 14 w 87"/>
                <a:gd name="T47" fmla="*/ 73 h 85"/>
                <a:gd name="T48" fmla="*/ 9 w 87"/>
                <a:gd name="T49" fmla="*/ 67 h 85"/>
                <a:gd name="T50" fmla="*/ 4 w 87"/>
                <a:gd name="T51" fmla="*/ 59 h 85"/>
                <a:gd name="T52" fmla="*/ 2 w 87"/>
                <a:gd name="T53" fmla="*/ 51 h 85"/>
                <a:gd name="T54" fmla="*/ 0 w 87"/>
                <a:gd name="T55" fmla="*/ 42 h 85"/>
                <a:gd name="T56" fmla="*/ 0 w 87"/>
                <a:gd name="T57" fmla="*/ 42 h 85"/>
                <a:gd name="T58" fmla="*/ 2 w 87"/>
                <a:gd name="T59" fmla="*/ 34 h 85"/>
                <a:gd name="T60" fmla="*/ 4 w 87"/>
                <a:gd name="T61" fmla="*/ 26 h 85"/>
                <a:gd name="T62" fmla="*/ 9 w 87"/>
                <a:gd name="T63" fmla="*/ 19 h 85"/>
                <a:gd name="T64" fmla="*/ 14 w 87"/>
                <a:gd name="T65" fmla="*/ 12 h 85"/>
                <a:gd name="T66" fmla="*/ 20 w 87"/>
                <a:gd name="T67" fmla="*/ 7 h 85"/>
                <a:gd name="T68" fmla="*/ 28 w 87"/>
                <a:gd name="T69" fmla="*/ 2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2"/>
                  </a:lnTo>
                  <a:lnTo>
                    <a:pt x="68" y="7"/>
                  </a:lnTo>
                  <a:lnTo>
                    <a:pt x="75" y="12"/>
                  </a:lnTo>
                  <a:lnTo>
                    <a:pt x="80" y="19"/>
                  </a:lnTo>
                  <a:lnTo>
                    <a:pt x="83" y="26"/>
                  </a:lnTo>
                  <a:lnTo>
                    <a:pt x="86" y="34"/>
                  </a:lnTo>
                  <a:lnTo>
                    <a:pt x="87" y="42"/>
                  </a:lnTo>
                  <a:lnTo>
                    <a:pt x="87" y="42"/>
                  </a:lnTo>
                  <a:lnTo>
                    <a:pt x="86" y="51"/>
                  </a:lnTo>
                  <a:lnTo>
                    <a:pt x="83" y="59"/>
                  </a:lnTo>
                  <a:lnTo>
                    <a:pt x="80" y="67"/>
                  </a:lnTo>
                  <a:lnTo>
                    <a:pt x="75" y="73"/>
                  </a:lnTo>
                  <a:lnTo>
                    <a:pt x="68" y="78"/>
                  </a:lnTo>
                  <a:lnTo>
                    <a:pt x="61" y="82"/>
                  </a:lnTo>
                  <a:lnTo>
                    <a:pt x="53" y="85"/>
                  </a:lnTo>
                  <a:lnTo>
                    <a:pt x="44" y="85"/>
                  </a:lnTo>
                  <a:lnTo>
                    <a:pt x="44" y="85"/>
                  </a:lnTo>
                  <a:lnTo>
                    <a:pt x="35" y="85"/>
                  </a:lnTo>
                  <a:lnTo>
                    <a:pt x="28" y="82"/>
                  </a:lnTo>
                  <a:lnTo>
                    <a:pt x="20" y="78"/>
                  </a:lnTo>
                  <a:lnTo>
                    <a:pt x="14" y="73"/>
                  </a:lnTo>
                  <a:lnTo>
                    <a:pt x="9" y="67"/>
                  </a:lnTo>
                  <a:lnTo>
                    <a:pt x="4" y="59"/>
                  </a:lnTo>
                  <a:lnTo>
                    <a:pt x="2" y="51"/>
                  </a:lnTo>
                  <a:lnTo>
                    <a:pt x="0" y="42"/>
                  </a:lnTo>
                  <a:lnTo>
                    <a:pt x="0" y="42"/>
                  </a:lnTo>
                  <a:lnTo>
                    <a:pt x="2" y="34"/>
                  </a:lnTo>
                  <a:lnTo>
                    <a:pt x="4" y="26"/>
                  </a:lnTo>
                  <a:lnTo>
                    <a:pt x="9" y="19"/>
                  </a:lnTo>
                  <a:lnTo>
                    <a:pt x="14" y="12"/>
                  </a:lnTo>
                  <a:lnTo>
                    <a:pt x="20" y="7"/>
                  </a:lnTo>
                  <a:lnTo>
                    <a:pt x="28" y="2"/>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4"/>
            <p:cNvSpPr>
              <a:spLocks/>
            </p:cNvSpPr>
            <p:nvPr userDrawn="1"/>
          </p:nvSpPr>
          <p:spPr bwMode="auto">
            <a:xfrm>
              <a:off x="4044" y="891"/>
              <a:ext cx="44" cy="43"/>
            </a:xfrm>
            <a:custGeom>
              <a:avLst/>
              <a:gdLst>
                <a:gd name="T0" fmla="*/ 44 w 87"/>
                <a:gd name="T1" fmla="*/ 0 h 85"/>
                <a:gd name="T2" fmla="*/ 44 w 87"/>
                <a:gd name="T3" fmla="*/ 0 h 85"/>
                <a:gd name="T4" fmla="*/ 53 w 87"/>
                <a:gd name="T5" fmla="*/ 1 h 85"/>
                <a:gd name="T6" fmla="*/ 61 w 87"/>
                <a:gd name="T7" fmla="*/ 3 h 85"/>
                <a:gd name="T8" fmla="*/ 68 w 87"/>
                <a:gd name="T9" fmla="*/ 7 h 85"/>
                <a:gd name="T10" fmla="*/ 75 w 87"/>
                <a:gd name="T11" fmla="*/ 12 h 85"/>
                <a:gd name="T12" fmla="*/ 80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80 w 87"/>
                <a:gd name="T27" fmla="*/ 67 h 85"/>
                <a:gd name="T28" fmla="*/ 75 w 87"/>
                <a:gd name="T29" fmla="*/ 73 h 85"/>
                <a:gd name="T30" fmla="*/ 68 w 87"/>
                <a:gd name="T31" fmla="*/ 78 h 85"/>
                <a:gd name="T32" fmla="*/ 61 w 87"/>
                <a:gd name="T33" fmla="*/ 83 h 85"/>
                <a:gd name="T34" fmla="*/ 53 w 87"/>
                <a:gd name="T35" fmla="*/ 85 h 85"/>
                <a:gd name="T36" fmla="*/ 44 w 87"/>
                <a:gd name="T37" fmla="*/ 85 h 85"/>
                <a:gd name="T38" fmla="*/ 44 w 87"/>
                <a:gd name="T39" fmla="*/ 85 h 85"/>
                <a:gd name="T40" fmla="*/ 35 w 87"/>
                <a:gd name="T41" fmla="*/ 85 h 85"/>
                <a:gd name="T42" fmla="*/ 28 w 87"/>
                <a:gd name="T43" fmla="*/ 83 h 85"/>
                <a:gd name="T44" fmla="*/ 20 w 87"/>
                <a:gd name="T45" fmla="*/ 78 h 85"/>
                <a:gd name="T46" fmla="*/ 14 w 87"/>
                <a:gd name="T47" fmla="*/ 73 h 85"/>
                <a:gd name="T48" fmla="*/ 9 w 87"/>
                <a:gd name="T49" fmla="*/ 67 h 85"/>
                <a:gd name="T50" fmla="*/ 4 w 87"/>
                <a:gd name="T51" fmla="*/ 59 h 85"/>
                <a:gd name="T52" fmla="*/ 2 w 87"/>
                <a:gd name="T53" fmla="*/ 51 h 85"/>
                <a:gd name="T54" fmla="*/ 0 w 87"/>
                <a:gd name="T55" fmla="*/ 43 h 85"/>
                <a:gd name="T56" fmla="*/ 0 w 87"/>
                <a:gd name="T57" fmla="*/ 43 h 85"/>
                <a:gd name="T58" fmla="*/ 2 w 87"/>
                <a:gd name="T59" fmla="*/ 34 h 85"/>
                <a:gd name="T60" fmla="*/ 4 w 87"/>
                <a:gd name="T61" fmla="*/ 26 h 85"/>
                <a:gd name="T62" fmla="*/ 9 w 87"/>
                <a:gd name="T63" fmla="*/ 19 h 85"/>
                <a:gd name="T64" fmla="*/ 14 w 87"/>
                <a:gd name="T65" fmla="*/ 12 h 85"/>
                <a:gd name="T66" fmla="*/ 20 w 87"/>
                <a:gd name="T67" fmla="*/ 7 h 85"/>
                <a:gd name="T68" fmla="*/ 28 w 87"/>
                <a:gd name="T69" fmla="*/ 3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3"/>
                  </a:lnTo>
                  <a:lnTo>
                    <a:pt x="68" y="7"/>
                  </a:lnTo>
                  <a:lnTo>
                    <a:pt x="75" y="12"/>
                  </a:lnTo>
                  <a:lnTo>
                    <a:pt x="80" y="19"/>
                  </a:lnTo>
                  <a:lnTo>
                    <a:pt x="83" y="26"/>
                  </a:lnTo>
                  <a:lnTo>
                    <a:pt x="86" y="34"/>
                  </a:lnTo>
                  <a:lnTo>
                    <a:pt x="87" y="43"/>
                  </a:lnTo>
                  <a:lnTo>
                    <a:pt x="87" y="43"/>
                  </a:lnTo>
                  <a:lnTo>
                    <a:pt x="86" y="51"/>
                  </a:lnTo>
                  <a:lnTo>
                    <a:pt x="83" y="59"/>
                  </a:lnTo>
                  <a:lnTo>
                    <a:pt x="80" y="67"/>
                  </a:lnTo>
                  <a:lnTo>
                    <a:pt x="75" y="73"/>
                  </a:lnTo>
                  <a:lnTo>
                    <a:pt x="68" y="78"/>
                  </a:lnTo>
                  <a:lnTo>
                    <a:pt x="61" y="83"/>
                  </a:lnTo>
                  <a:lnTo>
                    <a:pt x="53" y="85"/>
                  </a:lnTo>
                  <a:lnTo>
                    <a:pt x="44" y="85"/>
                  </a:lnTo>
                  <a:lnTo>
                    <a:pt x="44" y="85"/>
                  </a:lnTo>
                  <a:lnTo>
                    <a:pt x="35" y="85"/>
                  </a:lnTo>
                  <a:lnTo>
                    <a:pt x="28" y="83"/>
                  </a:lnTo>
                  <a:lnTo>
                    <a:pt x="20" y="78"/>
                  </a:lnTo>
                  <a:lnTo>
                    <a:pt x="14" y="73"/>
                  </a:lnTo>
                  <a:lnTo>
                    <a:pt x="9" y="67"/>
                  </a:lnTo>
                  <a:lnTo>
                    <a:pt x="4" y="59"/>
                  </a:lnTo>
                  <a:lnTo>
                    <a:pt x="2" y="51"/>
                  </a:lnTo>
                  <a:lnTo>
                    <a:pt x="0" y="43"/>
                  </a:lnTo>
                  <a:lnTo>
                    <a:pt x="0" y="43"/>
                  </a:lnTo>
                  <a:lnTo>
                    <a:pt x="2" y="34"/>
                  </a:lnTo>
                  <a:lnTo>
                    <a:pt x="4" y="26"/>
                  </a:lnTo>
                  <a:lnTo>
                    <a:pt x="9" y="19"/>
                  </a:lnTo>
                  <a:lnTo>
                    <a:pt x="14" y="12"/>
                  </a:lnTo>
                  <a:lnTo>
                    <a:pt x="20" y="7"/>
                  </a:lnTo>
                  <a:lnTo>
                    <a:pt x="28" y="3"/>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85"/>
            <p:cNvSpPr>
              <a:spLocks/>
            </p:cNvSpPr>
            <p:nvPr userDrawn="1"/>
          </p:nvSpPr>
          <p:spPr bwMode="auto">
            <a:xfrm>
              <a:off x="3875" y="1342"/>
              <a:ext cx="43" cy="43"/>
            </a:xfrm>
            <a:custGeom>
              <a:avLst/>
              <a:gdLst>
                <a:gd name="T0" fmla="*/ 42 w 86"/>
                <a:gd name="T1" fmla="*/ 0 h 85"/>
                <a:gd name="T2" fmla="*/ 42 w 86"/>
                <a:gd name="T3" fmla="*/ 0 h 85"/>
                <a:gd name="T4" fmla="*/ 52 w 86"/>
                <a:gd name="T5" fmla="*/ 0 h 85"/>
                <a:gd name="T6" fmla="*/ 59 w 86"/>
                <a:gd name="T7" fmla="*/ 3 h 85"/>
                <a:gd name="T8" fmla="*/ 67 w 86"/>
                <a:gd name="T9" fmla="*/ 7 h 85"/>
                <a:gd name="T10" fmla="*/ 73 w 86"/>
                <a:gd name="T11" fmla="*/ 12 h 85"/>
                <a:gd name="T12" fmla="*/ 78 w 86"/>
                <a:gd name="T13" fmla="*/ 18 h 85"/>
                <a:gd name="T14" fmla="*/ 82 w 86"/>
                <a:gd name="T15" fmla="*/ 26 h 85"/>
                <a:gd name="T16" fmla="*/ 85 w 86"/>
                <a:gd name="T17" fmla="*/ 34 h 85"/>
                <a:gd name="T18" fmla="*/ 86 w 86"/>
                <a:gd name="T19" fmla="*/ 42 h 85"/>
                <a:gd name="T20" fmla="*/ 86 w 86"/>
                <a:gd name="T21" fmla="*/ 42 h 85"/>
                <a:gd name="T22" fmla="*/ 85 w 86"/>
                <a:gd name="T23" fmla="*/ 51 h 85"/>
                <a:gd name="T24" fmla="*/ 82 w 86"/>
                <a:gd name="T25" fmla="*/ 59 h 85"/>
                <a:gd name="T26" fmla="*/ 78 w 86"/>
                <a:gd name="T27" fmla="*/ 66 h 85"/>
                <a:gd name="T28" fmla="*/ 73 w 86"/>
                <a:gd name="T29" fmla="*/ 73 h 85"/>
                <a:gd name="T30" fmla="*/ 67 w 86"/>
                <a:gd name="T31" fmla="*/ 78 h 85"/>
                <a:gd name="T32" fmla="*/ 59 w 86"/>
                <a:gd name="T33" fmla="*/ 82 h 85"/>
                <a:gd name="T34" fmla="*/ 52 w 86"/>
                <a:gd name="T35" fmla="*/ 84 h 85"/>
                <a:gd name="T36" fmla="*/ 42 w 86"/>
                <a:gd name="T37" fmla="*/ 85 h 85"/>
                <a:gd name="T38" fmla="*/ 42 w 86"/>
                <a:gd name="T39" fmla="*/ 85 h 85"/>
                <a:gd name="T40" fmla="*/ 34 w 86"/>
                <a:gd name="T41" fmla="*/ 84 h 85"/>
                <a:gd name="T42" fmla="*/ 26 w 86"/>
                <a:gd name="T43" fmla="*/ 82 h 85"/>
                <a:gd name="T44" fmla="*/ 19 w 86"/>
                <a:gd name="T45" fmla="*/ 78 h 85"/>
                <a:gd name="T46" fmla="*/ 12 w 86"/>
                <a:gd name="T47" fmla="*/ 73 h 85"/>
                <a:gd name="T48" fmla="*/ 6 w 86"/>
                <a:gd name="T49" fmla="*/ 66 h 85"/>
                <a:gd name="T50" fmla="*/ 4 w 86"/>
                <a:gd name="T51" fmla="*/ 59 h 85"/>
                <a:gd name="T52" fmla="*/ 1 w 86"/>
                <a:gd name="T53" fmla="*/ 51 h 85"/>
                <a:gd name="T54" fmla="*/ 0 w 86"/>
                <a:gd name="T55" fmla="*/ 42 h 85"/>
                <a:gd name="T56" fmla="*/ 0 w 86"/>
                <a:gd name="T57" fmla="*/ 42 h 85"/>
                <a:gd name="T58" fmla="*/ 1 w 86"/>
                <a:gd name="T59" fmla="*/ 34 h 85"/>
                <a:gd name="T60" fmla="*/ 4 w 86"/>
                <a:gd name="T61" fmla="*/ 26 h 85"/>
                <a:gd name="T62" fmla="*/ 6 w 86"/>
                <a:gd name="T63" fmla="*/ 18 h 85"/>
                <a:gd name="T64" fmla="*/ 12 w 86"/>
                <a:gd name="T65" fmla="*/ 12 h 85"/>
                <a:gd name="T66" fmla="*/ 19 w 86"/>
                <a:gd name="T67" fmla="*/ 7 h 85"/>
                <a:gd name="T68" fmla="*/ 26 w 86"/>
                <a:gd name="T69" fmla="*/ 3 h 85"/>
                <a:gd name="T70" fmla="*/ 34 w 86"/>
                <a:gd name="T71" fmla="*/ 0 h 85"/>
                <a:gd name="T72" fmla="*/ 42 w 86"/>
                <a:gd name="T73" fmla="*/ 0 h 85"/>
                <a:gd name="T74" fmla="*/ 42 w 86"/>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5">
                  <a:moveTo>
                    <a:pt x="42" y="0"/>
                  </a:moveTo>
                  <a:lnTo>
                    <a:pt x="42" y="0"/>
                  </a:lnTo>
                  <a:lnTo>
                    <a:pt x="52" y="0"/>
                  </a:lnTo>
                  <a:lnTo>
                    <a:pt x="59" y="3"/>
                  </a:lnTo>
                  <a:lnTo>
                    <a:pt x="67" y="7"/>
                  </a:lnTo>
                  <a:lnTo>
                    <a:pt x="73" y="12"/>
                  </a:lnTo>
                  <a:lnTo>
                    <a:pt x="78" y="18"/>
                  </a:lnTo>
                  <a:lnTo>
                    <a:pt x="82" y="26"/>
                  </a:lnTo>
                  <a:lnTo>
                    <a:pt x="85" y="34"/>
                  </a:lnTo>
                  <a:lnTo>
                    <a:pt x="86" y="42"/>
                  </a:lnTo>
                  <a:lnTo>
                    <a:pt x="86" y="42"/>
                  </a:lnTo>
                  <a:lnTo>
                    <a:pt x="85" y="51"/>
                  </a:lnTo>
                  <a:lnTo>
                    <a:pt x="82" y="59"/>
                  </a:lnTo>
                  <a:lnTo>
                    <a:pt x="78" y="66"/>
                  </a:lnTo>
                  <a:lnTo>
                    <a:pt x="73" y="73"/>
                  </a:lnTo>
                  <a:lnTo>
                    <a:pt x="67" y="78"/>
                  </a:lnTo>
                  <a:lnTo>
                    <a:pt x="59" y="82"/>
                  </a:lnTo>
                  <a:lnTo>
                    <a:pt x="52" y="84"/>
                  </a:lnTo>
                  <a:lnTo>
                    <a:pt x="42" y="85"/>
                  </a:lnTo>
                  <a:lnTo>
                    <a:pt x="42" y="85"/>
                  </a:lnTo>
                  <a:lnTo>
                    <a:pt x="34" y="84"/>
                  </a:lnTo>
                  <a:lnTo>
                    <a:pt x="26" y="82"/>
                  </a:lnTo>
                  <a:lnTo>
                    <a:pt x="19" y="78"/>
                  </a:lnTo>
                  <a:lnTo>
                    <a:pt x="12" y="73"/>
                  </a:lnTo>
                  <a:lnTo>
                    <a:pt x="6" y="66"/>
                  </a:lnTo>
                  <a:lnTo>
                    <a:pt x="4" y="59"/>
                  </a:lnTo>
                  <a:lnTo>
                    <a:pt x="1" y="51"/>
                  </a:lnTo>
                  <a:lnTo>
                    <a:pt x="0" y="42"/>
                  </a:lnTo>
                  <a:lnTo>
                    <a:pt x="0" y="42"/>
                  </a:lnTo>
                  <a:lnTo>
                    <a:pt x="1" y="34"/>
                  </a:lnTo>
                  <a:lnTo>
                    <a:pt x="4" y="26"/>
                  </a:lnTo>
                  <a:lnTo>
                    <a:pt x="6" y="18"/>
                  </a:lnTo>
                  <a:lnTo>
                    <a:pt x="12" y="12"/>
                  </a:lnTo>
                  <a:lnTo>
                    <a:pt x="19" y="7"/>
                  </a:lnTo>
                  <a:lnTo>
                    <a:pt x="26" y="3"/>
                  </a:lnTo>
                  <a:lnTo>
                    <a:pt x="34" y="0"/>
                  </a:lnTo>
                  <a:lnTo>
                    <a:pt x="42" y="0"/>
                  </a:lnTo>
                  <a:lnTo>
                    <a:pt x="42" y="0"/>
                  </a:lnTo>
                  <a:close/>
                </a:path>
              </a:pathLst>
            </a:custGeom>
            <a:solidFill>
              <a:srgbClr val="8ED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86"/>
            <p:cNvSpPr>
              <a:spLocks/>
            </p:cNvSpPr>
            <p:nvPr userDrawn="1"/>
          </p:nvSpPr>
          <p:spPr bwMode="auto">
            <a:xfrm>
              <a:off x="3875" y="1060"/>
              <a:ext cx="43" cy="43"/>
            </a:xfrm>
            <a:custGeom>
              <a:avLst/>
              <a:gdLst>
                <a:gd name="T0" fmla="*/ 42 w 86"/>
                <a:gd name="T1" fmla="*/ 0 h 87"/>
                <a:gd name="T2" fmla="*/ 42 w 86"/>
                <a:gd name="T3" fmla="*/ 0 h 87"/>
                <a:gd name="T4" fmla="*/ 52 w 86"/>
                <a:gd name="T5" fmla="*/ 1 h 87"/>
                <a:gd name="T6" fmla="*/ 59 w 86"/>
                <a:gd name="T7" fmla="*/ 4 h 87"/>
                <a:gd name="T8" fmla="*/ 67 w 86"/>
                <a:gd name="T9" fmla="*/ 8 h 87"/>
                <a:gd name="T10" fmla="*/ 73 w 86"/>
                <a:gd name="T11" fmla="*/ 12 h 87"/>
                <a:gd name="T12" fmla="*/ 78 w 86"/>
                <a:gd name="T13" fmla="*/ 19 h 87"/>
                <a:gd name="T14" fmla="*/ 82 w 86"/>
                <a:gd name="T15" fmla="*/ 26 h 87"/>
                <a:gd name="T16" fmla="*/ 85 w 86"/>
                <a:gd name="T17" fmla="*/ 34 h 87"/>
                <a:gd name="T18" fmla="*/ 86 w 86"/>
                <a:gd name="T19" fmla="*/ 43 h 87"/>
                <a:gd name="T20" fmla="*/ 86 w 86"/>
                <a:gd name="T21" fmla="*/ 43 h 87"/>
                <a:gd name="T22" fmla="*/ 85 w 86"/>
                <a:gd name="T23" fmla="*/ 52 h 87"/>
                <a:gd name="T24" fmla="*/ 82 w 86"/>
                <a:gd name="T25" fmla="*/ 61 h 87"/>
                <a:gd name="T26" fmla="*/ 78 w 86"/>
                <a:gd name="T27" fmla="*/ 67 h 87"/>
                <a:gd name="T28" fmla="*/ 73 w 86"/>
                <a:gd name="T29" fmla="*/ 73 h 87"/>
                <a:gd name="T30" fmla="*/ 67 w 86"/>
                <a:gd name="T31" fmla="*/ 78 h 87"/>
                <a:gd name="T32" fmla="*/ 59 w 86"/>
                <a:gd name="T33" fmla="*/ 83 h 87"/>
                <a:gd name="T34" fmla="*/ 52 w 86"/>
                <a:gd name="T35" fmla="*/ 85 h 87"/>
                <a:gd name="T36" fmla="*/ 42 w 86"/>
                <a:gd name="T37" fmla="*/ 87 h 87"/>
                <a:gd name="T38" fmla="*/ 42 w 86"/>
                <a:gd name="T39" fmla="*/ 87 h 87"/>
                <a:gd name="T40" fmla="*/ 34 w 86"/>
                <a:gd name="T41" fmla="*/ 85 h 87"/>
                <a:gd name="T42" fmla="*/ 26 w 86"/>
                <a:gd name="T43" fmla="*/ 83 h 87"/>
                <a:gd name="T44" fmla="*/ 19 w 86"/>
                <a:gd name="T45" fmla="*/ 78 h 87"/>
                <a:gd name="T46" fmla="*/ 12 w 86"/>
                <a:gd name="T47" fmla="*/ 73 h 87"/>
                <a:gd name="T48" fmla="*/ 6 w 86"/>
                <a:gd name="T49" fmla="*/ 67 h 87"/>
                <a:gd name="T50" fmla="*/ 4 w 86"/>
                <a:gd name="T51" fmla="*/ 61 h 87"/>
                <a:gd name="T52" fmla="*/ 1 w 86"/>
                <a:gd name="T53" fmla="*/ 52 h 87"/>
                <a:gd name="T54" fmla="*/ 0 w 86"/>
                <a:gd name="T55" fmla="*/ 43 h 87"/>
                <a:gd name="T56" fmla="*/ 0 w 86"/>
                <a:gd name="T57" fmla="*/ 43 h 87"/>
                <a:gd name="T58" fmla="*/ 1 w 86"/>
                <a:gd name="T59" fmla="*/ 34 h 87"/>
                <a:gd name="T60" fmla="*/ 4 w 86"/>
                <a:gd name="T61" fmla="*/ 26 h 87"/>
                <a:gd name="T62" fmla="*/ 6 w 86"/>
                <a:gd name="T63" fmla="*/ 19 h 87"/>
                <a:gd name="T64" fmla="*/ 12 w 86"/>
                <a:gd name="T65" fmla="*/ 12 h 87"/>
                <a:gd name="T66" fmla="*/ 19 w 86"/>
                <a:gd name="T67" fmla="*/ 8 h 87"/>
                <a:gd name="T68" fmla="*/ 26 w 86"/>
                <a:gd name="T69" fmla="*/ 4 h 87"/>
                <a:gd name="T70" fmla="*/ 34 w 86"/>
                <a:gd name="T71" fmla="*/ 1 h 87"/>
                <a:gd name="T72" fmla="*/ 42 w 86"/>
                <a:gd name="T73" fmla="*/ 0 h 87"/>
                <a:gd name="T74" fmla="*/ 42 w 86"/>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7">
                  <a:moveTo>
                    <a:pt x="42" y="0"/>
                  </a:moveTo>
                  <a:lnTo>
                    <a:pt x="42" y="0"/>
                  </a:lnTo>
                  <a:lnTo>
                    <a:pt x="52" y="1"/>
                  </a:lnTo>
                  <a:lnTo>
                    <a:pt x="59" y="4"/>
                  </a:lnTo>
                  <a:lnTo>
                    <a:pt x="67" y="8"/>
                  </a:lnTo>
                  <a:lnTo>
                    <a:pt x="73" y="12"/>
                  </a:lnTo>
                  <a:lnTo>
                    <a:pt x="78" y="19"/>
                  </a:lnTo>
                  <a:lnTo>
                    <a:pt x="82" y="26"/>
                  </a:lnTo>
                  <a:lnTo>
                    <a:pt x="85" y="34"/>
                  </a:lnTo>
                  <a:lnTo>
                    <a:pt x="86" y="43"/>
                  </a:lnTo>
                  <a:lnTo>
                    <a:pt x="86" y="43"/>
                  </a:lnTo>
                  <a:lnTo>
                    <a:pt x="85" y="52"/>
                  </a:lnTo>
                  <a:lnTo>
                    <a:pt x="82" y="61"/>
                  </a:lnTo>
                  <a:lnTo>
                    <a:pt x="78" y="67"/>
                  </a:lnTo>
                  <a:lnTo>
                    <a:pt x="73" y="73"/>
                  </a:lnTo>
                  <a:lnTo>
                    <a:pt x="67" y="78"/>
                  </a:lnTo>
                  <a:lnTo>
                    <a:pt x="59" y="83"/>
                  </a:lnTo>
                  <a:lnTo>
                    <a:pt x="52" y="85"/>
                  </a:lnTo>
                  <a:lnTo>
                    <a:pt x="42" y="87"/>
                  </a:lnTo>
                  <a:lnTo>
                    <a:pt x="42" y="87"/>
                  </a:lnTo>
                  <a:lnTo>
                    <a:pt x="34" y="85"/>
                  </a:lnTo>
                  <a:lnTo>
                    <a:pt x="26" y="83"/>
                  </a:lnTo>
                  <a:lnTo>
                    <a:pt x="19" y="78"/>
                  </a:lnTo>
                  <a:lnTo>
                    <a:pt x="12" y="73"/>
                  </a:lnTo>
                  <a:lnTo>
                    <a:pt x="6" y="67"/>
                  </a:lnTo>
                  <a:lnTo>
                    <a:pt x="4" y="61"/>
                  </a:lnTo>
                  <a:lnTo>
                    <a:pt x="1" y="52"/>
                  </a:lnTo>
                  <a:lnTo>
                    <a:pt x="0" y="43"/>
                  </a:lnTo>
                  <a:lnTo>
                    <a:pt x="0" y="43"/>
                  </a:lnTo>
                  <a:lnTo>
                    <a:pt x="1" y="34"/>
                  </a:lnTo>
                  <a:lnTo>
                    <a:pt x="4" y="26"/>
                  </a:lnTo>
                  <a:lnTo>
                    <a:pt x="6" y="19"/>
                  </a:lnTo>
                  <a:lnTo>
                    <a:pt x="12" y="12"/>
                  </a:lnTo>
                  <a:lnTo>
                    <a:pt x="19" y="8"/>
                  </a:lnTo>
                  <a:lnTo>
                    <a:pt x="26" y="4"/>
                  </a:lnTo>
                  <a:lnTo>
                    <a:pt x="34" y="1"/>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87"/>
            <p:cNvSpPr>
              <a:spLocks/>
            </p:cNvSpPr>
            <p:nvPr userDrawn="1"/>
          </p:nvSpPr>
          <p:spPr bwMode="auto">
            <a:xfrm>
              <a:off x="3875" y="1004"/>
              <a:ext cx="43" cy="42"/>
            </a:xfrm>
            <a:custGeom>
              <a:avLst/>
              <a:gdLst>
                <a:gd name="T0" fmla="*/ 42 w 86"/>
                <a:gd name="T1" fmla="*/ 0 h 86"/>
                <a:gd name="T2" fmla="*/ 42 w 86"/>
                <a:gd name="T3" fmla="*/ 0 h 86"/>
                <a:gd name="T4" fmla="*/ 52 w 86"/>
                <a:gd name="T5" fmla="*/ 2 h 86"/>
                <a:gd name="T6" fmla="*/ 59 w 86"/>
                <a:gd name="T7" fmla="*/ 5 h 86"/>
                <a:gd name="T8" fmla="*/ 67 w 86"/>
                <a:gd name="T9" fmla="*/ 7 h 86"/>
                <a:gd name="T10" fmla="*/ 73 w 86"/>
                <a:gd name="T11" fmla="*/ 13 h 86"/>
                <a:gd name="T12" fmla="*/ 78 w 86"/>
                <a:gd name="T13" fmla="*/ 20 h 86"/>
                <a:gd name="T14" fmla="*/ 82 w 86"/>
                <a:gd name="T15" fmla="*/ 27 h 86"/>
                <a:gd name="T16" fmla="*/ 85 w 86"/>
                <a:gd name="T17" fmla="*/ 35 h 86"/>
                <a:gd name="T18" fmla="*/ 86 w 86"/>
                <a:gd name="T19" fmla="*/ 43 h 86"/>
                <a:gd name="T20" fmla="*/ 86 w 86"/>
                <a:gd name="T21" fmla="*/ 43 h 86"/>
                <a:gd name="T22" fmla="*/ 85 w 86"/>
                <a:gd name="T23" fmla="*/ 53 h 86"/>
                <a:gd name="T24" fmla="*/ 82 w 86"/>
                <a:gd name="T25" fmla="*/ 59 h 86"/>
                <a:gd name="T26" fmla="*/ 78 w 86"/>
                <a:gd name="T27" fmla="*/ 68 h 86"/>
                <a:gd name="T28" fmla="*/ 73 w 86"/>
                <a:gd name="T29" fmla="*/ 73 h 86"/>
                <a:gd name="T30" fmla="*/ 67 w 86"/>
                <a:gd name="T31" fmla="*/ 79 h 86"/>
                <a:gd name="T32" fmla="*/ 59 w 86"/>
                <a:gd name="T33" fmla="*/ 83 h 86"/>
                <a:gd name="T34" fmla="*/ 52 w 86"/>
                <a:gd name="T35" fmla="*/ 86 h 86"/>
                <a:gd name="T36" fmla="*/ 42 w 86"/>
                <a:gd name="T37" fmla="*/ 86 h 86"/>
                <a:gd name="T38" fmla="*/ 42 w 86"/>
                <a:gd name="T39" fmla="*/ 86 h 86"/>
                <a:gd name="T40" fmla="*/ 34 w 86"/>
                <a:gd name="T41" fmla="*/ 86 h 86"/>
                <a:gd name="T42" fmla="*/ 26 w 86"/>
                <a:gd name="T43" fmla="*/ 83 h 86"/>
                <a:gd name="T44" fmla="*/ 19 w 86"/>
                <a:gd name="T45" fmla="*/ 79 h 86"/>
                <a:gd name="T46" fmla="*/ 12 w 86"/>
                <a:gd name="T47" fmla="*/ 73 h 86"/>
                <a:gd name="T48" fmla="*/ 6 w 86"/>
                <a:gd name="T49" fmla="*/ 68 h 86"/>
                <a:gd name="T50" fmla="*/ 4 w 86"/>
                <a:gd name="T51" fmla="*/ 59 h 86"/>
                <a:gd name="T52" fmla="*/ 1 w 86"/>
                <a:gd name="T53" fmla="*/ 53 h 86"/>
                <a:gd name="T54" fmla="*/ 0 w 86"/>
                <a:gd name="T55" fmla="*/ 43 h 86"/>
                <a:gd name="T56" fmla="*/ 0 w 86"/>
                <a:gd name="T57" fmla="*/ 43 h 86"/>
                <a:gd name="T58" fmla="*/ 1 w 86"/>
                <a:gd name="T59" fmla="*/ 35 h 86"/>
                <a:gd name="T60" fmla="*/ 4 w 86"/>
                <a:gd name="T61" fmla="*/ 27 h 86"/>
                <a:gd name="T62" fmla="*/ 6 w 86"/>
                <a:gd name="T63" fmla="*/ 20 h 86"/>
                <a:gd name="T64" fmla="*/ 12 w 86"/>
                <a:gd name="T65" fmla="*/ 13 h 86"/>
                <a:gd name="T66" fmla="*/ 19 w 86"/>
                <a:gd name="T67" fmla="*/ 7 h 86"/>
                <a:gd name="T68" fmla="*/ 26 w 86"/>
                <a:gd name="T69" fmla="*/ 5 h 86"/>
                <a:gd name="T70" fmla="*/ 34 w 86"/>
                <a:gd name="T71" fmla="*/ 2 h 86"/>
                <a:gd name="T72" fmla="*/ 42 w 86"/>
                <a:gd name="T73" fmla="*/ 0 h 86"/>
                <a:gd name="T74" fmla="*/ 42 w 86"/>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6">
                  <a:moveTo>
                    <a:pt x="42" y="0"/>
                  </a:moveTo>
                  <a:lnTo>
                    <a:pt x="42" y="0"/>
                  </a:lnTo>
                  <a:lnTo>
                    <a:pt x="52" y="2"/>
                  </a:lnTo>
                  <a:lnTo>
                    <a:pt x="59" y="5"/>
                  </a:lnTo>
                  <a:lnTo>
                    <a:pt x="67" y="7"/>
                  </a:lnTo>
                  <a:lnTo>
                    <a:pt x="73" y="13"/>
                  </a:lnTo>
                  <a:lnTo>
                    <a:pt x="78" y="20"/>
                  </a:lnTo>
                  <a:lnTo>
                    <a:pt x="82" y="27"/>
                  </a:lnTo>
                  <a:lnTo>
                    <a:pt x="85" y="35"/>
                  </a:lnTo>
                  <a:lnTo>
                    <a:pt x="86" y="43"/>
                  </a:lnTo>
                  <a:lnTo>
                    <a:pt x="86" y="43"/>
                  </a:lnTo>
                  <a:lnTo>
                    <a:pt x="85" y="53"/>
                  </a:lnTo>
                  <a:lnTo>
                    <a:pt x="82" y="59"/>
                  </a:lnTo>
                  <a:lnTo>
                    <a:pt x="78" y="68"/>
                  </a:lnTo>
                  <a:lnTo>
                    <a:pt x="73" y="73"/>
                  </a:lnTo>
                  <a:lnTo>
                    <a:pt x="67" y="79"/>
                  </a:lnTo>
                  <a:lnTo>
                    <a:pt x="59" y="83"/>
                  </a:lnTo>
                  <a:lnTo>
                    <a:pt x="52" y="86"/>
                  </a:lnTo>
                  <a:lnTo>
                    <a:pt x="42" y="86"/>
                  </a:lnTo>
                  <a:lnTo>
                    <a:pt x="42" y="86"/>
                  </a:lnTo>
                  <a:lnTo>
                    <a:pt x="34" y="86"/>
                  </a:lnTo>
                  <a:lnTo>
                    <a:pt x="26" y="83"/>
                  </a:lnTo>
                  <a:lnTo>
                    <a:pt x="19" y="79"/>
                  </a:lnTo>
                  <a:lnTo>
                    <a:pt x="12" y="73"/>
                  </a:lnTo>
                  <a:lnTo>
                    <a:pt x="6" y="68"/>
                  </a:lnTo>
                  <a:lnTo>
                    <a:pt x="4" y="59"/>
                  </a:lnTo>
                  <a:lnTo>
                    <a:pt x="1" y="53"/>
                  </a:lnTo>
                  <a:lnTo>
                    <a:pt x="0" y="43"/>
                  </a:lnTo>
                  <a:lnTo>
                    <a:pt x="0" y="43"/>
                  </a:lnTo>
                  <a:lnTo>
                    <a:pt x="1" y="35"/>
                  </a:lnTo>
                  <a:lnTo>
                    <a:pt x="4" y="27"/>
                  </a:lnTo>
                  <a:lnTo>
                    <a:pt x="6" y="20"/>
                  </a:lnTo>
                  <a:lnTo>
                    <a:pt x="12" y="13"/>
                  </a:lnTo>
                  <a:lnTo>
                    <a:pt x="19" y="7"/>
                  </a:lnTo>
                  <a:lnTo>
                    <a:pt x="26" y="5"/>
                  </a:lnTo>
                  <a:lnTo>
                    <a:pt x="34" y="2"/>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88"/>
            <p:cNvSpPr>
              <a:spLocks/>
            </p:cNvSpPr>
            <p:nvPr userDrawn="1"/>
          </p:nvSpPr>
          <p:spPr bwMode="auto">
            <a:xfrm>
              <a:off x="3875" y="947"/>
              <a:ext cx="43" cy="43"/>
            </a:xfrm>
            <a:custGeom>
              <a:avLst/>
              <a:gdLst>
                <a:gd name="T0" fmla="*/ 42 w 86"/>
                <a:gd name="T1" fmla="*/ 0 h 85"/>
                <a:gd name="T2" fmla="*/ 42 w 86"/>
                <a:gd name="T3" fmla="*/ 0 h 85"/>
                <a:gd name="T4" fmla="*/ 52 w 86"/>
                <a:gd name="T5" fmla="*/ 1 h 85"/>
                <a:gd name="T6" fmla="*/ 59 w 86"/>
                <a:gd name="T7" fmla="*/ 2 h 85"/>
                <a:gd name="T8" fmla="*/ 67 w 86"/>
                <a:gd name="T9" fmla="*/ 7 h 85"/>
                <a:gd name="T10" fmla="*/ 73 w 86"/>
                <a:gd name="T11" fmla="*/ 12 h 85"/>
                <a:gd name="T12" fmla="*/ 78 w 86"/>
                <a:gd name="T13" fmla="*/ 19 h 85"/>
                <a:gd name="T14" fmla="*/ 82 w 86"/>
                <a:gd name="T15" fmla="*/ 26 h 85"/>
                <a:gd name="T16" fmla="*/ 85 w 86"/>
                <a:gd name="T17" fmla="*/ 34 h 85"/>
                <a:gd name="T18" fmla="*/ 86 w 86"/>
                <a:gd name="T19" fmla="*/ 42 h 85"/>
                <a:gd name="T20" fmla="*/ 86 w 86"/>
                <a:gd name="T21" fmla="*/ 42 h 85"/>
                <a:gd name="T22" fmla="*/ 85 w 86"/>
                <a:gd name="T23" fmla="*/ 51 h 85"/>
                <a:gd name="T24" fmla="*/ 82 w 86"/>
                <a:gd name="T25" fmla="*/ 59 h 85"/>
                <a:gd name="T26" fmla="*/ 78 w 86"/>
                <a:gd name="T27" fmla="*/ 67 h 85"/>
                <a:gd name="T28" fmla="*/ 73 w 86"/>
                <a:gd name="T29" fmla="*/ 73 h 85"/>
                <a:gd name="T30" fmla="*/ 67 w 86"/>
                <a:gd name="T31" fmla="*/ 78 h 85"/>
                <a:gd name="T32" fmla="*/ 59 w 86"/>
                <a:gd name="T33" fmla="*/ 82 h 85"/>
                <a:gd name="T34" fmla="*/ 52 w 86"/>
                <a:gd name="T35" fmla="*/ 85 h 85"/>
                <a:gd name="T36" fmla="*/ 42 w 86"/>
                <a:gd name="T37" fmla="*/ 85 h 85"/>
                <a:gd name="T38" fmla="*/ 42 w 86"/>
                <a:gd name="T39" fmla="*/ 85 h 85"/>
                <a:gd name="T40" fmla="*/ 34 w 86"/>
                <a:gd name="T41" fmla="*/ 85 h 85"/>
                <a:gd name="T42" fmla="*/ 26 w 86"/>
                <a:gd name="T43" fmla="*/ 82 h 85"/>
                <a:gd name="T44" fmla="*/ 19 w 86"/>
                <a:gd name="T45" fmla="*/ 78 h 85"/>
                <a:gd name="T46" fmla="*/ 12 w 86"/>
                <a:gd name="T47" fmla="*/ 73 h 85"/>
                <a:gd name="T48" fmla="*/ 6 w 86"/>
                <a:gd name="T49" fmla="*/ 67 h 85"/>
                <a:gd name="T50" fmla="*/ 4 w 86"/>
                <a:gd name="T51" fmla="*/ 59 h 85"/>
                <a:gd name="T52" fmla="*/ 1 w 86"/>
                <a:gd name="T53" fmla="*/ 51 h 85"/>
                <a:gd name="T54" fmla="*/ 0 w 86"/>
                <a:gd name="T55" fmla="*/ 42 h 85"/>
                <a:gd name="T56" fmla="*/ 0 w 86"/>
                <a:gd name="T57" fmla="*/ 42 h 85"/>
                <a:gd name="T58" fmla="*/ 1 w 86"/>
                <a:gd name="T59" fmla="*/ 34 h 85"/>
                <a:gd name="T60" fmla="*/ 4 w 86"/>
                <a:gd name="T61" fmla="*/ 26 h 85"/>
                <a:gd name="T62" fmla="*/ 6 w 86"/>
                <a:gd name="T63" fmla="*/ 19 h 85"/>
                <a:gd name="T64" fmla="*/ 12 w 86"/>
                <a:gd name="T65" fmla="*/ 12 h 85"/>
                <a:gd name="T66" fmla="*/ 19 w 86"/>
                <a:gd name="T67" fmla="*/ 7 h 85"/>
                <a:gd name="T68" fmla="*/ 26 w 86"/>
                <a:gd name="T69" fmla="*/ 2 h 85"/>
                <a:gd name="T70" fmla="*/ 34 w 86"/>
                <a:gd name="T71" fmla="*/ 1 h 85"/>
                <a:gd name="T72" fmla="*/ 42 w 86"/>
                <a:gd name="T73" fmla="*/ 0 h 85"/>
                <a:gd name="T74" fmla="*/ 42 w 86"/>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85">
                  <a:moveTo>
                    <a:pt x="42" y="0"/>
                  </a:moveTo>
                  <a:lnTo>
                    <a:pt x="42" y="0"/>
                  </a:lnTo>
                  <a:lnTo>
                    <a:pt x="52" y="1"/>
                  </a:lnTo>
                  <a:lnTo>
                    <a:pt x="59" y="2"/>
                  </a:lnTo>
                  <a:lnTo>
                    <a:pt x="67" y="7"/>
                  </a:lnTo>
                  <a:lnTo>
                    <a:pt x="73" y="12"/>
                  </a:lnTo>
                  <a:lnTo>
                    <a:pt x="78" y="19"/>
                  </a:lnTo>
                  <a:lnTo>
                    <a:pt x="82" y="26"/>
                  </a:lnTo>
                  <a:lnTo>
                    <a:pt x="85" y="34"/>
                  </a:lnTo>
                  <a:lnTo>
                    <a:pt x="86" y="42"/>
                  </a:lnTo>
                  <a:lnTo>
                    <a:pt x="86" y="42"/>
                  </a:lnTo>
                  <a:lnTo>
                    <a:pt x="85" y="51"/>
                  </a:lnTo>
                  <a:lnTo>
                    <a:pt x="82" y="59"/>
                  </a:lnTo>
                  <a:lnTo>
                    <a:pt x="78" y="67"/>
                  </a:lnTo>
                  <a:lnTo>
                    <a:pt x="73" y="73"/>
                  </a:lnTo>
                  <a:lnTo>
                    <a:pt x="67" y="78"/>
                  </a:lnTo>
                  <a:lnTo>
                    <a:pt x="59" y="82"/>
                  </a:lnTo>
                  <a:lnTo>
                    <a:pt x="52" y="85"/>
                  </a:lnTo>
                  <a:lnTo>
                    <a:pt x="42" y="85"/>
                  </a:lnTo>
                  <a:lnTo>
                    <a:pt x="42" y="85"/>
                  </a:lnTo>
                  <a:lnTo>
                    <a:pt x="34" y="85"/>
                  </a:lnTo>
                  <a:lnTo>
                    <a:pt x="26" y="82"/>
                  </a:lnTo>
                  <a:lnTo>
                    <a:pt x="19" y="78"/>
                  </a:lnTo>
                  <a:lnTo>
                    <a:pt x="12" y="73"/>
                  </a:lnTo>
                  <a:lnTo>
                    <a:pt x="6" y="67"/>
                  </a:lnTo>
                  <a:lnTo>
                    <a:pt x="4" y="59"/>
                  </a:lnTo>
                  <a:lnTo>
                    <a:pt x="1" y="51"/>
                  </a:lnTo>
                  <a:lnTo>
                    <a:pt x="0" y="42"/>
                  </a:lnTo>
                  <a:lnTo>
                    <a:pt x="0" y="42"/>
                  </a:lnTo>
                  <a:lnTo>
                    <a:pt x="1" y="34"/>
                  </a:lnTo>
                  <a:lnTo>
                    <a:pt x="4" y="26"/>
                  </a:lnTo>
                  <a:lnTo>
                    <a:pt x="6" y="19"/>
                  </a:lnTo>
                  <a:lnTo>
                    <a:pt x="12" y="12"/>
                  </a:lnTo>
                  <a:lnTo>
                    <a:pt x="19" y="7"/>
                  </a:lnTo>
                  <a:lnTo>
                    <a:pt x="26" y="2"/>
                  </a:lnTo>
                  <a:lnTo>
                    <a:pt x="34" y="1"/>
                  </a:lnTo>
                  <a:lnTo>
                    <a:pt x="42" y="0"/>
                  </a:lnTo>
                  <a:lnTo>
                    <a:pt x="42"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89"/>
            <p:cNvSpPr>
              <a:spLocks/>
            </p:cNvSpPr>
            <p:nvPr userDrawn="1"/>
          </p:nvSpPr>
          <p:spPr bwMode="auto">
            <a:xfrm>
              <a:off x="3931" y="1342"/>
              <a:ext cx="44" cy="43"/>
            </a:xfrm>
            <a:custGeom>
              <a:avLst/>
              <a:gdLst>
                <a:gd name="T0" fmla="*/ 43 w 87"/>
                <a:gd name="T1" fmla="*/ 0 h 85"/>
                <a:gd name="T2" fmla="*/ 43 w 87"/>
                <a:gd name="T3" fmla="*/ 0 h 85"/>
                <a:gd name="T4" fmla="*/ 53 w 87"/>
                <a:gd name="T5" fmla="*/ 0 h 85"/>
                <a:gd name="T6" fmla="*/ 61 w 87"/>
                <a:gd name="T7" fmla="*/ 3 h 85"/>
                <a:gd name="T8" fmla="*/ 68 w 87"/>
                <a:gd name="T9" fmla="*/ 7 h 85"/>
                <a:gd name="T10" fmla="*/ 73 w 87"/>
                <a:gd name="T11" fmla="*/ 12 h 85"/>
                <a:gd name="T12" fmla="*/ 79 w 87"/>
                <a:gd name="T13" fmla="*/ 18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6 h 85"/>
                <a:gd name="T28" fmla="*/ 73 w 87"/>
                <a:gd name="T29" fmla="*/ 73 h 85"/>
                <a:gd name="T30" fmla="*/ 68 w 87"/>
                <a:gd name="T31" fmla="*/ 78 h 85"/>
                <a:gd name="T32" fmla="*/ 61 w 87"/>
                <a:gd name="T33" fmla="*/ 82 h 85"/>
                <a:gd name="T34" fmla="*/ 53 w 87"/>
                <a:gd name="T35" fmla="*/ 84 h 85"/>
                <a:gd name="T36" fmla="*/ 43 w 87"/>
                <a:gd name="T37" fmla="*/ 85 h 85"/>
                <a:gd name="T38" fmla="*/ 43 w 87"/>
                <a:gd name="T39" fmla="*/ 85 h 85"/>
                <a:gd name="T40" fmla="*/ 35 w 87"/>
                <a:gd name="T41" fmla="*/ 84 h 85"/>
                <a:gd name="T42" fmla="*/ 27 w 87"/>
                <a:gd name="T43" fmla="*/ 82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8 h 85"/>
                <a:gd name="T64" fmla="*/ 13 w 87"/>
                <a:gd name="T65" fmla="*/ 12 h 85"/>
                <a:gd name="T66" fmla="*/ 20 w 87"/>
                <a:gd name="T67" fmla="*/ 7 h 85"/>
                <a:gd name="T68" fmla="*/ 27 w 87"/>
                <a:gd name="T69" fmla="*/ 3 h 85"/>
                <a:gd name="T70" fmla="*/ 35 w 87"/>
                <a:gd name="T71" fmla="*/ 0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0"/>
                  </a:lnTo>
                  <a:lnTo>
                    <a:pt x="61" y="3"/>
                  </a:lnTo>
                  <a:lnTo>
                    <a:pt x="68" y="7"/>
                  </a:lnTo>
                  <a:lnTo>
                    <a:pt x="73" y="12"/>
                  </a:lnTo>
                  <a:lnTo>
                    <a:pt x="79" y="18"/>
                  </a:lnTo>
                  <a:lnTo>
                    <a:pt x="83" y="26"/>
                  </a:lnTo>
                  <a:lnTo>
                    <a:pt x="86" y="34"/>
                  </a:lnTo>
                  <a:lnTo>
                    <a:pt x="87" y="42"/>
                  </a:lnTo>
                  <a:lnTo>
                    <a:pt x="87" y="42"/>
                  </a:lnTo>
                  <a:lnTo>
                    <a:pt x="86" y="51"/>
                  </a:lnTo>
                  <a:lnTo>
                    <a:pt x="83" y="59"/>
                  </a:lnTo>
                  <a:lnTo>
                    <a:pt x="79" y="66"/>
                  </a:lnTo>
                  <a:lnTo>
                    <a:pt x="73" y="73"/>
                  </a:lnTo>
                  <a:lnTo>
                    <a:pt x="68" y="78"/>
                  </a:lnTo>
                  <a:lnTo>
                    <a:pt x="61" y="82"/>
                  </a:lnTo>
                  <a:lnTo>
                    <a:pt x="53" y="84"/>
                  </a:lnTo>
                  <a:lnTo>
                    <a:pt x="43" y="85"/>
                  </a:lnTo>
                  <a:lnTo>
                    <a:pt x="43" y="85"/>
                  </a:lnTo>
                  <a:lnTo>
                    <a:pt x="35" y="84"/>
                  </a:lnTo>
                  <a:lnTo>
                    <a:pt x="27" y="82"/>
                  </a:lnTo>
                  <a:lnTo>
                    <a:pt x="20" y="78"/>
                  </a:lnTo>
                  <a:lnTo>
                    <a:pt x="13" y="73"/>
                  </a:lnTo>
                  <a:lnTo>
                    <a:pt x="9" y="66"/>
                  </a:lnTo>
                  <a:lnTo>
                    <a:pt x="5" y="59"/>
                  </a:lnTo>
                  <a:lnTo>
                    <a:pt x="2" y="51"/>
                  </a:lnTo>
                  <a:lnTo>
                    <a:pt x="0" y="42"/>
                  </a:lnTo>
                  <a:lnTo>
                    <a:pt x="0" y="42"/>
                  </a:lnTo>
                  <a:lnTo>
                    <a:pt x="2" y="34"/>
                  </a:lnTo>
                  <a:lnTo>
                    <a:pt x="5" y="26"/>
                  </a:lnTo>
                  <a:lnTo>
                    <a:pt x="9" y="18"/>
                  </a:lnTo>
                  <a:lnTo>
                    <a:pt x="13" y="12"/>
                  </a:lnTo>
                  <a:lnTo>
                    <a:pt x="20" y="7"/>
                  </a:lnTo>
                  <a:lnTo>
                    <a:pt x="27" y="3"/>
                  </a:lnTo>
                  <a:lnTo>
                    <a:pt x="35" y="0"/>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90"/>
            <p:cNvSpPr>
              <a:spLocks/>
            </p:cNvSpPr>
            <p:nvPr userDrawn="1"/>
          </p:nvSpPr>
          <p:spPr bwMode="auto">
            <a:xfrm>
              <a:off x="3931" y="1286"/>
              <a:ext cx="44" cy="43"/>
            </a:xfrm>
            <a:custGeom>
              <a:avLst/>
              <a:gdLst>
                <a:gd name="T0" fmla="*/ 43 w 87"/>
                <a:gd name="T1" fmla="*/ 0 h 85"/>
                <a:gd name="T2" fmla="*/ 43 w 87"/>
                <a:gd name="T3" fmla="*/ 0 h 85"/>
                <a:gd name="T4" fmla="*/ 53 w 87"/>
                <a:gd name="T5" fmla="*/ 0 h 85"/>
                <a:gd name="T6" fmla="*/ 61 w 87"/>
                <a:gd name="T7" fmla="*/ 3 h 85"/>
                <a:gd name="T8" fmla="*/ 68 w 87"/>
                <a:gd name="T9" fmla="*/ 7 h 85"/>
                <a:gd name="T10" fmla="*/ 73 w 87"/>
                <a:gd name="T11" fmla="*/ 13 h 85"/>
                <a:gd name="T12" fmla="*/ 79 w 87"/>
                <a:gd name="T13" fmla="*/ 18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6 h 85"/>
                <a:gd name="T28" fmla="*/ 73 w 87"/>
                <a:gd name="T29" fmla="*/ 73 h 85"/>
                <a:gd name="T30" fmla="*/ 68 w 87"/>
                <a:gd name="T31" fmla="*/ 78 h 85"/>
                <a:gd name="T32" fmla="*/ 61 w 87"/>
                <a:gd name="T33" fmla="*/ 83 h 85"/>
                <a:gd name="T34" fmla="*/ 53 w 87"/>
                <a:gd name="T35" fmla="*/ 84 h 85"/>
                <a:gd name="T36" fmla="*/ 43 w 87"/>
                <a:gd name="T37" fmla="*/ 85 h 85"/>
                <a:gd name="T38" fmla="*/ 43 w 87"/>
                <a:gd name="T39" fmla="*/ 85 h 85"/>
                <a:gd name="T40" fmla="*/ 35 w 87"/>
                <a:gd name="T41" fmla="*/ 84 h 85"/>
                <a:gd name="T42" fmla="*/ 27 w 87"/>
                <a:gd name="T43" fmla="*/ 83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8 h 85"/>
                <a:gd name="T64" fmla="*/ 13 w 87"/>
                <a:gd name="T65" fmla="*/ 13 h 85"/>
                <a:gd name="T66" fmla="*/ 20 w 87"/>
                <a:gd name="T67" fmla="*/ 7 h 85"/>
                <a:gd name="T68" fmla="*/ 27 w 87"/>
                <a:gd name="T69" fmla="*/ 3 h 85"/>
                <a:gd name="T70" fmla="*/ 35 w 87"/>
                <a:gd name="T71" fmla="*/ 0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0"/>
                  </a:lnTo>
                  <a:lnTo>
                    <a:pt x="61" y="3"/>
                  </a:lnTo>
                  <a:lnTo>
                    <a:pt x="68" y="7"/>
                  </a:lnTo>
                  <a:lnTo>
                    <a:pt x="73" y="13"/>
                  </a:lnTo>
                  <a:lnTo>
                    <a:pt x="79" y="18"/>
                  </a:lnTo>
                  <a:lnTo>
                    <a:pt x="83" y="26"/>
                  </a:lnTo>
                  <a:lnTo>
                    <a:pt x="86" y="34"/>
                  </a:lnTo>
                  <a:lnTo>
                    <a:pt x="87" y="43"/>
                  </a:lnTo>
                  <a:lnTo>
                    <a:pt x="87" y="43"/>
                  </a:lnTo>
                  <a:lnTo>
                    <a:pt x="86" y="51"/>
                  </a:lnTo>
                  <a:lnTo>
                    <a:pt x="83" y="59"/>
                  </a:lnTo>
                  <a:lnTo>
                    <a:pt x="79" y="66"/>
                  </a:lnTo>
                  <a:lnTo>
                    <a:pt x="73" y="73"/>
                  </a:lnTo>
                  <a:lnTo>
                    <a:pt x="68" y="78"/>
                  </a:lnTo>
                  <a:lnTo>
                    <a:pt x="61" y="83"/>
                  </a:lnTo>
                  <a:lnTo>
                    <a:pt x="53" y="84"/>
                  </a:lnTo>
                  <a:lnTo>
                    <a:pt x="43" y="85"/>
                  </a:lnTo>
                  <a:lnTo>
                    <a:pt x="43" y="85"/>
                  </a:lnTo>
                  <a:lnTo>
                    <a:pt x="35" y="84"/>
                  </a:lnTo>
                  <a:lnTo>
                    <a:pt x="27" y="83"/>
                  </a:lnTo>
                  <a:lnTo>
                    <a:pt x="20" y="78"/>
                  </a:lnTo>
                  <a:lnTo>
                    <a:pt x="13" y="73"/>
                  </a:lnTo>
                  <a:lnTo>
                    <a:pt x="9" y="66"/>
                  </a:lnTo>
                  <a:lnTo>
                    <a:pt x="5" y="59"/>
                  </a:lnTo>
                  <a:lnTo>
                    <a:pt x="2" y="51"/>
                  </a:lnTo>
                  <a:lnTo>
                    <a:pt x="0" y="43"/>
                  </a:lnTo>
                  <a:lnTo>
                    <a:pt x="0" y="43"/>
                  </a:lnTo>
                  <a:lnTo>
                    <a:pt x="2" y="34"/>
                  </a:lnTo>
                  <a:lnTo>
                    <a:pt x="5" y="26"/>
                  </a:lnTo>
                  <a:lnTo>
                    <a:pt x="9" y="18"/>
                  </a:lnTo>
                  <a:lnTo>
                    <a:pt x="13" y="13"/>
                  </a:lnTo>
                  <a:lnTo>
                    <a:pt x="20" y="7"/>
                  </a:lnTo>
                  <a:lnTo>
                    <a:pt x="27" y="3"/>
                  </a:lnTo>
                  <a:lnTo>
                    <a:pt x="35" y="0"/>
                  </a:lnTo>
                  <a:lnTo>
                    <a:pt x="43" y="0"/>
                  </a:lnTo>
                  <a:lnTo>
                    <a:pt x="43" y="0"/>
                  </a:lnTo>
                  <a:close/>
                </a:path>
              </a:pathLst>
            </a:custGeom>
            <a:solidFill>
              <a:srgbClr val="8ED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91"/>
            <p:cNvSpPr>
              <a:spLocks/>
            </p:cNvSpPr>
            <p:nvPr userDrawn="1"/>
          </p:nvSpPr>
          <p:spPr bwMode="auto">
            <a:xfrm>
              <a:off x="3931" y="1060"/>
              <a:ext cx="44" cy="43"/>
            </a:xfrm>
            <a:custGeom>
              <a:avLst/>
              <a:gdLst>
                <a:gd name="T0" fmla="*/ 43 w 87"/>
                <a:gd name="T1" fmla="*/ 0 h 87"/>
                <a:gd name="T2" fmla="*/ 43 w 87"/>
                <a:gd name="T3" fmla="*/ 0 h 87"/>
                <a:gd name="T4" fmla="*/ 53 w 87"/>
                <a:gd name="T5" fmla="*/ 1 h 87"/>
                <a:gd name="T6" fmla="*/ 61 w 87"/>
                <a:gd name="T7" fmla="*/ 4 h 87"/>
                <a:gd name="T8" fmla="*/ 68 w 87"/>
                <a:gd name="T9" fmla="*/ 8 h 87"/>
                <a:gd name="T10" fmla="*/ 73 w 87"/>
                <a:gd name="T11" fmla="*/ 12 h 87"/>
                <a:gd name="T12" fmla="*/ 79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79 w 87"/>
                <a:gd name="T27" fmla="*/ 67 h 87"/>
                <a:gd name="T28" fmla="*/ 73 w 87"/>
                <a:gd name="T29" fmla="*/ 73 h 87"/>
                <a:gd name="T30" fmla="*/ 68 w 87"/>
                <a:gd name="T31" fmla="*/ 78 h 87"/>
                <a:gd name="T32" fmla="*/ 61 w 87"/>
                <a:gd name="T33" fmla="*/ 83 h 87"/>
                <a:gd name="T34" fmla="*/ 53 w 87"/>
                <a:gd name="T35" fmla="*/ 85 h 87"/>
                <a:gd name="T36" fmla="*/ 43 w 87"/>
                <a:gd name="T37" fmla="*/ 87 h 87"/>
                <a:gd name="T38" fmla="*/ 43 w 87"/>
                <a:gd name="T39" fmla="*/ 87 h 87"/>
                <a:gd name="T40" fmla="*/ 35 w 87"/>
                <a:gd name="T41" fmla="*/ 85 h 87"/>
                <a:gd name="T42" fmla="*/ 27 w 87"/>
                <a:gd name="T43" fmla="*/ 83 h 87"/>
                <a:gd name="T44" fmla="*/ 20 w 87"/>
                <a:gd name="T45" fmla="*/ 78 h 87"/>
                <a:gd name="T46" fmla="*/ 13 w 87"/>
                <a:gd name="T47" fmla="*/ 73 h 87"/>
                <a:gd name="T48" fmla="*/ 9 w 87"/>
                <a:gd name="T49" fmla="*/ 67 h 87"/>
                <a:gd name="T50" fmla="*/ 5 w 87"/>
                <a:gd name="T51" fmla="*/ 61 h 87"/>
                <a:gd name="T52" fmla="*/ 2 w 87"/>
                <a:gd name="T53" fmla="*/ 52 h 87"/>
                <a:gd name="T54" fmla="*/ 0 w 87"/>
                <a:gd name="T55" fmla="*/ 43 h 87"/>
                <a:gd name="T56" fmla="*/ 0 w 87"/>
                <a:gd name="T57" fmla="*/ 43 h 87"/>
                <a:gd name="T58" fmla="*/ 2 w 87"/>
                <a:gd name="T59" fmla="*/ 34 h 87"/>
                <a:gd name="T60" fmla="*/ 5 w 87"/>
                <a:gd name="T61" fmla="*/ 26 h 87"/>
                <a:gd name="T62" fmla="*/ 9 w 87"/>
                <a:gd name="T63" fmla="*/ 19 h 87"/>
                <a:gd name="T64" fmla="*/ 13 w 87"/>
                <a:gd name="T65" fmla="*/ 12 h 87"/>
                <a:gd name="T66" fmla="*/ 20 w 87"/>
                <a:gd name="T67" fmla="*/ 8 h 87"/>
                <a:gd name="T68" fmla="*/ 27 w 87"/>
                <a:gd name="T69" fmla="*/ 4 h 87"/>
                <a:gd name="T70" fmla="*/ 35 w 87"/>
                <a:gd name="T71" fmla="*/ 1 h 87"/>
                <a:gd name="T72" fmla="*/ 43 w 87"/>
                <a:gd name="T73" fmla="*/ 0 h 87"/>
                <a:gd name="T74" fmla="*/ 43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3" y="0"/>
                  </a:moveTo>
                  <a:lnTo>
                    <a:pt x="43" y="0"/>
                  </a:lnTo>
                  <a:lnTo>
                    <a:pt x="53" y="1"/>
                  </a:lnTo>
                  <a:lnTo>
                    <a:pt x="61" y="4"/>
                  </a:lnTo>
                  <a:lnTo>
                    <a:pt x="68" y="8"/>
                  </a:lnTo>
                  <a:lnTo>
                    <a:pt x="73" y="12"/>
                  </a:lnTo>
                  <a:lnTo>
                    <a:pt x="79" y="19"/>
                  </a:lnTo>
                  <a:lnTo>
                    <a:pt x="83" y="26"/>
                  </a:lnTo>
                  <a:lnTo>
                    <a:pt x="86" y="34"/>
                  </a:lnTo>
                  <a:lnTo>
                    <a:pt x="87" y="43"/>
                  </a:lnTo>
                  <a:lnTo>
                    <a:pt x="87" y="43"/>
                  </a:lnTo>
                  <a:lnTo>
                    <a:pt x="86" y="52"/>
                  </a:lnTo>
                  <a:lnTo>
                    <a:pt x="83" y="61"/>
                  </a:lnTo>
                  <a:lnTo>
                    <a:pt x="79" y="67"/>
                  </a:lnTo>
                  <a:lnTo>
                    <a:pt x="73" y="73"/>
                  </a:lnTo>
                  <a:lnTo>
                    <a:pt x="68" y="78"/>
                  </a:lnTo>
                  <a:lnTo>
                    <a:pt x="61" y="83"/>
                  </a:lnTo>
                  <a:lnTo>
                    <a:pt x="53" y="85"/>
                  </a:lnTo>
                  <a:lnTo>
                    <a:pt x="43" y="87"/>
                  </a:lnTo>
                  <a:lnTo>
                    <a:pt x="43" y="87"/>
                  </a:lnTo>
                  <a:lnTo>
                    <a:pt x="35" y="85"/>
                  </a:lnTo>
                  <a:lnTo>
                    <a:pt x="27" y="83"/>
                  </a:lnTo>
                  <a:lnTo>
                    <a:pt x="20" y="78"/>
                  </a:lnTo>
                  <a:lnTo>
                    <a:pt x="13" y="73"/>
                  </a:lnTo>
                  <a:lnTo>
                    <a:pt x="9" y="67"/>
                  </a:lnTo>
                  <a:lnTo>
                    <a:pt x="5" y="61"/>
                  </a:lnTo>
                  <a:lnTo>
                    <a:pt x="2" y="52"/>
                  </a:lnTo>
                  <a:lnTo>
                    <a:pt x="0" y="43"/>
                  </a:lnTo>
                  <a:lnTo>
                    <a:pt x="0" y="43"/>
                  </a:lnTo>
                  <a:lnTo>
                    <a:pt x="2" y="34"/>
                  </a:lnTo>
                  <a:lnTo>
                    <a:pt x="5" y="26"/>
                  </a:lnTo>
                  <a:lnTo>
                    <a:pt x="9" y="19"/>
                  </a:lnTo>
                  <a:lnTo>
                    <a:pt x="13" y="12"/>
                  </a:lnTo>
                  <a:lnTo>
                    <a:pt x="20" y="8"/>
                  </a:lnTo>
                  <a:lnTo>
                    <a:pt x="27" y="4"/>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92"/>
            <p:cNvSpPr>
              <a:spLocks/>
            </p:cNvSpPr>
            <p:nvPr userDrawn="1"/>
          </p:nvSpPr>
          <p:spPr bwMode="auto">
            <a:xfrm>
              <a:off x="3931" y="1004"/>
              <a:ext cx="44" cy="42"/>
            </a:xfrm>
            <a:custGeom>
              <a:avLst/>
              <a:gdLst>
                <a:gd name="T0" fmla="*/ 43 w 87"/>
                <a:gd name="T1" fmla="*/ 0 h 86"/>
                <a:gd name="T2" fmla="*/ 43 w 87"/>
                <a:gd name="T3" fmla="*/ 0 h 86"/>
                <a:gd name="T4" fmla="*/ 53 w 87"/>
                <a:gd name="T5" fmla="*/ 2 h 86"/>
                <a:gd name="T6" fmla="*/ 61 w 87"/>
                <a:gd name="T7" fmla="*/ 5 h 86"/>
                <a:gd name="T8" fmla="*/ 68 w 87"/>
                <a:gd name="T9" fmla="*/ 7 h 86"/>
                <a:gd name="T10" fmla="*/ 73 w 87"/>
                <a:gd name="T11" fmla="*/ 13 h 86"/>
                <a:gd name="T12" fmla="*/ 79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79 w 87"/>
                <a:gd name="T27" fmla="*/ 68 h 86"/>
                <a:gd name="T28" fmla="*/ 73 w 87"/>
                <a:gd name="T29" fmla="*/ 73 h 86"/>
                <a:gd name="T30" fmla="*/ 68 w 87"/>
                <a:gd name="T31" fmla="*/ 79 h 86"/>
                <a:gd name="T32" fmla="*/ 61 w 87"/>
                <a:gd name="T33" fmla="*/ 83 h 86"/>
                <a:gd name="T34" fmla="*/ 53 w 87"/>
                <a:gd name="T35" fmla="*/ 86 h 86"/>
                <a:gd name="T36" fmla="*/ 43 w 87"/>
                <a:gd name="T37" fmla="*/ 86 h 86"/>
                <a:gd name="T38" fmla="*/ 43 w 87"/>
                <a:gd name="T39" fmla="*/ 86 h 86"/>
                <a:gd name="T40" fmla="*/ 35 w 87"/>
                <a:gd name="T41" fmla="*/ 86 h 86"/>
                <a:gd name="T42" fmla="*/ 27 w 87"/>
                <a:gd name="T43" fmla="*/ 83 h 86"/>
                <a:gd name="T44" fmla="*/ 20 w 87"/>
                <a:gd name="T45" fmla="*/ 79 h 86"/>
                <a:gd name="T46" fmla="*/ 13 w 87"/>
                <a:gd name="T47" fmla="*/ 73 h 86"/>
                <a:gd name="T48" fmla="*/ 9 w 87"/>
                <a:gd name="T49" fmla="*/ 68 h 86"/>
                <a:gd name="T50" fmla="*/ 5 w 87"/>
                <a:gd name="T51" fmla="*/ 59 h 86"/>
                <a:gd name="T52" fmla="*/ 2 w 87"/>
                <a:gd name="T53" fmla="*/ 53 h 86"/>
                <a:gd name="T54" fmla="*/ 0 w 87"/>
                <a:gd name="T55" fmla="*/ 43 h 86"/>
                <a:gd name="T56" fmla="*/ 0 w 87"/>
                <a:gd name="T57" fmla="*/ 43 h 86"/>
                <a:gd name="T58" fmla="*/ 2 w 87"/>
                <a:gd name="T59" fmla="*/ 35 h 86"/>
                <a:gd name="T60" fmla="*/ 5 w 87"/>
                <a:gd name="T61" fmla="*/ 27 h 86"/>
                <a:gd name="T62" fmla="*/ 9 w 87"/>
                <a:gd name="T63" fmla="*/ 20 h 86"/>
                <a:gd name="T64" fmla="*/ 13 w 87"/>
                <a:gd name="T65" fmla="*/ 13 h 86"/>
                <a:gd name="T66" fmla="*/ 20 w 87"/>
                <a:gd name="T67" fmla="*/ 7 h 86"/>
                <a:gd name="T68" fmla="*/ 27 w 87"/>
                <a:gd name="T69" fmla="*/ 5 h 86"/>
                <a:gd name="T70" fmla="*/ 35 w 87"/>
                <a:gd name="T71" fmla="*/ 2 h 86"/>
                <a:gd name="T72" fmla="*/ 43 w 87"/>
                <a:gd name="T73" fmla="*/ 0 h 86"/>
                <a:gd name="T74" fmla="*/ 43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3" y="0"/>
                  </a:moveTo>
                  <a:lnTo>
                    <a:pt x="43" y="0"/>
                  </a:lnTo>
                  <a:lnTo>
                    <a:pt x="53" y="2"/>
                  </a:lnTo>
                  <a:lnTo>
                    <a:pt x="61" y="5"/>
                  </a:lnTo>
                  <a:lnTo>
                    <a:pt x="68" y="7"/>
                  </a:lnTo>
                  <a:lnTo>
                    <a:pt x="73" y="13"/>
                  </a:lnTo>
                  <a:lnTo>
                    <a:pt x="79" y="20"/>
                  </a:lnTo>
                  <a:lnTo>
                    <a:pt x="83" y="27"/>
                  </a:lnTo>
                  <a:lnTo>
                    <a:pt x="86" y="35"/>
                  </a:lnTo>
                  <a:lnTo>
                    <a:pt x="87" y="43"/>
                  </a:lnTo>
                  <a:lnTo>
                    <a:pt x="87" y="43"/>
                  </a:lnTo>
                  <a:lnTo>
                    <a:pt x="86" y="53"/>
                  </a:lnTo>
                  <a:lnTo>
                    <a:pt x="83" y="59"/>
                  </a:lnTo>
                  <a:lnTo>
                    <a:pt x="79" y="68"/>
                  </a:lnTo>
                  <a:lnTo>
                    <a:pt x="73" y="73"/>
                  </a:lnTo>
                  <a:lnTo>
                    <a:pt x="68" y="79"/>
                  </a:lnTo>
                  <a:lnTo>
                    <a:pt x="61" y="83"/>
                  </a:lnTo>
                  <a:lnTo>
                    <a:pt x="53" y="86"/>
                  </a:lnTo>
                  <a:lnTo>
                    <a:pt x="43" y="86"/>
                  </a:lnTo>
                  <a:lnTo>
                    <a:pt x="43" y="86"/>
                  </a:lnTo>
                  <a:lnTo>
                    <a:pt x="35" y="86"/>
                  </a:lnTo>
                  <a:lnTo>
                    <a:pt x="27" y="83"/>
                  </a:lnTo>
                  <a:lnTo>
                    <a:pt x="20" y="79"/>
                  </a:lnTo>
                  <a:lnTo>
                    <a:pt x="13" y="73"/>
                  </a:lnTo>
                  <a:lnTo>
                    <a:pt x="9" y="68"/>
                  </a:lnTo>
                  <a:lnTo>
                    <a:pt x="5" y="59"/>
                  </a:lnTo>
                  <a:lnTo>
                    <a:pt x="2" y="53"/>
                  </a:lnTo>
                  <a:lnTo>
                    <a:pt x="0" y="43"/>
                  </a:lnTo>
                  <a:lnTo>
                    <a:pt x="0" y="43"/>
                  </a:lnTo>
                  <a:lnTo>
                    <a:pt x="2" y="35"/>
                  </a:lnTo>
                  <a:lnTo>
                    <a:pt x="5" y="27"/>
                  </a:lnTo>
                  <a:lnTo>
                    <a:pt x="9" y="20"/>
                  </a:lnTo>
                  <a:lnTo>
                    <a:pt x="13" y="13"/>
                  </a:lnTo>
                  <a:lnTo>
                    <a:pt x="20" y="7"/>
                  </a:lnTo>
                  <a:lnTo>
                    <a:pt x="27" y="5"/>
                  </a:lnTo>
                  <a:lnTo>
                    <a:pt x="35" y="2"/>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93"/>
            <p:cNvSpPr>
              <a:spLocks/>
            </p:cNvSpPr>
            <p:nvPr userDrawn="1"/>
          </p:nvSpPr>
          <p:spPr bwMode="auto">
            <a:xfrm>
              <a:off x="3931" y="947"/>
              <a:ext cx="44" cy="43"/>
            </a:xfrm>
            <a:custGeom>
              <a:avLst/>
              <a:gdLst>
                <a:gd name="T0" fmla="*/ 43 w 87"/>
                <a:gd name="T1" fmla="*/ 0 h 85"/>
                <a:gd name="T2" fmla="*/ 43 w 87"/>
                <a:gd name="T3" fmla="*/ 0 h 85"/>
                <a:gd name="T4" fmla="*/ 53 w 87"/>
                <a:gd name="T5" fmla="*/ 1 h 85"/>
                <a:gd name="T6" fmla="*/ 61 w 87"/>
                <a:gd name="T7" fmla="*/ 2 h 85"/>
                <a:gd name="T8" fmla="*/ 68 w 87"/>
                <a:gd name="T9" fmla="*/ 7 h 85"/>
                <a:gd name="T10" fmla="*/ 73 w 87"/>
                <a:gd name="T11" fmla="*/ 12 h 85"/>
                <a:gd name="T12" fmla="*/ 79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7 h 85"/>
                <a:gd name="T28" fmla="*/ 73 w 87"/>
                <a:gd name="T29" fmla="*/ 73 h 85"/>
                <a:gd name="T30" fmla="*/ 68 w 87"/>
                <a:gd name="T31" fmla="*/ 78 h 85"/>
                <a:gd name="T32" fmla="*/ 61 w 87"/>
                <a:gd name="T33" fmla="*/ 82 h 85"/>
                <a:gd name="T34" fmla="*/ 53 w 87"/>
                <a:gd name="T35" fmla="*/ 85 h 85"/>
                <a:gd name="T36" fmla="*/ 43 w 87"/>
                <a:gd name="T37" fmla="*/ 85 h 85"/>
                <a:gd name="T38" fmla="*/ 43 w 87"/>
                <a:gd name="T39" fmla="*/ 85 h 85"/>
                <a:gd name="T40" fmla="*/ 35 w 87"/>
                <a:gd name="T41" fmla="*/ 85 h 85"/>
                <a:gd name="T42" fmla="*/ 27 w 87"/>
                <a:gd name="T43" fmla="*/ 82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2 h 85"/>
                <a:gd name="T70" fmla="*/ 35 w 87"/>
                <a:gd name="T71" fmla="*/ 1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1"/>
                  </a:lnTo>
                  <a:lnTo>
                    <a:pt x="61" y="2"/>
                  </a:lnTo>
                  <a:lnTo>
                    <a:pt x="68" y="7"/>
                  </a:lnTo>
                  <a:lnTo>
                    <a:pt x="73" y="12"/>
                  </a:lnTo>
                  <a:lnTo>
                    <a:pt x="79" y="19"/>
                  </a:lnTo>
                  <a:lnTo>
                    <a:pt x="83" y="26"/>
                  </a:lnTo>
                  <a:lnTo>
                    <a:pt x="86" y="34"/>
                  </a:lnTo>
                  <a:lnTo>
                    <a:pt x="87" y="42"/>
                  </a:lnTo>
                  <a:lnTo>
                    <a:pt x="87" y="42"/>
                  </a:lnTo>
                  <a:lnTo>
                    <a:pt x="86" y="51"/>
                  </a:lnTo>
                  <a:lnTo>
                    <a:pt x="83" y="59"/>
                  </a:lnTo>
                  <a:lnTo>
                    <a:pt x="79" y="67"/>
                  </a:lnTo>
                  <a:lnTo>
                    <a:pt x="73" y="73"/>
                  </a:lnTo>
                  <a:lnTo>
                    <a:pt x="68" y="78"/>
                  </a:lnTo>
                  <a:lnTo>
                    <a:pt x="61" y="82"/>
                  </a:lnTo>
                  <a:lnTo>
                    <a:pt x="53" y="85"/>
                  </a:lnTo>
                  <a:lnTo>
                    <a:pt x="43" y="85"/>
                  </a:lnTo>
                  <a:lnTo>
                    <a:pt x="43" y="85"/>
                  </a:lnTo>
                  <a:lnTo>
                    <a:pt x="35" y="85"/>
                  </a:lnTo>
                  <a:lnTo>
                    <a:pt x="27" y="82"/>
                  </a:lnTo>
                  <a:lnTo>
                    <a:pt x="20" y="78"/>
                  </a:lnTo>
                  <a:lnTo>
                    <a:pt x="13" y="73"/>
                  </a:lnTo>
                  <a:lnTo>
                    <a:pt x="9" y="67"/>
                  </a:lnTo>
                  <a:lnTo>
                    <a:pt x="5" y="59"/>
                  </a:lnTo>
                  <a:lnTo>
                    <a:pt x="2" y="51"/>
                  </a:lnTo>
                  <a:lnTo>
                    <a:pt x="0" y="42"/>
                  </a:lnTo>
                  <a:lnTo>
                    <a:pt x="0" y="42"/>
                  </a:lnTo>
                  <a:lnTo>
                    <a:pt x="2" y="34"/>
                  </a:lnTo>
                  <a:lnTo>
                    <a:pt x="5" y="26"/>
                  </a:lnTo>
                  <a:lnTo>
                    <a:pt x="9" y="19"/>
                  </a:lnTo>
                  <a:lnTo>
                    <a:pt x="13" y="12"/>
                  </a:lnTo>
                  <a:lnTo>
                    <a:pt x="20" y="7"/>
                  </a:lnTo>
                  <a:lnTo>
                    <a:pt x="27" y="2"/>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94"/>
            <p:cNvSpPr>
              <a:spLocks/>
            </p:cNvSpPr>
            <p:nvPr userDrawn="1"/>
          </p:nvSpPr>
          <p:spPr bwMode="auto">
            <a:xfrm>
              <a:off x="3931" y="891"/>
              <a:ext cx="44" cy="43"/>
            </a:xfrm>
            <a:custGeom>
              <a:avLst/>
              <a:gdLst>
                <a:gd name="T0" fmla="*/ 43 w 87"/>
                <a:gd name="T1" fmla="*/ 0 h 85"/>
                <a:gd name="T2" fmla="*/ 43 w 87"/>
                <a:gd name="T3" fmla="*/ 0 h 85"/>
                <a:gd name="T4" fmla="*/ 53 w 87"/>
                <a:gd name="T5" fmla="*/ 1 h 85"/>
                <a:gd name="T6" fmla="*/ 61 w 87"/>
                <a:gd name="T7" fmla="*/ 3 h 85"/>
                <a:gd name="T8" fmla="*/ 68 w 87"/>
                <a:gd name="T9" fmla="*/ 7 h 85"/>
                <a:gd name="T10" fmla="*/ 73 w 87"/>
                <a:gd name="T11" fmla="*/ 12 h 85"/>
                <a:gd name="T12" fmla="*/ 79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7 h 85"/>
                <a:gd name="T28" fmla="*/ 73 w 87"/>
                <a:gd name="T29" fmla="*/ 73 h 85"/>
                <a:gd name="T30" fmla="*/ 68 w 87"/>
                <a:gd name="T31" fmla="*/ 78 h 85"/>
                <a:gd name="T32" fmla="*/ 61 w 87"/>
                <a:gd name="T33" fmla="*/ 83 h 85"/>
                <a:gd name="T34" fmla="*/ 53 w 87"/>
                <a:gd name="T35" fmla="*/ 85 h 85"/>
                <a:gd name="T36" fmla="*/ 43 w 87"/>
                <a:gd name="T37" fmla="*/ 85 h 85"/>
                <a:gd name="T38" fmla="*/ 43 w 87"/>
                <a:gd name="T39" fmla="*/ 85 h 85"/>
                <a:gd name="T40" fmla="*/ 35 w 87"/>
                <a:gd name="T41" fmla="*/ 85 h 85"/>
                <a:gd name="T42" fmla="*/ 27 w 87"/>
                <a:gd name="T43" fmla="*/ 83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3 h 85"/>
                <a:gd name="T70" fmla="*/ 35 w 87"/>
                <a:gd name="T71" fmla="*/ 1 h 85"/>
                <a:gd name="T72" fmla="*/ 43 w 87"/>
                <a:gd name="T73" fmla="*/ 0 h 85"/>
                <a:gd name="T74" fmla="*/ 43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3" y="0"/>
                  </a:moveTo>
                  <a:lnTo>
                    <a:pt x="43" y="0"/>
                  </a:lnTo>
                  <a:lnTo>
                    <a:pt x="53" y="1"/>
                  </a:lnTo>
                  <a:lnTo>
                    <a:pt x="61" y="3"/>
                  </a:lnTo>
                  <a:lnTo>
                    <a:pt x="68" y="7"/>
                  </a:lnTo>
                  <a:lnTo>
                    <a:pt x="73" y="12"/>
                  </a:lnTo>
                  <a:lnTo>
                    <a:pt x="79" y="19"/>
                  </a:lnTo>
                  <a:lnTo>
                    <a:pt x="83" y="26"/>
                  </a:lnTo>
                  <a:lnTo>
                    <a:pt x="86" y="34"/>
                  </a:lnTo>
                  <a:lnTo>
                    <a:pt x="87" y="43"/>
                  </a:lnTo>
                  <a:lnTo>
                    <a:pt x="87" y="43"/>
                  </a:lnTo>
                  <a:lnTo>
                    <a:pt x="86" y="51"/>
                  </a:lnTo>
                  <a:lnTo>
                    <a:pt x="83" y="59"/>
                  </a:lnTo>
                  <a:lnTo>
                    <a:pt x="79" y="67"/>
                  </a:lnTo>
                  <a:lnTo>
                    <a:pt x="73" y="73"/>
                  </a:lnTo>
                  <a:lnTo>
                    <a:pt x="68" y="78"/>
                  </a:lnTo>
                  <a:lnTo>
                    <a:pt x="61" y="83"/>
                  </a:lnTo>
                  <a:lnTo>
                    <a:pt x="53" y="85"/>
                  </a:lnTo>
                  <a:lnTo>
                    <a:pt x="43" y="85"/>
                  </a:lnTo>
                  <a:lnTo>
                    <a:pt x="43" y="85"/>
                  </a:lnTo>
                  <a:lnTo>
                    <a:pt x="35" y="85"/>
                  </a:lnTo>
                  <a:lnTo>
                    <a:pt x="27" y="83"/>
                  </a:lnTo>
                  <a:lnTo>
                    <a:pt x="20" y="78"/>
                  </a:lnTo>
                  <a:lnTo>
                    <a:pt x="13" y="73"/>
                  </a:lnTo>
                  <a:lnTo>
                    <a:pt x="9" y="67"/>
                  </a:lnTo>
                  <a:lnTo>
                    <a:pt x="5" y="59"/>
                  </a:lnTo>
                  <a:lnTo>
                    <a:pt x="2" y="51"/>
                  </a:lnTo>
                  <a:lnTo>
                    <a:pt x="0" y="43"/>
                  </a:lnTo>
                  <a:lnTo>
                    <a:pt x="0" y="43"/>
                  </a:lnTo>
                  <a:lnTo>
                    <a:pt x="2" y="34"/>
                  </a:lnTo>
                  <a:lnTo>
                    <a:pt x="5" y="26"/>
                  </a:lnTo>
                  <a:lnTo>
                    <a:pt x="9" y="19"/>
                  </a:lnTo>
                  <a:lnTo>
                    <a:pt x="13" y="12"/>
                  </a:lnTo>
                  <a:lnTo>
                    <a:pt x="20" y="7"/>
                  </a:lnTo>
                  <a:lnTo>
                    <a:pt x="27" y="3"/>
                  </a:lnTo>
                  <a:lnTo>
                    <a:pt x="35" y="1"/>
                  </a:lnTo>
                  <a:lnTo>
                    <a:pt x="43" y="0"/>
                  </a:lnTo>
                  <a:lnTo>
                    <a:pt x="43"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95"/>
            <p:cNvSpPr>
              <a:spLocks/>
            </p:cNvSpPr>
            <p:nvPr userDrawn="1"/>
          </p:nvSpPr>
          <p:spPr bwMode="auto">
            <a:xfrm>
              <a:off x="3988" y="1286"/>
              <a:ext cx="43" cy="43"/>
            </a:xfrm>
            <a:custGeom>
              <a:avLst/>
              <a:gdLst>
                <a:gd name="T0" fmla="*/ 44 w 87"/>
                <a:gd name="T1" fmla="*/ 0 h 85"/>
                <a:gd name="T2" fmla="*/ 44 w 87"/>
                <a:gd name="T3" fmla="*/ 0 h 85"/>
                <a:gd name="T4" fmla="*/ 53 w 87"/>
                <a:gd name="T5" fmla="*/ 0 h 85"/>
                <a:gd name="T6" fmla="*/ 61 w 87"/>
                <a:gd name="T7" fmla="*/ 3 h 85"/>
                <a:gd name="T8" fmla="*/ 68 w 87"/>
                <a:gd name="T9" fmla="*/ 7 h 85"/>
                <a:gd name="T10" fmla="*/ 75 w 87"/>
                <a:gd name="T11" fmla="*/ 13 h 85"/>
                <a:gd name="T12" fmla="*/ 79 w 87"/>
                <a:gd name="T13" fmla="*/ 18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6 h 85"/>
                <a:gd name="T28" fmla="*/ 75 w 87"/>
                <a:gd name="T29" fmla="*/ 73 h 85"/>
                <a:gd name="T30" fmla="*/ 68 w 87"/>
                <a:gd name="T31" fmla="*/ 78 h 85"/>
                <a:gd name="T32" fmla="*/ 61 w 87"/>
                <a:gd name="T33" fmla="*/ 83 h 85"/>
                <a:gd name="T34" fmla="*/ 53 w 87"/>
                <a:gd name="T35" fmla="*/ 84 h 85"/>
                <a:gd name="T36" fmla="*/ 44 w 87"/>
                <a:gd name="T37" fmla="*/ 85 h 85"/>
                <a:gd name="T38" fmla="*/ 44 w 87"/>
                <a:gd name="T39" fmla="*/ 85 h 85"/>
                <a:gd name="T40" fmla="*/ 35 w 87"/>
                <a:gd name="T41" fmla="*/ 84 h 85"/>
                <a:gd name="T42" fmla="*/ 27 w 87"/>
                <a:gd name="T43" fmla="*/ 83 h 85"/>
                <a:gd name="T44" fmla="*/ 20 w 87"/>
                <a:gd name="T45" fmla="*/ 78 h 85"/>
                <a:gd name="T46" fmla="*/ 13 w 87"/>
                <a:gd name="T47" fmla="*/ 73 h 85"/>
                <a:gd name="T48" fmla="*/ 9 w 87"/>
                <a:gd name="T49" fmla="*/ 66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8 h 85"/>
                <a:gd name="T64" fmla="*/ 13 w 87"/>
                <a:gd name="T65" fmla="*/ 13 h 85"/>
                <a:gd name="T66" fmla="*/ 20 w 87"/>
                <a:gd name="T67" fmla="*/ 7 h 85"/>
                <a:gd name="T68" fmla="*/ 27 w 87"/>
                <a:gd name="T69" fmla="*/ 3 h 85"/>
                <a:gd name="T70" fmla="*/ 35 w 87"/>
                <a:gd name="T71" fmla="*/ 0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0"/>
                  </a:lnTo>
                  <a:lnTo>
                    <a:pt x="61" y="3"/>
                  </a:lnTo>
                  <a:lnTo>
                    <a:pt x="68" y="7"/>
                  </a:lnTo>
                  <a:lnTo>
                    <a:pt x="75" y="13"/>
                  </a:lnTo>
                  <a:lnTo>
                    <a:pt x="79" y="18"/>
                  </a:lnTo>
                  <a:lnTo>
                    <a:pt x="83" y="26"/>
                  </a:lnTo>
                  <a:lnTo>
                    <a:pt x="86" y="34"/>
                  </a:lnTo>
                  <a:lnTo>
                    <a:pt x="87" y="43"/>
                  </a:lnTo>
                  <a:lnTo>
                    <a:pt x="87" y="43"/>
                  </a:lnTo>
                  <a:lnTo>
                    <a:pt x="86" y="51"/>
                  </a:lnTo>
                  <a:lnTo>
                    <a:pt x="83" y="59"/>
                  </a:lnTo>
                  <a:lnTo>
                    <a:pt x="79" y="66"/>
                  </a:lnTo>
                  <a:lnTo>
                    <a:pt x="75" y="73"/>
                  </a:lnTo>
                  <a:lnTo>
                    <a:pt x="68" y="78"/>
                  </a:lnTo>
                  <a:lnTo>
                    <a:pt x="61" y="83"/>
                  </a:lnTo>
                  <a:lnTo>
                    <a:pt x="53" y="84"/>
                  </a:lnTo>
                  <a:lnTo>
                    <a:pt x="44" y="85"/>
                  </a:lnTo>
                  <a:lnTo>
                    <a:pt x="44" y="85"/>
                  </a:lnTo>
                  <a:lnTo>
                    <a:pt x="35" y="84"/>
                  </a:lnTo>
                  <a:lnTo>
                    <a:pt x="27" y="83"/>
                  </a:lnTo>
                  <a:lnTo>
                    <a:pt x="20" y="78"/>
                  </a:lnTo>
                  <a:lnTo>
                    <a:pt x="13" y="73"/>
                  </a:lnTo>
                  <a:lnTo>
                    <a:pt x="9" y="66"/>
                  </a:lnTo>
                  <a:lnTo>
                    <a:pt x="5" y="59"/>
                  </a:lnTo>
                  <a:lnTo>
                    <a:pt x="2" y="51"/>
                  </a:lnTo>
                  <a:lnTo>
                    <a:pt x="0" y="43"/>
                  </a:lnTo>
                  <a:lnTo>
                    <a:pt x="0" y="43"/>
                  </a:lnTo>
                  <a:lnTo>
                    <a:pt x="2" y="34"/>
                  </a:lnTo>
                  <a:lnTo>
                    <a:pt x="5" y="26"/>
                  </a:lnTo>
                  <a:lnTo>
                    <a:pt x="9" y="18"/>
                  </a:lnTo>
                  <a:lnTo>
                    <a:pt x="13" y="13"/>
                  </a:lnTo>
                  <a:lnTo>
                    <a:pt x="20" y="7"/>
                  </a:lnTo>
                  <a:lnTo>
                    <a:pt x="27" y="3"/>
                  </a:lnTo>
                  <a:lnTo>
                    <a:pt x="35" y="0"/>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96"/>
            <p:cNvSpPr>
              <a:spLocks/>
            </p:cNvSpPr>
            <p:nvPr userDrawn="1"/>
          </p:nvSpPr>
          <p:spPr bwMode="auto">
            <a:xfrm>
              <a:off x="3988" y="1060"/>
              <a:ext cx="43" cy="43"/>
            </a:xfrm>
            <a:custGeom>
              <a:avLst/>
              <a:gdLst>
                <a:gd name="T0" fmla="*/ 44 w 87"/>
                <a:gd name="T1" fmla="*/ 0 h 87"/>
                <a:gd name="T2" fmla="*/ 44 w 87"/>
                <a:gd name="T3" fmla="*/ 0 h 87"/>
                <a:gd name="T4" fmla="*/ 53 w 87"/>
                <a:gd name="T5" fmla="*/ 1 h 87"/>
                <a:gd name="T6" fmla="*/ 61 w 87"/>
                <a:gd name="T7" fmla="*/ 4 h 87"/>
                <a:gd name="T8" fmla="*/ 68 w 87"/>
                <a:gd name="T9" fmla="*/ 8 h 87"/>
                <a:gd name="T10" fmla="*/ 75 w 87"/>
                <a:gd name="T11" fmla="*/ 12 h 87"/>
                <a:gd name="T12" fmla="*/ 79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79 w 87"/>
                <a:gd name="T27" fmla="*/ 67 h 87"/>
                <a:gd name="T28" fmla="*/ 75 w 87"/>
                <a:gd name="T29" fmla="*/ 73 h 87"/>
                <a:gd name="T30" fmla="*/ 68 w 87"/>
                <a:gd name="T31" fmla="*/ 78 h 87"/>
                <a:gd name="T32" fmla="*/ 61 w 87"/>
                <a:gd name="T33" fmla="*/ 83 h 87"/>
                <a:gd name="T34" fmla="*/ 53 w 87"/>
                <a:gd name="T35" fmla="*/ 85 h 87"/>
                <a:gd name="T36" fmla="*/ 44 w 87"/>
                <a:gd name="T37" fmla="*/ 87 h 87"/>
                <a:gd name="T38" fmla="*/ 44 w 87"/>
                <a:gd name="T39" fmla="*/ 87 h 87"/>
                <a:gd name="T40" fmla="*/ 35 w 87"/>
                <a:gd name="T41" fmla="*/ 85 h 87"/>
                <a:gd name="T42" fmla="*/ 27 w 87"/>
                <a:gd name="T43" fmla="*/ 83 h 87"/>
                <a:gd name="T44" fmla="*/ 20 w 87"/>
                <a:gd name="T45" fmla="*/ 78 h 87"/>
                <a:gd name="T46" fmla="*/ 13 w 87"/>
                <a:gd name="T47" fmla="*/ 73 h 87"/>
                <a:gd name="T48" fmla="*/ 9 w 87"/>
                <a:gd name="T49" fmla="*/ 67 h 87"/>
                <a:gd name="T50" fmla="*/ 5 w 87"/>
                <a:gd name="T51" fmla="*/ 61 h 87"/>
                <a:gd name="T52" fmla="*/ 2 w 87"/>
                <a:gd name="T53" fmla="*/ 52 h 87"/>
                <a:gd name="T54" fmla="*/ 0 w 87"/>
                <a:gd name="T55" fmla="*/ 43 h 87"/>
                <a:gd name="T56" fmla="*/ 0 w 87"/>
                <a:gd name="T57" fmla="*/ 43 h 87"/>
                <a:gd name="T58" fmla="*/ 2 w 87"/>
                <a:gd name="T59" fmla="*/ 34 h 87"/>
                <a:gd name="T60" fmla="*/ 5 w 87"/>
                <a:gd name="T61" fmla="*/ 26 h 87"/>
                <a:gd name="T62" fmla="*/ 9 w 87"/>
                <a:gd name="T63" fmla="*/ 19 h 87"/>
                <a:gd name="T64" fmla="*/ 13 w 87"/>
                <a:gd name="T65" fmla="*/ 12 h 87"/>
                <a:gd name="T66" fmla="*/ 20 w 87"/>
                <a:gd name="T67" fmla="*/ 8 h 87"/>
                <a:gd name="T68" fmla="*/ 27 w 87"/>
                <a:gd name="T69" fmla="*/ 4 h 87"/>
                <a:gd name="T70" fmla="*/ 35 w 87"/>
                <a:gd name="T71" fmla="*/ 1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1"/>
                  </a:lnTo>
                  <a:lnTo>
                    <a:pt x="61" y="4"/>
                  </a:lnTo>
                  <a:lnTo>
                    <a:pt x="68" y="8"/>
                  </a:lnTo>
                  <a:lnTo>
                    <a:pt x="75" y="12"/>
                  </a:lnTo>
                  <a:lnTo>
                    <a:pt x="79" y="19"/>
                  </a:lnTo>
                  <a:lnTo>
                    <a:pt x="83" y="26"/>
                  </a:lnTo>
                  <a:lnTo>
                    <a:pt x="86" y="34"/>
                  </a:lnTo>
                  <a:lnTo>
                    <a:pt x="87" y="43"/>
                  </a:lnTo>
                  <a:lnTo>
                    <a:pt x="87" y="43"/>
                  </a:lnTo>
                  <a:lnTo>
                    <a:pt x="86" y="52"/>
                  </a:lnTo>
                  <a:lnTo>
                    <a:pt x="83" y="61"/>
                  </a:lnTo>
                  <a:lnTo>
                    <a:pt x="79" y="67"/>
                  </a:lnTo>
                  <a:lnTo>
                    <a:pt x="75" y="73"/>
                  </a:lnTo>
                  <a:lnTo>
                    <a:pt x="68" y="78"/>
                  </a:lnTo>
                  <a:lnTo>
                    <a:pt x="61" y="83"/>
                  </a:lnTo>
                  <a:lnTo>
                    <a:pt x="53" y="85"/>
                  </a:lnTo>
                  <a:lnTo>
                    <a:pt x="44" y="87"/>
                  </a:lnTo>
                  <a:lnTo>
                    <a:pt x="44" y="87"/>
                  </a:lnTo>
                  <a:lnTo>
                    <a:pt x="35" y="85"/>
                  </a:lnTo>
                  <a:lnTo>
                    <a:pt x="27" y="83"/>
                  </a:lnTo>
                  <a:lnTo>
                    <a:pt x="20" y="78"/>
                  </a:lnTo>
                  <a:lnTo>
                    <a:pt x="13" y="73"/>
                  </a:lnTo>
                  <a:lnTo>
                    <a:pt x="9" y="67"/>
                  </a:lnTo>
                  <a:lnTo>
                    <a:pt x="5" y="61"/>
                  </a:lnTo>
                  <a:lnTo>
                    <a:pt x="2" y="52"/>
                  </a:lnTo>
                  <a:lnTo>
                    <a:pt x="0" y="43"/>
                  </a:lnTo>
                  <a:lnTo>
                    <a:pt x="0" y="43"/>
                  </a:lnTo>
                  <a:lnTo>
                    <a:pt x="2" y="34"/>
                  </a:lnTo>
                  <a:lnTo>
                    <a:pt x="5" y="26"/>
                  </a:lnTo>
                  <a:lnTo>
                    <a:pt x="9" y="19"/>
                  </a:lnTo>
                  <a:lnTo>
                    <a:pt x="13" y="12"/>
                  </a:lnTo>
                  <a:lnTo>
                    <a:pt x="20" y="8"/>
                  </a:lnTo>
                  <a:lnTo>
                    <a:pt x="27"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97"/>
            <p:cNvSpPr>
              <a:spLocks/>
            </p:cNvSpPr>
            <p:nvPr userDrawn="1"/>
          </p:nvSpPr>
          <p:spPr bwMode="auto">
            <a:xfrm>
              <a:off x="3988" y="1004"/>
              <a:ext cx="43" cy="42"/>
            </a:xfrm>
            <a:custGeom>
              <a:avLst/>
              <a:gdLst>
                <a:gd name="T0" fmla="*/ 44 w 87"/>
                <a:gd name="T1" fmla="*/ 0 h 86"/>
                <a:gd name="T2" fmla="*/ 44 w 87"/>
                <a:gd name="T3" fmla="*/ 0 h 86"/>
                <a:gd name="T4" fmla="*/ 53 w 87"/>
                <a:gd name="T5" fmla="*/ 2 h 86"/>
                <a:gd name="T6" fmla="*/ 61 w 87"/>
                <a:gd name="T7" fmla="*/ 5 h 86"/>
                <a:gd name="T8" fmla="*/ 68 w 87"/>
                <a:gd name="T9" fmla="*/ 7 h 86"/>
                <a:gd name="T10" fmla="*/ 75 w 87"/>
                <a:gd name="T11" fmla="*/ 13 h 86"/>
                <a:gd name="T12" fmla="*/ 79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79 w 87"/>
                <a:gd name="T27" fmla="*/ 68 h 86"/>
                <a:gd name="T28" fmla="*/ 75 w 87"/>
                <a:gd name="T29" fmla="*/ 73 h 86"/>
                <a:gd name="T30" fmla="*/ 68 w 87"/>
                <a:gd name="T31" fmla="*/ 79 h 86"/>
                <a:gd name="T32" fmla="*/ 61 w 87"/>
                <a:gd name="T33" fmla="*/ 83 h 86"/>
                <a:gd name="T34" fmla="*/ 53 w 87"/>
                <a:gd name="T35" fmla="*/ 86 h 86"/>
                <a:gd name="T36" fmla="*/ 44 w 87"/>
                <a:gd name="T37" fmla="*/ 86 h 86"/>
                <a:gd name="T38" fmla="*/ 44 w 87"/>
                <a:gd name="T39" fmla="*/ 86 h 86"/>
                <a:gd name="T40" fmla="*/ 35 w 87"/>
                <a:gd name="T41" fmla="*/ 86 h 86"/>
                <a:gd name="T42" fmla="*/ 27 w 87"/>
                <a:gd name="T43" fmla="*/ 83 h 86"/>
                <a:gd name="T44" fmla="*/ 20 w 87"/>
                <a:gd name="T45" fmla="*/ 79 h 86"/>
                <a:gd name="T46" fmla="*/ 13 w 87"/>
                <a:gd name="T47" fmla="*/ 73 h 86"/>
                <a:gd name="T48" fmla="*/ 9 w 87"/>
                <a:gd name="T49" fmla="*/ 68 h 86"/>
                <a:gd name="T50" fmla="*/ 5 w 87"/>
                <a:gd name="T51" fmla="*/ 59 h 86"/>
                <a:gd name="T52" fmla="*/ 2 w 87"/>
                <a:gd name="T53" fmla="*/ 53 h 86"/>
                <a:gd name="T54" fmla="*/ 0 w 87"/>
                <a:gd name="T55" fmla="*/ 43 h 86"/>
                <a:gd name="T56" fmla="*/ 0 w 87"/>
                <a:gd name="T57" fmla="*/ 43 h 86"/>
                <a:gd name="T58" fmla="*/ 2 w 87"/>
                <a:gd name="T59" fmla="*/ 35 h 86"/>
                <a:gd name="T60" fmla="*/ 5 w 87"/>
                <a:gd name="T61" fmla="*/ 27 h 86"/>
                <a:gd name="T62" fmla="*/ 9 w 87"/>
                <a:gd name="T63" fmla="*/ 20 h 86"/>
                <a:gd name="T64" fmla="*/ 13 w 87"/>
                <a:gd name="T65" fmla="*/ 13 h 86"/>
                <a:gd name="T66" fmla="*/ 20 w 87"/>
                <a:gd name="T67" fmla="*/ 7 h 86"/>
                <a:gd name="T68" fmla="*/ 27 w 87"/>
                <a:gd name="T69" fmla="*/ 5 h 86"/>
                <a:gd name="T70" fmla="*/ 35 w 87"/>
                <a:gd name="T71" fmla="*/ 2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2"/>
                  </a:lnTo>
                  <a:lnTo>
                    <a:pt x="61" y="5"/>
                  </a:lnTo>
                  <a:lnTo>
                    <a:pt x="68" y="7"/>
                  </a:lnTo>
                  <a:lnTo>
                    <a:pt x="75" y="13"/>
                  </a:lnTo>
                  <a:lnTo>
                    <a:pt x="79" y="20"/>
                  </a:lnTo>
                  <a:lnTo>
                    <a:pt x="83" y="27"/>
                  </a:lnTo>
                  <a:lnTo>
                    <a:pt x="86" y="35"/>
                  </a:lnTo>
                  <a:lnTo>
                    <a:pt x="87" y="43"/>
                  </a:lnTo>
                  <a:lnTo>
                    <a:pt x="87" y="43"/>
                  </a:lnTo>
                  <a:lnTo>
                    <a:pt x="86" y="53"/>
                  </a:lnTo>
                  <a:lnTo>
                    <a:pt x="83" y="59"/>
                  </a:lnTo>
                  <a:lnTo>
                    <a:pt x="79" y="68"/>
                  </a:lnTo>
                  <a:lnTo>
                    <a:pt x="75" y="73"/>
                  </a:lnTo>
                  <a:lnTo>
                    <a:pt x="68" y="79"/>
                  </a:lnTo>
                  <a:lnTo>
                    <a:pt x="61" y="83"/>
                  </a:lnTo>
                  <a:lnTo>
                    <a:pt x="53" y="86"/>
                  </a:lnTo>
                  <a:lnTo>
                    <a:pt x="44" y="86"/>
                  </a:lnTo>
                  <a:lnTo>
                    <a:pt x="44" y="86"/>
                  </a:lnTo>
                  <a:lnTo>
                    <a:pt x="35" y="86"/>
                  </a:lnTo>
                  <a:lnTo>
                    <a:pt x="27" y="83"/>
                  </a:lnTo>
                  <a:lnTo>
                    <a:pt x="20" y="79"/>
                  </a:lnTo>
                  <a:lnTo>
                    <a:pt x="13" y="73"/>
                  </a:lnTo>
                  <a:lnTo>
                    <a:pt x="9" y="68"/>
                  </a:lnTo>
                  <a:lnTo>
                    <a:pt x="5" y="59"/>
                  </a:lnTo>
                  <a:lnTo>
                    <a:pt x="2" y="53"/>
                  </a:lnTo>
                  <a:lnTo>
                    <a:pt x="0" y="43"/>
                  </a:lnTo>
                  <a:lnTo>
                    <a:pt x="0" y="43"/>
                  </a:lnTo>
                  <a:lnTo>
                    <a:pt x="2" y="35"/>
                  </a:lnTo>
                  <a:lnTo>
                    <a:pt x="5" y="27"/>
                  </a:lnTo>
                  <a:lnTo>
                    <a:pt x="9" y="20"/>
                  </a:lnTo>
                  <a:lnTo>
                    <a:pt x="13" y="13"/>
                  </a:lnTo>
                  <a:lnTo>
                    <a:pt x="20" y="7"/>
                  </a:lnTo>
                  <a:lnTo>
                    <a:pt x="27"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98"/>
            <p:cNvSpPr>
              <a:spLocks/>
            </p:cNvSpPr>
            <p:nvPr userDrawn="1"/>
          </p:nvSpPr>
          <p:spPr bwMode="auto">
            <a:xfrm>
              <a:off x="3988" y="947"/>
              <a:ext cx="43" cy="43"/>
            </a:xfrm>
            <a:custGeom>
              <a:avLst/>
              <a:gdLst>
                <a:gd name="T0" fmla="*/ 44 w 87"/>
                <a:gd name="T1" fmla="*/ 0 h 85"/>
                <a:gd name="T2" fmla="*/ 44 w 87"/>
                <a:gd name="T3" fmla="*/ 0 h 85"/>
                <a:gd name="T4" fmla="*/ 53 w 87"/>
                <a:gd name="T5" fmla="*/ 1 h 85"/>
                <a:gd name="T6" fmla="*/ 61 w 87"/>
                <a:gd name="T7" fmla="*/ 2 h 85"/>
                <a:gd name="T8" fmla="*/ 68 w 87"/>
                <a:gd name="T9" fmla="*/ 7 h 85"/>
                <a:gd name="T10" fmla="*/ 75 w 87"/>
                <a:gd name="T11" fmla="*/ 12 h 85"/>
                <a:gd name="T12" fmla="*/ 79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79 w 87"/>
                <a:gd name="T27" fmla="*/ 67 h 85"/>
                <a:gd name="T28" fmla="*/ 75 w 87"/>
                <a:gd name="T29" fmla="*/ 73 h 85"/>
                <a:gd name="T30" fmla="*/ 68 w 87"/>
                <a:gd name="T31" fmla="*/ 78 h 85"/>
                <a:gd name="T32" fmla="*/ 61 w 87"/>
                <a:gd name="T33" fmla="*/ 82 h 85"/>
                <a:gd name="T34" fmla="*/ 53 w 87"/>
                <a:gd name="T35" fmla="*/ 85 h 85"/>
                <a:gd name="T36" fmla="*/ 44 w 87"/>
                <a:gd name="T37" fmla="*/ 85 h 85"/>
                <a:gd name="T38" fmla="*/ 44 w 87"/>
                <a:gd name="T39" fmla="*/ 85 h 85"/>
                <a:gd name="T40" fmla="*/ 35 w 87"/>
                <a:gd name="T41" fmla="*/ 85 h 85"/>
                <a:gd name="T42" fmla="*/ 27 w 87"/>
                <a:gd name="T43" fmla="*/ 82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2 h 85"/>
                <a:gd name="T56" fmla="*/ 0 w 87"/>
                <a:gd name="T57" fmla="*/ 42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2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2"/>
                  </a:lnTo>
                  <a:lnTo>
                    <a:pt x="68" y="7"/>
                  </a:lnTo>
                  <a:lnTo>
                    <a:pt x="75" y="12"/>
                  </a:lnTo>
                  <a:lnTo>
                    <a:pt x="79" y="19"/>
                  </a:lnTo>
                  <a:lnTo>
                    <a:pt x="83" y="26"/>
                  </a:lnTo>
                  <a:lnTo>
                    <a:pt x="86" y="34"/>
                  </a:lnTo>
                  <a:lnTo>
                    <a:pt x="87" y="42"/>
                  </a:lnTo>
                  <a:lnTo>
                    <a:pt x="87" y="42"/>
                  </a:lnTo>
                  <a:lnTo>
                    <a:pt x="86" y="51"/>
                  </a:lnTo>
                  <a:lnTo>
                    <a:pt x="83" y="59"/>
                  </a:lnTo>
                  <a:lnTo>
                    <a:pt x="79" y="67"/>
                  </a:lnTo>
                  <a:lnTo>
                    <a:pt x="75" y="73"/>
                  </a:lnTo>
                  <a:lnTo>
                    <a:pt x="68" y="78"/>
                  </a:lnTo>
                  <a:lnTo>
                    <a:pt x="61" y="82"/>
                  </a:lnTo>
                  <a:lnTo>
                    <a:pt x="53" y="85"/>
                  </a:lnTo>
                  <a:lnTo>
                    <a:pt x="44" y="85"/>
                  </a:lnTo>
                  <a:lnTo>
                    <a:pt x="44" y="85"/>
                  </a:lnTo>
                  <a:lnTo>
                    <a:pt x="35" y="85"/>
                  </a:lnTo>
                  <a:lnTo>
                    <a:pt x="27" y="82"/>
                  </a:lnTo>
                  <a:lnTo>
                    <a:pt x="20" y="78"/>
                  </a:lnTo>
                  <a:lnTo>
                    <a:pt x="13" y="73"/>
                  </a:lnTo>
                  <a:lnTo>
                    <a:pt x="9" y="67"/>
                  </a:lnTo>
                  <a:lnTo>
                    <a:pt x="5" y="59"/>
                  </a:lnTo>
                  <a:lnTo>
                    <a:pt x="2" y="51"/>
                  </a:lnTo>
                  <a:lnTo>
                    <a:pt x="0" y="42"/>
                  </a:lnTo>
                  <a:lnTo>
                    <a:pt x="0" y="42"/>
                  </a:lnTo>
                  <a:lnTo>
                    <a:pt x="2" y="34"/>
                  </a:lnTo>
                  <a:lnTo>
                    <a:pt x="5" y="26"/>
                  </a:lnTo>
                  <a:lnTo>
                    <a:pt x="9" y="19"/>
                  </a:lnTo>
                  <a:lnTo>
                    <a:pt x="13" y="12"/>
                  </a:lnTo>
                  <a:lnTo>
                    <a:pt x="20" y="7"/>
                  </a:lnTo>
                  <a:lnTo>
                    <a:pt x="27" y="2"/>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99"/>
            <p:cNvSpPr>
              <a:spLocks/>
            </p:cNvSpPr>
            <p:nvPr userDrawn="1"/>
          </p:nvSpPr>
          <p:spPr bwMode="auto">
            <a:xfrm>
              <a:off x="3988" y="891"/>
              <a:ext cx="43" cy="43"/>
            </a:xfrm>
            <a:custGeom>
              <a:avLst/>
              <a:gdLst>
                <a:gd name="T0" fmla="*/ 44 w 87"/>
                <a:gd name="T1" fmla="*/ 0 h 85"/>
                <a:gd name="T2" fmla="*/ 44 w 87"/>
                <a:gd name="T3" fmla="*/ 0 h 85"/>
                <a:gd name="T4" fmla="*/ 53 w 87"/>
                <a:gd name="T5" fmla="*/ 1 h 85"/>
                <a:gd name="T6" fmla="*/ 61 w 87"/>
                <a:gd name="T7" fmla="*/ 3 h 85"/>
                <a:gd name="T8" fmla="*/ 68 w 87"/>
                <a:gd name="T9" fmla="*/ 7 h 85"/>
                <a:gd name="T10" fmla="*/ 75 w 87"/>
                <a:gd name="T11" fmla="*/ 12 h 85"/>
                <a:gd name="T12" fmla="*/ 79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79 w 87"/>
                <a:gd name="T27" fmla="*/ 67 h 85"/>
                <a:gd name="T28" fmla="*/ 75 w 87"/>
                <a:gd name="T29" fmla="*/ 73 h 85"/>
                <a:gd name="T30" fmla="*/ 68 w 87"/>
                <a:gd name="T31" fmla="*/ 78 h 85"/>
                <a:gd name="T32" fmla="*/ 61 w 87"/>
                <a:gd name="T33" fmla="*/ 83 h 85"/>
                <a:gd name="T34" fmla="*/ 53 w 87"/>
                <a:gd name="T35" fmla="*/ 85 h 85"/>
                <a:gd name="T36" fmla="*/ 44 w 87"/>
                <a:gd name="T37" fmla="*/ 85 h 85"/>
                <a:gd name="T38" fmla="*/ 44 w 87"/>
                <a:gd name="T39" fmla="*/ 85 h 85"/>
                <a:gd name="T40" fmla="*/ 35 w 87"/>
                <a:gd name="T41" fmla="*/ 85 h 85"/>
                <a:gd name="T42" fmla="*/ 27 w 87"/>
                <a:gd name="T43" fmla="*/ 83 h 85"/>
                <a:gd name="T44" fmla="*/ 20 w 87"/>
                <a:gd name="T45" fmla="*/ 78 h 85"/>
                <a:gd name="T46" fmla="*/ 13 w 87"/>
                <a:gd name="T47" fmla="*/ 73 h 85"/>
                <a:gd name="T48" fmla="*/ 9 w 87"/>
                <a:gd name="T49" fmla="*/ 67 h 85"/>
                <a:gd name="T50" fmla="*/ 5 w 87"/>
                <a:gd name="T51" fmla="*/ 59 h 85"/>
                <a:gd name="T52" fmla="*/ 2 w 87"/>
                <a:gd name="T53" fmla="*/ 51 h 85"/>
                <a:gd name="T54" fmla="*/ 0 w 87"/>
                <a:gd name="T55" fmla="*/ 43 h 85"/>
                <a:gd name="T56" fmla="*/ 0 w 87"/>
                <a:gd name="T57" fmla="*/ 43 h 85"/>
                <a:gd name="T58" fmla="*/ 2 w 87"/>
                <a:gd name="T59" fmla="*/ 34 h 85"/>
                <a:gd name="T60" fmla="*/ 5 w 87"/>
                <a:gd name="T61" fmla="*/ 26 h 85"/>
                <a:gd name="T62" fmla="*/ 9 w 87"/>
                <a:gd name="T63" fmla="*/ 19 h 85"/>
                <a:gd name="T64" fmla="*/ 13 w 87"/>
                <a:gd name="T65" fmla="*/ 12 h 85"/>
                <a:gd name="T66" fmla="*/ 20 w 87"/>
                <a:gd name="T67" fmla="*/ 7 h 85"/>
                <a:gd name="T68" fmla="*/ 27 w 87"/>
                <a:gd name="T69" fmla="*/ 3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3"/>
                  </a:lnTo>
                  <a:lnTo>
                    <a:pt x="68" y="7"/>
                  </a:lnTo>
                  <a:lnTo>
                    <a:pt x="75" y="12"/>
                  </a:lnTo>
                  <a:lnTo>
                    <a:pt x="79" y="19"/>
                  </a:lnTo>
                  <a:lnTo>
                    <a:pt x="83" y="26"/>
                  </a:lnTo>
                  <a:lnTo>
                    <a:pt x="86" y="34"/>
                  </a:lnTo>
                  <a:lnTo>
                    <a:pt x="87" y="43"/>
                  </a:lnTo>
                  <a:lnTo>
                    <a:pt x="87" y="43"/>
                  </a:lnTo>
                  <a:lnTo>
                    <a:pt x="86" y="51"/>
                  </a:lnTo>
                  <a:lnTo>
                    <a:pt x="83" y="59"/>
                  </a:lnTo>
                  <a:lnTo>
                    <a:pt x="79" y="67"/>
                  </a:lnTo>
                  <a:lnTo>
                    <a:pt x="75" y="73"/>
                  </a:lnTo>
                  <a:lnTo>
                    <a:pt x="68" y="78"/>
                  </a:lnTo>
                  <a:lnTo>
                    <a:pt x="61" y="83"/>
                  </a:lnTo>
                  <a:lnTo>
                    <a:pt x="53" y="85"/>
                  </a:lnTo>
                  <a:lnTo>
                    <a:pt x="44" y="85"/>
                  </a:lnTo>
                  <a:lnTo>
                    <a:pt x="44" y="85"/>
                  </a:lnTo>
                  <a:lnTo>
                    <a:pt x="35" y="85"/>
                  </a:lnTo>
                  <a:lnTo>
                    <a:pt x="27" y="83"/>
                  </a:lnTo>
                  <a:lnTo>
                    <a:pt x="20" y="78"/>
                  </a:lnTo>
                  <a:lnTo>
                    <a:pt x="13" y="73"/>
                  </a:lnTo>
                  <a:lnTo>
                    <a:pt x="9" y="67"/>
                  </a:lnTo>
                  <a:lnTo>
                    <a:pt x="5" y="59"/>
                  </a:lnTo>
                  <a:lnTo>
                    <a:pt x="2" y="51"/>
                  </a:lnTo>
                  <a:lnTo>
                    <a:pt x="0" y="43"/>
                  </a:lnTo>
                  <a:lnTo>
                    <a:pt x="0" y="43"/>
                  </a:lnTo>
                  <a:lnTo>
                    <a:pt x="2" y="34"/>
                  </a:lnTo>
                  <a:lnTo>
                    <a:pt x="5" y="26"/>
                  </a:lnTo>
                  <a:lnTo>
                    <a:pt x="9" y="19"/>
                  </a:lnTo>
                  <a:lnTo>
                    <a:pt x="13" y="12"/>
                  </a:lnTo>
                  <a:lnTo>
                    <a:pt x="20" y="7"/>
                  </a:lnTo>
                  <a:lnTo>
                    <a:pt x="27" y="3"/>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100"/>
            <p:cNvSpPr>
              <a:spLocks/>
            </p:cNvSpPr>
            <p:nvPr userDrawn="1"/>
          </p:nvSpPr>
          <p:spPr bwMode="auto">
            <a:xfrm>
              <a:off x="4044" y="1230"/>
              <a:ext cx="44" cy="42"/>
            </a:xfrm>
            <a:custGeom>
              <a:avLst/>
              <a:gdLst>
                <a:gd name="T0" fmla="*/ 44 w 87"/>
                <a:gd name="T1" fmla="*/ 0 h 86"/>
                <a:gd name="T2" fmla="*/ 44 w 87"/>
                <a:gd name="T3" fmla="*/ 0 h 86"/>
                <a:gd name="T4" fmla="*/ 53 w 87"/>
                <a:gd name="T5" fmla="*/ 0 h 86"/>
                <a:gd name="T6" fmla="*/ 61 w 87"/>
                <a:gd name="T7" fmla="*/ 3 h 86"/>
                <a:gd name="T8" fmla="*/ 68 w 87"/>
                <a:gd name="T9" fmla="*/ 7 h 86"/>
                <a:gd name="T10" fmla="*/ 75 w 87"/>
                <a:gd name="T11" fmla="*/ 13 h 86"/>
                <a:gd name="T12" fmla="*/ 80 w 87"/>
                <a:gd name="T13" fmla="*/ 18 h 86"/>
                <a:gd name="T14" fmla="*/ 83 w 87"/>
                <a:gd name="T15" fmla="*/ 27 h 86"/>
                <a:gd name="T16" fmla="*/ 86 w 87"/>
                <a:gd name="T17" fmla="*/ 33 h 86"/>
                <a:gd name="T18" fmla="*/ 87 w 87"/>
                <a:gd name="T19" fmla="*/ 43 h 86"/>
                <a:gd name="T20" fmla="*/ 87 w 87"/>
                <a:gd name="T21" fmla="*/ 43 h 86"/>
                <a:gd name="T22" fmla="*/ 86 w 87"/>
                <a:gd name="T23" fmla="*/ 51 h 86"/>
                <a:gd name="T24" fmla="*/ 83 w 87"/>
                <a:gd name="T25" fmla="*/ 60 h 86"/>
                <a:gd name="T26" fmla="*/ 80 w 87"/>
                <a:gd name="T27" fmla="*/ 66 h 86"/>
                <a:gd name="T28" fmla="*/ 75 w 87"/>
                <a:gd name="T29" fmla="*/ 73 h 86"/>
                <a:gd name="T30" fmla="*/ 68 w 87"/>
                <a:gd name="T31" fmla="*/ 79 h 86"/>
                <a:gd name="T32" fmla="*/ 61 w 87"/>
                <a:gd name="T33" fmla="*/ 82 h 86"/>
                <a:gd name="T34" fmla="*/ 53 w 87"/>
                <a:gd name="T35" fmla="*/ 84 h 86"/>
                <a:gd name="T36" fmla="*/ 44 w 87"/>
                <a:gd name="T37" fmla="*/ 86 h 86"/>
                <a:gd name="T38" fmla="*/ 44 w 87"/>
                <a:gd name="T39" fmla="*/ 86 h 86"/>
                <a:gd name="T40" fmla="*/ 35 w 87"/>
                <a:gd name="T41" fmla="*/ 84 h 86"/>
                <a:gd name="T42" fmla="*/ 28 w 87"/>
                <a:gd name="T43" fmla="*/ 82 h 86"/>
                <a:gd name="T44" fmla="*/ 20 w 87"/>
                <a:gd name="T45" fmla="*/ 79 h 86"/>
                <a:gd name="T46" fmla="*/ 14 w 87"/>
                <a:gd name="T47" fmla="*/ 73 h 86"/>
                <a:gd name="T48" fmla="*/ 9 w 87"/>
                <a:gd name="T49" fmla="*/ 66 h 86"/>
                <a:gd name="T50" fmla="*/ 4 w 87"/>
                <a:gd name="T51" fmla="*/ 60 h 86"/>
                <a:gd name="T52" fmla="*/ 2 w 87"/>
                <a:gd name="T53" fmla="*/ 51 h 86"/>
                <a:gd name="T54" fmla="*/ 0 w 87"/>
                <a:gd name="T55" fmla="*/ 43 h 86"/>
                <a:gd name="T56" fmla="*/ 0 w 87"/>
                <a:gd name="T57" fmla="*/ 43 h 86"/>
                <a:gd name="T58" fmla="*/ 2 w 87"/>
                <a:gd name="T59" fmla="*/ 33 h 86"/>
                <a:gd name="T60" fmla="*/ 4 w 87"/>
                <a:gd name="T61" fmla="*/ 27 h 86"/>
                <a:gd name="T62" fmla="*/ 9 w 87"/>
                <a:gd name="T63" fmla="*/ 18 h 86"/>
                <a:gd name="T64" fmla="*/ 14 w 87"/>
                <a:gd name="T65" fmla="*/ 13 h 86"/>
                <a:gd name="T66" fmla="*/ 20 w 87"/>
                <a:gd name="T67" fmla="*/ 7 h 86"/>
                <a:gd name="T68" fmla="*/ 28 w 87"/>
                <a:gd name="T69" fmla="*/ 3 h 86"/>
                <a:gd name="T70" fmla="*/ 35 w 87"/>
                <a:gd name="T71" fmla="*/ 0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0"/>
                  </a:lnTo>
                  <a:lnTo>
                    <a:pt x="61" y="3"/>
                  </a:lnTo>
                  <a:lnTo>
                    <a:pt x="68" y="7"/>
                  </a:lnTo>
                  <a:lnTo>
                    <a:pt x="75" y="13"/>
                  </a:lnTo>
                  <a:lnTo>
                    <a:pt x="80" y="18"/>
                  </a:lnTo>
                  <a:lnTo>
                    <a:pt x="83" y="27"/>
                  </a:lnTo>
                  <a:lnTo>
                    <a:pt x="86" y="33"/>
                  </a:lnTo>
                  <a:lnTo>
                    <a:pt x="87" y="43"/>
                  </a:lnTo>
                  <a:lnTo>
                    <a:pt x="87" y="43"/>
                  </a:lnTo>
                  <a:lnTo>
                    <a:pt x="86" y="51"/>
                  </a:lnTo>
                  <a:lnTo>
                    <a:pt x="83" y="60"/>
                  </a:lnTo>
                  <a:lnTo>
                    <a:pt x="80" y="66"/>
                  </a:lnTo>
                  <a:lnTo>
                    <a:pt x="75" y="73"/>
                  </a:lnTo>
                  <a:lnTo>
                    <a:pt x="68" y="79"/>
                  </a:lnTo>
                  <a:lnTo>
                    <a:pt x="61" y="82"/>
                  </a:lnTo>
                  <a:lnTo>
                    <a:pt x="53" y="84"/>
                  </a:lnTo>
                  <a:lnTo>
                    <a:pt x="44" y="86"/>
                  </a:lnTo>
                  <a:lnTo>
                    <a:pt x="44" y="86"/>
                  </a:lnTo>
                  <a:lnTo>
                    <a:pt x="35" y="84"/>
                  </a:lnTo>
                  <a:lnTo>
                    <a:pt x="28" y="82"/>
                  </a:lnTo>
                  <a:lnTo>
                    <a:pt x="20" y="79"/>
                  </a:lnTo>
                  <a:lnTo>
                    <a:pt x="14" y="73"/>
                  </a:lnTo>
                  <a:lnTo>
                    <a:pt x="9" y="66"/>
                  </a:lnTo>
                  <a:lnTo>
                    <a:pt x="4" y="60"/>
                  </a:lnTo>
                  <a:lnTo>
                    <a:pt x="2" y="51"/>
                  </a:lnTo>
                  <a:lnTo>
                    <a:pt x="0" y="43"/>
                  </a:lnTo>
                  <a:lnTo>
                    <a:pt x="0" y="43"/>
                  </a:lnTo>
                  <a:lnTo>
                    <a:pt x="2" y="33"/>
                  </a:lnTo>
                  <a:lnTo>
                    <a:pt x="4" y="27"/>
                  </a:lnTo>
                  <a:lnTo>
                    <a:pt x="9" y="18"/>
                  </a:lnTo>
                  <a:lnTo>
                    <a:pt x="14" y="13"/>
                  </a:lnTo>
                  <a:lnTo>
                    <a:pt x="20" y="7"/>
                  </a:lnTo>
                  <a:lnTo>
                    <a:pt x="28" y="3"/>
                  </a:lnTo>
                  <a:lnTo>
                    <a:pt x="35" y="0"/>
                  </a:lnTo>
                  <a:lnTo>
                    <a:pt x="44" y="0"/>
                  </a:lnTo>
                  <a:lnTo>
                    <a:pt x="44"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101"/>
            <p:cNvSpPr>
              <a:spLocks/>
            </p:cNvSpPr>
            <p:nvPr userDrawn="1"/>
          </p:nvSpPr>
          <p:spPr bwMode="auto">
            <a:xfrm>
              <a:off x="4044" y="1173"/>
              <a:ext cx="44" cy="43"/>
            </a:xfrm>
            <a:custGeom>
              <a:avLst/>
              <a:gdLst>
                <a:gd name="T0" fmla="*/ 44 w 87"/>
                <a:gd name="T1" fmla="*/ 0 h 87"/>
                <a:gd name="T2" fmla="*/ 44 w 87"/>
                <a:gd name="T3" fmla="*/ 0 h 87"/>
                <a:gd name="T4" fmla="*/ 53 w 87"/>
                <a:gd name="T5" fmla="*/ 2 h 87"/>
                <a:gd name="T6" fmla="*/ 61 w 87"/>
                <a:gd name="T7" fmla="*/ 5 h 87"/>
                <a:gd name="T8" fmla="*/ 68 w 87"/>
                <a:gd name="T9" fmla="*/ 9 h 87"/>
                <a:gd name="T10" fmla="*/ 75 w 87"/>
                <a:gd name="T11" fmla="*/ 14 h 87"/>
                <a:gd name="T12" fmla="*/ 80 w 87"/>
                <a:gd name="T13" fmla="*/ 20 h 87"/>
                <a:gd name="T14" fmla="*/ 83 w 87"/>
                <a:gd name="T15" fmla="*/ 27 h 87"/>
                <a:gd name="T16" fmla="*/ 86 w 87"/>
                <a:gd name="T17" fmla="*/ 35 h 87"/>
                <a:gd name="T18" fmla="*/ 87 w 87"/>
                <a:gd name="T19" fmla="*/ 44 h 87"/>
                <a:gd name="T20" fmla="*/ 87 w 87"/>
                <a:gd name="T21" fmla="*/ 44 h 87"/>
                <a:gd name="T22" fmla="*/ 86 w 87"/>
                <a:gd name="T23" fmla="*/ 53 h 87"/>
                <a:gd name="T24" fmla="*/ 83 w 87"/>
                <a:gd name="T25" fmla="*/ 61 h 87"/>
                <a:gd name="T26" fmla="*/ 80 w 87"/>
                <a:gd name="T27" fmla="*/ 68 h 87"/>
                <a:gd name="T28" fmla="*/ 75 w 87"/>
                <a:gd name="T29" fmla="*/ 75 h 87"/>
                <a:gd name="T30" fmla="*/ 68 w 87"/>
                <a:gd name="T31" fmla="*/ 79 h 87"/>
                <a:gd name="T32" fmla="*/ 61 w 87"/>
                <a:gd name="T33" fmla="*/ 83 h 87"/>
                <a:gd name="T34" fmla="*/ 53 w 87"/>
                <a:gd name="T35" fmla="*/ 86 h 87"/>
                <a:gd name="T36" fmla="*/ 44 w 87"/>
                <a:gd name="T37" fmla="*/ 87 h 87"/>
                <a:gd name="T38" fmla="*/ 44 w 87"/>
                <a:gd name="T39" fmla="*/ 87 h 87"/>
                <a:gd name="T40" fmla="*/ 35 w 87"/>
                <a:gd name="T41" fmla="*/ 86 h 87"/>
                <a:gd name="T42" fmla="*/ 28 w 87"/>
                <a:gd name="T43" fmla="*/ 83 h 87"/>
                <a:gd name="T44" fmla="*/ 20 w 87"/>
                <a:gd name="T45" fmla="*/ 79 h 87"/>
                <a:gd name="T46" fmla="*/ 14 w 87"/>
                <a:gd name="T47" fmla="*/ 75 h 87"/>
                <a:gd name="T48" fmla="*/ 9 w 87"/>
                <a:gd name="T49" fmla="*/ 68 h 87"/>
                <a:gd name="T50" fmla="*/ 4 w 87"/>
                <a:gd name="T51" fmla="*/ 61 h 87"/>
                <a:gd name="T52" fmla="*/ 2 w 87"/>
                <a:gd name="T53" fmla="*/ 53 h 87"/>
                <a:gd name="T54" fmla="*/ 0 w 87"/>
                <a:gd name="T55" fmla="*/ 44 h 87"/>
                <a:gd name="T56" fmla="*/ 0 w 87"/>
                <a:gd name="T57" fmla="*/ 44 h 87"/>
                <a:gd name="T58" fmla="*/ 2 w 87"/>
                <a:gd name="T59" fmla="*/ 35 h 87"/>
                <a:gd name="T60" fmla="*/ 4 w 87"/>
                <a:gd name="T61" fmla="*/ 27 h 87"/>
                <a:gd name="T62" fmla="*/ 9 w 87"/>
                <a:gd name="T63" fmla="*/ 20 h 87"/>
                <a:gd name="T64" fmla="*/ 14 w 87"/>
                <a:gd name="T65" fmla="*/ 14 h 87"/>
                <a:gd name="T66" fmla="*/ 20 w 87"/>
                <a:gd name="T67" fmla="*/ 9 h 87"/>
                <a:gd name="T68" fmla="*/ 28 w 87"/>
                <a:gd name="T69" fmla="*/ 5 h 87"/>
                <a:gd name="T70" fmla="*/ 35 w 87"/>
                <a:gd name="T71" fmla="*/ 2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2"/>
                  </a:lnTo>
                  <a:lnTo>
                    <a:pt x="61" y="5"/>
                  </a:lnTo>
                  <a:lnTo>
                    <a:pt x="68" y="9"/>
                  </a:lnTo>
                  <a:lnTo>
                    <a:pt x="75" y="14"/>
                  </a:lnTo>
                  <a:lnTo>
                    <a:pt x="80" y="20"/>
                  </a:lnTo>
                  <a:lnTo>
                    <a:pt x="83" y="27"/>
                  </a:lnTo>
                  <a:lnTo>
                    <a:pt x="86" y="35"/>
                  </a:lnTo>
                  <a:lnTo>
                    <a:pt x="87" y="44"/>
                  </a:lnTo>
                  <a:lnTo>
                    <a:pt x="87" y="44"/>
                  </a:lnTo>
                  <a:lnTo>
                    <a:pt x="86" y="53"/>
                  </a:lnTo>
                  <a:lnTo>
                    <a:pt x="83" y="61"/>
                  </a:lnTo>
                  <a:lnTo>
                    <a:pt x="80" y="68"/>
                  </a:lnTo>
                  <a:lnTo>
                    <a:pt x="75" y="75"/>
                  </a:lnTo>
                  <a:lnTo>
                    <a:pt x="68" y="79"/>
                  </a:lnTo>
                  <a:lnTo>
                    <a:pt x="61" y="83"/>
                  </a:lnTo>
                  <a:lnTo>
                    <a:pt x="53" y="86"/>
                  </a:lnTo>
                  <a:lnTo>
                    <a:pt x="44" y="87"/>
                  </a:lnTo>
                  <a:lnTo>
                    <a:pt x="44" y="87"/>
                  </a:lnTo>
                  <a:lnTo>
                    <a:pt x="35" y="86"/>
                  </a:lnTo>
                  <a:lnTo>
                    <a:pt x="28" y="83"/>
                  </a:lnTo>
                  <a:lnTo>
                    <a:pt x="20" y="79"/>
                  </a:lnTo>
                  <a:lnTo>
                    <a:pt x="14" y="75"/>
                  </a:lnTo>
                  <a:lnTo>
                    <a:pt x="9" y="68"/>
                  </a:lnTo>
                  <a:lnTo>
                    <a:pt x="4" y="61"/>
                  </a:lnTo>
                  <a:lnTo>
                    <a:pt x="2" y="53"/>
                  </a:lnTo>
                  <a:lnTo>
                    <a:pt x="0" y="44"/>
                  </a:lnTo>
                  <a:lnTo>
                    <a:pt x="0" y="44"/>
                  </a:lnTo>
                  <a:lnTo>
                    <a:pt x="2" y="35"/>
                  </a:lnTo>
                  <a:lnTo>
                    <a:pt x="4" y="27"/>
                  </a:lnTo>
                  <a:lnTo>
                    <a:pt x="9" y="20"/>
                  </a:lnTo>
                  <a:lnTo>
                    <a:pt x="14" y="14"/>
                  </a:lnTo>
                  <a:lnTo>
                    <a:pt x="20" y="9"/>
                  </a:lnTo>
                  <a:lnTo>
                    <a:pt x="28"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102"/>
            <p:cNvSpPr>
              <a:spLocks/>
            </p:cNvSpPr>
            <p:nvPr userDrawn="1"/>
          </p:nvSpPr>
          <p:spPr bwMode="auto">
            <a:xfrm>
              <a:off x="4044" y="1116"/>
              <a:ext cx="44" cy="44"/>
            </a:xfrm>
            <a:custGeom>
              <a:avLst/>
              <a:gdLst>
                <a:gd name="T0" fmla="*/ 44 w 87"/>
                <a:gd name="T1" fmla="*/ 0 h 86"/>
                <a:gd name="T2" fmla="*/ 44 w 87"/>
                <a:gd name="T3" fmla="*/ 0 h 86"/>
                <a:gd name="T4" fmla="*/ 53 w 87"/>
                <a:gd name="T5" fmla="*/ 1 h 86"/>
                <a:gd name="T6" fmla="*/ 61 w 87"/>
                <a:gd name="T7" fmla="*/ 4 h 86"/>
                <a:gd name="T8" fmla="*/ 68 w 87"/>
                <a:gd name="T9" fmla="*/ 8 h 86"/>
                <a:gd name="T10" fmla="*/ 75 w 87"/>
                <a:gd name="T11" fmla="*/ 12 h 86"/>
                <a:gd name="T12" fmla="*/ 80 w 87"/>
                <a:gd name="T13" fmla="*/ 19 h 86"/>
                <a:gd name="T14" fmla="*/ 83 w 87"/>
                <a:gd name="T15" fmla="*/ 26 h 86"/>
                <a:gd name="T16" fmla="*/ 86 w 87"/>
                <a:gd name="T17" fmla="*/ 34 h 86"/>
                <a:gd name="T18" fmla="*/ 87 w 87"/>
                <a:gd name="T19" fmla="*/ 44 h 86"/>
                <a:gd name="T20" fmla="*/ 87 w 87"/>
                <a:gd name="T21" fmla="*/ 44 h 86"/>
                <a:gd name="T22" fmla="*/ 86 w 87"/>
                <a:gd name="T23" fmla="*/ 52 h 86"/>
                <a:gd name="T24" fmla="*/ 83 w 87"/>
                <a:gd name="T25" fmla="*/ 60 h 86"/>
                <a:gd name="T26" fmla="*/ 80 w 87"/>
                <a:gd name="T27" fmla="*/ 67 h 86"/>
                <a:gd name="T28" fmla="*/ 75 w 87"/>
                <a:gd name="T29" fmla="*/ 74 h 86"/>
                <a:gd name="T30" fmla="*/ 68 w 87"/>
                <a:gd name="T31" fmla="*/ 78 h 86"/>
                <a:gd name="T32" fmla="*/ 61 w 87"/>
                <a:gd name="T33" fmla="*/ 82 h 86"/>
                <a:gd name="T34" fmla="*/ 53 w 87"/>
                <a:gd name="T35" fmla="*/ 85 h 86"/>
                <a:gd name="T36" fmla="*/ 44 w 87"/>
                <a:gd name="T37" fmla="*/ 86 h 86"/>
                <a:gd name="T38" fmla="*/ 44 w 87"/>
                <a:gd name="T39" fmla="*/ 86 h 86"/>
                <a:gd name="T40" fmla="*/ 35 w 87"/>
                <a:gd name="T41" fmla="*/ 85 h 86"/>
                <a:gd name="T42" fmla="*/ 28 w 87"/>
                <a:gd name="T43" fmla="*/ 82 h 86"/>
                <a:gd name="T44" fmla="*/ 20 w 87"/>
                <a:gd name="T45" fmla="*/ 78 h 86"/>
                <a:gd name="T46" fmla="*/ 14 w 87"/>
                <a:gd name="T47" fmla="*/ 74 h 86"/>
                <a:gd name="T48" fmla="*/ 9 w 87"/>
                <a:gd name="T49" fmla="*/ 67 h 86"/>
                <a:gd name="T50" fmla="*/ 4 w 87"/>
                <a:gd name="T51" fmla="*/ 60 h 86"/>
                <a:gd name="T52" fmla="*/ 2 w 87"/>
                <a:gd name="T53" fmla="*/ 52 h 86"/>
                <a:gd name="T54" fmla="*/ 0 w 87"/>
                <a:gd name="T55" fmla="*/ 44 h 86"/>
                <a:gd name="T56" fmla="*/ 0 w 87"/>
                <a:gd name="T57" fmla="*/ 44 h 86"/>
                <a:gd name="T58" fmla="*/ 2 w 87"/>
                <a:gd name="T59" fmla="*/ 34 h 86"/>
                <a:gd name="T60" fmla="*/ 4 w 87"/>
                <a:gd name="T61" fmla="*/ 26 h 86"/>
                <a:gd name="T62" fmla="*/ 9 w 87"/>
                <a:gd name="T63" fmla="*/ 19 h 86"/>
                <a:gd name="T64" fmla="*/ 14 w 87"/>
                <a:gd name="T65" fmla="*/ 12 h 86"/>
                <a:gd name="T66" fmla="*/ 20 w 87"/>
                <a:gd name="T67" fmla="*/ 8 h 86"/>
                <a:gd name="T68" fmla="*/ 28 w 87"/>
                <a:gd name="T69" fmla="*/ 4 h 86"/>
                <a:gd name="T70" fmla="*/ 35 w 87"/>
                <a:gd name="T71" fmla="*/ 1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1"/>
                  </a:lnTo>
                  <a:lnTo>
                    <a:pt x="61" y="4"/>
                  </a:lnTo>
                  <a:lnTo>
                    <a:pt x="68" y="8"/>
                  </a:lnTo>
                  <a:lnTo>
                    <a:pt x="75" y="12"/>
                  </a:lnTo>
                  <a:lnTo>
                    <a:pt x="80" y="19"/>
                  </a:lnTo>
                  <a:lnTo>
                    <a:pt x="83" y="26"/>
                  </a:lnTo>
                  <a:lnTo>
                    <a:pt x="86" y="34"/>
                  </a:lnTo>
                  <a:lnTo>
                    <a:pt x="87" y="44"/>
                  </a:lnTo>
                  <a:lnTo>
                    <a:pt x="87" y="44"/>
                  </a:lnTo>
                  <a:lnTo>
                    <a:pt x="86" y="52"/>
                  </a:lnTo>
                  <a:lnTo>
                    <a:pt x="83" y="60"/>
                  </a:lnTo>
                  <a:lnTo>
                    <a:pt x="80" y="67"/>
                  </a:lnTo>
                  <a:lnTo>
                    <a:pt x="75" y="74"/>
                  </a:lnTo>
                  <a:lnTo>
                    <a:pt x="68" y="78"/>
                  </a:lnTo>
                  <a:lnTo>
                    <a:pt x="61" y="82"/>
                  </a:lnTo>
                  <a:lnTo>
                    <a:pt x="53" y="85"/>
                  </a:lnTo>
                  <a:lnTo>
                    <a:pt x="44" y="86"/>
                  </a:lnTo>
                  <a:lnTo>
                    <a:pt x="44" y="86"/>
                  </a:lnTo>
                  <a:lnTo>
                    <a:pt x="35" y="85"/>
                  </a:lnTo>
                  <a:lnTo>
                    <a:pt x="28" y="82"/>
                  </a:lnTo>
                  <a:lnTo>
                    <a:pt x="20" y="78"/>
                  </a:lnTo>
                  <a:lnTo>
                    <a:pt x="14" y="74"/>
                  </a:lnTo>
                  <a:lnTo>
                    <a:pt x="9" y="67"/>
                  </a:lnTo>
                  <a:lnTo>
                    <a:pt x="4" y="60"/>
                  </a:lnTo>
                  <a:lnTo>
                    <a:pt x="2" y="52"/>
                  </a:lnTo>
                  <a:lnTo>
                    <a:pt x="0" y="44"/>
                  </a:lnTo>
                  <a:lnTo>
                    <a:pt x="0" y="44"/>
                  </a:lnTo>
                  <a:lnTo>
                    <a:pt x="2" y="34"/>
                  </a:lnTo>
                  <a:lnTo>
                    <a:pt x="4" y="26"/>
                  </a:lnTo>
                  <a:lnTo>
                    <a:pt x="9" y="19"/>
                  </a:lnTo>
                  <a:lnTo>
                    <a:pt x="14" y="12"/>
                  </a:lnTo>
                  <a:lnTo>
                    <a:pt x="20" y="8"/>
                  </a:lnTo>
                  <a:lnTo>
                    <a:pt x="28"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103"/>
            <p:cNvSpPr>
              <a:spLocks/>
            </p:cNvSpPr>
            <p:nvPr userDrawn="1"/>
          </p:nvSpPr>
          <p:spPr bwMode="auto">
            <a:xfrm>
              <a:off x="4044" y="1060"/>
              <a:ext cx="44" cy="43"/>
            </a:xfrm>
            <a:custGeom>
              <a:avLst/>
              <a:gdLst>
                <a:gd name="T0" fmla="*/ 44 w 87"/>
                <a:gd name="T1" fmla="*/ 0 h 87"/>
                <a:gd name="T2" fmla="*/ 44 w 87"/>
                <a:gd name="T3" fmla="*/ 0 h 87"/>
                <a:gd name="T4" fmla="*/ 53 w 87"/>
                <a:gd name="T5" fmla="*/ 1 h 87"/>
                <a:gd name="T6" fmla="*/ 61 w 87"/>
                <a:gd name="T7" fmla="*/ 4 h 87"/>
                <a:gd name="T8" fmla="*/ 68 w 87"/>
                <a:gd name="T9" fmla="*/ 8 h 87"/>
                <a:gd name="T10" fmla="*/ 75 w 87"/>
                <a:gd name="T11" fmla="*/ 12 h 87"/>
                <a:gd name="T12" fmla="*/ 80 w 87"/>
                <a:gd name="T13" fmla="*/ 19 h 87"/>
                <a:gd name="T14" fmla="*/ 83 w 87"/>
                <a:gd name="T15" fmla="*/ 26 h 87"/>
                <a:gd name="T16" fmla="*/ 86 w 87"/>
                <a:gd name="T17" fmla="*/ 34 h 87"/>
                <a:gd name="T18" fmla="*/ 87 w 87"/>
                <a:gd name="T19" fmla="*/ 43 h 87"/>
                <a:gd name="T20" fmla="*/ 87 w 87"/>
                <a:gd name="T21" fmla="*/ 43 h 87"/>
                <a:gd name="T22" fmla="*/ 86 w 87"/>
                <a:gd name="T23" fmla="*/ 52 h 87"/>
                <a:gd name="T24" fmla="*/ 83 w 87"/>
                <a:gd name="T25" fmla="*/ 61 h 87"/>
                <a:gd name="T26" fmla="*/ 80 w 87"/>
                <a:gd name="T27" fmla="*/ 67 h 87"/>
                <a:gd name="T28" fmla="*/ 75 w 87"/>
                <a:gd name="T29" fmla="*/ 73 h 87"/>
                <a:gd name="T30" fmla="*/ 68 w 87"/>
                <a:gd name="T31" fmla="*/ 78 h 87"/>
                <a:gd name="T32" fmla="*/ 61 w 87"/>
                <a:gd name="T33" fmla="*/ 83 h 87"/>
                <a:gd name="T34" fmla="*/ 53 w 87"/>
                <a:gd name="T35" fmla="*/ 85 h 87"/>
                <a:gd name="T36" fmla="*/ 44 w 87"/>
                <a:gd name="T37" fmla="*/ 87 h 87"/>
                <a:gd name="T38" fmla="*/ 44 w 87"/>
                <a:gd name="T39" fmla="*/ 87 h 87"/>
                <a:gd name="T40" fmla="*/ 35 w 87"/>
                <a:gd name="T41" fmla="*/ 85 h 87"/>
                <a:gd name="T42" fmla="*/ 28 w 87"/>
                <a:gd name="T43" fmla="*/ 83 h 87"/>
                <a:gd name="T44" fmla="*/ 20 w 87"/>
                <a:gd name="T45" fmla="*/ 78 h 87"/>
                <a:gd name="T46" fmla="*/ 14 w 87"/>
                <a:gd name="T47" fmla="*/ 73 h 87"/>
                <a:gd name="T48" fmla="*/ 9 w 87"/>
                <a:gd name="T49" fmla="*/ 67 h 87"/>
                <a:gd name="T50" fmla="*/ 4 w 87"/>
                <a:gd name="T51" fmla="*/ 61 h 87"/>
                <a:gd name="T52" fmla="*/ 2 w 87"/>
                <a:gd name="T53" fmla="*/ 52 h 87"/>
                <a:gd name="T54" fmla="*/ 0 w 87"/>
                <a:gd name="T55" fmla="*/ 43 h 87"/>
                <a:gd name="T56" fmla="*/ 0 w 87"/>
                <a:gd name="T57" fmla="*/ 43 h 87"/>
                <a:gd name="T58" fmla="*/ 2 w 87"/>
                <a:gd name="T59" fmla="*/ 34 h 87"/>
                <a:gd name="T60" fmla="*/ 4 w 87"/>
                <a:gd name="T61" fmla="*/ 26 h 87"/>
                <a:gd name="T62" fmla="*/ 9 w 87"/>
                <a:gd name="T63" fmla="*/ 19 h 87"/>
                <a:gd name="T64" fmla="*/ 14 w 87"/>
                <a:gd name="T65" fmla="*/ 12 h 87"/>
                <a:gd name="T66" fmla="*/ 20 w 87"/>
                <a:gd name="T67" fmla="*/ 8 h 87"/>
                <a:gd name="T68" fmla="*/ 28 w 87"/>
                <a:gd name="T69" fmla="*/ 4 h 87"/>
                <a:gd name="T70" fmla="*/ 35 w 87"/>
                <a:gd name="T71" fmla="*/ 1 h 87"/>
                <a:gd name="T72" fmla="*/ 44 w 87"/>
                <a:gd name="T73" fmla="*/ 0 h 87"/>
                <a:gd name="T74" fmla="*/ 44 w 87"/>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7">
                  <a:moveTo>
                    <a:pt x="44" y="0"/>
                  </a:moveTo>
                  <a:lnTo>
                    <a:pt x="44" y="0"/>
                  </a:lnTo>
                  <a:lnTo>
                    <a:pt x="53" y="1"/>
                  </a:lnTo>
                  <a:lnTo>
                    <a:pt x="61" y="4"/>
                  </a:lnTo>
                  <a:lnTo>
                    <a:pt x="68" y="8"/>
                  </a:lnTo>
                  <a:lnTo>
                    <a:pt x="75" y="12"/>
                  </a:lnTo>
                  <a:lnTo>
                    <a:pt x="80" y="19"/>
                  </a:lnTo>
                  <a:lnTo>
                    <a:pt x="83" y="26"/>
                  </a:lnTo>
                  <a:lnTo>
                    <a:pt x="86" y="34"/>
                  </a:lnTo>
                  <a:lnTo>
                    <a:pt x="87" y="43"/>
                  </a:lnTo>
                  <a:lnTo>
                    <a:pt x="87" y="43"/>
                  </a:lnTo>
                  <a:lnTo>
                    <a:pt x="86" y="52"/>
                  </a:lnTo>
                  <a:lnTo>
                    <a:pt x="83" y="61"/>
                  </a:lnTo>
                  <a:lnTo>
                    <a:pt x="80" y="67"/>
                  </a:lnTo>
                  <a:lnTo>
                    <a:pt x="75" y="73"/>
                  </a:lnTo>
                  <a:lnTo>
                    <a:pt x="68" y="78"/>
                  </a:lnTo>
                  <a:lnTo>
                    <a:pt x="61" y="83"/>
                  </a:lnTo>
                  <a:lnTo>
                    <a:pt x="53" y="85"/>
                  </a:lnTo>
                  <a:lnTo>
                    <a:pt x="44" y="87"/>
                  </a:lnTo>
                  <a:lnTo>
                    <a:pt x="44" y="87"/>
                  </a:lnTo>
                  <a:lnTo>
                    <a:pt x="35" y="85"/>
                  </a:lnTo>
                  <a:lnTo>
                    <a:pt x="28" y="83"/>
                  </a:lnTo>
                  <a:lnTo>
                    <a:pt x="20" y="78"/>
                  </a:lnTo>
                  <a:lnTo>
                    <a:pt x="14" y="73"/>
                  </a:lnTo>
                  <a:lnTo>
                    <a:pt x="9" y="67"/>
                  </a:lnTo>
                  <a:lnTo>
                    <a:pt x="4" y="61"/>
                  </a:lnTo>
                  <a:lnTo>
                    <a:pt x="2" y="52"/>
                  </a:lnTo>
                  <a:lnTo>
                    <a:pt x="0" y="43"/>
                  </a:lnTo>
                  <a:lnTo>
                    <a:pt x="0" y="43"/>
                  </a:lnTo>
                  <a:lnTo>
                    <a:pt x="2" y="34"/>
                  </a:lnTo>
                  <a:lnTo>
                    <a:pt x="4" y="26"/>
                  </a:lnTo>
                  <a:lnTo>
                    <a:pt x="9" y="19"/>
                  </a:lnTo>
                  <a:lnTo>
                    <a:pt x="14" y="12"/>
                  </a:lnTo>
                  <a:lnTo>
                    <a:pt x="20" y="8"/>
                  </a:lnTo>
                  <a:lnTo>
                    <a:pt x="28" y="4"/>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104"/>
            <p:cNvSpPr>
              <a:spLocks/>
            </p:cNvSpPr>
            <p:nvPr userDrawn="1"/>
          </p:nvSpPr>
          <p:spPr bwMode="auto">
            <a:xfrm>
              <a:off x="4044" y="1004"/>
              <a:ext cx="44" cy="42"/>
            </a:xfrm>
            <a:custGeom>
              <a:avLst/>
              <a:gdLst>
                <a:gd name="T0" fmla="*/ 44 w 87"/>
                <a:gd name="T1" fmla="*/ 0 h 86"/>
                <a:gd name="T2" fmla="*/ 44 w 87"/>
                <a:gd name="T3" fmla="*/ 0 h 86"/>
                <a:gd name="T4" fmla="*/ 53 w 87"/>
                <a:gd name="T5" fmla="*/ 2 h 86"/>
                <a:gd name="T6" fmla="*/ 61 w 87"/>
                <a:gd name="T7" fmla="*/ 5 h 86"/>
                <a:gd name="T8" fmla="*/ 68 w 87"/>
                <a:gd name="T9" fmla="*/ 7 h 86"/>
                <a:gd name="T10" fmla="*/ 75 w 87"/>
                <a:gd name="T11" fmla="*/ 13 h 86"/>
                <a:gd name="T12" fmla="*/ 80 w 87"/>
                <a:gd name="T13" fmla="*/ 20 h 86"/>
                <a:gd name="T14" fmla="*/ 83 w 87"/>
                <a:gd name="T15" fmla="*/ 27 h 86"/>
                <a:gd name="T16" fmla="*/ 86 w 87"/>
                <a:gd name="T17" fmla="*/ 35 h 86"/>
                <a:gd name="T18" fmla="*/ 87 w 87"/>
                <a:gd name="T19" fmla="*/ 43 h 86"/>
                <a:gd name="T20" fmla="*/ 87 w 87"/>
                <a:gd name="T21" fmla="*/ 43 h 86"/>
                <a:gd name="T22" fmla="*/ 86 w 87"/>
                <a:gd name="T23" fmla="*/ 53 h 86"/>
                <a:gd name="T24" fmla="*/ 83 w 87"/>
                <a:gd name="T25" fmla="*/ 59 h 86"/>
                <a:gd name="T26" fmla="*/ 80 w 87"/>
                <a:gd name="T27" fmla="*/ 68 h 86"/>
                <a:gd name="T28" fmla="*/ 75 w 87"/>
                <a:gd name="T29" fmla="*/ 73 h 86"/>
                <a:gd name="T30" fmla="*/ 68 w 87"/>
                <a:gd name="T31" fmla="*/ 79 h 86"/>
                <a:gd name="T32" fmla="*/ 61 w 87"/>
                <a:gd name="T33" fmla="*/ 83 h 86"/>
                <a:gd name="T34" fmla="*/ 53 w 87"/>
                <a:gd name="T35" fmla="*/ 86 h 86"/>
                <a:gd name="T36" fmla="*/ 44 w 87"/>
                <a:gd name="T37" fmla="*/ 86 h 86"/>
                <a:gd name="T38" fmla="*/ 44 w 87"/>
                <a:gd name="T39" fmla="*/ 86 h 86"/>
                <a:gd name="T40" fmla="*/ 35 w 87"/>
                <a:gd name="T41" fmla="*/ 86 h 86"/>
                <a:gd name="T42" fmla="*/ 28 w 87"/>
                <a:gd name="T43" fmla="*/ 83 h 86"/>
                <a:gd name="T44" fmla="*/ 20 w 87"/>
                <a:gd name="T45" fmla="*/ 79 h 86"/>
                <a:gd name="T46" fmla="*/ 14 w 87"/>
                <a:gd name="T47" fmla="*/ 73 h 86"/>
                <a:gd name="T48" fmla="*/ 9 w 87"/>
                <a:gd name="T49" fmla="*/ 68 h 86"/>
                <a:gd name="T50" fmla="*/ 4 w 87"/>
                <a:gd name="T51" fmla="*/ 59 h 86"/>
                <a:gd name="T52" fmla="*/ 2 w 87"/>
                <a:gd name="T53" fmla="*/ 53 h 86"/>
                <a:gd name="T54" fmla="*/ 0 w 87"/>
                <a:gd name="T55" fmla="*/ 43 h 86"/>
                <a:gd name="T56" fmla="*/ 0 w 87"/>
                <a:gd name="T57" fmla="*/ 43 h 86"/>
                <a:gd name="T58" fmla="*/ 2 w 87"/>
                <a:gd name="T59" fmla="*/ 35 h 86"/>
                <a:gd name="T60" fmla="*/ 4 w 87"/>
                <a:gd name="T61" fmla="*/ 27 h 86"/>
                <a:gd name="T62" fmla="*/ 9 w 87"/>
                <a:gd name="T63" fmla="*/ 20 h 86"/>
                <a:gd name="T64" fmla="*/ 14 w 87"/>
                <a:gd name="T65" fmla="*/ 13 h 86"/>
                <a:gd name="T66" fmla="*/ 20 w 87"/>
                <a:gd name="T67" fmla="*/ 7 h 86"/>
                <a:gd name="T68" fmla="*/ 28 w 87"/>
                <a:gd name="T69" fmla="*/ 5 h 86"/>
                <a:gd name="T70" fmla="*/ 35 w 87"/>
                <a:gd name="T71" fmla="*/ 2 h 86"/>
                <a:gd name="T72" fmla="*/ 44 w 87"/>
                <a:gd name="T73" fmla="*/ 0 h 86"/>
                <a:gd name="T74" fmla="*/ 44 w 87"/>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6">
                  <a:moveTo>
                    <a:pt x="44" y="0"/>
                  </a:moveTo>
                  <a:lnTo>
                    <a:pt x="44" y="0"/>
                  </a:lnTo>
                  <a:lnTo>
                    <a:pt x="53" y="2"/>
                  </a:lnTo>
                  <a:lnTo>
                    <a:pt x="61" y="5"/>
                  </a:lnTo>
                  <a:lnTo>
                    <a:pt x="68" y="7"/>
                  </a:lnTo>
                  <a:lnTo>
                    <a:pt x="75" y="13"/>
                  </a:lnTo>
                  <a:lnTo>
                    <a:pt x="80" y="20"/>
                  </a:lnTo>
                  <a:lnTo>
                    <a:pt x="83" y="27"/>
                  </a:lnTo>
                  <a:lnTo>
                    <a:pt x="86" y="35"/>
                  </a:lnTo>
                  <a:lnTo>
                    <a:pt x="87" y="43"/>
                  </a:lnTo>
                  <a:lnTo>
                    <a:pt x="87" y="43"/>
                  </a:lnTo>
                  <a:lnTo>
                    <a:pt x="86" y="53"/>
                  </a:lnTo>
                  <a:lnTo>
                    <a:pt x="83" y="59"/>
                  </a:lnTo>
                  <a:lnTo>
                    <a:pt x="80" y="68"/>
                  </a:lnTo>
                  <a:lnTo>
                    <a:pt x="75" y="73"/>
                  </a:lnTo>
                  <a:lnTo>
                    <a:pt x="68" y="79"/>
                  </a:lnTo>
                  <a:lnTo>
                    <a:pt x="61" y="83"/>
                  </a:lnTo>
                  <a:lnTo>
                    <a:pt x="53" y="86"/>
                  </a:lnTo>
                  <a:lnTo>
                    <a:pt x="44" y="86"/>
                  </a:lnTo>
                  <a:lnTo>
                    <a:pt x="44" y="86"/>
                  </a:lnTo>
                  <a:lnTo>
                    <a:pt x="35" y="86"/>
                  </a:lnTo>
                  <a:lnTo>
                    <a:pt x="28" y="83"/>
                  </a:lnTo>
                  <a:lnTo>
                    <a:pt x="20" y="79"/>
                  </a:lnTo>
                  <a:lnTo>
                    <a:pt x="14" y="73"/>
                  </a:lnTo>
                  <a:lnTo>
                    <a:pt x="9" y="68"/>
                  </a:lnTo>
                  <a:lnTo>
                    <a:pt x="4" y="59"/>
                  </a:lnTo>
                  <a:lnTo>
                    <a:pt x="2" y="53"/>
                  </a:lnTo>
                  <a:lnTo>
                    <a:pt x="0" y="43"/>
                  </a:lnTo>
                  <a:lnTo>
                    <a:pt x="0" y="43"/>
                  </a:lnTo>
                  <a:lnTo>
                    <a:pt x="2" y="35"/>
                  </a:lnTo>
                  <a:lnTo>
                    <a:pt x="4" y="27"/>
                  </a:lnTo>
                  <a:lnTo>
                    <a:pt x="9" y="20"/>
                  </a:lnTo>
                  <a:lnTo>
                    <a:pt x="14" y="13"/>
                  </a:lnTo>
                  <a:lnTo>
                    <a:pt x="20" y="7"/>
                  </a:lnTo>
                  <a:lnTo>
                    <a:pt x="28" y="5"/>
                  </a:lnTo>
                  <a:lnTo>
                    <a:pt x="35" y="2"/>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105"/>
            <p:cNvSpPr>
              <a:spLocks/>
            </p:cNvSpPr>
            <p:nvPr userDrawn="1"/>
          </p:nvSpPr>
          <p:spPr bwMode="auto">
            <a:xfrm>
              <a:off x="4044" y="947"/>
              <a:ext cx="44" cy="43"/>
            </a:xfrm>
            <a:custGeom>
              <a:avLst/>
              <a:gdLst>
                <a:gd name="T0" fmla="*/ 44 w 87"/>
                <a:gd name="T1" fmla="*/ 0 h 85"/>
                <a:gd name="T2" fmla="*/ 44 w 87"/>
                <a:gd name="T3" fmla="*/ 0 h 85"/>
                <a:gd name="T4" fmla="*/ 53 w 87"/>
                <a:gd name="T5" fmla="*/ 1 h 85"/>
                <a:gd name="T6" fmla="*/ 61 w 87"/>
                <a:gd name="T7" fmla="*/ 2 h 85"/>
                <a:gd name="T8" fmla="*/ 68 w 87"/>
                <a:gd name="T9" fmla="*/ 7 h 85"/>
                <a:gd name="T10" fmla="*/ 75 w 87"/>
                <a:gd name="T11" fmla="*/ 12 h 85"/>
                <a:gd name="T12" fmla="*/ 80 w 87"/>
                <a:gd name="T13" fmla="*/ 19 h 85"/>
                <a:gd name="T14" fmla="*/ 83 w 87"/>
                <a:gd name="T15" fmla="*/ 26 h 85"/>
                <a:gd name="T16" fmla="*/ 86 w 87"/>
                <a:gd name="T17" fmla="*/ 34 h 85"/>
                <a:gd name="T18" fmla="*/ 87 w 87"/>
                <a:gd name="T19" fmla="*/ 42 h 85"/>
                <a:gd name="T20" fmla="*/ 87 w 87"/>
                <a:gd name="T21" fmla="*/ 42 h 85"/>
                <a:gd name="T22" fmla="*/ 86 w 87"/>
                <a:gd name="T23" fmla="*/ 51 h 85"/>
                <a:gd name="T24" fmla="*/ 83 w 87"/>
                <a:gd name="T25" fmla="*/ 59 h 85"/>
                <a:gd name="T26" fmla="*/ 80 w 87"/>
                <a:gd name="T27" fmla="*/ 67 h 85"/>
                <a:gd name="T28" fmla="*/ 75 w 87"/>
                <a:gd name="T29" fmla="*/ 73 h 85"/>
                <a:gd name="T30" fmla="*/ 68 w 87"/>
                <a:gd name="T31" fmla="*/ 78 h 85"/>
                <a:gd name="T32" fmla="*/ 61 w 87"/>
                <a:gd name="T33" fmla="*/ 82 h 85"/>
                <a:gd name="T34" fmla="*/ 53 w 87"/>
                <a:gd name="T35" fmla="*/ 85 h 85"/>
                <a:gd name="T36" fmla="*/ 44 w 87"/>
                <a:gd name="T37" fmla="*/ 85 h 85"/>
                <a:gd name="T38" fmla="*/ 44 w 87"/>
                <a:gd name="T39" fmla="*/ 85 h 85"/>
                <a:gd name="T40" fmla="*/ 35 w 87"/>
                <a:gd name="T41" fmla="*/ 85 h 85"/>
                <a:gd name="T42" fmla="*/ 28 w 87"/>
                <a:gd name="T43" fmla="*/ 82 h 85"/>
                <a:gd name="T44" fmla="*/ 20 w 87"/>
                <a:gd name="T45" fmla="*/ 78 h 85"/>
                <a:gd name="T46" fmla="*/ 14 w 87"/>
                <a:gd name="T47" fmla="*/ 73 h 85"/>
                <a:gd name="T48" fmla="*/ 9 w 87"/>
                <a:gd name="T49" fmla="*/ 67 h 85"/>
                <a:gd name="T50" fmla="*/ 4 w 87"/>
                <a:gd name="T51" fmla="*/ 59 h 85"/>
                <a:gd name="T52" fmla="*/ 2 w 87"/>
                <a:gd name="T53" fmla="*/ 51 h 85"/>
                <a:gd name="T54" fmla="*/ 0 w 87"/>
                <a:gd name="T55" fmla="*/ 42 h 85"/>
                <a:gd name="T56" fmla="*/ 0 w 87"/>
                <a:gd name="T57" fmla="*/ 42 h 85"/>
                <a:gd name="T58" fmla="*/ 2 w 87"/>
                <a:gd name="T59" fmla="*/ 34 h 85"/>
                <a:gd name="T60" fmla="*/ 4 w 87"/>
                <a:gd name="T61" fmla="*/ 26 h 85"/>
                <a:gd name="T62" fmla="*/ 9 w 87"/>
                <a:gd name="T63" fmla="*/ 19 h 85"/>
                <a:gd name="T64" fmla="*/ 14 w 87"/>
                <a:gd name="T65" fmla="*/ 12 h 85"/>
                <a:gd name="T66" fmla="*/ 20 w 87"/>
                <a:gd name="T67" fmla="*/ 7 h 85"/>
                <a:gd name="T68" fmla="*/ 28 w 87"/>
                <a:gd name="T69" fmla="*/ 2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2"/>
                  </a:lnTo>
                  <a:lnTo>
                    <a:pt x="68" y="7"/>
                  </a:lnTo>
                  <a:lnTo>
                    <a:pt x="75" y="12"/>
                  </a:lnTo>
                  <a:lnTo>
                    <a:pt x="80" y="19"/>
                  </a:lnTo>
                  <a:lnTo>
                    <a:pt x="83" y="26"/>
                  </a:lnTo>
                  <a:lnTo>
                    <a:pt x="86" y="34"/>
                  </a:lnTo>
                  <a:lnTo>
                    <a:pt x="87" y="42"/>
                  </a:lnTo>
                  <a:lnTo>
                    <a:pt x="87" y="42"/>
                  </a:lnTo>
                  <a:lnTo>
                    <a:pt x="86" y="51"/>
                  </a:lnTo>
                  <a:lnTo>
                    <a:pt x="83" y="59"/>
                  </a:lnTo>
                  <a:lnTo>
                    <a:pt x="80" y="67"/>
                  </a:lnTo>
                  <a:lnTo>
                    <a:pt x="75" y="73"/>
                  </a:lnTo>
                  <a:lnTo>
                    <a:pt x="68" y="78"/>
                  </a:lnTo>
                  <a:lnTo>
                    <a:pt x="61" y="82"/>
                  </a:lnTo>
                  <a:lnTo>
                    <a:pt x="53" y="85"/>
                  </a:lnTo>
                  <a:lnTo>
                    <a:pt x="44" y="85"/>
                  </a:lnTo>
                  <a:lnTo>
                    <a:pt x="44" y="85"/>
                  </a:lnTo>
                  <a:lnTo>
                    <a:pt x="35" y="85"/>
                  </a:lnTo>
                  <a:lnTo>
                    <a:pt x="28" y="82"/>
                  </a:lnTo>
                  <a:lnTo>
                    <a:pt x="20" y="78"/>
                  </a:lnTo>
                  <a:lnTo>
                    <a:pt x="14" y="73"/>
                  </a:lnTo>
                  <a:lnTo>
                    <a:pt x="9" y="67"/>
                  </a:lnTo>
                  <a:lnTo>
                    <a:pt x="4" y="59"/>
                  </a:lnTo>
                  <a:lnTo>
                    <a:pt x="2" y="51"/>
                  </a:lnTo>
                  <a:lnTo>
                    <a:pt x="0" y="42"/>
                  </a:lnTo>
                  <a:lnTo>
                    <a:pt x="0" y="42"/>
                  </a:lnTo>
                  <a:lnTo>
                    <a:pt x="2" y="34"/>
                  </a:lnTo>
                  <a:lnTo>
                    <a:pt x="4" y="26"/>
                  </a:lnTo>
                  <a:lnTo>
                    <a:pt x="9" y="19"/>
                  </a:lnTo>
                  <a:lnTo>
                    <a:pt x="14" y="12"/>
                  </a:lnTo>
                  <a:lnTo>
                    <a:pt x="20" y="7"/>
                  </a:lnTo>
                  <a:lnTo>
                    <a:pt x="28" y="2"/>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106"/>
            <p:cNvSpPr>
              <a:spLocks/>
            </p:cNvSpPr>
            <p:nvPr userDrawn="1"/>
          </p:nvSpPr>
          <p:spPr bwMode="auto">
            <a:xfrm>
              <a:off x="4044" y="891"/>
              <a:ext cx="44" cy="43"/>
            </a:xfrm>
            <a:custGeom>
              <a:avLst/>
              <a:gdLst>
                <a:gd name="T0" fmla="*/ 44 w 87"/>
                <a:gd name="T1" fmla="*/ 0 h 85"/>
                <a:gd name="T2" fmla="*/ 44 w 87"/>
                <a:gd name="T3" fmla="*/ 0 h 85"/>
                <a:gd name="T4" fmla="*/ 53 w 87"/>
                <a:gd name="T5" fmla="*/ 1 h 85"/>
                <a:gd name="T6" fmla="*/ 61 w 87"/>
                <a:gd name="T7" fmla="*/ 3 h 85"/>
                <a:gd name="T8" fmla="*/ 68 w 87"/>
                <a:gd name="T9" fmla="*/ 7 h 85"/>
                <a:gd name="T10" fmla="*/ 75 w 87"/>
                <a:gd name="T11" fmla="*/ 12 h 85"/>
                <a:gd name="T12" fmla="*/ 80 w 87"/>
                <a:gd name="T13" fmla="*/ 19 h 85"/>
                <a:gd name="T14" fmla="*/ 83 w 87"/>
                <a:gd name="T15" fmla="*/ 26 h 85"/>
                <a:gd name="T16" fmla="*/ 86 w 87"/>
                <a:gd name="T17" fmla="*/ 34 h 85"/>
                <a:gd name="T18" fmla="*/ 87 w 87"/>
                <a:gd name="T19" fmla="*/ 43 h 85"/>
                <a:gd name="T20" fmla="*/ 87 w 87"/>
                <a:gd name="T21" fmla="*/ 43 h 85"/>
                <a:gd name="T22" fmla="*/ 86 w 87"/>
                <a:gd name="T23" fmla="*/ 51 h 85"/>
                <a:gd name="T24" fmla="*/ 83 w 87"/>
                <a:gd name="T25" fmla="*/ 59 h 85"/>
                <a:gd name="T26" fmla="*/ 80 w 87"/>
                <a:gd name="T27" fmla="*/ 67 h 85"/>
                <a:gd name="T28" fmla="*/ 75 w 87"/>
                <a:gd name="T29" fmla="*/ 73 h 85"/>
                <a:gd name="T30" fmla="*/ 68 w 87"/>
                <a:gd name="T31" fmla="*/ 78 h 85"/>
                <a:gd name="T32" fmla="*/ 61 w 87"/>
                <a:gd name="T33" fmla="*/ 83 h 85"/>
                <a:gd name="T34" fmla="*/ 53 w 87"/>
                <a:gd name="T35" fmla="*/ 85 h 85"/>
                <a:gd name="T36" fmla="*/ 44 w 87"/>
                <a:gd name="T37" fmla="*/ 85 h 85"/>
                <a:gd name="T38" fmla="*/ 44 w 87"/>
                <a:gd name="T39" fmla="*/ 85 h 85"/>
                <a:gd name="T40" fmla="*/ 35 w 87"/>
                <a:gd name="T41" fmla="*/ 85 h 85"/>
                <a:gd name="T42" fmla="*/ 28 w 87"/>
                <a:gd name="T43" fmla="*/ 83 h 85"/>
                <a:gd name="T44" fmla="*/ 20 w 87"/>
                <a:gd name="T45" fmla="*/ 78 h 85"/>
                <a:gd name="T46" fmla="*/ 14 w 87"/>
                <a:gd name="T47" fmla="*/ 73 h 85"/>
                <a:gd name="T48" fmla="*/ 9 w 87"/>
                <a:gd name="T49" fmla="*/ 67 h 85"/>
                <a:gd name="T50" fmla="*/ 4 w 87"/>
                <a:gd name="T51" fmla="*/ 59 h 85"/>
                <a:gd name="T52" fmla="*/ 2 w 87"/>
                <a:gd name="T53" fmla="*/ 51 h 85"/>
                <a:gd name="T54" fmla="*/ 0 w 87"/>
                <a:gd name="T55" fmla="*/ 43 h 85"/>
                <a:gd name="T56" fmla="*/ 0 w 87"/>
                <a:gd name="T57" fmla="*/ 43 h 85"/>
                <a:gd name="T58" fmla="*/ 2 w 87"/>
                <a:gd name="T59" fmla="*/ 34 h 85"/>
                <a:gd name="T60" fmla="*/ 4 w 87"/>
                <a:gd name="T61" fmla="*/ 26 h 85"/>
                <a:gd name="T62" fmla="*/ 9 w 87"/>
                <a:gd name="T63" fmla="*/ 19 h 85"/>
                <a:gd name="T64" fmla="*/ 14 w 87"/>
                <a:gd name="T65" fmla="*/ 12 h 85"/>
                <a:gd name="T66" fmla="*/ 20 w 87"/>
                <a:gd name="T67" fmla="*/ 7 h 85"/>
                <a:gd name="T68" fmla="*/ 28 w 87"/>
                <a:gd name="T69" fmla="*/ 3 h 85"/>
                <a:gd name="T70" fmla="*/ 35 w 87"/>
                <a:gd name="T71" fmla="*/ 1 h 85"/>
                <a:gd name="T72" fmla="*/ 44 w 87"/>
                <a:gd name="T73" fmla="*/ 0 h 85"/>
                <a:gd name="T74" fmla="*/ 44 w 87"/>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7" h="85">
                  <a:moveTo>
                    <a:pt x="44" y="0"/>
                  </a:moveTo>
                  <a:lnTo>
                    <a:pt x="44" y="0"/>
                  </a:lnTo>
                  <a:lnTo>
                    <a:pt x="53" y="1"/>
                  </a:lnTo>
                  <a:lnTo>
                    <a:pt x="61" y="3"/>
                  </a:lnTo>
                  <a:lnTo>
                    <a:pt x="68" y="7"/>
                  </a:lnTo>
                  <a:lnTo>
                    <a:pt x="75" y="12"/>
                  </a:lnTo>
                  <a:lnTo>
                    <a:pt x="80" y="19"/>
                  </a:lnTo>
                  <a:lnTo>
                    <a:pt x="83" y="26"/>
                  </a:lnTo>
                  <a:lnTo>
                    <a:pt x="86" y="34"/>
                  </a:lnTo>
                  <a:lnTo>
                    <a:pt x="87" y="43"/>
                  </a:lnTo>
                  <a:lnTo>
                    <a:pt x="87" y="43"/>
                  </a:lnTo>
                  <a:lnTo>
                    <a:pt x="86" y="51"/>
                  </a:lnTo>
                  <a:lnTo>
                    <a:pt x="83" y="59"/>
                  </a:lnTo>
                  <a:lnTo>
                    <a:pt x="80" y="67"/>
                  </a:lnTo>
                  <a:lnTo>
                    <a:pt x="75" y="73"/>
                  </a:lnTo>
                  <a:lnTo>
                    <a:pt x="68" y="78"/>
                  </a:lnTo>
                  <a:lnTo>
                    <a:pt x="61" y="83"/>
                  </a:lnTo>
                  <a:lnTo>
                    <a:pt x="53" y="85"/>
                  </a:lnTo>
                  <a:lnTo>
                    <a:pt x="44" y="85"/>
                  </a:lnTo>
                  <a:lnTo>
                    <a:pt x="44" y="85"/>
                  </a:lnTo>
                  <a:lnTo>
                    <a:pt x="35" y="85"/>
                  </a:lnTo>
                  <a:lnTo>
                    <a:pt x="28" y="83"/>
                  </a:lnTo>
                  <a:lnTo>
                    <a:pt x="20" y="78"/>
                  </a:lnTo>
                  <a:lnTo>
                    <a:pt x="14" y="73"/>
                  </a:lnTo>
                  <a:lnTo>
                    <a:pt x="9" y="67"/>
                  </a:lnTo>
                  <a:lnTo>
                    <a:pt x="4" y="59"/>
                  </a:lnTo>
                  <a:lnTo>
                    <a:pt x="2" y="51"/>
                  </a:lnTo>
                  <a:lnTo>
                    <a:pt x="0" y="43"/>
                  </a:lnTo>
                  <a:lnTo>
                    <a:pt x="0" y="43"/>
                  </a:lnTo>
                  <a:lnTo>
                    <a:pt x="2" y="34"/>
                  </a:lnTo>
                  <a:lnTo>
                    <a:pt x="4" y="26"/>
                  </a:lnTo>
                  <a:lnTo>
                    <a:pt x="9" y="19"/>
                  </a:lnTo>
                  <a:lnTo>
                    <a:pt x="14" y="12"/>
                  </a:lnTo>
                  <a:lnTo>
                    <a:pt x="20" y="7"/>
                  </a:lnTo>
                  <a:lnTo>
                    <a:pt x="28" y="3"/>
                  </a:lnTo>
                  <a:lnTo>
                    <a:pt x="35" y="1"/>
                  </a:lnTo>
                  <a:lnTo>
                    <a:pt x="44" y="0"/>
                  </a:lnTo>
                  <a:lnTo>
                    <a:pt x="44" y="0"/>
                  </a:lnTo>
                  <a:close/>
                </a:path>
              </a:pathLst>
            </a:custGeom>
            <a:solidFill>
              <a:srgbClr val="984A9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107"/>
            <p:cNvSpPr>
              <a:spLocks/>
            </p:cNvSpPr>
            <p:nvPr userDrawn="1"/>
          </p:nvSpPr>
          <p:spPr bwMode="auto">
            <a:xfrm>
              <a:off x="4101" y="1173"/>
              <a:ext cx="43" cy="43"/>
            </a:xfrm>
            <a:custGeom>
              <a:avLst/>
              <a:gdLst>
                <a:gd name="T0" fmla="*/ 42 w 85"/>
                <a:gd name="T1" fmla="*/ 0 h 87"/>
                <a:gd name="T2" fmla="*/ 42 w 85"/>
                <a:gd name="T3" fmla="*/ 0 h 87"/>
                <a:gd name="T4" fmla="*/ 51 w 85"/>
                <a:gd name="T5" fmla="*/ 2 h 87"/>
                <a:gd name="T6" fmla="*/ 59 w 85"/>
                <a:gd name="T7" fmla="*/ 5 h 87"/>
                <a:gd name="T8" fmla="*/ 66 w 85"/>
                <a:gd name="T9" fmla="*/ 9 h 87"/>
                <a:gd name="T10" fmla="*/ 73 w 85"/>
                <a:gd name="T11" fmla="*/ 14 h 87"/>
                <a:gd name="T12" fmla="*/ 78 w 85"/>
                <a:gd name="T13" fmla="*/ 20 h 87"/>
                <a:gd name="T14" fmla="*/ 81 w 85"/>
                <a:gd name="T15" fmla="*/ 27 h 87"/>
                <a:gd name="T16" fmla="*/ 84 w 85"/>
                <a:gd name="T17" fmla="*/ 35 h 87"/>
                <a:gd name="T18" fmla="*/ 85 w 85"/>
                <a:gd name="T19" fmla="*/ 44 h 87"/>
                <a:gd name="T20" fmla="*/ 85 w 85"/>
                <a:gd name="T21" fmla="*/ 44 h 87"/>
                <a:gd name="T22" fmla="*/ 84 w 85"/>
                <a:gd name="T23" fmla="*/ 53 h 87"/>
                <a:gd name="T24" fmla="*/ 81 w 85"/>
                <a:gd name="T25" fmla="*/ 61 h 87"/>
                <a:gd name="T26" fmla="*/ 78 w 85"/>
                <a:gd name="T27" fmla="*/ 68 h 87"/>
                <a:gd name="T28" fmla="*/ 73 w 85"/>
                <a:gd name="T29" fmla="*/ 75 h 87"/>
                <a:gd name="T30" fmla="*/ 66 w 85"/>
                <a:gd name="T31" fmla="*/ 79 h 87"/>
                <a:gd name="T32" fmla="*/ 59 w 85"/>
                <a:gd name="T33" fmla="*/ 83 h 87"/>
                <a:gd name="T34" fmla="*/ 51 w 85"/>
                <a:gd name="T35" fmla="*/ 86 h 87"/>
                <a:gd name="T36" fmla="*/ 42 w 85"/>
                <a:gd name="T37" fmla="*/ 87 h 87"/>
                <a:gd name="T38" fmla="*/ 42 w 85"/>
                <a:gd name="T39" fmla="*/ 87 h 87"/>
                <a:gd name="T40" fmla="*/ 33 w 85"/>
                <a:gd name="T41" fmla="*/ 86 h 87"/>
                <a:gd name="T42" fmla="*/ 26 w 85"/>
                <a:gd name="T43" fmla="*/ 83 h 87"/>
                <a:gd name="T44" fmla="*/ 18 w 85"/>
                <a:gd name="T45" fmla="*/ 79 h 87"/>
                <a:gd name="T46" fmla="*/ 12 w 85"/>
                <a:gd name="T47" fmla="*/ 75 h 87"/>
                <a:gd name="T48" fmla="*/ 7 w 85"/>
                <a:gd name="T49" fmla="*/ 68 h 87"/>
                <a:gd name="T50" fmla="*/ 2 w 85"/>
                <a:gd name="T51" fmla="*/ 61 h 87"/>
                <a:gd name="T52" fmla="*/ 0 w 85"/>
                <a:gd name="T53" fmla="*/ 53 h 87"/>
                <a:gd name="T54" fmla="*/ 0 w 85"/>
                <a:gd name="T55" fmla="*/ 44 h 87"/>
                <a:gd name="T56" fmla="*/ 0 w 85"/>
                <a:gd name="T57" fmla="*/ 44 h 87"/>
                <a:gd name="T58" fmla="*/ 0 w 85"/>
                <a:gd name="T59" fmla="*/ 35 h 87"/>
                <a:gd name="T60" fmla="*/ 2 w 85"/>
                <a:gd name="T61" fmla="*/ 27 h 87"/>
                <a:gd name="T62" fmla="*/ 7 w 85"/>
                <a:gd name="T63" fmla="*/ 20 h 87"/>
                <a:gd name="T64" fmla="*/ 12 w 85"/>
                <a:gd name="T65" fmla="*/ 14 h 87"/>
                <a:gd name="T66" fmla="*/ 18 w 85"/>
                <a:gd name="T67" fmla="*/ 9 h 87"/>
                <a:gd name="T68" fmla="*/ 26 w 85"/>
                <a:gd name="T69" fmla="*/ 5 h 87"/>
                <a:gd name="T70" fmla="*/ 33 w 85"/>
                <a:gd name="T71" fmla="*/ 2 h 87"/>
                <a:gd name="T72" fmla="*/ 42 w 85"/>
                <a:gd name="T73" fmla="*/ 0 h 87"/>
                <a:gd name="T74" fmla="*/ 42 w 85"/>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0"/>
                  </a:moveTo>
                  <a:lnTo>
                    <a:pt x="42" y="0"/>
                  </a:lnTo>
                  <a:lnTo>
                    <a:pt x="51" y="2"/>
                  </a:lnTo>
                  <a:lnTo>
                    <a:pt x="59" y="5"/>
                  </a:lnTo>
                  <a:lnTo>
                    <a:pt x="66" y="9"/>
                  </a:lnTo>
                  <a:lnTo>
                    <a:pt x="73" y="14"/>
                  </a:lnTo>
                  <a:lnTo>
                    <a:pt x="78" y="20"/>
                  </a:lnTo>
                  <a:lnTo>
                    <a:pt x="81" y="27"/>
                  </a:lnTo>
                  <a:lnTo>
                    <a:pt x="84" y="35"/>
                  </a:lnTo>
                  <a:lnTo>
                    <a:pt x="85" y="44"/>
                  </a:lnTo>
                  <a:lnTo>
                    <a:pt x="85" y="44"/>
                  </a:lnTo>
                  <a:lnTo>
                    <a:pt x="84" y="53"/>
                  </a:lnTo>
                  <a:lnTo>
                    <a:pt x="81" y="61"/>
                  </a:lnTo>
                  <a:lnTo>
                    <a:pt x="78" y="68"/>
                  </a:lnTo>
                  <a:lnTo>
                    <a:pt x="73" y="75"/>
                  </a:lnTo>
                  <a:lnTo>
                    <a:pt x="66" y="79"/>
                  </a:lnTo>
                  <a:lnTo>
                    <a:pt x="59" y="83"/>
                  </a:lnTo>
                  <a:lnTo>
                    <a:pt x="51" y="86"/>
                  </a:lnTo>
                  <a:lnTo>
                    <a:pt x="42" y="87"/>
                  </a:lnTo>
                  <a:lnTo>
                    <a:pt x="42" y="87"/>
                  </a:lnTo>
                  <a:lnTo>
                    <a:pt x="33" y="86"/>
                  </a:lnTo>
                  <a:lnTo>
                    <a:pt x="26" y="83"/>
                  </a:lnTo>
                  <a:lnTo>
                    <a:pt x="18" y="79"/>
                  </a:lnTo>
                  <a:lnTo>
                    <a:pt x="12" y="75"/>
                  </a:lnTo>
                  <a:lnTo>
                    <a:pt x="7" y="68"/>
                  </a:lnTo>
                  <a:lnTo>
                    <a:pt x="2" y="61"/>
                  </a:lnTo>
                  <a:lnTo>
                    <a:pt x="0" y="53"/>
                  </a:lnTo>
                  <a:lnTo>
                    <a:pt x="0" y="44"/>
                  </a:lnTo>
                  <a:lnTo>
                    <a:pt x="0" y="44"/>
                  </a:lnTo>
                  <a:lnTo>
                    <a:pt x="0" y="35"/>
                  </a:lnTo>
                  <a:lnTo>
                    <a:pt x="2" y="27"/>
                  </a:lnTo>
                  <a:lnTo>
                    <a:pt x="7" y="20"/>
                  </a:lnTo>
                  <a:lnTo>
                    <a:pt x="12" y="14"/>
                  </a:lnTo>
                  <a:lnTo>
                    <a:pt x="18" y="9"/>
                  </a:lnTo>
                  <a:lnTo>
                    <a:pt x="26" y="5"/>
                  </a:lnTo>
                  <a:lnTo>
                    <a:pt x="33" y="2"/>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108"/>
            <p:cNvSpPr>
              <a:spLocks/>
            </p:cNvSpPr>
            <p:nvPr userDrawn="1"/>
          </p:nvSpPr>
          <p:spPr bwMode="auto">
            <a:xfrm>
              <a:off x="4101" y="1116"/>
              <a:ext cx="43" cy="44"/>
            </a:xfrm>
            <a:custGeom>
              <a:avLst/>
              <a:gdLst>
                <a:gd name="T0" fmla="*/ 42 w 85"/>
                <a:gd name="T1" fmla="*/ 0 h 86"/>
                <a:gd name="T2" fmla="*/ 42 w 85"/>
                <a:gd name="T3" fmla="*/ 0 h 86"/>
                <a:gd name="T4" fmla="*/ 51 w 85"/>
                <a:gd name="T5" fmla="*/ 1 h 86"/>
                <a:gd name="T6" fmla="*/ 59 w 85"/>
                <a:gd name="T7" fmla="*/ 4 h 86"/>
                <a:gd name="T8" fmla="*/ 66 w 85"/>
                <a:gd name="T9" fmla="*/ 8 h 86"/>
                <a:gd name="T10" fmla="*/ 73 w 85"/>
                <a:gd name="T11" fmla="*/ 12 h 86"/>
                <a:gd name="T12" fmla="*/ 78 w 85"/>
                <a:gd name="T13" fmla="*/ 19 h 86"/>
                <a:gd name="T14" fmla="*/ 81 w 85"/>
                <a:gd name="T15" fmla="*/ 26 h 86"/>
                <a:gd name="T16" fmla="*/ 84 w 85"/>
                <a:gd name="T17" fmla="*/ 34 h 86"/>
                <a:gd name="T18" fmla="*/ 85 w 85"/>
                <a:gd name="T19" fmla="*/ 44 h 86"/>
                <a:gd name="T20" fmla="*/ 85 w 85"/>
                <a:gd name="T21" fmla="*/ 44 h 86"/>
                <a:gd name="T22" fmla="*/ 84 w 85"/>
                <a:gd name="T23" fmla="*/ 52 h 86"/>
                <a:gd name="T24" fmla="*/ 81 w 85"/>
                <a:gd name="T25" fmla="*/ 60 h 86"/>
                <a:gd name="T26" fmla="*/ 78 w 85"/>
                <a:gd name="T27" fmla="*/ 67 h 86"/>
                <a:gd name="T28" fmla="*/ 73 w 85"/>
                <a:gd name="T29" fmla="*/ 74 h 86"/>
                <a:gd name="T30" fmla="*/ 66 w 85"/>
                <a:gd name="T31" fmla="*/ 78 h 86"/>
                <a:gd name="T32" fmla="*/ 59 w 85"/>
                <a:gd name="T33" fmla="*/ 82 h 86"/>
                <a:gd name="T34" fmla="*/ 51 w 85"/>
                <a:gd name="T35" fmla="*/ 85 h 86"/>
                <a:gd name="T36" fmla="*/ 42 w 85"/>
                <a:gd name="T37" fmla="*/ 86 h 86"/>
                <a:gd name="T38" fmla="*/ 42 w 85"/>
                <a:gd name="T39" fmla="*/ 86 h 86"/>
                <a:gd name="T40" fmla="*/ 33 w 85"/>
                <a:gd name="T41" fmla="*/ 85 h 86"/>
                <a:gd name="T42" fmla="*/ 26 w 85"/>
                <a:gd name="T43" fmla="*/ 82 h 86"/>
                <a:gd name="T44" fmla="*/ 18 w 85"/>
                <a:gd name="T45" fmla="*/ 78 h 86"/>
                <a:gd name="T46" fmla="*/ 12 w 85"/>
                <a:gd name="T47" fmla="*/ 74 h 86"/>
                <a:gd name="T48" fmla="*/ 7 w 85"/>
                <a:gd name="T49" fmla="*/ 67 h 86"/>
                <a:gd name="T50" fmla="*/ 2 w 85"/>
                <a:gd name="T51" fmla="*/ 60 h 86"/>
                <a:gd name="T52" fmla="*/ 0 w 85"/>
                <a:gd name="T53" fmla="*/ 52 h 86"/>
                <a:gd name="T54" fmla="*/ 0 w 85"/>
                <a:gd name="T55" fmla="*/ 44 h 86"/>
                <a:gd name="T56" fmla="*/ 0 w 85"/>
                <a:gd name="T57" fmla="*/ 44 h 86"/>
                <a:gd name="T58" fmla="*/ 0 w 85"/>
                <a:gd name="T59" fmla="*/ 34 h 86"/>
                <a:gd name="T60" fmla="*/ 2 w 85"/>
                <a:gd name="T61" fmla="*/ 26 h 86"/>
                <a:gd name="T62" fmla="*/ 7 w 85"/>
                <a:gd name="T63" fmla="*/ 19 h 86"/>
                <a:gd name="T64" fmla="*/ 12 w 85"/>
                <a:gd name="T65" fmla="*/ 12 h 86"/>
                <a:gd name="T66" fmla="*/ 18 w 85"/>
                <a:gd name="T67" fmla="*/ 8 h 86"/>
                <a:gd name="T68" fmla="*/ 26 w 85"/>
                <a:gd name="T69" fmla="*/ 4 h 86"/>
                <a:gd name="T70" fmla="*/ 33 w 85"/>
                <a:gd name="T71" fmla="*/ 1 h 86"/>
                <a:gd name="T72" fmla="*/ 42 w 85"/>
                <a:gd name="T73" fmla="*/ 0 h 86"/>
                <a:gd name="T74" fmla="*/ 42 w 85"/>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0"/>
                  </a:moveTo>
                  <a:lnTo>
                    <a:pt x="42" y="0"/>
                  </a:lnTo>
                  <a:lnTo>
                    <a:pt x="51" y="1"/>
                  </a:lnTo>
                  <a:lnTo>
                    <a:pt x="59" y="4"/>
                  </a:lnTo>
                  <a:lnTo>
                    <a:pt x="66" y="8"/>
                  </a:lnTo>
                  <a:lnTo>
                    <a:pt x="73" y="12"/>
                  </a:lnTo>
                  <a:lnTo>
                    <a:pt x="78" y="19"/>
                  </a:lnTo>
                  <a:lnTo>
                    <a:pt x="81" y="26"/>
                  </a:lnTo>
                  <a:lnTo>
                    <a:pt x="84" y="34"/>
                  </a:lnTo>
                  <a:lnTo>
                    <a:pt x="85" y="44"/>
                  </a:lnTo>
                  <a:lnTo>
                    <a:pt x="85" y="44"/>
                  </a:lnTo>
                  <a:lnTo>
                    <a:pt x="84" y="52"/>
                  </a:lnTo>
                  <a:lnTo>
                    <a:pt x="81" y="60"/>
                  </a:lnTo>
                  <a:lnTo>
                    <a:pt x="78" y="67"/>
                  </a:lnTo>
                  <a:lnTo>
                    <a:pt x="73" y="74"/>
                  </a:lnTo>
                  <a:lnTo>
                    <a:pt x="66" y="78"/>
                  </a:lnTo>
                  <a:lnTo>
                    <a:pt x="59" y="82"/>
                  </a:lnTo>
                  <a:lnTo>
                    <a:pt x="51" y="85"/>
                  </a:lnTo>
                  <a:lnTo>
                    <a:pt x="42" y="86"/>
                  </a:lnTo>
                  <a:lnTo>
                    <a:pt x="42" y="86"/>
                  </a:lnTo>
                  <a:lnTo>
                    <a:pt x="33" y="85"/>
                  </a:lnTo>
                  <a:lnTo>
                    <a:pt x="26" y="82"/>
                  </a:lnTo>
                  <a:lnTo>
                    <a:pt x="18" y="78"/>
                  </a:lnTo>
                  <a:lnTo>
                    <a:pt x="12" y="74"/>
                  </a:lnTo>
                  <a:lnTo>
                    <a:pt x="7" y="67"/>
                  </a:lnTo>
                  <a:lnTo>
                    <a:pt x="2" y="60"/>
                  </a:lnTo>
                  <a:lnTo>
                    <a:pt x="0" y="52"/>
                  </a:lnTo>
                  <a:lnTo>
                    <a:pt x="0" y="44"/>
                  </a:lnTo>
                  <a:lnTo>
                    <a:pt x="0" y="44"/>
                  </a:lnTo>
                  <a:lnTo>
                    <a:pt x="0" y="34"/>
                  </a:lnTo>
                  <a:lnTo>
                    <a:pt x="2" y="26"/>
                  </a:lnTo>
                  <a:lnTo>
                    <a:pt x="7" y="19"/>
                  </a:lnTo>
                  <a:lnTo>
                    <a:pt x="12" y="12"/>
                  </a:lnTo>
                  <a:lnTo>
                    <a:pt x="18" y="8"/>
                  </a:lnTo>
                  <a:lnTo>
                    <a:pt x="26" y="4"/>
                  </a:lnTo>
                  <a:lnTo>
                    <a:pt x="33" y="1"/>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109"/>
            <p:cNvSpPr>
              <a:spLocks/>
            </p:cNvSpPr>
            <p:nvPr userDrawn="1"/>
          </p:nvSpPr>
          <p:spPr bwMode="auto">
            <a:xfrm>
              <a:off x="4101" y="1060"/>
              <a:ext cx="43" cy="43"/>
            </a:xfrm>
            <a:custGeom>
              <a:avLst/>
              <a:gdLst>
                <a:gd name="T0" fmla="*/ 42 w 85"/>
                <a:gd name="T1" fmla="*/ 0 h 87"/>
                <a:gd name="T2" fmla="*/ 42 w 85"/>
                <a:gd name="T3" fmla="*/ 0 h 87"/>
                <a:gd name="T4" fmla="*/ 51 w 85"/>
                <a:gd name="T5" fmla="*/ 1 h 87"/>
                <a:gd name="T6" fmla="*/ 59 w 85"/>
                <a:gd name="T7" fmla="*/ 4 h 87"/>
                <a:gd name="T8" fmla="*/ 66 w 85"/>
                <a:gd name="T9" fmla="*/ 8 h 87"/>
                <a:gd name="T10" fmla="*/ 73 w 85"/>
                <a:gd name="T11" fmla="*/ 12 h 87"/>
                <a:gd name="T12" fmla="*/ 78 w 85"/>
                <a:gd name="T13" fmla="*/ 19 h 87"/>
                <a:gd name="T14" fmla="*/ 81 w 85"/>
                <a:gd name="T15" fmla="*/ 26 h 87"/>
                <a:gd name="T16" fmla="*/ 84 w 85"/>
                <a:gd name="T17" fmla="*/ 34 h 87"/>
                <a:gd name="T18" fmla="*/ 85 w 85"/>
                <a:gd name="T19" fmla="*/ 43 h 87"/>
                <a:gd name="T20" fmla="*/ 85 w 85"/>
                <a:gd name="T21" fmla="*/ 43 h 87"/>
                <a:gd name="T22" fmla="*/ 84 w 85"/>
                <a:gd name="T23" fmla="*/ 52 h 87"/>
                <a:gd name="T24" fmla="*/ 81 w 85"/>
                <a:gd name="T25" fmla="*/ 61 h 87"/>
                <a:gd name="T26" fmla="*/ 78 w 85"/>
                <a:gd name="T27" fmla="*/ 67 h 87"/>
                <a:gd name="T28" fmla="*/ 73 w 85"/>
                <a:gd name="T29" fmla="*/ 73 h 87"/>
                <a:gd name="T30" fmla="*/ 66 w 85"/>
                <a:gd name="T31" fmla="*/ 78 h 87"/>
                <a:gd name="T32" fmla="*/ 59 w 85"/>
                <a:gd name="T33" fmla="*/ 83 h 87"/>
                <a:gd name="T34" fmla="*/ 51 w 85"/>
                <a:gd name="T35" fmla="*/ 85 h 87"/>
                <a:gd name="T36" fmla="*/ 42 w 85"/>
                <a:gd name="T37" fmla="*/ 87 h 87"/>
                <a:gd name="T38" fmla="*/ 42 w 85"/>
                <a:gd name="T39" fmla="*/ 87 h 87"/>
                <a:gd name="T40" fmla="*/ 33 w 85"/>
                <a:gd name="T41" fmla="*/ 85 h 87"/>
                <a:gd name="T42" fmla="*/ 26 w 85"/>
                <a:gd name="T43" fmla="*/ 83 h 87"/>
                <a:gd name="T44" fmla="*/ 18 w 85"/>
                <a:gd name="T45" fmla="*/ 78 h 87"/>
                <a:gd name="T46" fmla="*/ 12 w 85"/>
                <a:gd name="T47" fmla="*/ 73 h 87"/>
                <a:gd name="T48" fmla="*/ 7 w 85"/>
                <a:gd name="T49" fmla="*/ 67 h 87"/>
                <a:gd name="T50" fmla="*/ 2 w 85"/>
                <a:gd name="T51" fmla="*/ 61 h 87"/>
                <a:gd name="T52" fmla="*/ 0 w 85"/>
                <a:gd name="T53" fmla="*/ 52 h 87"/>
                <a:gd name="T54" fmla="*/ 0 w 85"/>
                <a:gd name="T55" fmla="*/ 43 h 87"/>
                <a:gd name="T56" fmla="*/ 0 w 85"/>
                <a:gd name="T57" fmla="*/ 43 h 87"/>
                <a:gd name="T58" fmla="*/ 0 w 85"/>
                <a:gd name="T59" fmla="*/ 34 h 87"/>
                <a:gd name="T60" fmla="*/ 2 w 85"/>
                <a:gd name="T61" fmla="*/ 26 h 87"/>
                <a:gd name="T62" fmla="*/ 7 w 85"/>
                <a:gd name="T63" fmla="*/ 19 h 87"/>
                <a:gd name="T64" fmla="*/ 12 w 85"/>
                <a:gd name="T65" fmla="*/ 12 h 87"/>
                <a:gd name="T66" fmla="*/ 18 w 85"/>
                <a:gd name="T67" fmla="*/ 8 h 87"/>
                <a:gd name="T68" fmla="*/ 26 w 85"/>
                <a:gd name="T69" fmla="*/ 4 h 87"/>
                <a:gd name="T70" fmla="*/ 33 w 85"/>
                <a:gd name="T71" fmla="*/ 1 h 87"/>
                <a:gd name="T72" fmla="*/ 42 w 85"/>
                <a:gd name="T73" fmla="*/ 0 h 87"/>
                <a:gd name="T74" fmla="*/ 42 w 85"/>
                <a:gd name="T75"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0"/>
                  </a:moveTo>
                  <a:lnTo>
                    <a:pt x="42" y="0"/>
                  </a:lnTo>
                  <a:lnTo>
                    <a:pt x="51" y="1"/>
                  </a:lnTo>
                  <a:lnTo>
                    <a:pt x="59" y="4"/>
                  </a:lnTo>
                  <a:lnTo>
                    <a:pt x="66" y="8"/>
                  </a:lnTo>
                  <a:lnTo>
                    <a:pt x="73" y="12"/>
                  </a:lnTo>
                  <a:lnTo>
                    <a:pt x="78" y="19"/>
                  </a:lnTo>
                  <a:lnTo>
                    <a:pt x="81" y="26"/>
                  </a:lnTo>
                  <a:lnTo>
                    <a:pt x="84" y="34"/>
                  </a:lnTo>
                  <a:lnTo>
                    <a:pt x="85" y="43"/>
                  </a:lnTo>
                  <a:lnTo>
                    <a:pt x="85" y="43"/>
                  </a:lnTo>
                  <a:lnTo>
                    <a:pt x="84" y="52"/>
                  </a:lnTo>
                  <a:lnTo>
                    <a:pt x="81" y="61"/>
                  </a:lnTo>
                  <a:lnTo>
                    <a:pt x="78" y="67"/>
                  </a:lnTo>
                  <a:lnTo>
                    <a:pt x="73" y="73"/>
                  </a:lnTo>
                  <a:lnTo>
                    <a:pt x="66" y="78"/>
                  </a:lnTo>
                  <a:lnTo>
                    <a:pt x="59" y="83"/>
                  </a:lnTo>
                  <a:lnTo>
                    <a:pt x="51" y="85"/>
                  </a:lnTo>
                  <a:lnTo>
                    <a:pt x="42" y="87"/>
                  </a:lnTo>
                  <a:lnTo>
                    <a:pt x="42" y="87"/>
                  </a:lnTo>
                  <a:lnTo>
                    <a:pt x="33" y="85"/>
                  </a:lnTo>
                  <a:lnTo>
                    <a:pt x="26" y="83"/>
                  </a:lnTo>
                  <a:lnTo>
                    <a:pt x="18" y="78"/>
                  </a:lnTo>
                  <a:lnTo>
                    <a:pt x="12" y="73"/>
                  </a:lnTo>
                  <a:lnTo>
                    <a:pt x="7" y="67"/>
                  </a:lnTo>
                  <a:lnTo>
                    <a:pt x="2" y="61"/>
                  </a:lnTo>
                  <a:lnTo>
                    <a:pt x="0" y="52"/>
                  </a:lnTo>
                  <a:lnTo>
                    <a:pt x="0" y="43"/>
                  </a:lnTo>
                  <a:lnTo>
                    <a:pt x="0" y="43"/>
                  </a:lnTo>
                  <a:lnTo>
                    <a:pt x="0" y="34"/>
                  </a:lnTo>
                  <a:lnTo>
                    <a:pt x="2" y="26"/>
                  </a:lnTo>
                  <a:lnTo>
                    <a:pt x="7" y="19"/>
                  </a:lnTo>
                  <a:lnTo>
                    <a:pt x="12" y="12"/>
                  </a:lnTo>
                  <a:lnTo>
                    <a:pt x="18" y="8"/>
                  </a:lnTo>
                  <a:lnTo>
                    <a:pt x="26" y="4"/>
                  </a:lnTo>
                  <a:lnTo>
                    <a:pt x="33" y="1"/>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110"/>
            <p:cNvSpPr>
              <a:spLocks/>
            </p:cNvSpPr>
            <p:nvPr userDrawn="1"/>
          </p:nvSpPr>
          <p:spPr bwMode="auto">
            <a:xfrm>
              <a:off x="4101" y="1004"/>
              <a:ext cx="43" cy="42"/>
            </a:xfrm>
            <a:custGeom>
              <a:avLst/>
              <a:gdLst>
                <a:gd name="T0" fmla="*/ 42 w 85"/>
                <a:gd name="T1" fmla="*/ 0 h 86"/>
                <a:gd name="T2" fmla="*/ 42 w 85"/>
                <a:gd name="T3" fmla="*/ 0 h 86"/>
                <a:gd name="T4" fmla="*/ 51 w 85"/>
                <a:gd name="T5" fmla="*/ 2 h 86"/>
                <a:gd name="T6" fmla="*/ 59 w 85"/>
                <a:gd name="T7" fmla="*/ 5 h 86"/>
                <a:gd name="T8" fmla="*/ 66 w 85"/>
                <a:gd name="T9" fmla="*/ 7 h 86"/>
                <a:gd name="T10" fmla="*/ 73 w 85"/>
                <a:gd name="T11" fmla="*/ 13 h 86"/>
                <a:gd name="T12" fmla="*/ 78 w 85"/>
                <a:gd name="T13" fmla="*/ 20 h 86"/>
                <a:gd name="T14" fmla="*/ 81 w 85"/>
                <a:gd name="T15" fmla="*/ 27 h 86"/>
                <a:gd name="T16" fmla="*/ 84 w 85"/>
                <a:gd name="T17" fmla="*/ 35 h 86"/>
                <a:gd name="T18" fmla="*/ 85 w 85"/>
                <a:gd name="T19" fmla="*/ 43 h 86"/>
                <a:gd name="T20" fmla="*/ 85 w 85"/>
                <a:gd name="T21" fmla="*/ 43 h 86"/>
                <a:gd name="T22" fmla="*/ 84 w 85"/>
                <a:gd name="T23" fmla="*/ 53 h 86"/>
                <a:gd name="T24" fmla="*/ 81 w 85"/>
                <a:gd name="T25" fmla="*/ 59 h 86"/>
                <a:gd name="T26" fmla="*/ 78 w 85"/>
                <a:gd name="T27" fmla="*/ 68 h 86"/>
                <a:gd name="T28" fmla="*/ 73 w 85"/>
                <a:gd name="T29" fmla="*/ 73 h 86"/>
                <a:gd name="T30" fmla="*/ 66 w 85"/>
                <a:gd name="T31" fmla="*/ 79 h 86"/>
                <a:gd name="T32" fmla="*/ 59 w 85"/>
                <a:gd name="T33" fmla="*/ 83 h 86"/>
                <a:gd name="T34" fmla="*/ 51 w 85"/>
                <a:gd name="T35" fmla="*/ 86 h 86"/>
                <a:gd name="T36" fmla="*/ 42 w 85"/>
                <a:gd name="T37" fmla="*/ 86 h 86"/>
                <a:gd name="T38" fmla="*/ 42 w 85"/>
                <a:gd name="T39" fmla="*/ 86 h 86"/>
                <a:gd name="T40" fmla="*/ 33 w 85"/>
                <a:gd name="T41" fmla="*/ 86 h 86"/>
                <a:gd name="T42" fmla="*/ 26 w 85"/>
                <a:gd name="T43" fmla="*/ 83 h 86"/>
                <a:gd name="T44" fmla="*/ 18 w 85"/>
                <a:gd name="T45" fmla="*/ 79 h 86"/>
                <a:gd name="T46" fmla="*/ 12 w 85"/>
                <a:gd name="T47" fmla="*/ 73 h 86"/>
                <a:gd name="T48" fmla="*/ 7 w 85"/>
                <a:gd name="T49" fmla="*/ 68 h 86"/>
                <a:gd name="T50" fmla="*/ 2 w 85"/>
                <a:gd name="T51" fmla="*/ 59 h 86"/>
                <a:gd name="T52" fmla="*/ 0 w 85"/>
                <a:gd name="T53" fmla="*/ 53 h 86"/>
                <a:gd name="T54" fmla="*/ 0 w 85"/>
                <a:gd name="T55" fmla="*/ 43 h 86"/>
                <a:gd name="T56" fmla="*/ 0 w 85"/>
                <a:gd name="T57" fmla="*/ 43 h 86"/>
                <a:gd name="T58" fmla="*/ 0 w 85"/>
                <a:gd name="T59" fmla="*/ 35 h 86"/>
                <a:gd name="T60" fmla="*/ 2 w 85"/>
                <a:gd name="T61" fmla="*/ 27 h 86"/>
                <a:gd name="T62" fmla="*/ 7 w 85"/>
                <a:gd name="T63" fmla="*/ 20 h 86"/>
                <a:gd name="T64" fmla="*/ 12 w 85"/>
                <a:gd name="T65" fmla="*/ 13 h 86"/>
                <a:gd name="T66" fmla="*/ 18 w 85"/>
                <a:gd name="T67" fmla="*/ 7 h 86"/>
                <a:gd name="T68" fmla="*/ 26 w 85"/>
                <a:gd name="T69" fmla="*/ 5 h 86"/>
                <a:gd name="T70" fmla="*/ 33 w 85"/>
                <a:gd name="T71" fmla="*/ 2 h 86"/>
                <a:gd name="T72" fmla="*/ 42 w 85"/>
                <a:gd name="T73" fmla="*/ 0 h 86"/>
                <a:gd name="T74" fmla="*/ 42 w 85"/>
                <a:gd name="T7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6">
                  <a:moveTo>
                    <a:pt x="42" y="0"/>
                  </a:moveTo>
                  <a:lnTo>
                    <a:pt x="42" y="0"/>
                  </a:lnTo>
                  <a:lnTo>
                    <a:pt x="51" y="2"/>
                  </a:lnTo>
                  <a:lnTo>
                    <a:pt x="59" y="5"/>
                  </a:lnTo>
                  <a:lnTo>
                    <a:pt x="66" y="7"/>
                  </a:lnTo>
                  <a:lnTo>
                    <a:pt x="73" y="13"/>
                  </a:lnTo>
                  <a:lnTo>
                    <a:pt x="78" y="20"/>
                  </a:lnTo>
                  <a:lnTo>
                    <a:pt x="81" y="27"/>
                  </a:lnTo>
                  <a:lnTo>
                    <a:pt x="84" y="35"/>
                  </a:lnTo>
                  <a:lnTo>
                    <a:pt x="85" y="43"/>
                  </a:lnTo>
                  <a:lnTo>
                    <a:pt x="85" y="43"/>
                  </a:lnTo>
                  <a:lnTo>
                    <a:pt x="84" y="53"/>
                  </a:lnTo>
                  <a:lnTo>
                    <a:pt x="81" y="59"/>
                  </a:lnTo>
                  <a:lnTo>
                    <a:pt x="78" y="68"/>
                  </a:lnTo>
                  <a:lnTo>
                    <a:pt x="73" y="73"/>
                  </a:lnTo>
                  <a:lnTo>
                    <a:pt x="66" y="79"/>
                  </a:lnTo>
                  <a:lnTo>
                    <a:pt x="59" y="83"/>
                  </a:lnTo>
                  <a:lnTo>
                    <a:pt x="51" y="86"/>
                  </a:lnTo>
                  <a:lnTo>
                    <a:pt x="42" y="86"/>
                  </a:lnTo>
                  <a:lnTo>
                    <a:pt x="42" y="86"/>
                  </a:lnTo>
                  <a:lnTo>
                    <a:pt x="33" y="86"/>
                  </a:lnTo>
                  <a:lnTo>
                    <a:pt x="26" y="83"/>
                  </a:lnTo>
                  <a:lnTo>
                    <a:pt x="18" y="79"/>
                  </a:lnTo>
                  <a:lnTo>
                    <a:pt x="12" y="73"/>
                  </a:lnTo>
                  <a:lnTo>
                    <a:pt x="7" y="68"/>
                  </a:lnTo>
                  <a:lnTo>
                    <a:pt x="2" y="59"/>
                  </a:lnTo>
                  <a:lnTo>
                    <a:pt x="0" y="53"/>
                  </a:lnTo>
                  <a:lnTo>
                    <a:pt x="0" y="43"/>
                  </a:lnTo>
                  <a:lnTo>
                    <a:pt x="0" y="43"/>
                  </a:lnTo>
                  <a:lnTo>
                    <a:pt x="0" y="35"/>
                  </a:lnTo>
                  <a:lnTo>
                    <a:pt x="2" y="27"/>
                  </a:lnTo>
                  <a:lnTo>
                    <a:pt x="7" y="20"/>
                  </a:lnTo>
                  <a:lnTo>
                    <a:pt x="12" y="13"/>
                  </a:lnTo>
                  <a:lnTo>
                    <a:pt x="18" y="7"/>
                  </a:lnTo>
                  <a:lnTo>
                    <a:pt x="26" y="5"/>
                  </a:lnTo>
                  <a:lnTo>
                    <a:pt x="33" y="2"/>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111"/>
            <p:cNvSpPr>
              <a:spLocks/>
            </p:cNvSpPr>
            <p:nvPr userDrawn="1"/>
          </p:nvSpPr>
          <p:spPr bwMode="auto">
            <a:xfrm>
              <a:off x="4101" y="947"/>
              <a:ext cx="43" cy="43"/>
            </a:xfrm>
            <a:custGeom>
              <a:avLst/>
              <a:gdLst>
                <a:gd name="T0" fmla="*/ 42 w 85"/>
                <a:gd name="T1" fmla="*/ 0 h 85"/>
                <a:gd name="T2" fmla="*/ 42 w 85"/>
                <a:gd name="T3" fmla="*/ 0 h 85"/>
                <a:gd name="T4" fmla="*/ 51 w 85"/>
                <a:gd name="T5" fmla="*/ 1 h 85"/>
                <a:gd name="T6" fmla="*/ 59 w 85"/>
                <a:gd name="T7" fmla="*/ 2 h 85"/>
                <a:gd name="T8" fmla="*/ 66 w 85"/>
                <a:gd name="T9" fmla="*/ 7 h 85"/>
                <a:gd name="T10" fmla="*/ 73 w 85"/>
                <a:gd name="T11" fmla="*/ 12 h 85"/>
                <a:gd name="T12" fmla="*/ 78 w 85"/>
                <a:gd name="T13" fmla="*/ 19 h 85"/>
                <a:gd name="T14" fmla="*/ 81 w 85"/>
                <a:gd name="T15" fmla="*/ 26 h 85"/>
                <a:gd name="T16" fmla="*/ 84 w 85"/>
                <a:gd name="T17" fmla="*/ 34 h 85"/>
                <a:gd name="T18" fmla="*/ 85 w 85"/>
                <a:gd name="T19" fmla="*/ 42 h 85"/>
                <a:gd name="T20" fmla="*/ 85 w 85"/>
                <a:gd name="T21" fmla="*/ 42 h 85"/>
                <a:gd name="T22" fmla="*/ 84 w 85"/>
                <a:gd name="T23" fmla="*/ 51 h 85"/>
                <a:gd name="T24" fmla="*/ 81 w 85"/>
                <a:gd name="T25" fmla="*/ 59 h 85"/>
                <a:gd name="T26" fmla="*/ 78 w 85"/>
                <a:gd name="T27" fmla="*/ 67 h 85"/>
                <a:gd name="T28" fmla="*/ 73 w 85"/>
                <a:gd name="T29" fmla="*/ 73 h 85"/>
                <a:gd name="T30" fmla="*/ 66 w 85"/>
                <a:gd name="T31" fmla="*/ 78 h 85"/>
                <a:gd name="T32" fmla="*/ 59 w 85"/>
                <a:gd name="T33" fmla="*/ 82 h 85"/>
                <a:gd name="T34" fmla="*/ 51 w 85"/>
                <a:gd name="T35" fmla="*/ 85 h 85"/>
                <a:gd name="T36" fmla="*/ 42 w 85"/>
                <a:gd name="T37" fmla="*/ 85 h 85"/>
                <a:gd name="T38" fmla="*/ 42 w 85"/>
                <a:gd name="T39" fmla="*/ 85 h 85"/>
                <a:gd name="T40" fmla="*/ 33 w 85"/>
                <a:gd name="T41" fmla="*/ 85 h 85"/>
                <a:gd name="T42" fmla="*/ 26 w 85"/>
                <a:gd name="T43" fmla="*/ 82 h 85"/>
                <a:gd name="T44" fmla="*/ 18 w 85"/>
                <a:gd name="T45" fmla="*/ 78 h 85"/>
                <a:gd name="T46" fmla="*/ 12 w 85"/>
                <a:gd name="T47" fmla="*/ 73 h 85"/>
                <a:gd name="T48" fmla="*/ 7 w 85"/>
                <a:gd name="T49" fmla="*/ 67 h 85"/>
                <a:gd name="T50" fmla="*/ 2 w 85"/>
                <a:gd name="T51" fmla="*/ 59 h 85"/>
                <a:gd name="T52" fmla="*/ 0 w 85"/>
                <a:gd name="T53" fmla="*/ 51 h 85"/>
                <a:gd name="T54" fmla="*/ 0 w 85"/>
                <a:gd name="T55" fmla="*/ 42 h 85"/>
                <a:gd name="T56" fmla="*/ 0 w 85"/>
                <a:gd name="T57" fmla="*/ 42 h 85"/>
                <a:gd name="T58" fmla="*/ 0 w 85"/>
                <a:gd name="T59" fmla="*/ 34 h 85"/>
                <a:gd name="T60" fmla="*/ 2 w 85"/>
                <a:gd name="T61" fmla="*/ 26 h 85"/>
                <a:gd name="T62" fmla="*/ 7 w 85"/>
                <a:gd name="T63" fmla="*/ 19 h 85"/>
                <a:gd name="T64" fmla="*/ 12 w 85"/>
                <a:gd name="T65" fmla="*/ 12 h 85"/>
                <a:gd name="T66" fmla="*/ 18 w 85"/>
                <a:gd name="T67" fmla="*/ 7 h 85"/>
                <a:gd name="T68" fmla="*/ 26 w 85"/>
                <a:gd name="T69" fmla="*/ 2 h 85"/>
                <a:gd name="T70" fmla="*/ 33 w 85"/>
                <a:gd name="T71" fmla="*/ 1 h 85"/>
                <a:gd name="T72" fmla="*/ 42 w 85"/>
                <a:gd name="T73" fmla="*/ 0 h 85"/>
                <a:gd name="T74" fmla="*/ 42 w 85"/>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0"/>
                  </a:moveTo>
                  <a:lnTo>
                    <a:pt x="42" y="0"/>
                  </a:lnTo>
                  <a:lnTo>
                    <a:pt x="51" y="1"/>
                  </a:lnTo>
                  <a:lnTo>
                    <a:pt x="59" y="2"/>
                  </a:lnTo>
                  <a:lnTo>
                    <a:pt x="66" y="7"/>
                  </a:lnTo>
                  <a:lnTo>
                    <a:pt x="73" y="12"/>
                  </a:lnTo>
                  <a:lnTo>
                    <a:pt x="78" y="19"/>
                  </a:lnTo>
                  <a:lnTo>
                    <a:pt x="81" y="26"/>
                  </a:lnTo>
                  <a:lnTo>
                    <a:pt x="84" y="34"/>
                  </a:lnTo>
                  <a:lnTo>
                    <a:pt x="85" y="42"/>
                  </a:lnTo>
                  <a:lnTo>
                    <a:pt x="85" y="42"/>
                  </a:lnTo>
                  <a:lnTo>
                    <a:pt x="84" y="51"/>
                  </a:lnTo>
                  <a:lnTo>
                    <a:pt x="81" y="59"/>
                  </a:lnTo>
                  <a:lnTo>
                    <a:pt x="78" y="67"/>
                  </a:lnTo>
                  <a:lnTo>
                    <a:pt x="73" y="73"/>
                  </a:lnTo>
                  <a:lnTo>
                    <a:pt x="66" y="78"/>
                  </a:lnTo>
                  <a:lnTo>
                    <a:pt x="59" y="82"/>
                  </a:lnTo>
                  <a:lnTo>
                    <a:pt x="51" y="85"/>
                  </a:lnTo>
                  <a:lnTo>
                    <a:pt x="42" y="85"/>
                  </a:lnTo>
                  <a:lnTo>
                    <a:pt x="42" y="85"/>
                  </a:lnTo>
                  <a:lnTo>
                    <a:pt x="33" y="85"/>
                  </a:lnTo>
                  <a:lnTo>
                    <a:pt x="26" y="82"/>
                  </a:lnTo>
                  <a:lnTo>
                    <a:pt x="18" y="78"/>
                  </a:lnTo>
                  <a:lnTo>
                    <a:pt x="12" y="73"/>
                  </a:lnTo>
                  <a:lnTo>
                    <a:pt x="7" y="67"/>
                  </a:lnTo>
                  <a:lnTo>
                    <a:pt x="2" y="59"/>
                  </a:lnTo>
                  <a:lnTo>
                    <a:pt x="0" y="51"/>
                  </a:lnTo>
                  <a:lnTo>
                    <a:pt x="0" y="42"/>
                  </a:lnTo>
                  <a:lnTo>
                    <a:pt x="0" y="42"/>
                  </a:lnTo>
                  <a:lnTo>
                    <a:pt x="0" y="34"/>
                  </a:lnTo>
                  <a:lnTo>
                    <a:pt x="2" y="26"/>
                  </a:lnTo>
                  <a:lnTo>
                    <a:pt x="7" y="19"/>
                  </a:lnTo>
                  <a:lnTo>
                    <a:pt x="12" y="12"/>
                  </a:lnTo>
                  <a:lnTo>
                    <a:pt x="18" y="7"/>
                  </a:lnTo>
                  <a:lnTo>
                    <a:pt x="26" y="2"/>
                  </a:lnTo>
                  <a:lnTo>
                    <a:pt x="33" y="1"/>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112"/>
            <p:cNvSpPr>
              <a:spLocks/>
            </p:cNvSpPr>
            <p:nvPr userDrawn="1"/>
          </p:nvSpPr>
          <p:spPr bwMode="auto">
            <a:xfrm>
              <a:off x="4101" y="891"/>
              <a:ext cx="43" cy="43"/>
            </a:xfrm>
            <a:custGeom>
              <a:avLst/>
              <a:gdLst>
                <a:gd name="T0" fmla="*/ 42 w 85"/>
                <a:gd name="T1" fmla="*/ 0 h 85"/>
                <a:gd name="T2" fmla="*/ 42 w 85"/>
                <a:gd name="T3" fmla="*/ 0 h 85"/>
                <a:gd name="T4" fmla="*/ 51 w 85"/>
                <a:gd name="T5" fmla="*/ 1 h 85"/>
                <a:gd name="T6" fmla="*/ 59 w 85"/>
                <a:gd name="T7" fmla="*/ 3 h 85"/>
                <a:gd name="T8" fmla="*/ 66 w 85"/>
                <a:gd name="T9" fmla="*/ 7 h 85"/>
                <a:gd name="T10" fmla="*/ 73 w 85"/>
                <a:gd name="T11" fmla="*/ 12 h 85"/>
                <a:gd name="T12" fmla="*/ 78 w 85"/>
                <a:gd name="T13" fmla="*/ 19 h 85"/>
                <a:gd name="T14" fmla="*/ 81 w 85"/>
                <a:gd name="T15" fmla="*/ 26 h 85"/>
                <a:gd name="T16" fmla="*/ 84 w 85"/>
                <a:gd name="T17" fmla="*/ 34 h 85"/>
                <a:gd name="T18" fmla="*/ 85 w 85"/>
                <a:gd name="T19" fmla="*/ 43 h 85"/>
                <a:gd name="T20" fmla="*/ 85 w 85"/>
                <a:gd name="T21" fmla="*/ 43 h 85"/>
                <a:gd name="T22" fmla="*/ 84 w 85"/>
                <a:gd name="T23" fmla="*/ 51 h 85"/>
                <a:gd name="T24" fmla="*/ 81 w 85"/>
                <a:gd name="T25" fmla="*/ 59 h 85"/>
                <a:gd name="T26" fmla="*/ 78 w 85"/>
                <a:gd name="T27" fmla="*/ 67 h 85"/>
                <a:gd name="T28" fmla="*/ 73 w 85"/>
                <a:gd name="T29" fmla="*/ 73 h 85"/>
                <a:gd name="T30" fmla="*/ 66 w 85"/>
                <a:gd name="T31" fmla="*/ 78 h 85"/>
                <a:gd name="T32" fmla="*/ 59 w 85"/>
                <a:gd name="T33" fmla="*/ 83 h 85"/>
                <a:gd name="T34" fmla="*/ 51 w 85"/>
                <a:gd name="T35" fmla="*/ 85 h 85"/>
                <a:gd name="T36" fmla="*/ 42 w 85"/>
                <a:gd name="T37" fmla="*/ 85 h 85"/>
                <a:gd name="T38" fmla="*/ 42 w 85"/>
                <a:gd name="T39" fmla="*/ 85 h 85"/>
                <a:gd name="T40" fmla="*/ 33 w 85"/>
                <a:gd name="T41" fmla="*/ 85 h 85"/>
                <a:gd name="T42" fmla="*/ 26 w 85"/>
                <a:gd name="T43" fmla="*/ 83 h 85"/>
                <a:gd name="T44" fmla="*/ 18 w 85"/>
                <a:gd name="T45" fmla="*/ 78 h 85"/>
                <a:gd name="T46" fmla="*/ 12 w 85"/>
                <a:gd name="T47" fmla="*/ 73 h 85"/>
                <a:gd name="T48" fmla="*/ 7 w 85"/>
                <a:gd name="T49" fmla="*/ 67 h 85"/>
                <a:gd name="T50" fmla="*/ 2 w 85"/>
                <a:gd name="T51" fmla="*/ 59 h 85"/>
                <a:gd name="T52" fmla="*/ 0 w 85"/>
                <a:gd name="T53" fmla="*/ 51 h 85"/>
                <a:gd name="T54" fmla="*/ 0 w 85"/>
                <a:gd name="T55" fmla="*/ 43 h 85"/>
                <a:gd name="T56" fmla="*/ 0 w 85"/>
                <a:gd name="T57" fmla="*/ 43 h 85"/>
                <a:gd name="T58" fmla="*/ 0 w 85"/>
                <a:gd name="T59" fmla="*/ 34 h 85"/>
                <a:gd name="T60" fmla="*/ 2 w 85"/>
                <a:gd name="T61" fmla="*/ 26 h 85"/>
                <a:gd name="T62" fmla="*/ 7 w 85"/>
                <a:gd name="T63" fmla="*/ 19 h 85"/>
                <a:gd name="T64" fmla="*/ 12 w 85"/>
                <a:gd name="T65" fmla="*/ 12 h 85"/>
                <a:gd name="T66" fmla="*/ 18 w 85"/>
                <a:gd name="T67" fmla="*/ 7 h 85"/>
                <a:gd name="T68" fmla="*/ 26 w 85"/>
                <a:gd name="T69" fmla="*/ 3 h 85"/>
                <a:gd name="T70" fmla="*/ 33 w 85"/>
                <a:gd name="T71" fmla="*/ 1 h 85"/>
                <a:gd name="T72" fmla="*/ 42 w 85"/>
                <a:gd name="T73" fmla="*/ 0 h 85"/>
                <a:gd name="T74" fmla="*/ 42 w 85"/>
                <a:gd name="T75"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0"/>
                  </a:moveTo>
                  <a:lnTo>
                    <a:pt x="42" y="0"/>
                  </a:lnTo>
                  <a:lnTo>
                    <a:pt x="51" y="1"/>
                  </a:lnTo>
                  <a:lnTo>
                    <a:pt x="59" y="3"/>
                  </a:lnTo>
                  <a:lnTo>
                    <a:pt x="66" y="7"/>
                  </a:lnTo>
                  <a:lnTo>
                    <a:pt x="73" y="12"/>
                  </a:lnTo>
                  <a:lnTo>
                    <a:pt x="78" y="19"/>
                  </a:lnTo>
                  <a:lnTo>
                    <a:pt x="81" y="26"/>
                  </a:lnTo>
                  <a:lnTo>
                    <a:pt x="84" y="34"/>
                  </a:lnTo>
                  <a:lnTo>
                    <a:pt x="85" y="43"/>
                  </a:lnTo>
                  <a:lnTo>
                    <a:pt x="85" y="43"/>
                  </a:lnTo>
                  <a:lnTo>
                    <a:pt x="84" y="51"/>
                  </a:lnTo>
                  <a:lnTo>
                    <a:pt x="81" y="59"/>
                  </a:lnTo>
                  <a:lnTo>
                    <a:pt x="78" y="67"/>
                  </a:lnTo>
                  <a:lnTo>
                    <a:pt x="73" y="73"/>
                  </a:lnTo>
                  <a:lnTo>
                    <a:pt x="66" y="78"/>
                  </a:lnTo>
                  <a:lnTo>
                    <a:pt x="59" y="83"/>
                  </a:lnTo>
                  <a:lnTo>
                    <a:pt x="51" y="85"/>
                  </a:lnTo>
                  <a:lnTo>
                    <a:pt x="42" y="85"/>
                  </a:lnTo>
                  <a:lnTo>
                    <a:pt x="42" y="85"/>
                  </a:lnTo>
                  <a:lnTo>
                    <a:pt x="33" y="85"/>
                  </a:lnTo>
                  <a:lnTo>
                    <a:pt x="26" y="83"/>
                  </a:lnTo>
                  <a:lnTo>
                    <a:pt x="18" y="78"/>
                  </a:lnTo>
                  <a:lnTo>
                    <a:pt x="12" y="73"/>
                  </a:lnTo>
                  <a:lnTo>
                    <a:pt x="7" y="67"/>
                  </a:lnTo>
                  <a:lnTo>
                    <a:pt x="2" y="59"/>
                  </a:lnTo>
                  <a:lnTo>
                    <a:pt x="0" y="51"/>
                  </a:lnTo>
                  <a:lnTo>
                    <a:pt x="0" y="43"/>
                  </a:lnTo>
                  <a:lnTo>
                    <a:pt x="0" y="43"/>
                  </a:lnTo>
                  <a:lnTo>
                    <a:pt x="0" y="34"/>
                  </a:lnTo>
                  <a:lnTo>
                    <a:pt x="2" y="26"/>
                  </a:lnTo>
                  <a:lnTo>
                    <a:pt x="7" y="19"/>
                  </a:lnTo>
                  <a:lnTo>
                    <a:pt x="12" y="12"/>
                  </a:lnTo>
                  <a:lnTo>
                    <a:pt x="18" y="7"/>
                  </a:lnTo>
                  <a:lnTo>
                    <a:pt x="26" y="3"/>
                  </a:lnTo>
                  <a:lnTo>
                    <a:pt x="33" y="1"/>
                  </a:lnTo>
                  <a:lnTo>
                    <a:pt x="42" y="0"/>
                  </a:lnTo>
                  <a:lnTo>
                    <a:pt x="42" y="0"/>
                  </a:lnTo>
                  <a:close/>
                </a:path>
              </a:pathLst>
            </a:custGeom>
            <a:solidFill>
              <a:srgbClr val="5628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113"/>
            <p:cNvSpPr>
              <a:spLocks/>
            </p:cNvSpPr>
            <p:nvPr userDrawn="1"/>
          </p:nvSpPr>
          <p:spPr bwMode="auto">
            <a:xfrm>
              <a:off x="3762" y="665"/>
              <a:ext cx="43" cy="43"/>
            </a:xfrm>
            <a:custGeom>
              <a:avLst/>
              <a:gdLst>
                <a:gd name="T0" fmla="*/ 42 w 85"/>
                <a:gd name="T1" fmla="*/ 87 h 87"/>
                <a:gd name="T2" fmla="*/ 42 w 85"/>
                <a:gd name="T3" fmla="*/ 87 h 87"/>
                <a:gd name="T4" fmla="*/ 34 w 85"/>
                <a:gd name="T5" fmla="*/ 85 h 87"/>
                <a:gd name="T6" fmla="*/ 26 w 85"/>
                <a:gd name="T7" fmla="*/ 82 h 87"/>
                <a:gd name="T8" fmla="*/ 19 w 85"/>
                <a:gd name="T9" fmla="*/ 80 h 87"/>
                <a:gd name="T10" fmla="*/ 12 w 85"/>
                <a:gd name="T11" fmla="*/ 74 h 87"/>
                <a:gd name="T12" fmla="*/ 7 w 85"/>
                <a:gd name="T13" fmla="*/ 67 h 87"/>
                <a:gd name="T14" fmla="*/ 2 w 85"/>
                <a:gd name="T15" fmla="*/ 60 h 87"/>
                <a:gd name="T16" fmla="*/ 1 w 85"/>
                <a:gd name="T17" fmla="*/ 52 h 87"/>
                <a:gd name="T18" fmla="*/ 0 w 85"/>
                <a:gd name="T19" fmla="*/ 44 h 87"/>
                <a:gd name="T20" fmla="*/ 0 w 85"/>
                <a:gd name="T21" fmla="*/ 44 h 87"/>
                <a:gd name="T22" fmla="*/ 1 w 85"/>
                <a:gd name="T23" fmla="*/ 34 h 87"/>
                <a:gd name="T24" fmla="*/ 2 w 85"/>
                <a:gd name="T25" fmla="*/ 27 h 87"/>
                <a:gd name="T26" fmla="*/ 7 w 85"/>
                <a:gd name="T27" fmla="*/ 19 h 87"/>
                <a:gd name="T28" fmla="*/ 12 w 85"/>
                <a:gd name="T29" fmla="*/ 14 h 87"/>
                <a:gd name="T30" fmla="*/ 19 w 85"/>
                <a:gd name="T31" fmla="*/ 8 h 87"/>
                <a:gd name="T32" fmla="*/ 26 w 85"/>
                <a:gd name="T33" fmla="*/ 4 h 87"/>
                <a:gd name="T34" fmla="*/ 34 w 85"/>
                <a:gd name="T35" fmla="*/ 1 h 87"/>
                <a:gd name="T36" fmla="*/ 42 w 85"/>
                <a:gd name="T37" fmla="*/ 0 h 87"/>
                <a:gd name="T38" fmla="*/ 42 w 85"/>
                <a:gd name="T39" fmla="*/ 0 h 87"/>
                <a:gd name="T40" fmla="*/ 51 w 85"/>
                <a:gd name="T41" fmla="*/ 1 h 87"/>
                <a:gd name="T42" fmla="*/ 59 w 85"/>
                <a:gd name="T43" fmla="*/ 4 h 87"/>
                <a:gd name="T44" fmla="*/ 67 w 85"/>
                <a:gd name="T45" fmla="*/ 8 h 87"/>
                <a:gd name="T46" fmla="*/ 73 w 85"/>
                <a:gd name="T47" fmla="*/ 14 h 87"/>
                <a:gd name="T48" fmla="*/ 78 w 85"/>
                <a:gd name="T49" fmla="*/ 19 h 87"/>
                <a:gd name="T50" fmla="*/ 82 w 85"/>
                <a:gd name="T51" fmla="*/ 27 h 87"/>
                <a:gd name="T52" fmla="*/ 85 w 85"/>
                <a:gd name="T53" fmla="*/ 34 h 87"/>
                <a:gd name="T54" fmla="*/ 85 w 85"/>
                <a:gd name="T55" fmla="*/ 44 h 87"/>
                <a:gd name="T56" fmla="*/ 85 w 85"/>
                <a:gd name="T57" fmla="*/ 44 h 87"/>
                <a:gd name="T58" fmla="*/ 85 w 85"/>
                <a:gd name="T59" fmla="*/ 52 h 87"/>
                <a:gd name="T60" fmla="*/ 82 w 85"/>
                <a:gd name="T61" fmla="*/ 60 h 87"/>
                <a:gd name="T62" fmla="*/ 78 w 85"/>
                <a:gd name="T63" fmla="*/ 67 h 87"/>
                <a:gd name="T64" fmla="*/ 73 w 85"/>
                <a:gd name="T65" fmla="*/ 74 h 87"/>
                <a:gd name="T66" fmla="*/ 67 w 85"/>
                <a:gd name="T67" fmla="*/ 80 h 87"/>
                <a:gd name="T68" fmla="*/ 59 w 85"/>
                <a:gd name="T69" fmla="*/ 82 h 87"/>
                <a:gd name="T70" fmla="*/ 51 w 85"/>
                <a:gd name="T71" fmla="*/ 85 h 87"/>
                <a:gd name="T72" fmla="*/ 42 w 85"/>
                <a:gd name="T73" fmla="*/ 87 h 87"/>
                <a:gd name="T74" fmla="*/ 42 w 85"/>
                <a:gd name="T7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7">
                  <a:moveTo>
                    <a:pt x="42" y="87"/>
                  </a:moveTo>
                  <a:lnTo>
                    <a:pt x="42" y="87"/>
                  </a:lnTo>
                  <a:lnTo>
                    <a:pt x="34" y="85"/>
                  </a:lnTo>
                  <a:lnTo>
                    <a:pt x="26" y="82"/>
                  </a:lnTo>
                  <a:lnTo>
                    <a:pt x="19" y="80"/>
                  </a:lnTo>
                  <a:lnTo>
                    <a:pt x="12" y="74"/>
                  </a:lnTo>
                  <a:lnTo>
                    <a:pt x="7" y="67"/>
                  </a:lnTo>
                  <a:lnTo>
                    <a:pt x="2" y="60"/>
                  </a:lnTo>
                  <a:lnTo>
                    <a:pt x="1" y="52"/>
                  </a:lnTo>
                  <a:lnTo>
                    <a:pt x="0" y="44"/>
                  </a:lnTo>
                  <a:lnTo>
                    <a:pt x="0" y="44"/>
                  </a:lnTo>
                  <a:lnTo>
                    <a:pt x="1" y="34"/>
                  </a:lnTo>
                  <a:lnTo>
                    <a:pt x="2" y="27"/>
                  </a:lnTo>
                  <a:lnTo>
                    <a:pt x="7" y="19"/>
                  </a:lnTo>
                  <a:lnTo>
                    <a:pt x="12" y="14"/>
                  </a:lnTo>
                  <a:lnTo>
                    <a:pt x="19" y="8"/>
                  </a:lnTo>
                  <a:lnTo>
                    <a:pt x="26" y="4"/>
                  </a:lnTo>
                  <a:lnTo>
                    <a:pt x="34" y="1"/>
                  </a:lnTo>
                  <a:lnTo>
                    <a:pt x="42" y="0"/>
                  </a:lnTo>
                  <a:lnTo>
                    <a:pt x="42" y="0"/>
                  </a:lnTo>
                  <a:lnTo>
                    <a:pt x="51" y="1"/>
                  </a:lnTo>
                  <a:lnTo>
                    <a:pt x="59" y="4"/>
                  </a:lnTo>
                  <a:lnTo>
                    <a:pt x="67" y="8"/>
                  </a:lnTo>
                  <a:lnTo>
                    <a:pt x="73" y="14"/>
                  </a:lnTo>
                  <a:lnTo>
                    <a:pt x="78" y="19"/>
                  </a:lnTo>
                  <a:lnTo>
                    <a:pt x="82" y="27"/>
                  </a:lnTo>
                  <a:lnTo>
                    <a:pt x="85" y="34"/>
                  </a:lnTo>
                  <a:lnTo>
                    <a:pt x="85" y="44"/>
                  </a:lnTo>
                  <a:lnTo>
                    <a:pt x="85" y="44"/>
                  </a:lnTo>
                  <a:lnTo>
                    <a:pt x="85" y="52"/>
                  </a:lnTo>
                  <a:lnTo>
                    <a:pt x="82" y="60"/>
                  </a:lnTo>
                  <a:lnTo>
                    <a:pt x="78" y="67"/>
                  </a:lnTo>
                  <a:lnTo>
                    <a:pt x="73" y="74"/>
                  </a:lnTo>
                  <a:lnTo>
                    <a:pt x="67" y="80"/>
                  </a:lnTo>
                  <a:lnTo>
                    <a:pt x="59" y="82"/>
                  </a:lnTo>
                  <a:lnTo>
                    <a:pt x="51" y="85"/>
                  </a:lnTo>
                  <a:lnTo>
                    <a:pt x="42" y="87"/>
                  </a:lnTo>
                  <a:lnTo>
                    <a:pt x="42" y="87"/>
                  </a:lnTo>
                  <a:close/>
                </a:path>
              </a:pathLst>
            </a:custGeom>
            <a:solidFill>
              <a:srgbClr val="8ED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114"/>
            <p:cNvSpPr>
              <a:spLocks/>
            </p:cNvSpPr>
            <p:nvPr userDrawn="1"/>
          </p:nvSpPr>
          <p:spPr bwMode="auto">
            <a:xfrm>
              <a:off x="3705" y="722"/>
              <a:ext cx="43" cy="43"/>
            </a:xfrm>
            <a:custGeom>
              <a:avLst/>
              <a:gdLst>
                <a:gd name="T0" fmla="*/ 42 w 85"/>
                <a:gd name="T1" fmla="*/ 85 h 85"/>
                <a:gd name="T2" fmla="*/ 42 w 85"/>
                <a:gd name="T3" fmla="*/ 85 h 85"/>
                <a:gd name="T4" fmla="*/ 34 w 85"/>
                <a:gd name="T5" fmla="*/ 84 h 85"/>
                <a:gd name="T6" fmla="*/ 26 w 85"/>
                <a:gd name="T7" fmla="*/ 81 h 85"/>
                <a:gd name="T8" fmla="*/ 19 w 85"/>
                <a:gd name="T9" fmla="*/ 78 h 85"/>
                <a:gd name="T10" fmla="*/ 12 w 85"/>
                <a:gd name="T11" fmla="*/ 73 h 85"/>
                <a:gd name="T12" fmla="*/ 7 w 85"/>
                <a:gd name="T13" fmla="*/ 66 h 85"/>
                <a:gd name="T14" fmla="*/ 3 w 85"/>
                <a:gd name="T15" fmla="*/ 59 h 85"/>
                <a:gd name="T16" fmla="*/ 0 w 85"/>
                <a:gd name="T17" fmla="*/ 51 h 85"/>
                <a:gd name="T18" fmla="*/ 0 w 85"/>
                <a:gd name="T19" fmla="*/ 43 h 85"/>
                <a:gd name="T20" fmla="*/ 0 w 85"/>
                <a:gd name="T21" fmla="*/ 43 h 85"/>
                <a:gd name="T22" fmla="*/ 0 w 85"/>
                <a:gd name="T23" fmla="*/ 33 h 85"/>
                <a:gd name="T24" fmla="*/ 3 w 85"/>
                <a:gd name="T25" fmla="*/ 26 h 85"/>
                <a:gd name="T26" fmla="*/ 7 w 85"/>
                <a:gd name="T27" fmla="*/ 18 h 85"/>
                <a:gd name="T28" fmla="*/ 12 w 85"/>
                <a:gd name="T29" fmla="*/ 12 h 85"/>
                <a:gd name="T30" fmla="*/ 19 w 85"/>
                <a:gd name="T31" fmla="*/ 7 h 85"/>
                <a:gd name="T32" fmla="*/ 26 w 85"/>
                <a:gd name="T33" fmla="*/ 3 h 85"/>
                <a:gd name="T34" fmla="*/ 34 w 85"/>
                <a:gd name="T35" fmla="*/ 0 h 85"/>
                <a:gd name="T36" fmla="*/ 42 w 85"/>
                <a:gd name="T37" fmla="*/ 0 h 85"/>
                <a:gd name="T38" fmla="*/ 42 w 85"/>
                <a:gd name="T39" fmla="*/ 0 h 85"/>
                <a:gd name="T40" fmla="*/ 51 w 85"/>
                <a:gd name="T41" fmla="*/ 0 h 85"/>
                <a:gd name="T42" fmla="*/ 59 w 85"/>
                <a:gd name="T43" fmla="*/ 3 h 85"/>
                <a:gd name="T44" fmla="*/ 66 w 85"/>
                <a:gd name="T45" fmla="*/ 7 h 85"/>
                <a:gd name="T46" fmla="*/ 73 w 85"/>
                <a:gd name="T47" fmla="*/ 12 h 85"/>
                <a:gd name="T48" fmla="*/ 78 w 85"/>
                <a:gd name="T49" fmla="*/ 18 h 85"/>
                <a:gd name="T50" fmla="*/ 82 w 85"/>
                <a:gd name="T51" fmla="*/ 26 h 85"/>
                <a:gd name="T52" fmla="*/ 85 w 85"/>
                <a:gd name="T53" fmla="*/ 33 h 85"/>
                <a:gd name="T54" fmla="*/ 85 w 85"/>
                <a:gd name="T55" fmla="*/ 43 h 85"/>
                <a:gd name="T56" fmla="*/ 85 w 85"/>
                <a:gd name="T57" fmla="*/ 43 h 85"/>
                <a:gd name="T58" fmla="*/ 85 w 85"/>
                <a:gd name="T59" fmla="*/ 51 h 85"/>
                <a:gd name="T60" fmla="*/ 82 w 85"/>
                <a:gd name="T61" fmla="*/ 59 h 85"/>
                <a:gd name="T62" fmla="*/ 78 w 85"/>
                <a:gd name="T63" fmla="*/ 66 h 85"/>
                <a:gd name="T64" fmla="*/ 73 w 85"/>
                <a:gd name="T65" fmla="*/ 73 h 85"/>
                <a:gd name="T66" fmla="*/ 66 w 85"/>
                <a:gd name="T67" fmla="*/ 78 h 85"/>
                <a:gd name="T68" fmla="*/ 59 w 85"/>
                <a:gd name="T69" fmla="*/ 81 h 85"/>
                <a:gd name="T70" fmla="*/ 51 w 85"/>
                <a:gd name="T71" fmla="*/ 84 h 85"/>
                <a:gd name="T72" fmla="*/ 42 w 85"/>
                <a:gd name="T73" fmla="*/ 85 h 85"/>
                <a:gd name="T74" fmla="*/ 42 w 85"/>
                <a:gd name="T75"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5" h="85">
                  <a:moveTo>
                    <a:pt x="42" y="85"/>
                  </a:moveTo>
                  <a:lnTo>
                    <a:pt x="42" y="85"/>
                  </a:lnTo>
                  <a:lnTo>
                    <a:pt x="34" y="84"/>
                  </a:lnTo>
                  <a:lnTo>
                    <a:pt x="26" y="81"/>
                  </a:lnTo>
                  <a:lnTo>
                    <a:pt x="19" y="78"/>
                  </a:lnTo>
                  <a:lnTo>
                    <a:pt x="12" y="73"/>
                  </a:lnTo>
                  <a:lnTo>
                    <a:pt x="7" y="66"/>
                  </a:lnTo>
                  <a:lnTo>
                    <a:pt x="3" y="59"/>
                  </a:lnTo>
                  <a:lnTo>
                    <a:pt x="0" y="51"/>
                  </a:lnTo>
                  <a:lnTo>
                    <a:pt x="0" y="43"/>
                  </a:lnTo>
                  <a:lnTo>
                    <a:pt x="0" y="43"/>
                  </a:lnTo>
                  <a:lnTo>
                    <a:pt x="0" y="33"/>
                  </a:lnTo>
                  <a:lnTo>
                    <a:pt x="3" y="26"/>
                  </a:lnTo>
                  <a:lnTo>
                    <a:pt x="7" y="18"/>
                  </a:lnTo>
                  <a:lnTo>
                    <a:pt x="12" y="12"/>
                  </a:lnTo>
                  <a:lnTo>
                    <a:pt x="19" y="7"/>
                  </a:lnTo>
                  <a:lnTo>
                    <a:pt x="26" y="3"/>
                  </a:lnTo>
                  <a:lnTo>
                    <a:pt x="34" y="0"/>
                  </a:lnTo>
                  <a:lnTo>
                    <a:pt x="42" y="0"/>
                  </a:lnTo>
                  <a:lnTo>
                    <a:pt x="42" y="0"/>
                  </a:lnTo>
                  <a:lnTo>
                    <a:pt x="51" y="0"/>
                  </a:lnTo>
                  <a:lnTo>
                    <a:pt x="59" y="3"/>
                  </a:lnTo>
                  <a:lnTo>
                    <a:pt x="66" y="7"/>
                  </a:lnTo>
                  <a:lnTo>
                    <a:pt x="73" y="12"/>
                  </a:lnTo>
                  <a:lnTo>
                    <a:pt x="78" y="18"/>
                  </a:lnTo>
                  <a:lnTo>
                    <a:pt x="82" y="26"/>
                  </a:lnTo>
                  <a:lnTo>
                    <a:pt x="85" y="33"/>
                  </a:lnTo>
                  <a:lnTo>
                    <a:pt x="85" y="43"/>
                  </a:lnTo>
                  <a:lnTo>
                    <a:pt x="85" y="43"/>
                  </a:lnTo>
                  <a:lnTo>
                    <a:pt x="85" y="51"/>
                  </a:lnTo>
                  <a:lnTo>
                    <a:pt x="82" y="59"/>
                  </a:lnTo>
                  <a:lnTo>
                    <a:pt x="78" y="66"/>
                  </a:lnTo>
                  <a:lnTo>
                    <a:pt x="73" y="73"/>
                  </a:lnTo>
                  <a:lnTo>
                    <a:pt x="66" y="78"/>
                  </a:lnTo>
                  <a:lnTo>
                    <a:pt x="59" y="81"/>
                  </a:lnTo>
                  <a:lnTo>
                    <a:pt x="51" y="84"/>
                  </a:lnTo>
                  <a:lnTo>
                    <a:pt x="42" y="85"/>
                  </a:lnTo>
                  <a:lnTo>
                    <a:pt x="42" y="85"/>
                  </a:lnTo>
                  <a:close/>
                </a:path>
              </a:pathLst>
            </a:custGeom>
            <a:solidFill>
              <a:srgbClr val="8ED8F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p:cNvGrpSpPr/>
          <p:nvPr userDrawn="1"/>
        </p:nvGrpSpPr>
        <p:grpSpPr>
          <a:xfrm>
            <a:off x="177800" y="5295507"/>
            <a:ext cx="11847413" cy="1418438"/>
            <a:chOff x="0" y="5409807"/>
            <a:chExt cx="11847413" cy="1418438"/>
          </a:xfrm>
        </p:grpSpPr>
        <p:sp>
          <p:nvSpPr>
            <p:cNvPr id="122" name="Oval 121"/>
            <p:cNvSpPr/>
            <p:nvPr/>
          </p:nvSpPr>
          <p:spPr>
            <a:xfrm rot="5400000">
              <a:off x="0"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rot="5400000">
              <a:off x="596266"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rot="5400000">
              <a:off x="893538"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rot="5400000">
              <a:off x="1188586"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rot="5400000">
              <a:off x="118858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rot="5400000">
              <a:off x="1188586"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rot="5400000">
              <a:off x="1487036"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rot="5400000">
              <a:off x="148703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rot="5400000">
              <a:off x="1487036"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rot="5400000">
              <a:off x="1785482"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rot="5400000">
              <a:off x="1785482"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p:cNvSpPr/>
            <p:nvPr/>
          </p:nvSpPr>
          <p:spPr>
            <a:xfrm rot="5400000">
              <a:off x="1785482" y="660043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rot="5400000">
              <a:off x="2084611"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p:cNvSpPr/>
            <p:nvPr/>
          </p:nvSpPr>
          <p:spPr>
            <a:xfrm rot="5400000">
              <a:off x="2383057"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p:cNvSpPr/>
            <p:nvPr/>
          </p:nvSpPr>
          <p:spPr>
            <a:xfrm rot="5400000">
              <a:off x="2383057"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p:cNvSpPr/>
            <p:nvPr/>
          </p:nvSpPr>
          <p:spPr>
            <a:xfrm rot="5400000">
              <a:off x="2383057"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p:cNvSpPr/>
            <p:nvPr/>
          </p:nvSpPr>
          <p:spPr>
            <a:xfrm rot="5400000">
              <a:off x="2383057"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p:cNvSpPr/>
            <p:nvPr/>
          </p:nvSpPr>
          <p:spPr>
            <a:xfrm rot="5400000">
              <a:off x="2383057"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rot="5400000">
              <a:off x="2677499"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p:cNvSpPr/>
            <p:nvPr/>
          </p:nvSpPr>
          <p:spPr>
            <a:xfrm rot="5400000">
              <a:off x="2677499"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p:cNvSpPr/>
            <p:nvPr/>
          </p:nvSpPr>
          <p:spPr>
            <a:xfrm rot="5400000">
              <a:off x="2981320" y="600512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p:cNvSpPr/>
            <p:nvPr/>
          </p:nvSpPr>
          <p:spPr>
            <a:xfrm rot="5400000">
              <a:off x="2981320" y="630277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rot="5400000">
              <a:off x="2981320" y="660043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p:cNvSpPr/>
            <p:nvPr/>
          </p:nvSpPr>
          <p:spPr>
            <a:xfrm rot="5400000">
              <a:off x="3278592"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rot="5400000">
              <a:off x="3566662" y="570746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rot="5400000">
              <a:off x="3566662" y="630277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p:cNvSpPr/>
            <p:nvPr/>
          </p:nvSpPr>
          <p:spPr>
            <a:xfrm rot="5400000">
              <a:off x="3865791"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p:cNvSpPr/>
            <p:nvPr/>
          </p:nvSpPr>
          <p:spPr>
            <a:xfrm rot="5400000">
              <a:off x="3865791"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p:cNvSpPr/>
            <p:nvPr/>
          </p:nvSpPr>
          <p:spPr>
            <a:xfrm rot="5400000">
              <a:off x="4164237"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p:cNvSpPr/>
            <p:nvPr/>
          </p:nvSpPr>
          <p:spPr>
            <a:xfrm rot="5400000">
              <a:off x="4164237"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p:cNvSpPr/>
            <p:nvPr/>
          </p:nvSpPr>
          <p:spPr>
            <a:xfrm rot="5400000">
              <a:off x="4458679"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p:cNvSpPr/>
            <p:nvPr/>
          </p:nvSpPr>
          <p:spPr>
            <a:xfrm rot="5400000">
              <a:off x="4458679"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rot="5400000">
              <a:off x="4762499"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p:cNvSpPr/>
            <p:nvPr/>
          </p:nvSpPr>
          <p:spPr>
            <a:xfrm rot="5400000">
              <a:off x="5059770" y="570746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rot="5400000">
              <a:off x="5059770"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p:cNvSpPr/>
            <p:nvPr/>
          </p:nvSpPr>
          <p:spPr>
            <a:xfrm rot="5400000">
              <a:off x="5059770"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p:cNvSpPr/>
            <p:nvPr/>
          </p:nvSpPr>
          <p:spPr>
            <a:xfrm rot="5400000">
              <a:off x="5362575"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p:cNvSpPr/>
            <p:nvPr/>
          </p:nvSpPr>
          <p:spPr>
            <a:xfrm rot="5400000">
              <a:off x="5362575"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rot="5400000">
              <a:off x="566420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p:cNvSpPr/>
            <p:nvPr/>
          </p:nvSpPr>
          <p:spPr>
            <a:xfrm rot="5400000">
              <a:off x="5664201" y="660042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p:cNvSpPr/>
            <p:nvPr/>
          </p:nvSpPr>
          <p:spPr>
            <a:xfrm rot="5400000">
              <a:off x="5958841"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p:cNvSpPr/>
            <p:nvPr userDrawn="1"/>
          </p:nvSpPr>
          <p:spPr>
            <a:xfrm rot="5400000">
              <a:off x="595884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p:cNvSpPr/>
            <p:nvPr/>
          </p:nvSpPr>
          <p:spPr>
            <a:xfrm rot="5400000">
              <a:off x="6256113"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p:cNvSpPr/>
            <p:nvPr/>
          </p:nvSpPr>
          <p:spPr>
            <a:xfrm rot="5400000">
              <a:off x="6551161"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Oval 169"/>
            <p:cNvSpPr/>
            <p:nvPr/>
          </p:nvSpPr>
          <p:spPr>
            <a:xfrm rot="5400000">
              <a:off x="655116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p:cNvSpPr/>
            <p:nvPr/>
          </p:nvSpPr>
          <p:spPr>
            <a:xfrm rot="5400000">
              <a:off x="655116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p:cNvSpPr/>
            <p:nvPr/>
          </p:nvSpPr>
          <p:spPr>
            <a:xfrm rot="5400000">
              <a:off x="6849611"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p:cNvSpPr/>
            <p:nvPr/>
          </p:nvSpPr>
          <p:spPr>
            <a:xfrm rot="5400000">
              <a:off x="684961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p:cNvSpPr/>
            <p:nvPr/>
          </p:nvSpPr>
          <p:spPr>
            <a:xfrm rot="5400000">
              <a:off x="684961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p:cNvSpPr/>
            <p:nvPr/>
          </p:nvSpPr>
          <p:spPr>
            <a:xfrm rot="5400000">
              <a:off x="7148057"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p:cNvSpPr/>
            <p:nvPr/>
          </p:nvSpPr>
          <p:spPr>
            <a:xfrm rot="5400000">
              <a:off x="7148057"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p:cNvSpPr/>
            <p:nvPr/>
          </p:nvSpPr>
          <p:spPr>
            <a:xfrm rot="5400000">
              <a:off x="7148057" y="660043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p:cNvSpPr/>
            <p:nvPr/>
          </p:nvSpPr>
          <p:spPr>
            <a:xfrm rot="5400000">
              <a:off x="7447186"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p:cNvSpPr/>
            <p:nvPr/>
          </p:nvSpPr>
          <p:spPr>
            <a:xfrm rot="5400000">
              <a:off x="7745632"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p:cNvSpPr/>
            <p:nvPr/>
          </p:nvSpPr>
          <p:spPr>
            <a:xfrm rot="5400000">
              <a:off x="7745632"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p:cNvSpPr/>
            <p:nvPr/>
          </p:nvSpPr>
          <p:spPr>
            <a:xfrm rot="5400000">
              <a:off x="7745632"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p:cNvSpPr/>
            <p:nvPr/>
          </p:nvSpPr>
          <p:spPr>
            <a:xfrm rot="5400000">
              <a:off x="7745632"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p:cNvSpPr/>
            <p:nvPr/>
          </p:nvSpPr>
          <p:spPr>
            <a:xfrm rot="5400000">
              <a:off x="7745632"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p:cNvSpPr/>
            <p:nvPr/>
          </p:nvSpPr>
          <p:spPr>
            <a:xfrm rot="5400000">
              <a:off x="8040074"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p:cNvSpPr/>
            <p:nvPr/>
          </p:nvSpPr>
          <p:spPr>
            <a:xfrm rot="5400000">
              <a:off x="804007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p:cNvSpPr/>
            <p:nvPr/>
          </p:nvSpPr>
          <p:spPr>
            <a:xfrm rot="5400000">
              <a:off x="834389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p:cNvSpPr/>
            <p:nvPr/>
          </p:nvSpPr>
          <p:spPr>
            <a:xfrm rot="5400000">
              <a:off x="8343894" y="630277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p:cNvSpPr/>
            <p:nvPr/>
          </p:nvSpPr>
          <p:spPr>
            <a:xfrm rot="5400000">
              <a:off x="8343894" y="660043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Oval 188"/>
            <p:cNvSpPr/>
            <p:nvPr userDrawn="1"/>
          </p:nvSpPr>
          <p:spPr>
            <a:xfrm rot="5400000">
              <a:off x="8641166"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p:cNvSpPr/>
            <p:nvPr/>
          </p:nvSpPr>
          <p:spPr>
            <a:xfrm rot="5400000">
              <a:off x="8929236" y="570746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p:cNvSpPr/>
            <p:nvPr/>
          </p:nvSpPr>
          <p:spPr>
            <a:xfrm rot="5400000">
              <a:off x="8929236" y="630277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p:cNvSpPr/>
            <p:nvPr/>
          </p:nvSpPr>
          <p:spPr>
            <a:xfrm rot="5400000">
              <a:off x="9228366"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p:cNvSpPr/>
            <p:nvPr/>
          </p:nvSpPr>
          <p:spPr>
            <a:xfrm rot="5400000">
              <a:off x="9228366"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p:cNvSpPr/>
            <p:nvPr/>
          </p:nvSpPr>
          <p:spPr>
            <a:xfrm rot="5400000">
              <a:off x="9526812"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p:cNvSpPr/>
            <p:nvPr/>
          </p:nvSpPr>
          <p:spPr>
            <a:xfrm rot="5400000">
              <a:off x="9526812"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p:cNvSpPr/>
            <p:nvPr/>
          </p:nvSpPr>
          <p:spPr>
            <a:xfrm rot="5400000">
              <a:off x="9821254"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p:cNvSpPr/>
            <p:nvPr/>
          </p:nvSpPr>
          <p:spPr>
            <a:xfrm rot="5400000">
              <a:off x="9821254"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p:cNvSpPr/>
            <p:nvPr/>
          </p:nvSpPr>
          <p:spPr>
            <a:xfrm rot="5400000">
              <a:off x="10125074"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p:cNvSpPr/>
            <p:nvPr/>
          </p:nvSpPr>
          <p:spPr>
            <a:xfrm rot="5400000">
              <a:off x="10422346" y="570747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p:cNvSpPr/>
            <p:nvPr/>
          </p:nvSpPr>
          <p:spPr>
            <a:xfrm rot="5400000">
              <a:off x="10422346" y="630278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p:cNvSpPr/>
            <p:nvPr/>
          </p:nvSpPr>
          <p:spPr>
            <a:xfrm rot="5400000">
              <a:off x="10422346" y="660043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p:cNvSpPr/>
            <p:nvPr/>
          </p:nvSpPr>
          <p:spPr>
            <a:xfrm rot="5400000">
              <a:off x="10726068"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p:cNvSpPr/>
            <p:nvPr/>
          </p:nvSpPr>
          <p:spPr>
            <a:xfrm rot="5400000">
              <a:off x="10726068"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p:cNvSpPr/>
            <p:nvPr/>
          </p:nvSpPr>
          <p:spPr>
            <a:xfrm rot="5400000">
              <a:off x="1102769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Oval 204"/>
            <p:cNvSpPr/>
            <p:nvPr/>
          </p:nvSpPr>
          <p:spPr>
            <a:xfrm rot="5400000">
              <a:off x="11322334"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p:cNvSpPr/>
            <p:nvPr userDrawn="1"/>
          </p:nvSpPr>
          <p:spPr>
            <a:xfrm rot="5400000">
              <a:off x="1132233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p:cNvSpPr/>
            <p:nvPr/>
          </p:nvSpPr>
          <p:spPr>
            <a:xfrm rot="5400000">
              <a:off x="1161960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8"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209"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96923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439" name="Rectangle 438"/>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6" name="Group 565"/>
          <p:cNvGrpSpPr/>
          <p:nvPr userDrawn="1"/>
        </p:nvGrpSpPr>
        <p:grpSpPr>
          <a:xfrm>
            <a:off x="177800" y="5295507"/>
            <a:ext cx="11847413" cy="1418438"/>
            <a:chOff x="0" y="5409807"/>
            <a:chExt cx="11847413" cy="1418438"/>
          </a:xfrm>
        </p:grpSpPr>
        <p:sp>
          <p:nvSpPr>
            <p:cNvPr id="567" name="Oval 566"/>
            <p:cNvSpPr/>
            <p:nvPr/>
          </p:nvSpPr>
          <p:spPr>
            <a:xfrm rot="5400000">
              <a:off x="0"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p:cNvSpPr/>
            <p:nvPr/>
          </p:nvSpPr>
          <p:spPr>
            <a:xfrm rot="5400000">
              <a:off x="596266"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p:cNvSpPr/>
            <p:nvPr/>
          </p:nvSpPr>
          <p:spPr>
            <a:xfrm rot="5400000">
              <a:off x="893538"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Oval 573"/>
            <p:cNvSpPr/>
            <p:nvPr/>
          </p:nvSpPr>
          <p:spPr>
            <a:xfrm rot="5400000">
              <a:off x="1188586"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Oval 574"/>
            <p:cNvSpPr/>
            <p:nvPr/>
          </p:nvSpPr>
          <p:spPr>
            <a:xfrm rot="5400000">
              <a:off x="118858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Oval 575"/>
            <p:cNvSpPr/>
            <p:nvPr/>
          </p:nvSpPr>
          <p:spPr>
            <a:xfrm rot="5400000">
              <a:off x="1188586"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Oval 576"/>
            <p:cNvSpPr/>
            <p:nvPr/>
          </p:nvSpPr>
          <p:spPr>
            <a:xfrm rot="5400000">
              <a:off x="1487036"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Oval 577"/>
            <p:cNvSpPr/>
            <p:nvPr/>
          </p:nvSpPr>
          <p:spPr>
            <a:xfrm rot="5400000">
              <a:off x="148703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Oval 578"/>
            <p:cNvSpPr/>
            <p:nvPr/>
          </p:nvSpPr>
          <p:spPr>
            <a:xfrm rot="5400000">
              <a:off x="1487036"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Oval 579"/>
            <p:cNvSpPr/>
            <p:nvPr/>
          </p:nvSpPr>
          <p:spPr>
            <a:xfrm rot="5400000">
              <a:off x="1785482"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Oval 580"/>
            <p:cNvSpPr/>
            <p:nvPr/>
          </p:nvSpPr>
          <p:spPr>
            <a:xfrm rot="5400000">
              <a:off x="1785482"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Oval 581"/>
            <p:cNvSpPr/>
            <p:nvPr/>
          </p:nvSpPr>
          <p:spPr>
            <a:xfrm rot="5400000">
              <a:off x="1785482" y="660043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Oval 582"/>
            <p:cNvSpPr/>
            <p:nvPr/>
          </p:nvSpPr>
          <p:spPr>
            <a:xfrm rot="5400000">
              <a:off x="2084611"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p:cNvSpPr/>
            <p:nvPr/>
          </p:nvSpPr>
          <p:spPr>
            <a:xfrm rot="5400000">
              <a:off x="2383057"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Oval 584"/>
            <p:cNvSpPr/>
            <p:nvPr/>
          </p:nvSpPr>
          <p:spPr>
            <a:xfrm rot="5400000">
              <a:off x="2383057"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Oval 585"/>
            <p:cNvSpPr/>
            <p:nvPr/>
          </p:nvSpPr>
          <p:spPr>
            <a:xfrm rot="5400000">
              <a:off x="2383057"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p:cNvSpPr/>
            <p:nvPr/>
          </p:nvSpPr>
          <p:spPr>
            <a:xfrm rot="5400000">
              <a:off x="2383057"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p:cNvSpPr/>
            <p:nvPr/>
          </p:nvSpPr>
          <p:spPr>
            <a:xfrm rot="5400000">
              <a:off x="2383057"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p:cNvSpPr/>
            <p:nvPr/>
          </p:nvSpPr>
          <p:spPr>
            <a:xfrm rot="5400000">
              <a:off x="2677499"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Oval 589"/>
            <p:cNvSpPr/>
            <p:nvPr/>
          </p:nvSpPr>
          <p:spPr>
            <a:xfrm rot="5400000">
              <a:off x="2677499"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Oval 590"/>
            <p:cNvSpPr/>
            <p:nvPr/>
          </p:nvSpPr>
          <p:spPr>
            <a:xfrm rot="5400000">
              <a:off x="2981320" y="600512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Oval 591"/>
            <p:cNvSpPr/>
            <p:nvPr/>
          </p:nvSpPr>
          <p:spPr>
            <a:xfrm rot="5400000">
              <a:off x="2981320" y="630277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Oval 592"/>
            <p:cNvSpPr/>
            <p:nvPr/>
          </p:nvSpPr>
          <p:spPr>
            <a:xfrm rot="5400000">
              <a:off x="2981320" y="660043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Oval 593"/>
            <p:cNvSpPr/>
            <p:nvPr/>
          </p:nvSpPr>
          <p:spPr>
            <a:xfrm rot="5400000">
              <a:off x="3278592"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Oval 594"/>
            <p:cNvSpPr/>
            <p:nvPr/>
          </p:nvSpPr>
          <p:spPr>
            <a:xfrm rot="5400000">
              <a:off x="3566662" y="570746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Oval 595"/>
            <p:cNvSpPr/>
            <p:nvPr/>
          </p:nvSpPr>
          <p:spPr>
            <a:xfrm rot="5400000">
              <a:off x="3566662" y="630277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Oval 596"/>
            <p:cNvSpPr/>
            <p:nvPr/>
          </p:nvSpPr>
          <p:spPr>
            <a:xfrm rot="5400000">
              <a:off x="3865791"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Oval 597"/>
            <p:cNvSpPr/>
            <p:nvPr/>
          </p:nvSpPr>
          <p:spPr>
            <a:xfrm rot="5400000">
              <a:off x="3865791"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Oval 598"/>
            <p:cNvSpPr/>
            <p:nvPr/>
          </p:nvSpPr>
          <p:spPr>
            <a:xfrm rot="5400000">
              <a:off x="4164237"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Oval 599"/>
            <p:cNvSpPr/>
            <p:nvPr/>
          </p:nvSpPr>
          <p:spPr>
            <a:xfrm rot="5400000">
              <a:off x="4164237"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Oval 600"/>
            <p:cNvSpPr/>
            <p:nvPr/>
          </p:nvSpPr>
          <p:spPr>
            <a:xfrm rot="5400000">
              <a:off x="4458679"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Oval 601"/>
            <p:cNvSpPr/>
            <p:nvPr/>
          </p:nvSpPr>
          <p:spPr>
            <a:xfrm rot="5400000">
              <a:off x="4458679"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Oval 602"/>
            <p:cNvSpPr/>
            <p:nvPr/>
          </p:nvSpPr>
          <p:spPr>
            <a:xfrm rot="5400000">
              <a:off x="4762499"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Oval 603"/>
            <p:cNvSpPr/>
            <p:nvPr/>
          </p:nvSpPr>
          <p:spPr>
            <a:xfrm rot="5400000">
              <a:off x="5059770" y="570746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Oval 604"/>
            <p:cNvSpPr/>
            <p:nvPr/>
          </p:nvSpPr>
          <p:spPr>
            <a:xfrm rot="5400000">
              <a:off x="5059770"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Oval 605"/>
            <p:cNvSpPr/>
            <p:nvPr/>
          </p:nvSpPr>
          <p:spPr>
            <a:xfrm rot="5400000">
              <a:off x="5059770"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Oval 606"/>
            <p:cNvSpPr/>
            <p:nvPr/>
          </p:nvSpPr>
          <p:spPr>
            <a:xfrm rot="5400000">
              <a:off x="5362575"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Oval 607"/>
            <p:cNvSpPr/>
            <p:nvPr/>
          </p:nvSpPr>
          <p:spPr>
            <a:xfrm rot="5400000">
              <a:off x="5362575"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Oval 608"/>
            <p:cNvSpPr/>
            <p:nvPr/>
          </p:nvSpPr>
          <p:spPr>
            <a:xfrm rot="5400000">
              <a:off x="566420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Oval 609"/>
            <p:cNvSpPr/>
            <p:nvPr/>
          </p:nvSpPr>
          <p:spPr>
            <a:xfrm rot="5400000">
              <a:off x="5664201" y="660042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p:cNvSpPr/>
            <p:nvPr/>
          </p:nvSpPr>
          <p:spPr>
            <a:xfrm rot="5400000">
              <a:off x="5958841"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Oval 611"/>
            <p:cNvSpPr/>
            <p:nvPr userDrawn="1"/>
          </p:nvSpPr>
          <p:spPr>
            <a:xfrm rot="5400000">
              <a:off x="595884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Oval 612"/>
            <p:cNvSpPr/>
            <p:nvPr/>
          </p:nvSpPr>
          <p:spPr>
            <a:xfrm rot="5400000">
              <a:off x="6256113"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Oval 613"/>
            <p:cNvSpPr/>
            <p:nvPr/>
          </p:nvSpPr>
          <p:spPr>
            <a:xfrm rot="5400000">
              <a:off x="6551161"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Oval 614"/>
            <p:cNvSpPr/>
            <p:nvPr/>
          </p:nvSpPr>
          <p:spPr>
            <a:xfrm rot="5400000">
              <a:off x="655116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Oval 615"/>
            <p:cNvSpPr/>
            <p:nvPr/>
          </p:nvSpPr>
          <p:spPr>
            <a:xfrm rot="5400000">
              <a:off x="655116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Oval 616"/>
            <p:cNvSpPr/>
            <p:nvPr/>
          </p:nvSpPr>
          <p:spPr>
            <a:xfrm rot="5400000">
              <a:off x="6849611"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Oval 617"/>
            <p:cNvSpPr/>
            <p:nvPr/>
          </p:nvSpPr>
          <p:spPr>
            <a:xfrm rot="5400000">
              <a:off x="684961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Oval 618"/>
            <p:cNvSpPr/>
            <p:nvPr/>
          </p:nvSpPr>
          <p:spPr>
            <a:xfrm rot="5400000">
              <a:off x="684961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Oval 619"/>
            <p:cNvSpPr/>
            <p:nvPr/>
          </p:nvSpPr>
          <p:spPr>
            <a:xfrm rot="5400000">
              <a:off x="7148057"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Oval 620"/>
            <p:cNvSpPr/>
            <p:nvPr/>
          </p:nvSpPr>
          <p:spPr>
            <a:xfrm rot="5400000">
              <a:off x="7148057"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Oval 621"/>
            <p:cNvSpPr/>
            <p:nvPr/>
          </p:nvSpPr>
          <p:spPr>
            <a:xfrm rot="5400000">
              <a:off x="7148057" y="660043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Oval 622"/>
            <p:cNvSpPr/>
            <p:nvPr/>
          </p:nvSpPr>
          <p:spPr>
            <a:xfrm rot="5400000">
              <a:off x="7447186"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Oval 623"/>
            <p:cNvSpPr/>
            <p:nvPr/>
          </p:nvSpPr>
          <p:spPr>
            <a:xfrm rot="5400000">
              <a:off x="7745632"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Oval 624"/>
            <p:cNvSpPr/>
            <p:nvPr/>
          </p:nvSpPr>
          <p:spPr>
            <a:xfrm rot="5400000">
              <a:off x="7745632"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Oval 625"/>
            <p:cNvSpPr/>
            <p:nvPr/>
          </p:nvSpPr>
          <p:spPr>
            <a:xfrm rot="5400000">
              <a:off x="7745632"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Oval 626"/>
            <p:cNvSpPr/>
            <p:nvPr/>
          </p:nvSpPr>
          <p:spPr>
            <a:xfrm rot="5400000">
              <a:off x="7745632"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Oval 627"/>
            <p:cNvSpPr/>
            <p:nvPr/>
          </p:nvSpPr>
          <p:spPr>
            <a:xfrm rot="5400000">
              <a:off x="7745632"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Oval 628"/>
            <p:cNvSpPr/>
            <p:nvPr/>
          </p:nvSpPr>
          <p:spPr>
            <a:xfrm rot="5400000">
              <a:off x="8040074"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Oval 629"/>
            <p:cNvSpPr/>
            <p:nvPr/>
          </p:nvSpPr>
          <p:spPr>
            <a:xfrm rot="5400000">
              <a:off x="804007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Oval 630"/>
            <p:cNvSpPr/>
            <p:nvPr/>
          </p:nvSpPr>
          <p:spPr>
            <a:xfrm rot="5400000">
              <a:off x="834389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Oval 631"/>
            <p:cNvSpPr/>
            <p:nvPr/>
          </p:nvSpPr>
          <p:spPr>
            <a:xfrm rot="5400000">
              <a:off x="8343894" y="630277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Oval 632"/>
            <p:cNvSpPr/>
            <p:nvPr/>
          </p:nvSpPr>
          <p:spPr>
            <a:xfrm rot="5400000">
              <a:off x="8343894" y="660043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Oval 633"/>
            <p:cNvSpPr/>
            <p:nvPr/>
          </p:nvSpPr>
          <p:spPr>
            <a:xfrm rot="5400000">
              <a:off x="8641166"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Oval 634"/>
            <p:cNvSpPr/>
            <p:nvPr/>
          </p:nvSpPr>
          <p:spPr>
            <a:xfrm rot="5400000">
              <a:off x="8929236" y="570746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Oval 635"/>
            <p:cNvSpPr/>
            <p:nvPr/>
          </p:nvSpPr>
          <p:spPr>
            <a:xfrm rot="5400000">
              <a:off x="8929236" y="630277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Oval 636"/>
            <p:cNvSpPr/>
            <p:nvPr/>
          </p:nvSpPr>
          <p:spPr>
            <a:xfrm rot="5400000">
              <a:off x="9228366"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Oval 637"/>
            <p:cNvSpPr/>
            <p:nvPr/>
          </p:nvSpPr>
          <p:spPr>
            <a:xfrm rot="5400000">
              <a:off x="9228366"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Oval 638"/>
            <p:cNvSpPr/>
            <p:nvPr/>
          </p:nvSpPr>
          <p:spPr>
            <a:xfrm rot="5400000">
              <a:off x="9526812"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Oval 639"/>
            <p:cNvSpPr/>
            <p:nvPr/>
          </p:nvSpPr>
          <p:spPr>
            <a:xfrm rot="5400000">
              <a:off x="9526812"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Oval 640"/>
            <p:cNvSpPr/>
            <p:nvPr/>
          </p:nvSpPr>
          <p:spPr>
            <a:xfrm rot="5400000">
              <a:off x="9821254"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Oval 641"/>
            <p:cNvSpPr/>
            <p:nvPr/>
          </p:nvSpPr>
          <p:spPr>
            <a:xfrm rot="5400000">
              <a:off x="9821254"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Oval 642"/>
            <p:cNvSpPr/>
            <p:nvPr/>
          </p:nvSpPr>
          <p:spPr>
            <a:xfrm rot="5400000">
              <a:off x="10125074"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Oval 643"/>
            <p:cNvSpPr/>
            <p:nvPr/>
          </p:nvSpPr>
          <p:spPr>
            <a:xfrm rot="5400000">
              <a:off x="10422346" y="570747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Oval 644"/>
            <p:cNvSpPr/>
            <p:nvPr/>
          </p:nvSpPr>
          <p:spPr>
            <a:xfrm rot="5400000">
              <a:off x="10422346" y="630278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Oval 645"/>
            <p:cNvSpPr/>
            <p:nvPr/>
          </p:nvSpPr>
          <p:spPr>
            <a:xfrm rot="5400000">
              <a:off x="10422346" y="660043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7" name="Oval 646"/>
            <p:cNvSpPr/>
            <p:nvPr/>
          </p:nvSpPr>
          <p:spPr>
            <a:xfrm rot="5400000">
              <a:off x="10726068"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Oval 647"/>
            <p:cNvSpPr/>
            <p:nvPr/>
          </p:nvSpPr>
          <p:spPr>
            <a:xfrm rot="5400000">
              <a:off x="10726068"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Oval 648"/>
            <p:cNvSpPr/>
            <p:nvPr/>
          </p:nvSpPr>
          <p:spPr>
            <a:xfrm rot="5400000">
              <a:off x="1102769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Oval 649"/>
            <p:cNvSpPr/>
            <p:nvPr/>
          </p:nvSpPr>
          <p:spPr>
            <a:xfrm rot="5400000">
              <a:off x="11322334"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Oval 650"/>
            <p:cNvSpPr/>
            <p:nvPr userDrawn="1"/>
          </p:nvSpPr>
          <p:spPr>
            <a:xfrm rot="5400000">
              <a:off x="1132233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Oval 651"/>
            <p:cNvSpPr/>
            <p:nvPr/>
          </p:nvSpPr>
          <p:spPr>
            <a:xfrm rot="5400000">
              <a:off x="1161960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3" name="Tijdelijke aanduiding voor tekst 10">
            <a:extLst>
              <a:ext uri="{FF2B5EF4-FFF2-40B4-BE49-F238E27FC236}">
                <a16:creationId xmlns:a16="http://schemas.microsoft.com/office/drawing/2014/main" id="{0BF1D710-5F93-4654-8D54-CD40B1D335E1}"/>
              </a:ext>
            </a:extLst>
          </p:cNvPr>
          <p:cNvSpPr>
            <a:spLocks noGrp="1"/>
          </p:cNvSpPr>
          <p:nvPr>
            <p:ph type="body" sz="quarter" idx="12" hasCustomPrompt="1"/>
          </p:nvPr>
        </p:nvSpPr>
        <p:spPr>
          <a:xfrm>
            <a:off x="766763" y="4768439"/>
            <a:ext cx="10658474" cy="881063"/>
          </a:xfrm>
          <a:prstGeom prst="rect">
            <a:avLst/>
          </a:prstGeom>
        </p:spPr>
        <p:txBody>
          <a:bodyPr lIns="1828800" tIns="0" rIns="1828800" bIns="0">
            <a:normAutofit/>
          </a:bodyPr>
          <a:lstStyle>
            <a:lvl1pPr marL="0" indent="0" algn="ctr">
              <a:buFontTx/>
              <a:buNone/>
              <a:defRPr sz="2000" b="0" baseline="0">
                <a:solidFill>
                  <a:schemeClr val="accent3"/>
                </a:solidFill>
                <a:latin typeface="Segoe UI Semibold" panose="020B0702040204020203" pitchFamily="34" charset="0"/>
                <a:cs typeface="Segoe UI Semibold" panose="020B0702040204020203" pitchFamily="34" charset="0"/>
              </a:defRPr>
            </a:lvl1pPr>
          </a:lstStyle>
          <a:p>
            <a:pPr lvl="0"/>
            <a:r>
              <a:rPr lang="nl-BE"/>
              <a:t>Click to add a name</a:t>
            </a:r>
            <a:endParaRPr lang="en-BE" dirty="0"/>
          </a:p>
        </p:txBody>
      </p:sp>
      <p:sp>
        <p:nvSpPr>
          <p:cNvPr id="654" name="Tijdelijke aanduiding voor tekst 8">
            <a:extLst>
              <a:ext uri="{FF2B5EF4-FFF2-40B4-BE49-F238E27FC236}">
                <a16:creationId xmlns:a16="http://schemas.microsoft.com/office/drawing/2014/main" id="{7F4BDD94-FB2C-4502-A2BB-86CAD3E59940}"/>
              </a:ext>
            </a:extLst>
          </p:cNvPr>
          <p:cNvSpPr>
            <a:spLocks noGrp="1"/>
          </p:cNvSpPr>
          <p:nvPr>
            <p:ph type="body" sz="quarter" idx="11" hasCustomPrompt="1"/>
          </p:nvPr>
        </p:nvSpPr>
        <p:spPr>
          <a:xfrm>
            <a:off x="766763" y="2324100"/>
            <a:ext cx="10658474" cy="2197100"/>
          </a:xfrm>
          <a:prstGeom prst="rect">
            <a:avLst/>
          </a:prstGeom>
        </p:spPr>
        <p:txBody>
          <a:bodyPr lIns="1371600" tIns="0" rIns="1371600" bIns="0" anchor="ctr" anchorCtr="0">
            <a:noAutofit/>
          </a:bodyPr>
          <a:lstStyle>
            <a:lvl1pPr marL="0" indent="0" algn="ctr">
              <a:spcBef>
                <a:spcPts val="600"/>
              </a:spcBef>
              <a:buFontTx/>
              <a:buNone/>
              <a:defRPr sz="3200">
                <a:solidFill>
                  <a:schemeClr val="bg1"/>
                </a:solidFill>
                <a:latin typeface="Georgia" panose="02040502050405020303" pitchFamily="18" charset="0"/>
                <a:cs typeface="Segoe UI Semibold" panose="020B0702040204020203" pitchFamily="34" charset="0"/>
              </a:defRPr>
            </a:lvl1pPr>
          </a:lstStyle>
          <a:p>
            <a:pPr lvl="0"/>
            <a:r>
              <a:rPr lang="nl-NL"/>
              <a:t>Click to add a quote</a:t>
            </a:r>
            <a:endParaRPr lang="nl-NL" dirty="0"/>
          </a:p>
        </p:txBody>
      </p:sp>
      <p:pic>
        <p:nvPicPr>
          <p:cNvPr id="218" name="Picture 2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18560" y="1055688"/>
            <a:ext cx="972444" cy="1153070"/>
          </a:xfrm>
          <a:prstGeom prst="rect">
            <a:avLst/>
          </a:prstGeom>
        </p:spPr>
      </p:pic>
      <p:pic>
        <p:nvPicPr>
          <p:cNvPr id="98"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3"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
        <p:nvSpPr>
          <p:cNvPr id="99"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00"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26175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439" name="Rectangle 438"/>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6" name="Group 565"/>
          <p:cNvGrpSpPr/>
          <p:nvPr userDrawn="1"/>
        </p:nvGrpSpPr>
        <p:grpSpPr>
          <a:xfrm>
            <a:off x="344587" y="5301326"/>
            <a:ext cx="11847413" cy="1418438"/>
            <a:chOff x="0" y="5409807"/>
            <a:chExt cx="11847413" cy="1418438"/>
          </a:xfrm>
        </p:grpSpPr>
        <p:sp>
          <p:nvSpPr>
            <p:cNvPr id="567" name="Oval 566"/>
            <p:cNvSpPr/>
            <p:nvPr/>
          </p:nvSpPr>
          <p:spPr>
            <a:xfrm rot="5400000">
              <a:off x="0"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p:cNvSpPr/>
            <p:nvPr/>
          </p:nvSpPr>
          <p:spPr>
            <a:xfrm rot="5400000">
              <a:off x="596266"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p:cNvSpPr/>
            <p:nvPr/>
          </p:nvSpPr>
          <p:spPr>
            <a:xfrm rot="5400000">
              <a:off x="893538"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Oval 573"/>
            <p:cNvSpPr/>
            <p:nvPr/>
          </p:nvSpPr>
          <p:spPr>
            <a:xfrm rot="5400000">
              <a:off x="1188586"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Oval 574"/>
            <p:cNvSpPr/>
            <p:nvPr/>
          </p:nvSpPr>
          <p:spPr>
            <a:xfrm rot="5400000">
              <a:off x="118858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Oval 575"/>
            <p:cNvSpPr/>
            <p:nvPr/>
          </p:nvSpPr>
          <p:spPr>
            <a:xfrm rot="5400000">
              <a:off x="1188586"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Oval 576"/>
            <p:cNvSpPr/>
            <p:nvPr/>
          </p:nvSpPr>
          <p:spPr>
            <a:xfrm rot="5400000">
              <a:off x="1487036"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Oval 577"/>
            <p:cNvSpPr/>
            <p:nvPr/>
          </p:nvSpPr>
          <p:spPr>
            <a:xfrm rot="5400000">
              <a:off x="148703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Oval 579"/>
            <p:cNvSpPr/>
            <p:nvPr/>
          </p:nvSpPr>
          <p:spPr>
            <a:xfrm rot="5400000">
              <a:off x="1785482"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Oval 580"/>
            <p:cNvSpPr/>
            <p:nvPr/>
          </p:nvSpPr>
          <p:spPr>
            <a:xfrm rot="5400000">
              <a:off x="1785482"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Oval 582"/>
            <p:cNvSpPr/>
            <p:nvPr/>
          </p:nvSpPr>
          <p:spPr>
            <a:xfrm rot="5400000">
              <a:off x="2084611"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p:cNvSpPr/>
            <p:nvPr/>
          </p:nvSpPr>
          <p:spPr>
            <a:xfrm rot="5400000">
              <a:off x="2383057"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Oval 584"/>
            <p:cNvSpPr/>
            <p:nvPr/>
          </p:nvSpPr>
          <p:spPr>
            <a:xfrm rot="5400000">
              <a:off x="2383057"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Oval 585"/>
            <p:cNvSpPr/>
            <p:nvPr/>
          </p:nvSpPr>
          <p:spPr>
            <a:xfrm rot="5400000">
              <a:off x="2383057"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p:cNvSpPr/>
            <p:nvPr/>
          </p:nvSpPr>
          <p:spPr>
            <a:xfrm rot="5400000">
              <a:off x="2383057"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p:cNvSpPr/>
            <p:nvPr/>
          </p:nvSpPr>
          <p:spPr>
            <a:xfrm rot="5400000">
              <a:off x="2383057"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p:cNvSpPr/>
            <p:nvPr/>
          </p:nvSpPr>
          <p:spPr>
            <a:xfrm rot="5400000">
              <a:off x="2677499"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Oval 589"/>
            <p:cNvSpPr/>
            <p:nvPr/>
          </p:nvSpPr>
          <p:spPr>
            <a:xfrm rot="5400000">
              <a:off x="2677499"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Oval 590"/>
            <p:cNvSpPr/>
            <p:nvPr/>
          </p:nvSpPr>
          <p:spPr>
            <a:xfrm rot="5400000">
              <a:off x="2981320" y="600512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Oval 591"/>
            <p:cNvSpPr/>
            <p:nvPr/>
          </p:nvSpPr>
          <p:spPr>
            <a:xfrm rot="5400000">
              <a:off x="2981320" y="630277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Oval 592"/>
            <p:cNvSpPr/>
            <p:nvPr/>
          </p:nvSpPr>
          <p:spPr>
            <a:xfrm rot="5400000">
              <a:off x="2981320" y="660043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Oval 593"/>
            <p:cNvSpPr/>
            <p:nvPr/>
          </p:nvSpPr>
          <p:spPr>
            <a:xfrm rot="5400000">
              <a:off x="3278592"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Oval 594"/>
            <p:cNvSpPr/>
            <p:nvPr/>
          </p:nvSpPr>
          <p:spPr>
            <a:xfrm rot="5400000">
              <a:off x="3566662" y="570746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Oval 595"/>
            <p:cNvSpPr/>
            <p:nvPr/>
          </p:nvSpPr>
          <p:spPr>
            <a:xfrm rot="5400000">
              <a:off x="3566662" y="630277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Oval 596"/>
            <p:cNvSpPr/>
            <p:nvPr/>
          </p:nvSpPr>
          <p:spPr>
            <a:xfrm rot="5400000">
              <a:off x="3865791"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Oval 597"/>
            <p:cNvSpPr/>
            <p:nvPr/>
          </p:nvSpPr>
          <p:spPr>
            <a:xfrm rot="5400000">
              <a:off x="3865791"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Oval 598"/>
            <p:cNvSpPr/>
            <p:nvPr/>
          </p:nvSpPr>
          <p:spPr>
            <a:xfrm rot="5400000">
              <a:off x="4164237"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Oval 599"/>
            <p:cNvSpPr/>
            <p:nvPr/>
          </p:nvSpPr>
          <p:spPr>
            <a:xfrm rot="5400000">
              <a:off x="4164237"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Oval 600"/>
            <p:cNvSpPr/>
            <p:nvPr/>
          </p:nvSpPr>
          <p:spPr>
            <a:xfrm rot="5400000">
              <a:off x="4458679"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Oval 601"/>
            <p:cNvSpPr/>
            <p:nvPr/>
          </p:nvSpPr>
          <p:spPr>
            <a:xfrm rot="5400000">
              <a:off x="4458679"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Oval 602"/>
            <p:cNvSpPr/>
            <p:nvPr/>
          </p:nvSpPr>
          <p:spPr>
            <a:xfrm rot="5400000">
              <a:off x="4762499"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Oval 603"/>
            <p:cNvSpPr/>
            <p:nvPr/>
          </p:nvSpPr>
          <p:spPr>
            <a:xfrm rot="5400000">
              <a:off x="5059770" y="570746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Oval 604"/>
            <p:cNvSpPr/>
            <p:nvPr/>
          </p:nvSpPr>
          <p:spPr>
            <a:xfrm rot="5400000">
              <a:off x="5059770"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Oval 605"/>
            <p:cNvSpPr/>
            <p:nvPr/>
          </p:nvSpPr>
          <p:spPr>
            <a:xfrm rot="5400000">
              <a:off x="5059770"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Oval 606"/>
            <p:cNvSpPr/>
            <p:nvPr/>
          </p:nvSpPr>
          <p:spPr>
            <a:xfrm rot="5400000">
              <a:off x="5362575"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Oval 607"/>
            <p:cNvSpPr/>
            <p:nvPr/>
          </p:nvSpPr>
          <p:spPr>
            <a:xfrm rot="5400000">
              <a:off x="5362575"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Oval 608"/>
            <p:cNvSpPr/>
            <p:nvPr/>
          </p:nvSpPr>
          <p:spPr>
            <a:xfrm rot="5400000">
              <a:off x="566420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Oval 609"/>
            <p:cNvSpPr/>
            <p:nvPr/>
          </p:nvSpPr>
          <p:spPr>
            <a:xfrm rot="5400000">
              <a:off x="5664201" y="660042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p:cNvSpPr/>
            <p:nvPr/>
          </p:nvSpPr>
          <p:spPr>
            <a:xfrm rot="5400000">
              <a:off x="5958841"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Oval 611"/>
            <p:cNvSpPr/>
            <p:nvPr userDrawn="1"/>
          </p:nvSpPr>
          <p:spPr>
            <a:xfrm rot="5400000">
              <a:off x="5958841"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Oval 612"/>
            <p:cNvSpPr/>
            <p:nvPr/>
          </p:nvSpPr>
          <p:spPr>
            <a:xfrm rot="5400000">
              <a:off x="6256113"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Oval 613"/>
            <p:cNvSpPr/>
            <p:nvPr/>
          </p:nvSpPr>
          <p:spPr>
            <a:xfrm rot="5400000">
              <a:off x="6551161" y="600511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Oval 614"/>
            <p:cNvSpPr/>
            <p:nvPr/>
          </p:nvSpPr>
          <p:spPr>
            <a:xfrm rot="5400000">
              <a:off x="655116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Oval 615"/>
            <p:cNvSpPr/>
            <p:nvPr/>
          </p:nvSpPr>
          <p:spPr>
            <a:xfrm rot="5400000">
              <a:off x="655116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Oval 616"/>
            <p:cNvSpPr/>
            <p:nvPr/>
          </p:nvSpPr>
          <p:spPr>
            <a:xfrm rot="5400000">
              <a:off x="6849611" y="570746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Oval 617"/>
            <p:cNvSpPr/>
            <p:nvPr/>
          </p:nvSpPr>
          <p:spPr>
            <a:xfrm rot="5400000">
              <a:off x="6849611"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Oval 618"/>
            <p:cNvSpPr/>
            <p:nvPr/>
          </p:nvSpPr>
          <p:spPr>
            <a:xfrm rot="5400000">
              <a:off x="6849611" y="660042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Oval 619"/>
            <p:cNvSpPr/>
            <p:nvPr/>
          </p:nvSpPr>
          <p:spPr>
            <a:xfrm rot="5400000">
              <a:off x="7148057" y="600511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Oval 620"/>
            <p:cNvSpPr/>
            <p:nvPr/>
          </p:nvSpPr>
          <p:spPr>
            <a:xfrm rot="5400000">
              <a:off x="7148057" y="630277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Oval 621"/>
            <p:cNvSpPr/>
            <p:nvPr/>
          </p:nvSpPr>
          <p:spPr>
            <a:xfrm rot="5400000">
              <a:off x="7148057" y="660043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Oval 622"/>
            <p:cNvSpPr/>
            <p:nvPr/>
          </p:nvSpPr>
          <p:spPr>
            <a:xfrm rot="5400000">
              <a:off x="7447186"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Oval 623"/>
            <p:cNvSpPr/>
            <p:nvPr/>
          </p:nvSpPr>
          <p:spPr>
            <a:xfrm rot="5400000">
              <a:off x="7745632" y="540980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Oval 624"/>
            <p:cNvSpPr/>
            <p:nvPr/>
          </p:nvSpPr>
          <p:spPr>
            <a:xfrm rot="5400000">
              <a:off x="7745632" y="570746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Oval 625"/>
            <p:cNvSpPr/>
            <p:nvPr/>
          </p:nvSpPr>
          <p:spPr>
            <a:xfrm rot="5400000">
              <a:off x="7745632" y="6005119"/>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Oval 626"/>
            <p:cNvSpPr/>
            <p:nvPr/>
          </p:nvSpPr>
          <p:spPr>
            <a:xfrm rot="5400000">
              <a:off x="7745632" y="630277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Oval 627"/>
            <p:cNvSpPr/>
            <p:nvPr/>
          </p:nvSpPr>
          <p:spPr>
            <a:xfrm rot="5400000">
              <a:off x="7745632" y="660043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Oval 628"/>
            <p:cNvSpPr/>
            <p:nvPr/>
          </p:nvSpPr>
          <p:spPr>
            <a:xfrm rot="5400000">
              <a:off x="8040074" y="570746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Oval 629"/>
            <p:cNvSpPr/>
            <p:nvPr/>
          </p:nvSpPr>
          <p:spPr>
            <a:xfrm rot="5400000">
              <a:off x="804007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Oval 630"/>
            <p:cNvSpPr/>
            <p:nvPr/>
          </p:nvSpPr>
          <p:spPr>
            <a:xfrm rot="5400000">
              <a:off x="8343894" y="600512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Oval 631"/>
            <p:cNvSpPr/>
            <p:nvPr/>
          </p:nvSpPr>
          <p:spPr>
            <a:xfrm rot="5400000">
              <a:off x="8343894" y="630277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Oval 632"/>
            <p:cNvSpPr/>
            <p:nvPr/>
          </p:nvSpPr>
          <p:spPr>
            <a:xfrm rot="5400000">
              <a:off x="8343894" y="660043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Oval 633"/>
            <p:cNvSpPr/>
            <p:nvPr/>
          </p:nvSpPr>
          <p:spPr>
            <a:xfrm rot="5400000">
              <a:off x="8641166" y="6600434"/>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Oval 634"/>
            <p:cNvSpPr/>
            <p:nvPr/>
          </p:nvSpPr>
          <p:spPr>
            <a:xfrm rot="5400000">
              <a:off x="8929236" y="570746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Oval 635"/>
            <p:cNvSpPr/>
            <p:nvPr/>
          </p:nvSpPr>
          <p:spPr>
            <a:xfrm rot="5400000">
              <a:off x="8929236" y="630277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Oval 636"/>
            <p:cNvSpPr/>
            <p:nvPr/>
          </p:nvSpPr>
          <p:spPr>
            <a:xfrm rot="5400000">
              <a:off x="9228366" y="600512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Oval 637"/>
            <p:cNvSpPr/>
            <p:nvPr/>
          </p:nvSpPr>
          <p:spPr>
            <a:xfrm rot="5400000">
              <a:off x="9228366" y="660043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Oval 638"/>
            <p:cNvSpPr/>
            <p:nvPr/>
          </p:nvSpPr>
          <p:spPr>
            <a:xfrm rot="5400000">
              <a:off x="9526812" y="540981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Oval 639"/>
            <p:cNvSpPr/>
            <p:nvPr/>
          </p:nvSpPr>
          <p:spPr>
            <a:xfrm rot="5400000">
              <a:off x="9526812" y="660043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Oval 640"/>
            <p:cNvSpPr/>
            <p:nvPr/>
          </p:nvSpPr>
          <p:spPr>
            <a:xfrm rot="5400000">
              <a:off x="9821254" y="600512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Oval 641"/>
            <p:cNvSpPr/>
            <p:nvPr/>
          </p:nvSpPr>
          <p:spPr>
            <a:xfrm rot="5400000">
              <a:off x="9821254" y="660043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Oval 642"/>
            <p:cNvSpPr/>
            <p:nvPr/>
          </p:nvSpPr>
          <p:spPr>
            <a:xfrm rot="5400000">
              <a:off x="10125074" y="6302781"/>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Oval 643"/>
            <p:cNvSpPr/>
            <p:nvPr/>
          </p:nvSpPr>
          <p:spPr>
            <a:xfrm rot="5400000">
              <a:off x="10422346" y="5707470"/>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Oval 644"/>
            <p:cNvSpPr/>
            <p:nvPr/>
          </p:nvSpPr>
          <p:spPr>
            <a:xfrm rot="5400000">
              <a:off x="10422346" y="630278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Oval 645"/>
            <p:cNvSpPr/>
            <p:nvPr/>
          </p:nvSpPr>
          <p:spPr>
            <a:xfrm rot="5400000">
              <a:off x="10422346" y="6600438"/>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7" name="Oval 646"/>
            <p:cNvSpPr/>
            <p:nvPr/>
          </p:nvSpPr>
          <p:spPr>
            <a:xfrm rot="5400000">
              <a:off x="10726068" y="6005115"/>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Oval 647"/>
            <p:cNvSpPr/>
            <p:nvPr/>
          </p:nvSpPr>
          <p:spPr>
            <a:xfrm rot="5400000">
              <a:off x="10726068" y="6600427"/>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Oval 648"/>
            <p:cNvSpPr/>
            <p:nvPr/>
          </p:nvSpPr>
          <p:spPr>
            <a:xfrm rot="5400000">
              <a:off x="1102769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Oval 649"/>
            <p:cNvSpPr/>
            <p:nvPr/>
          </p:nvSpPr>
          <p:spPr>
            <a:xfrm rot="5400000">
              <a:off x="11322334" y="6005116"/>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Oval 650"/>
            <p:cNvSpPr/>
            <p:nvPr userDrawn="1"/>
          </p:nvSpPr>
          <p:spPr>
            <a:xfrm rot="5400000">
              <a:off x="11322334" y="6302772"/>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Oval 651"/>
            <p:cNvSpPr/>
            <p:nvPr/>
          </p:nvSpPr>
          <p:spPr>
            <a:xfrm rot="5400000">
              <a:off x="11619606" y="6302773"/>
              <a:ext cx="227807" cy="227807"/>
            </a:xfrm>
            <a:prstGeom prst="ellipse">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3" name="Tijdelijke aanduiding voor tekst 10">
            <a:extLst>
              <a:ext uri="{FF2B5EF4-FFF2-40B4-BE49-F238E27FC236}">
                <a16:creationId xmlns:a16="http://schemas.microsoft.com/office/drawing/2014/main" id="{0BF1D710-5F93-4654-8D54-CD40B1D335E1}"/>
              </a:ext>
            </a:extLst>
          </p:cNvPr>
          <p:cNvSpPr>
            <a:spLocks noGrp="1"/>
          </p:cNvSpPr>
          <p:nvPr>
            <p:ph type="body" sz="quarter" idx="12" hasCustomPrompt="1"/>
          </p:nvPr>
        </p:nvSpPr>
        <p:spPr>
          <a:xfrm>
            <a:off x="766763" y="4768439"/>
            <a:ext cx="10658474" cy="881063"/>
          </a:xfrm>
          <a:prstGeom prst="rect">
            <a:avLst/>
          </a:prstGeom>
        </p:spPr>
        <p:txBody>
          <a:bodyPr lIns="1828800" tIns="0" rIns="1828800" bIns="0">
            <a:normAutofit/>
          </a:bodyPr>
          <a:lstStyle>
            <a:lvl1pPr marL="0" indent="0" algn="ctr">
              <a:buFontTx/>
              <a:buNone/>
              <a:defRPr sz="2000" b="0" baseline="0">
                <a:solidFill>
                  <a:schemeClr val="accent3"/>
                </a:solidFill>
                <a:latin typeface="Segoe UI Semibold" panose="020B0702040204020203" pitchFamily="34" charset="0"/>
                <a:cs typeface="Segoe UI Semibold" panose="020B0702040204020203" pitchFamily="34" charset="0"/>
              </a:defRPr>
            </a:lvl1pPr>
          </a:lstStyle>
          <a:p>
            <a:pPr lvl="0"/>
            <a:r>
              <a:rPr lang="nl-BE"/>
              <a:t>Click to add a name</a:t>
            </a:r>
            <a:endParaRPr lang="en-BE" dirty="0"/>
          </a:p>
        </p:txBody>
      </p:sp>
      <p:sp>
        <p:nvSpPr>
          <p:cNvPr id="654" name="Tijdelijke aanduiding voor tekst 8">
            <a:extLst>
              <a:ext uri="{FF2B5EF4-FFF2-40B4-BE49-F238E27FC236}">
                <a16:creationId xmlns:a16="http://schemas.microsoft.com/office/drawing/2014/main" id="{7F4BDD94-FB2C-4502-A2BB-86CAD3E59940}"/>
              </a:ext>
            </a:extLst>
          </p:cNvPr>
          <p:cNvSpPr>
            <a:spLocks noGrp="1"/>
          </p:cNvSpPr>
          <p:nvPr>
            <p:ph type="body" sz="quarter" idx="11" hasCustomPrompt="1"/>
          </p:nvPr>
        </p:nvSpPr>
        <p:spPr>
          <a:xfrm>
            <a:off x="766763" y="2324100"/>
            <a:ext cx="10658474" cy="2197100"/>
          </a:xfrm>
          <a:prstGeom prst="rect">
            <a:avLst/>
          </a:prstGeom>
        </p:spPr>
        <p:txBody>
          <a:bodyPr lIns="1371600" tIns="0" rIns="1371600" bIns="0" anchor="ctr" anchorCtr="0">
            <a:noAutofit/>
          </a:bodyPr>
          <a:lstStyle>
            <a:lvl1pPr marL="0" indent="0" algn="ctr">
              <a:spcBef>
                <a:spcPts val="600"/>
              </a:spcBef>
              <a:buFontTx/>
              <a:buNone/>
              <a:defRPr sz="3200">
                <a:solidFill>
                  <a:schemeClr val="bg1"/>
                </a:solidFill>
                <a:latin typeface="Georgia" panose="02040502050405020303" pitchFamily="18" charset="0"/>
                <a:cs typeface="Segoe UI Semibold" panose="020B0702040204020203" pitchFamily="34" charset="0"/>
              </a:defRPr>
            </a:lvl1pPr>
          </a:lstStyle>
          <a:p>
            <a:pPr lvl="0"/>
            <a:r>
              <a:rPr lang="nl-NL"/>
              <a:t>Click to add a quote</a:t>
            </a:r>
            <a:endParaRPr lang="nl-NL" dirty="0"/>
          </a:p>
        </p:txBody>
      </p:sp>
      <p:pic>
        <p:nvPicPr>
          <p:cNvPr id="217" name="Picture 2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18560" y="1055688"/>
            <a:ext cx="972444" cy="1153070"/>
          </a:xfrm>
          <a:prstGeom prst="rect">
            <a:avLst/>
          </a:prstGeom>
        </p:spPr>
      </p:pic>
      <p:sp>
        <p:nvSpPr>
          <p:cNvPr id="9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8"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780824"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96"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3"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Tree>
    <p:extLst>
      <p:ext uri="{BB962C8B-B14F-4D97-AF65-F5344CB8AC3E}">
        <p14:creationId xmlns:p14="http://schemas.microsoft.com/office/powerpoint/2010/main" val="7595187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info 1">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082B9D0C-0783-431C-BFBF-3A3AA871FE82}"/>
              </a:ext>
            </a:extLst>
          </p:cNvPr>
          <p:cNvSpPr>
            <a:spLocks noGrp="1"/>
          </p:cNvSpPr>
          <p:nvPr>
            <p:ph type="pic" sz="quarter" idx="12" hasCustomPrompt="1"/>
          </p:nvPr>
        </p:nvSpPr>
        <p:spPr>
          <a:xfrm>
            <a:off x="0" y="0"/>
            <a:ext cx="12192000" cy="6858000"/>
          </a:xfrm>
          <a:prstGeom prst="rect">
            <a:avLst/>
          </a:prstGeom>
          <a:solidFill>
            <a:schemeClr val="accent5">
              <a:lumMod val="50000"/>
              <a:alpha val="78000"/>
            </a:schemeClr>
          </a:solidFill>
        </p:spPr>
        <p:txBody>
          <a:bodyPr anchor="ctr" anchorCtr="0"/>
          <a:lstStyle>
            <a:lvl1pPr marL="0" indent="0" algn="r">
              <a:buFontTx/>
              <a:buNone/>
              <a:defRPr>
                <a:solidFill>
                  <a:schemeClr val="bg1"/>
                </a:solidFill>
              </a:defRPr>
            </a:lvl1pPr>
          </a:lstStyle>
          <a:p>
            <a:r>
              <a:rPr lang="en-US"/>
              <a:t>&lt;Click to add picture&lt;&lt;&lt;&lt;&lt;&lt;&lt;&lt;&lt;&lt;</a:t>
            </a:r>
            <a:endParaRPr lang="en-BE" dirty="0"/>
          </a:p>
        </p:txBody>
      </p:sp>
      <p:sp>
        <p:nvSpPr>
          <p:cNvPr id="26" name="Tijdelijke aanduiding voor tekst 25">
            <a:extLst>
              <a:ext uri="{FF2B5EF4-FFF2-40B4-BE49-F238E27FC236}">
                <a16:creationId xmlns:a16="http://schemas.microsoft.com/office/drawing/2014/main" id="{6A895D29-FC6A-432A-8385-E2F1D027CD96}"/>
              </a:ext>
            </a:extLst>
          </p:cNvPr>
          <p:cNvSpPr>
            <a:spLocks noGrp="1" noChangeAspect="1"/>
          </p:cNvSpPr>
          <p:nvPr>
            <p:ph type="body" sz="quarter" idx="13" hasCustomPrompt="1"/>
          </p:nvPr>
        </p:nvSpPr>
        <p:spPr>
          <a:xfrm>
            <a:off x="766763" y="800100"/>
            <a:ext cx="5329239" cy="5257800"/>
          </a:xfrm>
          <a:prstGeom prst="rect">
            <a:avLst/>
          </a:prstGeom>
          <a:blipFill dpi="0" rotWithShape="1">
            <a:blip r:embed="rId2">
              <a:alphaModFix amt="50000"/>
            </a:blip>
            <a:srcRect/>
            <a:stretch>
              <a:fillRect/>
            </a:stretch>
          </a:blipFill>
        </p:spPr>
        <p:txBody>
          <a:bodyPr lIns="1005840" tIns="2194560" rIns="182880" bIns="1188720"/>
          <a:lstStyle>
            <a:lvl1pPr marL="0" indent="0">
              <a:buFontTx/>
              <a:buNone/>
              <a:defRPr sz="2400" b="1">
                <a:solidFill>
                  <a:schemeClr val="bg1"/>
                </a:solidFill>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BE"/>
              <a:t> </a:t>
            </a:r>
            <a:endParaRPr lang="en-BE" dirty="0"/>
          </a:p>
        </p:txBody>
      </p:sp>
      <p:sp>
        <p:nvSpPr>
          <p:cNvPr id="253" name="Titel 1">
            <a:extLst>
              <a:ext uri="{FF2B5EF4-FFF2-40B4-BE49-F238E27FC236}">
                <a16:creationId xmlns:a16="http://schemas.microsoft.com/office/drawing/2014/main" id="{F8EDE2AA-5EC7-4E82-852A-FE7B050223C2}"/>
              </a:ext>
            </a:extLst>
          </p:cNvPr>
          <p:cNvSpPr>
            <a:spLocks noGrp="1"/>
          </p:cNvSpPr>
          <p:nvPr>
            <p:ph type="title"/>
          </p:nvPr>
        </p:nvSpPr>
        <p:spPr>
          <a:xfrm>
            <a:off x="1471817" y="1479973"/>
            <a:ext cx="2992891" cy="711201"/>
          </a:xfrm>
          <a:prstGeom prst="rect">
            <a:avLst/>
          </a:prstGeom>
        </p:spPr>
        <p:txBody>
          <a:bodyPr lIns="0" tIns="0" rIns="0" bIns="0">
            <a:normAutofit/>
          </a:bodyPr>
          <a:lstStyle>
            <a:lvl1pPr>
              <a:defRPr lang="en-BE" sz="2800" b="1" kern="1200" dirty="0">
                <a:solidFill>
                  <a:schemeClr val="bg1"/>
                </a:solidFill>
                <a:latin typeface="+mn-lt"/>
                <a:ea typeface="+mn-ea"/>
                <a:cs typeface="+mn-cs"/>
              </a:defRPr>
            </a:lvl1pPr>
          </a:lstStyle>
          <a:p>
            <a:r>
              <a:rPr lang="en-US"/>
              <a:t>Click to edit Master title style</a:t>
            </a:r>
            <a:endParaRPr lang="en-BE" dirty="0"/>
          </a:p>
        </p:txBody>
      </p:sp>
      <p:sp>
        <p:nvSpPr>
          <p:cNvPr id="25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1472072" y="2191174"/>
            <a:ext cx="2983043" cy="1086811"/>
          </a:xfrm>
          <a:prstGeom prst="rect">
            <a:avLst/>
          </a:prstGeom>
        </p:spPr>
        <p:txBody>
          <a:bodyPr lIns="0" tIns="0" rIns="0" bIns="91440">
            <a:normAutofit/>
          </a:bodyPr>
          <a:lstStyle>
            <a:lvl1pPr marL="0" indent="0">
              <a:buFontTx/>
              <a:buNone/>
              <a:defRPr lang="nl-NL" sz="2400" kern="1200" dirty="0">
                <a:solidFill>
                  <a:schemeClr val="bg1"/>
                </a:solidFill>
                <a:latin typeface="Georgia" panose="02040502050405020303" pitchFamily="18" charset="0"/>
                <a:ea typeface="+mn-ea"/>
                <a:cs typeface="+mn-cs"/>
              </a:defRPr>
            </a:lvl1pPr>
          </a:lstStyle>
          <a:p>
            <a:pPr lvl="0"/>
            <a:r>
              <a:rPr lang="en-US"/>
              <a:t>Edit Master text styles</a:t>
            </a:r>
          </a:p>
        </p:txBody>
      </p:sp>
      <p:sp>
        <p:nvSpPr>
          <p:cNvPr id="25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705020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spTree>
    <p:extLst>
      <p:ext uri="{BB962C8B-B14F-4D97-AF65-F5344CB8AC3E}">
        <p14:creationId xmlns:p14="http://schemas.microsoft.com/office/powerpoint/2010/main" val="11376357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icture with info 2">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082B9D0C-0783-431C-BFBF-3A3AA871FE82}"/>
              </a:ext>
            </a:extLst>
          </p:cNvPr>
          <p:cNvSpPr>
            <a:spLocks noGrp="1"/>
          </p:cNvSpPr>
          <p:nvPr>
            <p:ph type="pic" sz="quarter" idx="12" hasCustomPrompt="1"/>
          </p:nvPr>
        </p:nvSpPr>
        <p:spPr>
          <a:xfrm>
            <a:off x="0" y="0"/>
            <a:ext cx="12192000" cy="6858000"/>
          </a:xfrm>
          <a:prstGeom prst="rect">
            <a:avLst/>
          </a:prstGeom>
          <a:solidFill>
            <a:schemeClr val="accent5">
              <a:lumMod val="50000"/>
              <a:alpha val="78000"/>
            </a:schemeClr>
          </a:solidFill>
        </p:spPr>
        <p:txBody>
          <a:bodyPr anchor="ctr" anchorCtr="0"/>
          <a:lstStyle>
            <a:lvl1pPr marL="0" marR="0" indent="0" algn="l" defTabSz="914400" rtl="0" eaLnBrk="1" fontAlgn="auto" latinLnBrk="0" hangingPunct="1">
              <a:lnSpc>
                <a:spcPct val="90000"/>
              </a:lnSpc>
              <a:spcBef>
                <a:spcPts val="1000"/>
              </a:spcBef>
              <a:spcAft>
                <a:spcPts val="0"/>
              </a:spcAft>
              <a:buClr>
                <a:schemeClr val="accent2"/>
              </a:buClr>
              <a:buSzTx/>
              <a:buFontTx/>
              <a:buNone/>
              <a:tabLst/>
              <a:defRPr baseline="0">
                <a:solidFill>
                  <a:schemeClr val="bg1"/>
                </a:solidFill>
              </a:defRPr>
            </a:lvl1pPr>
          </a:lstStyle>
          <a:p>
            <a:r>
              <a:rPr lang="en-US"/>
              <a:t>&gt;&gt;&gt;&gt;&gt;&gt;&gt;&gt;&gt; Click to add picture &gt;</a:t>
            </a:r>
            <a:endParaRPr lang="en-BE" dirty="0"/>
          </a:p>
        </p:txBody>
      </p:sp>
      <p:sp>
        <p:nvSpPr>
          <p:cNvPr id="6" name="Tijdelijke aanduiding voor tekst 25">
            <a:extLst>
              <a:ext uri="{FF2B5EF4-FFF2-40B4-BE49-F238E27FC236}">
                <a16:creationId xmlns:a16="http://schemas.microsoft.com/office/drawing/2014/main" id="{6A895D29-FC6A-432A-8385-E2F1D027CD96}"/>
              </a:ext>
            </a:extLst>
          </p:cNvPr>
          <p:cNvSpPr>
            <a:spLocks noGrp="1" noChangeAspect="1"/>
          </p:cNvSpPr>
          <p:nvPr>
            <p:ph type="body" sz="quarter" idx="13" hasCustomPrompt="1"/>
          </p:nvPr>
        </p:nvSpPr>
        <p:spPr>
          <a:xfrm flipH="1">
            <a:off x="6096000" y="800100"/>
            <a:ext cx="5329238" cy="5257800"/>
          </a:xfrm>
          <a:prstGeom prst="rect">
            <a:avLst/>
          </a:prstGeom>
          <a:blipFill dpi="0" rotWithShape="1">
            <a:blip r:embed="rId2">
              <a:alphaModFix amt="50000"/>
            </a:blip>
            <a:srcRect/>
            <a:stretch>
              <a:fillRect/>
            </a:stretch>
          </a:blipFill>
        </p:spPr>
        <p:txBody>
          <a:bodyPr lIns="1005840" tIns="2194560" rIns="182880" bIns="1188720"/>
          <a:lstStyle>
            <a:lvl1pPr marL="0" indent="0">
              <a:buFontTx/>
              <a:buNone/>
              <a:defRPr sz="2400" b="1">
                <a:solidFill>
                  <a:schemeClr val="bg1"/>
                </a:solidFill>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BE"/>
              <a:t> </a:t>
            </a:r>
            <a:endParaRPr lang="en-BE" dirty="0"/>
          </a:p>
        </p:txBody>
      </p:sp>
      <p:sp>
        <p:nvSpPr>
          <p:cNvPr id="253" name="Titel 1">
            <a:extLst>
              <a:ext uri="{FF2B5EF4-FFF2-40B4-BE49-F238E27FC236}">
                <a16:creationId xmlns:a16="http://schemas.microsoft.com/office/drawing/2014/main" id="{F8EDE2AA-5EC7-4E82-852A-FE7B050223C2}"/>
              </a:ext>
            </a:extLst>
          </p:cNvPr>
          <p:cNvSpPr>
            <a:spLocks noGrp="1"/>
          </p:cNvSpPr>
          <p:nvPr>
            <p:ph type="title"/>
          </p:nvPr>
        </p:nvSpPr>
        <p:spPr>
          <a:xfrm>
            <a:off x="7780020" y="1479973"/>
            <a:ext cx="2992891" cy="711201"/>
          </a:xfrm>
          <a:prstGeom prst="rect">
            <a:avLst/>
          </a:prstGeom>
        </p:spPr>
        <p:txBody>
          <a:bodyPr lIns="0" tIns="0" rIns="0" bIns="0">
            <a:normAutofit/>
          </a:bodyPr>
          <a:lstStyle>
            <a:lvl1pPr>
              <a:defRPr lang="en-BE" sz="2800" b="1" kern="1200" dirty="0">
                <a:solidFill>
                  <a:schemeClr val="bg1"/>
                </a:solidFill>
                <a:latin typeface="+mn-lt"/>
                <a:ea typeface="+mn-ea"/>
                <a:cs typeface="+mn-cs"/>
              </a:defRPr>
            </a:lvl1pPr>
          </a:lstStyle>
          <a:p>
            <a:r>
              <a:rPr lang="en-US"/>
              <a:t>Click to edit Master title style</a:t>
            </a:r>
            <a:endParaRPr lang="en-BE" dirty="0"/>
          </a:p>
        </p:txBody>
      </p:sp>
      <p:sp>
        <p:nvSpPr>
          <p:cNvPr id="25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7780275" y="2191174"/>
            <a:ext cx="2983043" cy="1086811"/>
          </a:xfrm>
          <a:prstGeom prst="rect">
            <a:avLst/>
          </a:prstGeom>
        </p:spPr>
        <p:txBody>
          <a:bodyPr lIns="0" tIns="0" rIns="0" bIns="91440">
            <a:normAutofit/>
          </a:bodyPr>
          <a:lstStyle>
            <a:lvl1pPr marL="0" indent="0">
              <a:buFontTx/>
              <a:buNone/>
              <a:defRPr lang="nl-NL" sz="2400" kern="1200" dirty="0">
                <a:solidFill>
                  <a:schemeClr val="bg1"/>
                </a:solidFill>
                <a:latin typeface="Georgia" panose="02040502050405020303" pitchFamily="18" charset="0"/>
                <a:ea typeface="+mn-ea"/>
                <a:cs typeface="+mn-cs"/>
              </a:defRPr>
            </a:lvl1pPr>
          </a:lstStyle>
          <a:p>
            <a:pPr lvl="0"/>
            <a:r>
              <a:rPr lang="en-US"/>
              <a:t>Edit Master text styles</a:t>
            </a:r>
          </a:p>
        </p:txBody>
      </p:sp>
      <p:sp>
        <p:nvSpPr>
          <p:cNvPr id="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7055229"/>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spTree>
    <p:extLst>
      <p:ext uri="{BB962C8B-B14F-4D97-AF65-F5344CB8AC3E}">
        <p14:creationId xmlns:p14="http://schemas.microsoft.com/office/powerpoint/2010/main" val="29765809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icture with info 3">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082B9D0C-0783-431C-BFBF-3A3AA871FE82}"/>
              </a:ext>
            </a:extLst>
          </p:cNvPr>
          <p:cNvSpPr>
            <a:spLocks noGrp="1"/>
          </p:cNvSpPr>
          <p:nvPr>
            <p:ph type="pic" sz="quarter" idx="12" hasCustomPrompt="1"/>
          </p:nvPr>
        </p:nvSpPr>
        <p:spPr>
          <a:xfrm>
            <a:off x="0" y="0"/>
            <a:ext cx="12192000" cy="6858000"/>
          </a:xfrm>
          <a:prstGeom prst="rect">
            <a:avLst/>
          </a:prstGeom>
          <a:solidFill>
            <a:schemeClr val="bg1">
              <a:lumMod val="85000"/>
              <a:alpha val="78000"/>
            </a:schemeClr>
          </a:solidFill>
        </p:spPr>
        <p:txBody>
          <a:bodyPr anchor="ctr" anchorCtr="0"/>
          <a:lstStyle>
            <a:lvl1pPr marL="0" indent="0" algn="r">
              <a:buFontTx/>
              <a:buNone/>
              <a:defRPr>
                <a:solidFill>
                  <a:schemeClr val="tx1"/>
                </a:solidFill>
              </a:defRPr>
            </a:lvl1pPr>
          </a:lstStyle>
          <a:p>
            <a:r>
              <a:rPr lang="en-US"/>
              <a:t>&lt;Click to add picture&lt;&lt;&lt;&lt;&lt;&lt;&lt;&lt;&lt;&lt;</a:t>
            </a:r>
            <a:endParaRPr lang="en-BE" dirty="0"/>
          </a:p>
        </p:txBody>
      </p:sp>
      <p:sp>
        <p:nvSpPr>
          <p:cNvPr id="26" name="Tijdelijke aanduiding voor tekst 25">
            <a:extLst>
              <a:ext uri="{FF2B5EF4-FFF2-40B4-BE49-F238E27FC236}">
                <a16:creationId xmlns:a16="http://schemas.microsoft.com/office/drawing/2014/main" id="{6A895D29-FC6A-432A-8385-E2F1D027CD96}"/>
              </a:ext>
            </a:extLst>
          </p:cNvPr>
          <p:cNvSpPr>
            <a:spLocks noGrp="1" noChangeAspect="1"/>
          </p:cNvSpPr>
          <p:nvPr>
            <p:ph type="body" sz="quarter" idx="13" hasCustomPrompt="1"/>
          </p:nvPr>
        </p:nvSpPr>
        <p:spPr>
          <a:xfrm>
            <a:off x="766763" y="800100"/>
            <a:ext cx="5329239" cy="5257800"/>
          </a:xfrm>
          <a:prstGeom prst="rect">
            <a:avLst/>
          </a:prstGeom>
          <a:blipFill dpi="0" rotWithShape="1">
            <a:blip r:embed="rId2">
              <a:alphaModFix amt="50000"/>
            </a:blip>
            <a:srcRect/>
            <a:stretch>
              <a:fillRect/>
            </a:stretch>
          </a:blipFill>
        </p:spPr>
        <p:txBody>
          <a:bodyPr lIns="1005840" tIns="2194560" rIns="182880" bIns="1188720"/>
          <a:lstStyle>
            <a:lvl1pPr marL="0" indent="0">
              <a:buFontTx/>
              <a:buNone/>
              <a:defRPr sz="2400" b="1">
                <a:solidFill>
                  <a:schemeClr val="bg1"/>
                </a:solidFill>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BE"/>
              <a:t> </a:t>
            </a:r>
            <a:endParaRPr lang="en-BE" dirty="0"/>
          </a:p>
        </p:txBody>
      </p:sp>
      <p:sp>
        <p:nvSpPr>
          <p:cNvPr id="253" name="Titel 1">
            <a:extLst>
              <a:ext uri="{FF2B5EF4-FFF2-40B4-BE49-F238E27FC236}">
                <a16:creationId xmlns:a16="http://schemas.microsoft.com/office/drawing/2014/main" id="{F8EDE2AA-5EC7-4E82-852A-FE7B050223C2}"/>
              </a:ext>
            </a:extLst>
          </p:cNvPr>
          <p:cNvSpPr>
            <a:spLocks noGrp="1"/>
          </p:cNvSpPr>
          <p:nvPr>
            <p:ph type="title"/>
          </p:nvPr>
        </p:nvSpPr>
        <p:spPr>
          <a:xfrm>
            <a:off x="1471817" y="1479973"/>
            <a:ext cx="2992891" cy="711201"/>
          </a:xfrm>
          <a:prstGeom prst="rect">
            <a:avLst/>
          </a:prstGeom>
        </p:spPr>
        <p:txBody>
          <a:bodyPr lIns="0" tIns="0" rIns="0" bIns="0">
            <a:normAutofit/>
          </a:bodyPr>
          <a:lstStyle>
            <a:lvl1pPr>
              <a:defRPr lang="en-BE" sz="2800" b="1" kern="1200" dirty="0">
                <a:solidFill>
                  <a:schemeClr val="accent2"/>
                </a:solidFill>
                <a:latin typeface="+mn-lt"/>
                <a:ea typeface="+mn-ea"/>
                <a:cs typeface="+mn-cs"/>
              </a:defRPr>
            </a:lvl1pPr>
          </a:lstStyle>
          <a:p>
            <a:r>
              <a:rPr lang="en-US"/>
              <a:t>Click to edit Master title style</a:t>
            </a:r>
            <a:endParaRPr lang="en-BE" dirty="0"/>
          </a:p>
        </p:txBody>
      </p:sp>
      <p:sp>
        <p:nvSpPr>
          <p:cNvPr id="25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1472072" y="2191174"/>
            <a:ext cx="2983043" cy="1086811"/>
          </a:xfrm>
          <a:prstGeom prst="rect">
            <a:avLst/>
          </a:prstGeom>
        </p:spPr>
        <p:txBody>
          <a:bodyPr lIns="0" tIns="0" rIns="0" bIns="91440">
            <a:normAutofit/>
          </a:bodyPr>
          <a:lstStyle>
            <a:lvl1pPr marL="0" indent="0">
              <a:buFontTx/>
              <a:buNone/>
              <a:defRPr lang="nl-NL" sz="2400" kern="1200" dirty="0">
                <a:solidFill>
                  <a:schemeClr val="accent1"/>
                </a:solidFill>
                <a:latin typeface="Georgia" panose="02040502050405020303" pitchFamily="18" charset="0"/>
                <a:ea typeface="+mn-ea"/>
                <a:cs typeface="+mn-cs"/>
              </a:defRPr>
            </a:lvl1pPr>
          </a:lstStyle>
          <a:p>
            <a:pPr lvl="0"/>
            <a:r>
              <a:rPr lang="en-US"/>
              <a:t>Edit Master text styles</a:t>
            </a:r>
          </a:p>
        </p:txBody>
      </p:sp>
      <p:sp>
        <p:nvSpPr>
          <p:cNvPr id="25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705020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spTree>
    <p:extLst>
      <p:ext uri="{BB962C8B-B14F-4D97-AF65-F5344CB8AC3E}">
        <p14:creationId xmlns:p14="http://schemas.microsoft.com/office/powerpoint/2010/main" val="42939765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icture with info 4">
    <p:spTree>
      <p:nvGrpSpPr>
        <p:cNvPr id="1" name=""/>
        <p:cNvGrpSpPr/>
        <p:nvPr/>
      </p:nvGrpSpPr>
      <p:grpSpPr>
        <a:xfrm>
          <a:off x="0" y="0"/>
          <a:ext cx="0" cy="0"/>
          <a:chOff x="0" y="0"/>
          <a:chExt cx="0" cy="0"/>
        </a:xfrm>
      </p:grpSpPr>
      <p:sp>
        <p:nvSpPr>
          <p:cNvPr id="15" name="Tijdelijke aanduiding voor afbeelding 14">
            <a:extLst>
              <a:ext uri="{FF2B5EF4-FFF2-40B4-BE49-F238E27FC236}">
                <a16:creationId xmlns:a16="http://schemas.microsoft.com/office/drawing/2014/main" id="{082B9D0C-0783-431C-BFBF-3A3AA871FE82}"/>
              </a:ext>
            </a:extLst>
          </p:cNvPr>
          <p:cNvSpPr>
            <a:spLocks noGrp="1"/>
          </p:cNvSpPr>
          <p:nvPr>
            <p:ph type="pic" sz="quarter" idx="12" hasCustomPrompt="1"/>
          </p:nvPr>
        </p:nvSpPr>
        <p:spPr>
          <a:xfrm>
            <a:off x="0" y="0"/>
            <a:ext cx="12192000" cy="6858000"/>
          </a:xfrm>
          <a:prstGeom prst="rect">
            <a:avLst/>
          </a:prstGeom>
          <a:solidFill>
            <a:schemeClr val="bg1">
              <a:lumMod val="85000"/>
              <a:alpha val="78000"/>
            </a:schemeClr>
          </a:solidFill>
        </p:spPr>
        <p:txBody>
          <a:bodyPr anchor="ctr" anchorCtr="0"/>
          <a:lstStyle>
            <a:lvl1pPr marL="0" marR="0" indent="0" algn="l" defTabSz="914400" rtl="0" eaLnBrk="1" fontAlgn="auto" latinLnBrk="0" hangingPunct="1">
              <a:lnSpc>
                <a:spcPct val="90000"/>
              </a:lnSpc>
              <a:spcBef>
                <a:spcPts val="1000"/>
              </a:spcBef>
              <a:spcAft>
                <a:spcPts val="0"/>
              </a:spcAft>
              <a:buClr>
                <a:schemeClr val="accent2"/>
              </a:buClr>
              <a:buSzTx/>
              <a:buFontTx/>
              <a:buNone/>
              <a:tabLst/>
              <a:defRPr baseline="0">
                <a:solidFill>
                  <a:schemeClr val="tx1"/>
                </a:solidFill>
              </a:defRPr>
            </a:lvl1pPr>
          </a:lstStyle>
          <a:p>
            <a:r>
              <a:rPr lang="en-US"/>
              <a:t>&gt;&gt;&gt;&gt;&gt;&gt;&gt;&gt;&gt; Click to add picture &gt;</a:t>
            </a:r>
            <a:endParaRPr lang="en-BE" dirty="0"/>
          </a:p>
        </p:txBody>
      </p:sp>
      <p:sp>
        <p:nvSpPr>
          <p:cNvPr id="6" name="Tijdelijke aanduiding voor tekst 25">
            <a:extLst>
              <a:ext uri="{FF2B5EF4-FFF2-40B4-BE49-F238E27FC236}">
                <a16:creationId xmlns:a16="http://schemas.microsoft.com/office/drawing/2014/main" id="{6A895D29-FC6A-432A-8385-E2F1D027CD96}"/>
              </a:ext>
            </a:extLst>
          </p:cNvPr>
          <p:cNvSpPr>
            <a:spLocks noGrp="1" noChangeAspect="1"/>
          </p:cNvSpPr>
          <p:nvPr>
            <p:ph type="body" sz="quarter" idx="13" hasCustomPrompt="1"/>
          </p:nvPr>
        </p:nvSpPr>
        <p:spPr>
          <a:xfrm flipH="1">
            <a:off x="6096000" y="800100"/>
            <a:ext cx="5329238" cy="5257800"/>
          </a:xfrm>
          <a:prstGeom prst="rect">
            <a:avLst/>
          </a:prstGeom>
          <a:blipFill dpi="0" rotWithShape="1">
            <a:blip r:embed="rId2">
              <a:alphaModFix amt="50000"/>
            </a:blip>
            <a:srcRect/>
            <a:stretch>
              <a:fillRect/>
            </a:stretch>
          </a:blipFill>
        </p:spPr>
        <p:txBody>
          <a:bodyPr lIns="1005840" tIns="2194560" rIns="182880" bIns="1188720"/>
          <a:lstStyle>
            <a:lvl1pPr marL="0" indent="0">
              <a:buFontTx/>
              <a:buNone/>
              <a:defRPr sz="2400" b="1">
                <a:solidFill>
                  <a:schemeClr val="bg1"/>
                </a:solidFill>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nl-BE"/>
              <a:t> </a:t>
            </a:r>
            <a:endParaRPr lang="en-BE" dirty="0"/>
          </a:p>
        </p:txBody>
      </p:sp>
      <p:sp>
        <p:nvSpPr>
          <p:cNvPr id="253" name="Titel 1">
            <a:extLst>
              <a:ext uri="{FF2B5EF4-FFF2-40B4-BE49-F238E27FC236}">
                <a16:creationId xmlns:a16="http://schemas.microsoft.com/office/drawing/2014/main" id="{F8EDE2AA-5EC7-4E82-852A-FE7B050223C2}"/>
              </a:ext>
            </a:extLst>
          </p:cNvPr>
          <p:cNvSpPr>
            <a:spLocks noGrp="1"/>
          </p:cNvSpPr>
          <p:nvPr>
            <p:ph type="title"/>
          </p:nvPr>
        </p:nvSpPr>
        <p:spPr>
          <a:xfrm>
            <a:off x="7780020" y="1479973"/>
            <a:ext cx="2992891" cy="711201"/>
          </a:xfrm>
          <a:prstGeom prst="rect">
            <a:avLst/>
          </a:prstGeom>
        </p:spPr>
        <p:txBody>
          <a:bodyPr lIns="0" tIns="0" rIns="0" bIns="0">
            <a:normAutofit/>
          </a:bodyPr>
          <a:lstStyle>
            <a:lvl1pPr>
              <a:defRPr lang="en-BE" sz="2800" b="1" kern="1200" dirty="0">
                <a:solidFill>
                  <a:schemeClr val="accent2"/>
                </a:solidFill>
                <a:latin typeface="+mn-lt"/>
                <a:ea typeface="+mn-ea"/>
                <a:cs typeface="+mn-cs"/>
              </a:defRPr>
            </a:lvl1pPr>
          </a:lstStyle>
          <a:p>
            <a:r>
              <a:rPr lang="en-US"/>
              <a:t>Click to edit Master title style</a:t>
            </a:r>
            <a:endParaRPr lang="en-BE" dirty="0"/>
          </a:p>
        </p:txBody>
      </p:sp>
      <p:sp>
        <p:nvSpPr>
          <p:cNvPr id="25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7780275" y="2191174"/>
            <a:ext cx="2983043" cy="1086811"/>
          </a:xfrm>
          <a:prstGeom prst="rect">
            <a:avLst/>
          </a:prstGeom>
        </p:spPr>
        <p:txBody>
          <a:bodyPr lIns="0" tIns="0" rIns="0" bIns="91440">
            <a:normAutofit/>
          </a:bodyPr>
          <a:lstStyle>
            <a:lvl1pPr marL="0" indent="0">
              <a:buFontTx/>
              <a:buNone/>
              <a:defRPr lang="nl-NL" sz="2400" kern="1200" dirty="0">
                <a:solidFill>
                  <a:schemeClr val="accent1"/>
                </a:solidFill>
                <a:latin typeface="Georgia" panose="02040502050405020303" pitchFamily="18" charset="0"/>
                <a:ea typeface="+mn-ea"/>
                <a:cs typeface="+mn-cs"/>
              </a:defRPr>
            </a:lvl1pPr>
          </a:lstStyle>
          <a:p>
            <a:pPr lvl="0"/>
            <a:r>
              <a:rPr lang="en-US"/>
              <a:t>Edit Master text styles</a:t>
            </a:r>
          </a:p>
        </p:txBody>
      </p:sp>
      <p:sp>
        <p:nvSpPr>
          <p:cNvPr id="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7055229"/>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spTree>
    <p:extLst>
      <p:ext uri="{BB962C8B-B14F-4D97-AF65-F5344CB8AC3E}">
        <p14:creationId xmlns:p14="http://schemas.microsoft.com/office/powerpoint/2010/main" val="4644148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con &amp; Text 1">
    <p:spTree>
      <p:nvGrpSpPr>
        <p:cNvPr id="1" name=""/>
        <p:cNvGrpSpPr/>
        <p:nvPr/>
      </p:nvGrpSpPr>
      <p:grpSpPr>
        <a:xfrm>
          <a:off x="0" y="0"/>
          <a:ext cx="0" cy="0"/>
          <a:chOff x="0" y="0"/>
          <a:chExt cx="0" cy="0"/>
        </a:xfrm>
      </p:grpSpPr>
      <p:sp>
        <p:nvSpPr>
          <p:cNvPr id="15" name="Tijdelijke aanduiding voor afbeelding 3">
            <a:extLst>
              <a:ext uri="{FF2B5EF4-FFF2-40B4-BE49-F238E27FC236}">
                <a16:creationId xmlns:a16="http://schemas.microsoft.com/office/drawing/2014/main" id="{E2D5FF81-71AA-4A77-BAFA-7D04F841B056}"/>
              </a:ext>
            </a:extLst>
          </p:cNvPr>
          <p:cNvSpPr>
            <a:spLocks noGrp="1"/>
          </p:cNvSpPr>
          <p:nvPr>
            <p:ph type="pic" sz="quarter" idx="15" hasCustomPrompt="1"/>
          </p:nvPr>
        </p:nvSpPr>
        <p:spPr>
          <a:xfrm>
            <a:off x="5067299" y="1905000"/>
            <a:ext cx="2160000" cy="1346400"/>
          </a:xfrm>
          <a:prstGeom prst="rect">
            <a:avLst/>
          </a:prstGeom>
        </p:spPr>
        <p:txBody>
          <a:bodyPr>
            <a:normAutofit/>
          </a:bodyPr>
          <a:lstStyle>
            <a:lvl1pPr marL="0" indent="0" algn="ctr">
              <a:lnSpc>
                <a:spcPct val="100000"/>
              </a:lnSpc>
              <a:spcBef>
                <a:spcPts val="300"/>
              </a:spcBef>
              <a:buFontTx/>
              <a:buNone/>
              <a:defRPr sz="1100">
                <a:solidFill>
                  <a:schemeClr val="tx1"/>
                </a:solidFill>
              </a:defRPr>
            </a:lvl1pPr>
          </a:lstStyle>
          <a:p>
            <a:r>
              <a:rPr lang="en-US"/>
              <a:t>add icon</a:t>
            </a:r>
          </a:p>
        </p:txBody>
      </p:sp>
      <p:sp>
        <p:nvSpPr>
          <p:cNvPr id="16" name="Tijdelijke aanduiding voor tekst 9">
            <a:extLst>
              <a:ext uri="{FF2B5EF4-FFF2-40B4-BE49-F238E27FC236}">
                <a16:creationId xmlns:a16="http://schemas.microsoft.com/office/drawing/2014/main" id="{2F64FA00-F52F-4F8C-9ED0-8C00855A7D4E}"/>
              </a:ext>
            </a:extLst>
          </p:cNvPr>
          <p:cNvSpPr>
            <a:spLocks noGrp="1"/>
          </p:cNvSpPr>
          <p:nvPr>
            <p:ph type="body" sz="quarter" idx="17"/>
          </p:nvPr>
        </p:nvSpPr>
        <p:spPr>
          <a:xfrm>
            <a:off x="766763" y="3647804"/>
            <a:ext cx="10661665" cy="2168795"/>
          </a:xfrm>
          <a:prstGeom prst="rect">
            <a:avLst/>
          </a:prstGeom>
        </p:spPr>
        <p:txBody>
          <a:bodyPr lIns="0" tIns="0" rIns="0" bIns="0" anchor="ctr" anchorCtr="0">
            <a:noAutofit/>
          </a:bodyPr>
          <a:lstStyle>
            <a:lvl1pPr marL="0" indent="0" algn="ctr">
              <a:buFontTx/>
              <a:buNone/>
              <a:defRPr sz="3600">
                <a:solidFill>
                  <a:schemeClr val="accent2"/>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a:t>Edit Master text styles</a:t>
            </a:r>
          </a:p>
        </p:txBody>
      </p:sp>
      <p:sp>
        <p:nvSpPr>
          <p:cNvPr id="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4614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con &amp; Text 2">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jdelijke aanduiding voor tekst 9">
            <a:extLst>
              <a:ext uri="{FF2B5EF4-FFF2-40B4-BE49-F238E27FC236}">
                <a16:creationId xmlns:a16="http://schemas.microsoft.com/office/drawing/2014/main" id="{2F64FA00-F52F-4F8C-9ED0-8C00855A7D4E}"/>
              </a:ext>
            </a:extLst>
          </p:cNvPr>
          <p:cNvSpPr>
            <a:spLocks noGrp="1"/>
          </p:cNvSpPr>
          <p:nvPr>
            <p:ph type="body" sz="quarter" idx="17"/>
          </p:nvPr>
        </p:nvSpPr>
        <p:spPr>
          <a:xfrm>
            <a:off x="766763" y="3647804"/>
            <a:ext cx="10661665" cy="2168795"/>
          </a:xfrm>
          <a:prstGeom prst="rect">
            <a:avLst/>
          </a:prstGeom>
        </p:spPr>
        <p:txBody>
          <a:bodyPr lIns="0" tIns="0" rIns="0" bIns="0" anchor="ctr" anchorCtr="0">
            <a:noAutofit/>
          </a:bodyPr>
          <a:lstStyle>
            <a:lvl1pPr marL="0" indent="0" algn="ctr">
              <a:buFontTx/>
              <a:buNone/>
              <a:defRPr sz="3600">
                <a:solidFill>
                  <a:schemeClr val="bg1"/>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a:t>Edit Master text styles</a:t>
            </a:r>
          </a:p>
        </p:txBody>
      </p:sp>
      <p:sp>
        <p:nvSpPr>
          <p:cNvPr id="17" name="Tijdelijke aanduiding voor afbeelding 3">
            <a:extLst>
              <a:ext uri="{FF2B5EF4-FFF2-40B4-BE49-F238E27FC236}">
                <a16:creationId xmlns:a16="http://schemas.microsoft.com/office/drawing/2014/main" id="{E2D5FF81-71AA-4A77-BAFA-7D04F841B056}"/>
              </a:ext>
            </a:extLst>
          </p:cNvPr>
          <p:cNvSpPr>
            <a:spLocks noGrp="1"/>
          </p:cNvSpPr>
          <p:nvPr>
            <p:ph type="pic" sz="quarter" idx="15" hasCustomPrompt="1"/>
          </p:nvPr>
        </p:nvSpPr>
        <p:spPr>
          <a:xfrm>
            <a:off x="5067299" y="1905000"/>
            <a:ext cx="2160000" cy="1346400"/>
          </a:xfrm>
          <a:prstGeom prst="rect">
            <a:avLst/>
          </a:prstGeom>
        </p:spPr>
        <p:txBody>
          <a:bodyPr>
            <a:normAutofit/>
          </a:bodyPr>
          <a:lstStyle>
            <a:lvl1pPr marL="0" indent="0" algn="ctr">
              <a:lnSpc>
                <a:spcPct val="100000"/>
              </a:lnSpc>
              <a:spcBef>
                <a:spcPts val="300"/>
              </a:spcBef>
              <a:buFontTx/>
              <a:buNone/>
              <a:defRPr sz="1100">
                <a:solidFill>
                  <a:schemeClr val="bg1"/>
                </a:solidFill>
              </a:defRPr>
            </a:lvl1pPr>
          </a:lstStyle>
          <a:p>
            <a:r>
              <a:rPr lang="en-US"/>
              <a:t>add icon</a:t>
            </a:r>
          </a:p>
        </p:txBody>
      </p:sp>
      <p:pic>
        <p:nvPicPr>
          <p:cNvPr id="9"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2"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
        <p:nvSpPr>
          <p:cNvPr id="10"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1"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747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con &amp; Text 3">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jdelijke aanduiding voor tekst 9">
            <a:extLst>
              <a:ext uri="{FF2B5EF4-FFF2-40B4-BE49-F238E27FC236}">
                <a16:creationId xmlns:a16="http://schemas.microsoft.com/office/drawing/2014/main" id="{2F64FA00-F52F-4F8C-9ED0-8C00855A7D4E}"/>
              </a:ext>
            </a:extLst>
          </p:cNvPr>
          <p:cNvSpPr>
            <a:spLocks noGrp="1"/>
          </p:cNvSpPr>
          <p:nvPr>
            <p:ph type="body" sz="quarter" idx="17"/>
          </p:nvPr>
        </p:nvSpPr>
        <p:spPr>
          <a:xfrm>
            <a:off x="766763" y="3647804"/>
            <a:ext cx="10661665" cy="2168795"/>
          </a:xfrm>
          <a:prstGeom prst="rect">
            <a:avLst/>
          </a:prstGeom>
        </p:spPr>
        <p:txBody>
          <a:bodyPr lIns="0" tIns="0" rIns="0" bIns="0" anchor="ctr" anchorCtr="0">
            <a:noAutofit/>
          </a:bodyPr>
          <a:lstStyle>
            <a:lvl1pPr marL="0" indent="0" algn="ctr">
              <a:buFontTx/>
              <a:buNone/>
              <a:defRPr sz="3600">
                <a:solidFill>
                  <a:schemeClr val="bg1"/>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r>
              <a:rPr lang="en-US"/>
              <a:t>Edit Master text styles</a:t>
            </a:r>
          </a:p>
        </p:txBody>
      </p:sp>
      <p:sp>
        <p:nvSpPr>
          <p:cNvPr id="17" name="Tijdelijke aanduiding voor afbeelding 3">
            <a:extLst>
              <a:ext uri="{FF2B5EF4-FFF2-40B4-BE49-F238E27FC236}">
                <a16:creationId xmlns:a16="http://schemas.microsoft.com/office/drawing/2014/main" id="{E2D5FF81-71AA-4A77-BAFA-7D04F841B056}"/>
              </a:ext>
            </a:extLst>
          </p:cNvPr>
          <p:cNvSpPr>
            <a:spLocks noGrp="1"/>
          </p:cNvSpPr>
          <p:nvPr>
            <p:ph type="pic" sz="quarter" idx="15" hasCustomPrompt="1"/>
          </p:nvPr>
        </p:nvSpPr>
        <p:spPr>
          <a:xfrm>
            <a:off x="5067299" y="1905000"/>
            <a:ext cx="2160000" cy="1346400"/>
          </a:xfrm>
          <a:prstGeom prst="rect">
            <a:avLst/>
          </a:prstGeom>
        </p:spPr>
        <p:txBody>
          <a:bodyPr>
            <a:normAutofit/>
          </a:bodyPr>
          <a:lstStyle>
            <a:lvl1pPr marL="0" indent="0" algn="ctr">
              <a:lnSpc>
                <a:spcPct val="100000"/>
              </a:lnSpc>
              <a:spcBef>
                <a:spcPts val="300"/>
              </a:spcBef>
              <a:buFontTx/>
              <a:buNone/>
              <a:defRPr sz="1100">
                <a:solidFill>
                  <a:schemeClr val="bg1"/>
                </a:solidFill>
              </a:defRPr>
            </a:lvl1pPr>
          </a:lstStyle>
          <a:p>
            <a:r>
              <a:rPr lang="en-US"/>
              <a:t>add icon</a:t>
            </a:r>
          </a:p>
        </p:txBody>
      </p:sp>
      <p:sp>
        <p:nvSpPr>
          <p:cNvPr id="8"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2"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Tree>
    <p:extLst>
      <p:ext uri="{BB962C8B-B14F-4D97-AF65-F5344CB8AC3E}">
        <p14:creationId xmlns:p14="http://schemas.microsoft.com/office/powerpoint/2010/main" val="37077022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lank 1">
    <p:spTree>
      <p:nvGrpSpPr>
        <p:cNvPr id="1" name=""/>
        <p:cNvGrpSpPr/>
        <p:nvPr/>
      </p:nvGrpSpPr>
      <p:grpSpPr>
        <a:xfrm>
          <a:off x="0" y="0"/>
          <a:ext cx="0" cy="0"/>
          <a:chOff x="0" y="0"/>
          <a:chExt cx="0" cy="0"/>
        </a:xfrm>
      </p:grpSpPr>
      <p:sp>
        <p:nvSpPr>
          <p:cNvPr id="5"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6"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91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lank 2">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28"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9"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2"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Tree>
    <p:extLst>
      <p:ext uri="{BB962C8B-B14F-4D97-AF65-F5344CB8AC3E}">
        <p14:creationId xmlns:p14="http://schemas.microsoft.com/office/powerpoint/2010/main" val="22632328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Blank 3">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bg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26"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7"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2" cstate="print">
            <a:lum bright="100000"/>
            <a:extLst>
              <a:ext uri="{28A0092B-C50C-407E-A947-70E740481C1C}">
                <a14:useLocalDpi xmlns:a14="http://schemas.microsoft.com/office/drawing/2010/main" val="0"/>
              </a:ext>
            </a:extLst>
          </a:blip>
          <a:stretch>
            <a:fillRect/>
          </a:stretch>
        </p:blipFill>
        <p:spPr>
          <a:xfrm>
            <a:off x="305321" y="6440088"/>
            <a:ext cx="733149" cy="167146"/>
          </a:xfrm>
          <a:prstGeom prst="rect">
            <a:avLst/>
          </a:prstGeom>
        </p:spPr>
      </p:pic>
    </p:spTree>
    <p:extLst>
      <p:ext uri="{BB962C8B-B14F-4D97-AF65-F5344CB8AC3E}">
        <p14:creationId xmlns:p14="http://schemas.microsoft.com/office/powerpoint/2010/main" val="215754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 Pictures with info">
    <p:spTree>
      <p:nvGrpSpPr>
        <p:cNvPr id="1" name=""/>
        <p:cNvGrpSpPr/>
        <p:nvPr/>
      </p:nvGrpSpPr>
      <p:grpSpPr>
        <a:xfrm>
          <a:off x="0" y="0"/>
          <a:ext cx="0" cy="0"/>
          <a:chOff x="0" y="0"/>
          <a:chExt cx="0" cy="0"/>
        </a:xfrm>
      </p:grpSpPr>
      <p:grpSp>
        <p:nvGrpSpPr>
          <p:cNvPr id="5" name="Group 4"/>
          <p:cNvGrpSpPr/>
          <p:nvPr userDrawn="1"/>
        </p:nvGrpSpPr>
        <p:grpSpPr>
          <a:xfrm>
            <a:off x="182337" y="5309722"/>
            <a:ext cx="11827325" cy="1418433"/>
            <a:chOff x="182336" y="7877294"/>
            <a:chExt cx="11827325" cy="1418433"/>
          </a:xfrm>
        </p:grpSpPr>
        <p:sp>
          <p:nvSpPr>
            <p:cNvPr id="6" name="Oval 5"/>
            <p:cNvSpPr/>
            <p:nvPr/>
          </p:nvSpPr>
          <p:spPr>
            <a:xfrm rot="5400000">
              <a:off x="182336" y="787729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rot="5400000">
              <a:off x="182336" y="847260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5400000">
              <a:off x="182336"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5400000">
              <a:off x="483961" y="817495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5400000">
              <a:off x="483961" y="847260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rot="5400000">
              <a:off x="48396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rot="5400000">
              <a:off x="77860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rot="5400000">
              <a:off x="137092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rot="5400000">
              <a:off x="137092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rot="5400000">
              <a:off x="166937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rot="5400000">
              <a:off x="166937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rot="5400000">
              <a:off x="196781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rot="5400000">
              <a:off x="226694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rot="5400000">
              <a:off x="226694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rot="5400000">
              <a:off x="256538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rot="5400000">
              <a:off x="256538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rot="5400000">
              <a:off x="285983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rot="5400000">
              <a:off x="285983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rot="5400000">
              <a:off x="316365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rot="5400000">
              <a:off x="316365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rot="5400000">
              <a:off x="346092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rot="5400000">
              <a:off x="374899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rot="5400000">
              <a:off x="374899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rot="5400000">
              <a:off x="404811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rot="5400000">
              <a:off x="404811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rot="5400000">
              <a:off x="434656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rot="5400000">
              <a:off x="434656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rot="5400000">
              <a:off x="464100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rot="5400000">
              <a:off x="4944825"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rot="5400000">
              <a:off x="494482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rot="5400000">
              <a:off x="524209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rot="5400000">
              <a:off x="5535386"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rot="5400000">
              <a:off x="553538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rot="5400000">
              <a:off x="583701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rot="5400000">
              <a:off x="5837011"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rot="5400000">
              <a:off x="613165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rot="5400000">
              <a:off x="6131651"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rot="5400000">
              <a:off x="6428922"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rot="5400000">
              <a:off x="672397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rot="5400000">
              <a:off x="672397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rot="5400000">
              <a:off x="702242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rot="5400000">
              <a:off x="702242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rot="5400000">
              <a:off x="732086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rot="5400000">
              <a:off x="761999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rot="5400000">
              <a:off x="761999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rot="5400000">
              <a:off x="791843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rot="5400000">
              <a:off x="791843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rot="5400000">
              <a:off x="821288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rot="5400000">
              <a:off x="821288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rot="5400000">
              <a:off x="851670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rot="5400000">
              <a:off x="851670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rot="5400000">
              <a:off x="881397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rot="5400000">
              <a:off x="910204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rot="5400000">
              <a:off x="910204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rot="5400000">
              <a:off x="940116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rot="5400000">
              <a:off x="940116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rot="5400000">
              <a:off x="969961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rot="5400000">
              <a:off x="969961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rot="5400000">
              <a:off x="999405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rot="5400000">
              <a:off x="10297875"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rot="5400000">
              <a:off x="1029787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rot="5400000">
              <a:off x="1059514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rot="5400000">
              <a:off x="10888318"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rot="5400000">
              <a:off x="10888318" y="906792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rot="5400000">
              <a:off x="11189943"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rot="5400000">
              <a:off x="11189943" y="906792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rot="5400000">
              <a:off x="11484583" y="787729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userDrawn="1"/>
          </p:nvSpPr>
          <p:spPr>
            <a:xfrm rot="5400000">
              <a:off x="11484583" y="817495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rot="5400000">
              <a:off x="11484583"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rot="5400000">
              <a:off x="11781854" y="817495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Rectangle 80"/>
          <p:cNvSpPr/>
          <p:nvPr/>
        </p:nvSpPr>
        <p:spPr>
          <a:xfrm>
            <a:off x="4621527" y="800100"/>
            <a:ext cx="2948946" cy="5257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73726" y="800100"/>
            <a:ext cx="2948946" cy="525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8486060" y="800100"/>
            <a:ext cx="2948946" cy="5257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Picture Placeholder 94"/>
          <p:cNvSpPr>
            <a:spLocks noGrp="1"/>
          </p:cNvSpPr>
          <p:nvPr>
            <p:ph type="pic" sz="quarter" idx="10"/>
          </p:nvPr>
        </p:nvSpPr>
        <p:spPr>
          <a:xfrm>
            <a:off x="871538" y="1897062"/>
            <a:ext cx="2754312" cy="3063875"/>
          </a:xfrm>
        </p:spPr>
        <p:txBody>
          <a:bodyPr anchor="ctr"/>
          <a:lstStyle>
            <a:lvl1pPr marL="88900" indent="0" algn="ctr">
              <a:buNone/>
              <a:defRPr>
                <a:solidFill>
                  <a:schemeClr val="bg1"/>
                </a:solidFill>
              </a:defRPr>
            </a:lvl1pPr>
          </a:lstStyle>
          <a:p>
            <a:r>
              <a:rPr lang="en-US"/>
              <a:t>Click icon to add picture</a:t>
            </a:r>
          </a:p>
        </p:txBody>
      </p:sp>
      <p:sp>
        <p:nvSpPr>
          <p:cNvPr id="99" name="Text Placeholder 97"/>
          <p:cNvSpPr>
            <a:spLocks noGrp="1"/>
          </p:cNvSpPr>
          <p:nvPr>
            <p:ph type="body" sz="quarter" idx="11"/>
          </p:nvPr>
        </p:nvSpPr>
        <p:spPr>
          <a:xfrm>
            <a:off x="871538" y="982663"/>
            <a:ext cx="2754312"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101" name="Text Placeholder 97"/>
          <p:cNvSpPr>
            <a:spLocks noGrp="1"/>
          </p:cNvSpPr>
          <p:nvPr>
            <p:ph type="body" sz="quarter" idx="12"/>
          </p:nvPr>
        </p:nvSpPr>
        <p:spPr>
          <a:xfrm>
            <a:off x="871538" y="5162550"/>
            <a:ext cx="2754312"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102" name="Picture Placeholder 94"/>
          <p:cNvSpPr>
            <a:spLocks noGrp="1"/>
          </p:cNvSpPr>
          <p:nvPr>
            <p:ph type="pic" sz="quarter" idx="13"/>
          </p:nvPr>
        </p:nvSpPr>
        <p:spPr>
          <a:xfrm>
            <a:off x="4718844" y="1897062"/>
            <a:ext cx="2754312" cy="3063875"/>
          </a:xfrm>
        </p:spPr>
        <p:txBody>
          <a:bodyPr anchor="ctr"/>
          <a:lstStyle>
            <a:lvl1pPr marL="88900" indent="0" algn="ctr">
              <a:buNone/>
              <a:defRPr>
                <a:solidFill>
                  <a:schemeClr val="bg1"/>
                </a:solidFill>
              </a:defRPr>
            </a:lvl1pPr>
          </a:lstStyle>
          <a:p>
            <a:r>
              <a:rPr lang="en-US"/>
              <a:t>Click icon to add picture</a:t>
            </a:r>
          </a:p>
        </p:txBody>
      </p:sp>
      <p:sp>
        <p:nvSpPr>
          <p:cNvPr id="103" name="Text Placeholder 97"/>
          <p:cNvSpPr>
            <a:spLocks noGrp="1"/>
          </p:cNvSpPr>
          <p:nvPr>
            <p:ph type="body" sz="quarter" idx="14"/>
          </p:nvPr>
        </p:nvSpPr>
        <p:spPr>
          <a:xfrm>
            <a:off x="4718844" y="982663"/>
            <a:ext cx="2754312"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104" name="Text Placeholder 97"/>
          <p:cNvSpPr>
            <a:spLocks noGrp="1"/>
          </p:cNvSpPr>
          <p:nvPr>
            <p:ph type="body" sz="quarter" idx="15"/>
          </p:nvPr>
        </p:nvSpPr>
        <p:spPr>
          <a:xfrm>
            <a:off x="4718844" y="5162550"/>
            <a:ext cx="2754312"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105" name="Picture Placeholder 94"/>
          <p:cNvSpPr>
            <a:spLocks noGrp="1"/>
          </p:cNvSpPr>
          <p:nvPr>
            <p:ph type="pic" sz="quarter" idx="16"/>
          </p:nvPr>
        </p:nvSpPr>
        <p:spPr>
          <a:xfrm>
            <a:off x="8588326" y="1897062"/>
            <a:ext cx="2754312" cy="3063875"/>
          </a:xfrm>
        </p:spPr>
        <p:txBody>
          <a:bodyPr anchor="ctr"/>
          <a:lstStyle>
            <a:lvl1pPr marL="88900" indent="0" algn="ctr">
              <a:buNone/>
              <a:defRPr>
                <a:solidFill>
                  <a:schemeClr val="bg1"/>
                </a:solidFill>
              </a:defRPr>
            </a:lvl1pPr>
          </a:lstStyle>
          <a:p>
            <a:r>
              <a:rPr lang="en-US"/>
              <a:t>Click icon to add picture</a:t>
            </a:r>
          </a:p>
        </p:txBody>
      </p:sp>
      <p:sp>
        <p:nvSpPr>
          <p:cNvPr id="106" name="Text Placeholder 97"/>
          <p:cNvSpPr>
            <a:spLocks noGrp="1"/>
          </p:cNvSpPr>
          <p:nvPr>
            <p:ph type="body" sz="quarter" idx="17"/>
          </p:nvPr>
        </p:nvSpPr>
        <p:spPr>
          <a:xfrm>
            <a:off x="8588326" y="982663"/>
            <a:ext cx="2754312"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107" name="Text Placeholder 97"/>
          <p:cNvSpPr>
            <a:spLocks noGrp="1"/>
          </p:cNvSpPr>
          <p:nvPr>
            <p:ph type="body" sz="quarter" idx="18"/>
          </p:nvPr>
        </p:nvSpPr>
        <p:spPr>
          <a:xfrm>
            <a:off x="8588326" y="5162550"/>
            <a:ext cx="2754312"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92"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3"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30993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4 pictures with info">
    <p:spTree>
      <p:nvGrpSpPr>
        <p:cNvPr id="1" name=""/>
        <p:cNvGrpSpPr/>
        <p:nvPr/>
      </p:nvGrpSpPr>
      <p:grpSpPr>
        <a:xfrm>
          <a:off x="0" y="0"/>
          <a:ext cx="0" cy="0"/>
          <a:chOff x="0" y="0"/>
          <a:chExt cx="0" cy="0"/>
        </a:xfrm>
      </p:grpSpPr>
      <p:grpSp>
        <p:nvGrpSpPr>
          <p:cNvPr id="5" name="Group 4"/>
          <p:cNvGrpSpPr/>
          <p:nvPr userDrawn="1"/>
        </p:nvGrpSpPr>
        <p:grpSpPr>
          <a:xfrm>
            <a:off x="182338" y="5291600"/>
            <a:ext cx="11827325" cy="1418433"/>
            <a:chOff x="182336" y="7877294"/>
            <a:chExt cx="11827325" cy="1418433"/>
          </a:xfrm>
        </p:grpSpPr>
        <p:sp>
          <p:nvSpPr>
            <p:cNvPr id="6" name="Oval 5"/>
            <p:cNvSpPr/>
            <p:nvPr/>
          </p:nvSpPr>
          <p:spPr>
            <a:xfrm rot="5400000">
              <a:off x="182336" y="787729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rot="5400000">
              <a:off x="182336" y="847260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5400000">
              <a:off x="182336"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5400000">
              <a:off x="483961" y="817495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rot="5400000">
              <a:off x="483961" y="847260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rot="5400000">
              <a:off x="48396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rot="5400000">
              <a:off x="77860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rot="5400000">
              <a:off x="137092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rot="5400000">
              <a:off x="137092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rot="5400000">
              <a:off x="166937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rot="5400000">
              <a:off x="166937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rot="5400000">
              <a:off x="196781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rot="5400000">
              <a:off x="226694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rot="5400000">
              <a:off x="226694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rot="5400000">
              <a:off x="256538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rot="5400000">
              <a:off x="256538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rot="5400000">
              <a:off x="285983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rot="5400000">
              <a:off x="285983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rot="5400000">
              <a:off x="316365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rot="5400000">
              <a:off x="316365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rot="5400000">
              <a:off x="346092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rot="5400000">
              <a:off x="374899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rot="5400000">
              <a:off x="374899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rot="5400000">
              <a:off x="404811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rot="5400000">
              <a:off x="404811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rot="5400000">
              <a:off x="434656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rot="5400000">
              <a:off x="434656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rot="5400000">
              <a:off x="464100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rot="5400000">
              <a:off x="4944825"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rot="5400000">
              <a:off x="494482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rot="5400000">
              <a:off x="524209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rot="5400000">
              <a:off x="5535386"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rot="5400000">
              <a:off x="553538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rot="5400000">
              <a:off x="583701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rot="5400000">
              <a:off x="5837011"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rot="5400000">
              <a:off x="613165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rot="5400000">
              <a:off x="6131651"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rot="5400000">
              <a:off x="6428922"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rot="5400000">
              <a:off x="672397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rot="5400000">
              <a:off x="672397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rot="5400000">
              <a:off x="702242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rot="5400000">
              <a:off x="702242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rot="5400000">
              <a:off x="732086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rot="5400000">
              <a:off x="761999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rot="5400000">
              <a:off x="761999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rot="5400000">
              <a:off x="791843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rot="5400000">
              <a:off x="791843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rot="5400000">
              <a:off x="821288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rot="5400000">
              <a:off x="821288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rot="5400000">
              <a:off x="851670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rot="5400000">
              <a:off x="851670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rot="5400000">
              <a:off x="8813971"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rot="5400000">
              <a:off x="9102040"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rot="5400000">
              <a:off x="9102040"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rot="5400000">
              <a:off x="9401169"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rot="5400000">
              <a:off x="9401169"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rot="5400000">
              <a:off x="9699614"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rot="5400000">
              <a:off x="9699614"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rot="5400000">
              <a:off x="999405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rot="5400000">
              <a:off x="10297875" y="877026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rot="5400000">
              <a:off x="10297875"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rot="5400000">
              <a:off x="10595146" y="9067918"/>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rot="5400000">
              <a:off x="10888318"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rot="5400000">
              <a:off x="10888318" y="906792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rot="5400000">
              <a:off x="11189943"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rot="5400000">
              <a:off x="11189943" y="9067920"/>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rot="5400000">
              <a:off x="11484583" y="7877296"/>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userDrawn="1"/>
          </p:nvSpPr>
          <p:spPr>
            <a:xfrm rot="5400000">
              <a:off x="11484583" y="817495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rot="5400000">
              <a:off x="11484583" y="8770264"/>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rot="5400000">
              <a:off x="11781854" y="8174952"/>
              <a:ext cx="227807" cy="22780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Rectangle 80"/>
          <p:cNvSpPr/>
          <p:nvPr/>
        </p:nvSpPr>
        <p:spPr>
          <a:xfrm>
            <a:off x="3485781" y="800100"/>
            <a:ext cx="2574956" cy="5257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73727" y="800100"/>
            <a:ext cx="2574956" cy="5257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6181893" y="800100"/>
            <a:ext cx="2574956" cy="5257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Picture Placeholder 94"/>
          <p:cNvSpPr>
            <a:spLocks noGrp="1"/>
          </p:cNvSpPr>
          <p:nvPr>
            <p:ph type="pic" sz="quarter" idx="10"/>
          </p:nvPr>
        </p:nvSpPr>
        <p:spPr>
          <a:xfrm>
            <a:off x="856548" y="1897062"/>
            <a:ext cx="2405005" cy="3063875"/>
          </a:xfrm>
        </p:spPr>
        <p:txBody>
          <a:bodyPr anchor="ctr"/>
          <a:lstStyle>
            <a:lvl1pPr marL="88900" indent="0" algn="ctr">
              <a:buNone/>
              <a:defRPr>
                <a:solidFill>
                  <a:schemeClr val="bg1"/>
                </a:solidFill>
              </a:defRPr>
            </a:lvl1pPr>
          </a:lstStyle>
          <a:p>
            <a:r>
              <a:rPr lang="en-US"/>
              <a:t>Click icon to add picture</a:t>
            </a:r>
          </a:p>
        </p:txBody>
      </p:sp>
      <p:sp>
        <p:nvSpPr>
          <p:cNvPr id="99" name="Text Placeholder 97"/>
          <p:cNvSpPr>
            <a:spLocks noGrp="1"/>
          </p:cNvSpPr>
          <p:nvPr>
            <p:ph type="body" sz="quarter" idx="11"/>
          </p:nvPr>
        </p:nvSpPr>
        <p:spPr>
          <a:xfrm>
            <a:off x="856548" y="982663"/>
            <a:ext cx="2405005"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101" name="Text Placeholder 97"/>
          <p:cNvSpPr>
            <a:spLocks noGrp="1"/>
          </p:cNvSpPr>
          <p:nvPr>
            <p:ph type="body" sz="quarter" idx="12"/>
          </p:nvPr>
        </p:nvSpPr>
        <p:spPr>
          <a:xfrm>
            <a:off x="856548" y="5162550"/>
            <a:ext cx="2405005"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102" name="Picture Placeholder 94"/>
          <p:cNvSpPr>
            <a:spLocks noGrp="1"/>
          </p:cNvSpPr>
          <p:nvPr>
            <p:ph type="pic" sz="quarter" idx="13"/>
          </p:nvPr>
        </p:nvSpPr>
        <p:spPr>
          <a:xfrm>
            <a:off x="3568107" y="1897062"/>
            <a:ext cx="2405005" cy="3063875"/>
          </a:xfrm>
        </p:spPr>
        <p:txBody>
          <a:bodyPr anchor="ctr"/>
          <a:lstStyle>
            <a:lvl1pPr marL="88900" indent="0" algn="ctr">
              <a:buNone/>
              <a:defRPr>
                <a:solidFill>
                  <a:schemeClr val="bg1"/>
                </a:solidFill>
              </a:defRPr>
            </a:lvl1pPr>
          </a:lstStyle>
          <a:p>
            <a:r>
              <a:rPr lang="en-US"/>
              <a:t>Click icon to add picture</a:t>
            </a:r>
          </a:p>
        </p:txBody>
      </p:sp>
      <p:sp>
        <p:nvSpPr>
          <p:cNvPr id="103" name="Text Placeholder 97"/>
          <p:cNvSpPr>
            <a:spLocks noGrp="1"/>
          </p:cNvSpPr>
          <p:nvPr>
            <p:ph type="body" sz="quarter" idx="14"/>
          </p:nvPr>
        </p:nvSpPr>
        <p:spPr>
          <a:xfrm>
            <a:off x="3568107" y="982663"/>
            <a:ext cx="2405005"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104" name="Text Placeholder 97"/>
          <p:cNvSpPr>
            <a:spLocks noGrp="1"/>
          </p:cNvSpPr>
          <p:nvPr>
            <p:ph type="body" sz="quarter" idx="15"/>
          </p:nvPr>
        </p:nvSpPr>
        <p:spPr>
          <a:xfrm>
            <a:off x="3568107" y="5162550"/>
            <a:ext cx="2405005"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105" name="Picture Placeholder 94"/>
          <p:cNvSpPr>
            <a:spLocks noGrp="1"/>
          </p:cNvSpPr>
          <p:nvPr>
            <p:ph type="pic" sz="quarter" idx="16"/>
          </p:nvPr>
        </p:nvSpPr>
        <p:spPr>
          <a:xfrm>
            <a:off x="6261673" y="1897062"/>
            <a:ext cx="2405005" cy="3063875"/>
          </a:xfrm>
        </p:spPr>
        <p:txBody>
          <a:bodyPr anchor="ctr"/>
          <a:lstStyle>
            <a:lvl1pPr marL="88900" indent="0" algn="ctr">
              <a:buNone/>
              <a:defRPr>
                <a:solidFill>
                  <a:schemeClr val="bg1"/>
                </a:solidFill>
              </a:defRPr>
            </a:lvl1pPr>
          </a:lstStyle>
          <a:p>
            <a:r>
              <a:rPr lang="en-US"/>
              <a:t>Click icon to add picture</a:t>
            </a:r>
          </a:p>
        </p:txBody>
      </p:sp>
      <p:sp>
        <p:nvSpPr>
          <p:cNvPr id="106" name="Text Placeholder 97"/>
          <p:cNvSpPr>
            <a:spLocks noGrp="1"/>
          </p:cNvSpPr>
          <p:nvPr>
            <p:ph type="body" sz="quarter" idx="17"/>
          </p:nvPr>
        </p:nvSpPr>
        <p:spPr>
          <a:xfrm>
            <a:off x="6269168" y="982663"/>
            <a:ext cx="2405005"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107" name="Text Placeholder 97"/>
          <p:cNvSpPr>
            <a:spLocks noGrp="1"/>
          </p:cNvSpPr>
          <p:nvPr>
            <p:ph type="body" sz="quarter" idx="18"/>
          </p:nvPr>
        </p:nvSpPr>
        <p:spPr>
          <a:xfrm>
            <a:off x="6269168" y="5162550"/>
            <a:ext cx="2405005"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92" name="Rectangle 91"/>
          <p:cNvSpPr/>
          <p:nvPr userDrawn="1"/>
        </p:nvSpPr>
        <p:spPr>
          <a:xfrm>
            <a:off x="8874897" y="800100"/>
            <a:ext cx="2574956" cy="5257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Picture Placeholder 94"/>
          <p:cNvSpPr>
            <a:spLocks noGrp="1"/>
          </p:cNvSpPr>
          <p:nvPr>
            <p:ph type="pic" sz="quarter" idx="19"/>
          </p:nvPr>
        </p:nvSpPr>
        <p:spPr>
          <a:xfrm>
            <a:off x="8954677" y="1897062"/>
            <a:ext cx="2405005" cy="3063875"/>
          </a:xfrm>
        </p:spPr>
        <p:txBody>
          <a:bodyPr anchor="ctr"/>
          <a:lstStyle>
            <a:lvl1pPr marL="88900" indent="0" algn="ctr">
              <a:buNone/>
              <a:defRPr>
                <a:solidFill>
                  <a:schemeClr val="bg1"/>
                </a:solidFill>
              </a:defRPr>
            </a:lvl1pPr>
          </a:lstStyle>
          <a:p>
            <a:r>
              <a:rPr lang="en-US"/>
              <a:t>Click icon to add picture</a:t>
            </a:r>
          </a:p>
        </p:txBody>
      </p:sp>
      <p:sp>
        <p:nvSpPr>
          <p:cNvPr id="94" name="Text Placeholder 97"/>
          <p:cNvSpPr>
            <a:spLocks noGrp="1"/>
          </p:cNvSpPr>
          <p:nvPr>
            <p:ph type="body" sz="quarter" idx="20"/>
          </p:nvPr>
        </p:nvSpPr>
        <p:spPr>
          <a:xfrm>
            <a:off x="8962172" y="982663"/>
            <a:ext cx="2405005" cy="712787"/>
          </a:xfrm>
        </p:spPr>
        <p:txBody>
          <a:bodyPr>
            <a:noAutofit/>
          </a:bodyPr>
          <a:lstStyle>
            <a:lvl1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95" name="Text Placeholder 97"/>
          <p:cNvSpPr>
            <a:spLocks noGrp="1"/>
          </p:cNvSpPr>
          <p:nvPr>
            <p:ph type="body" sz="quarter" idx="21"/>
          </p:nvPr>
        </p:nvSpPr>
        <p:spPr>
          <a:xfrm>
            <a:off x="8962172" y="5162550"/>
            <a:ext cx="2405005" cy="817426"/>
          </a:xfrm>
        </p:spPr>
        <p:txBody>
          <a:bodyPr anchor="b">
            <a:noAutofit/>
          </a:bodyPr>
          <a:lstStyle>
            <a:lvl1pPr marL="0" indent="0" algn="ctr" defTabSz="914400" rtl="0" eaLnBrk="1" latinLnBrk="0" hangingPunct="1">
              <a:lnSpc>
                <a:spcPct val="100000"/>
              </a:lnSpc>
              <a:spcBef>
                <a:spcPct val="0"/>
              </a:spcBef>
              <a:buNone/>
              <a:defRPr lang="en-US" sz="1300" kern="1200">
                <a:solidFill>
                  <a:schemeClr val="bg1"/>
                </a:solidFill>
                <a:latin typeface="Georgia" panose="02040502050405020303" pitchFamily="18" charset="0"/>
                <a:ea typeface="+mn-ea"/>
                <a:cs typeface="+mn-cs"/>
              </a:defRPr>
            </a:lvl1pPr>
            <a:lvl2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2pPr>
            <a:lvl3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3pPr>
            <a:lvl4pPr marL="0" indent="0" algn="ctr" defTabSz="914400" rtl="0" eaLnBrk="1" latinLnBrk="0" hangingPunct="1">
              <a:lnSpc>
                <a:spcPct val="100000"/>
              </a:lnSpc>
              <a:spcBef>
                <a:spcPct val="0"/>
              </a:spcBef>
              <a:buNone/>
              <a:defRPr lang="en-US" sz="1900" b="1" kern="1200" smtClean="0">
                <a:solidFill>
                  <a:schemeClr val="bg1"/>
                </a:solidFill>
                <a:latin typeface="+mj-lt"/>
                <a:ea typeface="+mj-ea"/>
                <a:cs typeface="+mj-cs"/>
              </a:defRPr>
            </a:lvl4pPr>
            <a:lvl5pPr marL="0" indent="0" algn="ctr" defTabSz="914400" rtl="0" eaLnBrk="1" latinLnBrk="0" hangingPunct="1">
              <a:lnSpc>
                <a:spcPct val="100000"/>
              </a:lnSpc>
              <a:spcBef>
                <a:spcPct val="0"/>
              </a:spcBef>
              <a:buNone/>
              <a:defRPr lang="en-US" sz="1900" b="1" kern="1200">
                <a:solidFill>
                  <a:schemeClr val="bg1"/>
                </a:solidFill>
                <a:latin typeface="+mj-lt"/>
                <a:ea typeface="+mj-ea"/>
                <a:cs typeface="+mj-cs"/>
              </a:defRPr>
            </a:lvl5pPr>
          </a:lstStyle>
          <a:p>
            <a:pPr lvl="0"/>
            <a:r>
              <a:rPr lang="en-US"/>
              <a:t>Edit Master text styles</a:t>
            </a:r>
          </a:p>
        </p:txBody>
      </p:sp>
      <p:sp>
        <p:nvSpPr>
          <p:cNvPr id="97"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8"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75953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0830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itel Slide 6">
    <p:spTree>
      <p:nvGrpSpPr>
        <p:cNvPr id="1" name=""/>
        <p:cNvGrpSpPr/>
        <p:nvPr/>
      </p:nvGrpSpPr>
      <p:grpSpPr>
        <a:xfrm>
          <a:off x="0" y="0"/>
          <a:ext cx="0" cy="0"/>
          <a:chOff x="0" y="0"/>
          <a:chExt cx="0" cy="0"/>
        </a:xfrm>
      </p:grpSpPr>
      <p:pic>
        <p:nvPicPr>
          <p:cNvPr id="11" name="Afbeelding 3">
            <a:extLst>
              <a:ext uri="{FF2B5EF4-FFF2-40B4-BE49-F238E27FC236}">
                <a16:creationId xmlns:a16="http://schemas.microsoft.com/office/drawing/2014/main" id="{AA5B3CA4-7383-4A08-AD3F-748BE844E02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7011" t="29944" r="50129" b="9678"/>
          <a:stretch/>
        </p:blipFill>
        <p:spPr>
          <a:xfrm>
            <a:off x="754744" y="756557"/>
            <a:ext cx="5331731" cy="5355772"/>
          </a:xfrm>
          <a:prstGeom prst="rect">
            <a:avLst/>
          </a:prstGeom>
        </p:spPr>
      </p:pic>
      <p:sp>
        <p:nvSpPr>
          <p:cNvPr id="12" name="Rectangle 11"/>
          <p:cNvSpPr/>
          <p:nvPr userDrawn="1"/>
        </p:nvSpPr>
        <p:spPr>
          <a:xfrm>
            <a:off x="1341619" y="2819399"/>
            <a:ext cx="3278005" cy="1476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10230" y="3129533"/>
            <a:ext cx="2331259" cy="844082"/>
          </a:xfrm>
          <a:prstGeom prst="rect">
            <a:avLst/>
          </a:prstGeom>
        </p:spPr>
      </p:pic>
      <p:sp>
        <p:nvSpPr>
          <p:cNvPr id="17" name="Title Placeholder 1"/>
          <p:cNvSpPr>
            <a:spLocks noGrp="1"/>
          </p:cNvSpPr>
          <p:nvPr>
            <p:ph type="title" hasCustomPrompt="1"/>
          </p:nvPr>
        </p:nvSpPr>
        <p:spPr>
          <a:xfrm>
            <a:off x="6555081" y="2195799"/>
            <a:ext cx="4896685" cy="498598"/>
          </a:xfrm>
          <a:prstGeom prst="rect">
            <a:avLst/>
          </a:prstGeom>
        </p:spPr>
        <p:txBody>
          <a:bodyPr vert="horz" lIns="0" tIns="0" rIns="0" bIns="0" rtlCol="0" anchor="ctr" anchorCtr="0">
            <a:spAutoFit/>
          </a:bodyPr>
          <a:lstStyle>
            <a:lvl1pPr algn="l">
              <a:defRPr baseline="0">
                <a:solidFill>
                  <a:schemeClr val="accent2"/>
                </a:solidFill>
              </a:defRPr>
            </a:lvl1pPr>
          </a:lstStyle>
          <a:p>
            <a:r>
              <a:rPr lang="en-US" dirty="0"/>
              <a:t>Click to add title</a:t>
            </a:r>
          </a:p>
        </p:txBody>
      </p:sp>
      <p:sp>
        <p:nvSpPr>
          <p:cNvPr id="14" name="Text Placeholder 13"/>
          <p:cNvSpPr>
            <a:spLocks noGrp="1"/>
          </p:cNvSpPr>
          <p:nvPr>
            <p:ph type="body" sz="quarter" idx="11" hasCustomPrompt="1"/>
          </p:nvPr>
        </p:nvSpPr>
        <p:spPr>
          <a:xfrm>
            <a:off x="6555080" y="4780127"/>
            <a:ext cx="4896685" cy="369332"/>
          </a:xfrm>
        </p:spPr>
        <p:txBody>
          <a:bodyPr anchor="ctr" anchorCtr="0">
            <a:normAutofit/>
          </a:bodyPr>
          <a:lstStyle>
            <a:lvl1pPr marL="88900" indent="0" algn="l" defTabSz="914400" rtl="0" eaLnBrk="1" latinLnBrk="0" hangingPunct="1">
              <a:lnSpc>
                <a:spcPct val="90000"/>
              </a:lnSpc>
              <a:spcBef>
                <a:spcPct val="0"/>
              </a:spcBef>
              <a:buNone/>
              <a:defRPr lang="en-US" sz="2000" b="0" kern="1200" baseline="0" dirty="0" smtClean="0">
                <a:solidFill>
                  <a:schemeClr val="tx1"/>
                </a:solidFill>
                <a:latin typeface="+mj-lt"/>
                <a:ea typeface="+mj-ea"/>
                <a:cs typeface="+mj-cs"/>
              </a:defRPr>
            </a:lvl1pPr>
          </a:lstStyle>
          <a:p>
            <a:pPr lvl="0"/>
            <a:r>
              <a:rPr lang="en-US" dirty="0"/>
              <a:t>Click to add your name</a:t>
            </a:r>
          </a:p>
        </p:txBody>
      </p:sp>
      <p:sp>
        <p:nvSpPr>
          <p:cNvPr id="18" name="Text Placeholder 13"/>
          <p:cNvSpPr>
            <a:spLocks noGrp="1"/>
          </p:cNvSpPr>
          <p:nvPr>
            <p:ph type="body" sz="quarter" idx="12" hasCustomPrompt="1"/>
          </p:nvPr>
        </p:nvSpPr>
        <p:spPr>
          <a:xfrm>
            <a:off x="6555083" y="5742997"/>
            <a:ext cx="4896685" cy="369332"/>
          </a:xfrm>
        </p:spPr>
        <p:txBody>
          <a:bodyPr anchor="ctr" anchorCtr="0">
            <a:normAutofit/>
          </a:bodyPr>
          <a:lstStyle>
            <a:lvl1pPr marL="88900" indent="0" algn="l" defTabSz="914400" rtl="0" eaLnBrk="1" latinLnBrk="0" hangingPunct="1">
              <a:lnSpc>
                <a:spcPct val="90000"/>
              </a:lnSpc>
              <a:spcBef>
                <a:spcPct val="0"/>
              </a:spcBef>
              <a:buNone/>
              <a:defRPr lang="en-US" sz="2000" b="0" kern="1200" baseline="0" dirty="0" smtClean="0">
                <a:solidFill>
                  <a:schemeClr val="tx1"/>
                </a:solidFill>
                <a:latin typeface="+mj-lt"/>
                <a:ea typeface="+mj-ea"/>
                <a:cs typeface="+mj-cs"/>
              </a:defRPr>
            </a:lvl1pPr>
          </a:lstStyle>
          <a:p>
            <a:pPr lvl="0"/>
            <a:r>
              <a:rPr lang="en-US" dirty="0"/>
              <a:t>Click to add date</a:t>
            </a:r>
          </a:p>
        </p:txBody>
      </p:sp>
      <p:sp>
        <p:nvSpPr>
          <p:cNvPr id="8" name="Text Placeholder 13"/>
          <p:cNvSpPr>
            <a:spLocks noGrp="1"/>
          </p:cNvSpPr>
          <p:nvPr>
            <p:ph type="body" sz="quarter" idx="13" hasCustomPrompt="1"/>
          </p:nvPr>
        </p:nvSpPr>
        <p:spPr>
          <a:xfrm>
            <a:off x="6555079" y="5261562"/>
            <a:ext cx="4896685" cy="369332"/>
          </a:xfrm>
        </p:spPr>
        <p:txBody>
          <a:bodyPr anchor="ctr" anchorCtr="0">
            <a:normAutofit/>
          </a:bodyPr>
          <a:lstStyle>
            <a:lvl1pPr marL="88900" indent="0" algn="l" defTabSz="914400" rtl="0" eaLnBrk="1" latinLnBrk="0" hangingPunct="1">
              <a:lnSpc>
                <a:spcPct val="90000"/>
              </a:lnSpc>
              <a:spcBef>
                <a:spcPct val="0"/>
              </a:spcBef>
              <a:buNone/>
              <a:defRPr lang="en-US" sz="2000" b="0" kern="1200" baseline="0" dirty="0" smtClean="0">
                <a:solidFill>
                  <a:schemeClr val="tx1"/>
                </a:solidFill>
                <a:latin typeface="+mj-lt"/>
                <a:ea typeface="+mj-ea"/>
                <a:cs typeface="+mj-cs"/>
              </a:defRPr>
            </a:lvl1pPr>
          </a:lstStyle>
          <a:p>
            <a:pPr lvl="0"/>
            <a:r>
              <a:rPr lang="en-US" dirty="0"/>
              <a:t>Click to add your title</a:t>
            </a:r>
          </a:p>
        </p:txBody>
      </p:sp>
    </p:spTree>
    <p:extLst>
      <p:ext uri="{BB962C8B-B14F-4D97-AF65-F5344CB8AC3E}">
        <p14:creationId xmlns:p14="http://schemas.microsoft.com/office/powerpoint/2010/main" val="34394156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mparising slide with icons">
    <p:spTree>
      <p:nvGrpSpPr>
        <p:cNvPr id="1" name=""/>
        <p:cNvGrpSpPr/>
        <p:nvPr/>
      </p:nvGrpSpPr>
      <p:grpSpPr>
        <a:xfrm>
          <a:off x="0" y="0"/>
          <a:ext cx="0" cy="0"/>
          <a:chOff x="0" y="0"/>
          <a:chExt cx="0" cy="0"/>
        </a:xfrm>
      </p:grpSpPr>
      <p:sp>
        <p:nvSpPr>
          <p:cNvPr id="4" name="Tijdelijke aanduiding voor afbeelding 3">
            <a:extLst>
              <a:ext uri="{FF2B5EF4-FFF2-40B4-BE49-F238E27FC236}">
                <a16:creationId xmlns:a16="http://schemas.microsoft.com/office/drawing/2014/main" id="{E2D5FF81-71AA-4A77-BAFA-7D04F841B056}"/>
              </a:ext>
            </a:extLst>
          </p:cNvPr>
          <p:cNvSpPr>
            <a:spLocks noGrp="1"/>
          </p:cNvSpPr>
          <p:nvPr>
            <p:ph type="pic" sz="quarter" idx="15" hasCustomPrompt="1"/>
          </p:nvPr>
        </p:nvSpPr>
        <p:spPr>
          <a:xfrm>
            <a:off x="766763" y="1827482"/>
            <a:ext cx="1470223" cy="1471613"/>
          </a:xfrm>
          <a:prstGeom prst="rect">
            <a:avLst/>
          </a:prstGeom>
        </p:spPr>
        <p:txBody>
          <a:bodyPr>
            <a:normAutofit/>
          </a:bodyPr>
          <a:lstStyle>
            <a:lvl1pPr marL="0" indent="0" algn="ctr">
              <a:lnSpc>
                <a:spcPct val="100000"/>
              </a:lnSpc>
              <a:spcBef>
                <a:spcPts val="300"/>
              </a:spcBef>
              <a:buFontTx/>
              <a:buNone/>
              <a:defRPr sz="1100"/>
            </a:lvl1pPr>
          </a:lstStyle>
          <a:p>
            <a:r>
              <a:rPr lang="en-US"/>
              <a:t>add icon</a:t>
            </a:r>
          </a:p>
        </p:txBody>
      </p:sp>
      <p:sp>
        <p:nvSpPr>
          <p:cNvPr id="8" name="Tijdelijke aanduiding voor afbeelding 3">
            <a:extLst>
              <a:ext uri="{FF2B5EF4-FFF2-40B4-BE49-F238E27FC236}">
                <a16:creationId xmlns:a16="http://schemas.microsoft.com/office/drawing/2014/main" id="{09AA0D7A-FE33-4F8C-9C9B-2DF71EA202B7}"/>
              </a:ext>
            </a:extLst>
          </p:cNvPr>
          <p:cNvSpPr>
            <a:spLocks noGrp="1"/>
          </p:cNvSpPr>
          <p:nvPr>
            <p:ph type="pic" sz="quarter" idx="16" hasCustomPrompt="1"/>
          </p:nvPr>
        </p:nvSpPr>
        <p:spPr>
          <a:xfrm>
            <a:off x="6563784" y="1810727"/>
            <a:ext cx="1517650" cy="1471613"/>
          </a:xfrm>
          <a:prstGeom prst="rect">
            <a:avLst/>
          </a:prstGeom>
        </p:spPr>
        <p:txBody>
          <a:bodyPr>
            <a:normAutofit/>
          </a:bodyPr>
          <a:lstStyle>
            <a:lvl1pPr marL="0" indent="0" algn="ctr">
              <a:lnSpc>
                <a:spcPct val="100000"/>
              </a:lnSpc>
              <a:spcBef>
                <a:spcPts val="300"/>
              </a:spcBef>
              <a:buFontTx/>
              <a:buNone/>
              <a:defRPr sz="1100"/>
            </a:lvl1pPr>
          </a:lstStyle>
          <a:p>
            <a:r>
              <a:rPr lang="en-US"/>
              <a:t>add icon</a:t>
            </a:r>
            <a:endParaRPr lang="en-BE" dirty="0"/>
          </a:p>
        </p:txBody>
      </p:sp>
      <p:sp>
        <p:nvSpPr>
          <p:cNvPr id="10" name="Tijdelijke aanduiding voor tekst 9">
            <a:extLst>
              <a:ext uri="{FF2B5EF4-FFF2-40B4-BE49-F238E27FC236}">
                <a16:creationId xmlns:a16="http://schemas.microsoft.com/office/drawing/2014/main" id="{2F64FA00-F52F-4F8C-9ED0-8C00855A7D4E}"/>
              </a:ext>
            </a:extLst>
          </p:cNvPr>
          <p:cNvSpPr>
            <a:spLocks noGrp="1"/>
          </p:cNvSpPr>
          <p:nvPr>
            <p:ph type="body" sz="quarter" idx="17"/>
          </p:nvPr>
        </p:nvSpPr>
        <p:spPr>
          <a:xfrm>
            <a:off x="2305175" y="1822478"/>
            <a:ext cx="3333623" cy="1471612"/>
          </a:xfrm>
          <a:prstGeom prst="rect">
            <a:avLst/>
          </a:prstGeom>
        </p:spPr>
        <p:txBody>
          <a:bodyPr lIns="0" tIns="0" rIns="0" bIns="0" anchor="ctr" anchorCtr="0">
            <a:noAutofit/>
          </a:bodyPr>
          <a:lstStyle>
            <a:lvl1pPr marL="0" indent="0" algn="l">
              <a:buFontTx/>
              <a:buNone/>
              <a:defRPr sz="2800">
                <a:solidFill>
                  <a:schemeClr val="accent2"/>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endParaRPr lang="nl-NL" dirty="0"/>
          </a:p>
        </p:txBody>
      </p:sp>
      <p:sp>
        <p:nvSpPr>
          <p:cNvPr id="12" name="Tijdelijke aanduiding voor tekst 9">
            <a:extLst>
              <a:ext uri="{FF2B5EF4-FFF2-40B4-BE49-F238E27FC236}">
                <a16:creationId xmlns:a16="http://schemas.microsoft.com/office/drawing/2014/main" id="{21D06019-3674-4CC0-8571-2CD83FD684EB}"/>
              </a:ext>
            </a:extLst>
          </p:cNvPr>
          <p:cNvSpPr>
            <a:spLocks noGrp="1"/>
          </p:cNvSpPr>
          <p:nvPr>
            <p:ph type="body" sz="quarter" idx="18"/>
          </p:nvPr>
        </p:nvSpPr>
        <p:spPr>
          <a:xfrm>
            <a:off x="8155264" y="1810727"/>
            <a:ext cx="3269974" cy="1471612"/>
          </a:xfrm>
          <a:prstGeom prst="rect">
            <a:avLst/>
          </a:prstGeom>
        </p:spPr>
        <p:txBody>
          <a:bodyPr lIns="0" tIns="0" rIns="0" bIns="0" anchor="ctr" anchorCtr="0">
            <a:noAutofit/>
          </a:bodyPr>
          <a:lstStyle>
            <a:lvl1pPr marL="0" indent="0" algn="l">
              <a:buFontTx/>
              <a:buNone/>
              <a:defRPr sz="2800">
                <a:solidFill>
                  <a:schemeClr val="accent2"/>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endParaRPr lang="nl-NL" dirty="0"/>
          </a:p>
        </p:txBody>
      </p:sp>
      <p:sp>
        <p:nvSpPr>
          <p:cNvPr id="3" name="Title 2"/>
          <p:cNvSpPr>
            <a:spLocks noGrp="1"/>
          </p:cNvSpPr>
          <p:nvPr>
            <p:ph type="title" hasCustomPrompt="1"/>
          </p:nvPr>
        </p:nvSpPr>
        <p:spPr>
          <a:xfrm>
            <a:off x="766762" y="806211"/>
            <a:ext cx="10658476" cy="884477"/>
          </a:xfrm>
        </p:spPr>
        <p:txBody>
          <a:bodyPr/>
          <a:lstStyle/>
          <a:p>
            <a:r>
              <a:rPr lang="en-US" dirty="0"/>
              <a:t>Click to edit </a:t>
            </a:r>
            <a:r>
              <a:rPr lang="en-US" dirty="0" err="1"/>
              <a:t>Mastr</a:t>
            </a:r>
            <a:r>
              <a:rPr lang="en-US" dirty="0"/>
              <a:t> title style</a:t>
            </a:r>
          </a:p>
        </p:txBody>
      </p:sp>
      <p:sp>
        <p:nvSpPr>
          <p:cNvPr id="14" name="Text Placeholder 5"/>
          <p:cNvSpPr>
            <a:spLocks noGrp="1"/>
          </p:cNvSpPr>
          <p:nvPr>
            <p:ph type="body" sz="quarter" idx="19"/>
          </p:nvPr>
        </p:nvSpPr>
        <p:spPr>
          <a:xfrm>
            <a:off x="766763" y="3429000"/>
            <a:ext cx="4872037" cy="26289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5"/>
          <p:cNvSpPr>
            <a:spLocks noGrp="1"/>
          </p:cNvSpPr>
          <p:nvPr>
            <p:ph type="body" sz="quarter" idx="20"/>
          </p:nvPr>
        </p:nvSpPr>
        <p:spPr>
          <a:xfrm>
            <a:off x="6569814" y="3429000"/>
            <a:ext cx="4872037" cy="26289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6170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3552">
          <p15:clr>
            <a:srgbClr val="FBAE40"/>
          </p15:clr>
        </p15:guide>
        <p15:guide id="3" pos="4128">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81" name="Text Placeholder 4"/>
          <p:cNvSpPr>
            <a:spLocks noGrp="1"/>
          </p:cNvSpPr>
          <p:nvPr>
            <p:ph type="body" sz="quarter" idx="15"/>
          </p:nvPr>
        </p:nvSpPr>
        <p:spPr>
          <a:xfrm>
            <a:off x="766762" y="1661404"/>
            <a:ext cx="10658475" cy="4668158"/>
          </a:xfrm>
        </p:spPr>
        <p:txBody>
          <a:bodyPr/>
          <a:lstStyle/>
          <a:p>
            <a:pPr lvl="0"/>
            <a:endParaRPr lang="en-US" dirty="0"/>
          </a:p>
        </p:txBody>
      </p:sp>
      <p:sp>
        <p:nvSpPr>
          <p:cNvPr id="80"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82"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 Placeholder 6"/>
          <p:cNvSpPr>
            <a:spLocks noGrp="1"/>
          </p:cNvSpPr>
          <p:nvPr>
            <p:ph type="body" sz="quarter" idx="16" hasCustomPrompt="1"/>
          </p:nvPr>
        </p:nvSpPr>
        <p:spPr>
          <a:xfrm>
            <a:off x="766761" y="941388"/>
            <a:ext cx="10658475" cy="571500"/>
          </a:xfrm>
        </p:spPr>
        <p:txBody>
          <a:bodyPr>
            <a:normAutofit/>
          </a:bodyPr>
          <a:lstStyle>
            <a:lvl1pPr marL="88900" indent="0">
              <a:buNone/>
              <a:defRPr lang="en-US" sz="3600" b="1" kern="1200" baseline="0" dirty="0" smtClean="0">
                <a:solidFill>
                  <a:schemeClr val="accent2"/>
                </a:solidFill>
                <a:latin typeface="+mj-lt"/>
                <a:ea typeface="+mj-ea"/>
                <a:cs typeface="+mj-cs"/>
              </a:defRPr>
            </a:lvl1pPr>
          </a:lstStyle>
          <a:p>
            <a:pPr lvl="0"/>
            <a:r>
              <a:rPr lang="en-US" dirty="0"/>
              <a:t>Click and add content title</a:t>
            </a:r>
          </a:p>
        </p:txBody>
      </p:sp>
    </p:spTree>
    <p:extLst>
      <p:ext uri="{BB962C8B-B14F-4D97-AF65-F5344CB8AC3E}">
        <p14:creationId xmlns:p14="http://schemas.microsoft.com/office/powerpoint/2010/main" val="21226861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ext Slide">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F8EDE2AA-5EC7-4E82-852A-FE7B050223C2}"/>
              </a:ext>
            </a:extLst>
          </p:cNvPr>
          <p:cNvSpPr>
            <a:spLocks noGrp="1"/>
          </p:cNvSpPr>
          <p:nvPr>
            <p:ph type="title"/>
          </p:nvPr>
        </p:nvSpPr>
        <p:spPr>
          <a:xfrm>
            <a:off x="766762" y="800496"/>
            <a:ext cx="10658465" cy="525078"/>
          </a:xfrm>
          <a:prstGeom prst="rect">
            <a:avLst/>
          </a:prstGeom>
        </p:spPr>
        <p:txBody>
          <a:bodyPr lIns="0" tIns="0" rIns="0" bIns="0">
            <a:noAutofit/>
          </a:bodyPr>
          <a:lstStyle>
            <a:lvl1pPr>
              <a:defRPr sz="3600"/>
            </a:lvl1pPr>
          </a:lstStyle>
          <a:p>
            <a:endParaRPr lang="en-BE" dirty="0"/>
          </a:p>
        </p:txBody>
      </p:sp>
      <p:sp>
        <p:nvSpPr>
          <p:cNvPr id="8" name="Tijdelijke aanduiding voor tekst 8">
            <a:extLst>
              <a:ext uri="{FF2B5EF4-FFF2-40B4-BE49-F238E27FC236}">
                <a16:creationId xmlns:a16="http://schemas.microsoft.com/office/drawing/2014/main" id="{013F778B-D9C1-4802-970E-A23E39CC2A98}"/>
              </a:ext>
            </a:extLst>
          </p:cNvPr>
          <p:cNvSpPr>
            <a:spLocks noGrp="1"/>
          </p:cNvSpPr>
          <p:nvPr>
            <p:ph type="body" sz="quarter" idx="14"/>
          </p:nvPr>
        </p:nvSpPr>
        <p:spPr>
          <a:xfrm>
            <a:off x="766762" y="1486463"/>
            <a:ext cx="10658465" cy="725105"/>
          </a:xfrm>
          <a:prstGeom prst="rect">
            <a:avLst/>
          </a:prstGeom>
        </p:spPr>
        <p:txBody>
          <a:bodyPr lIns="0" tIns="0" rIns="0" bIns="0" anchor="t">
            <a:normAutofit/>
          </a:bodyPr>
          <a:lstStyle>
            <a:lvl1pPr marL="0" indent="0">
              <a:spcBef>
                <a:spcPts val="0"/>
              </a:spcBef>
              <a:buFontTx/>
              <a:buNone/>
              <a:defRPr sz="2800">
                <a:solidFill>
                  <a:schemeClr val="accent1"/>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nl-NL" dirty="0"/>
          </a:p>
        </p:txBody>
      </p:sp>
      <p:sp>
        <p:nvSpPr>
          <p:cNvPr id="85" name="Text Placeholder 4"/>
          <p:cNvSpPr>
            <a:spLocks noGrp="1"/>
          </p:cNvSpPr>
          <p:nvPr>
            <p:ph type="body" sz="quarter" idx="15"/>
          </p:nvPr>
        </p:nvSpPr>
        <p:spPr>
          <a:xfrm>
            <a:off x="766762" y="2293938"/>
            <a:ext cx="10658475" cy="379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8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6724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ext Slid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2" y="800496"/>
            <a:ext cx="10658475" cy="985576"/>
          </a:xfrm>
          <a:prstGeom prst="rect">
            <a:avLst/>
          </a:prstGeom>
        </p:spPr>
        <p:txBody>
          <a:bodyPr lIns="0" tIns="0" rIns="0" bIns="0">
            <a:noAutofit/>
          </a:bodyPr>
          <a:lstStyle>
            <a:lvl1pPr>
              <a:defRPr sz="3600"/>
            </a:lvl1pPr>
          </a:lstStyle>
          <a:p>
            <a:endParaRPr lang="en-BE" dirty="0"/>
          </a:p>
        </p:txBody>
      </p:sp>
      <p:sp>
        <p:nvSpPr>
          <p:cNvPr id="81" name="Text Placeholder 4"/>
          <p:cNvSpPr>
            <a:spLocks noGrp="1"/>
          </p:cNvSpPr>
          <p:nvPr>
            <p:ph type="body" sz="quarter" idx="15"/>
          </p:nvPr>
        </p:nvSpPr>
        <p:spPr>
          <a:xfrm>
            <a:off x="766762" y="1786072"/>
            <a:ext cx="10658475" cy="430199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29996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raphic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3" y="800100"/>
            <a:ext cx="10658475" cy="711201"/>
          </a:xfrm>
          <a:prstGeom prst="rect">
            <a:avLst/>
          </a:prstGeom>
        </p:spPr>
        <p:txBody>
          <a:bodyPr lIns="0" tIns="0" rIns="0" bIns="0">
            <a:normAutofit/>
          </a:bodyPr>
          <a:lstStyle>
            <a:lvl1pPr>
              <a:defRPr sz="3600"/>
            </a:lvl1pPr>
          </a:lstStyle>
          <a:p>
            <a:endParaRPr lang="en-BE" dirty="0"/>
          </a:p>
        </p:txBody>
      </p:sp>
      <p:sp>
        <p:nvSpPr>
          <p:cNvPr id="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6553200" y="1638300"/>
            <a:ext cx="4872038" cy="698501"/>
          </a:xfrm>
          <a:prstGeom prst="rect">
            <a:avLst/>
          </a:prstGeom>
        </p:spPr>
        <p:txBody>
          <a:bodyPr lIns="0" tIns="0" rIns="0" bIns="91440">
            <a:normAutofit/>
          </a:bodyPr>
          <a:lstStyle>
            <a:lvl1pPr marL="0" indent="0">
              <a:buFontTx/>
              <a:buNone/>
              <a:defRPr sz="2800" b="0">
                <a:solidFill>
                  <a:schemeClr val="accent1"/>
                </a:solidFill>
                <a:latin typeface="Georgia" panose="02040502050405020303" pitchFamily="18" charset="0"/>
                <a:cs typeface="Segoe UI Semibold" panose="020B0702040204020203" pitchFamily="34" charset="0"/>
              </a:defRPr>
            </a:lvl1pPr>
          </a:lstStyle>
          <a:p>
            <a:pPr lvl="0"/>
            <a:endParaRPr lang="nl-NL" dirty="0"/>
          </a:p>
        </p:txBody>
      </p:sp>
      <p:sp>
        <p:nvSpPr>
          <p:cNvPr id="8" name="Tijdelijke aanduiding voor grafiek 7">
            <a:extLst>
              <a:ext uri="{FF2B5EF4-FFF2-40B4-BE49-F238E27FC236}">
                <a16:creationId xmlns:a16="http://schemas.microsoft.com/office/drawing/2014/main" id="{785BDB02-0669-46C1-BC18-4B6915F659E2}"/>
              </a:ext>
            </a:extLst>
          </p:cNvPr>
          <p:cNvSpPr>
            <a:spLocks noGrp="1"/>
          </p:cNvSpPr>
          <p:nvPr>
            <p:ph type="chart" sz="quarter" idx="15"/>
          </p:nvPr>
        </p:nvSpPr>
        <p:spPr>
          <a:xfrm>
            <a:off x="766762" y="1638300"/>
            <a:ext cx="4872037" cy="4419600"/>
          </a:xfrm>
          <a:prstGeom prst="rect">
            <a:avLst/>
          </a:prstGeom>
        </p:spPr>
        <p:txBody>
          <a:bodyPr>
            <a:normAutofit/>
          </a:bodyPr>
          <a:lstStyle>
            <a:lvl1pPr marL="0" indent="0" algn="ctr">
              <a:buFontTx/>
              <a:buNone/>
              <a:defRPr sz="1800" b="0"/>
            </a:lvl1pPr>
          </a:lstStyle>
          <a:p>
            <a:endParaRPr lang="en-BE" dirty="0"/>
          </a:p>
        </p:txBody>
      </p:sp>
      <p:sp>
        <p:nvSpPr>
          <p:cNvPr id="11" name="Text Placeholder 5"/>
          <p:cNvSpPr>
            <a:spLocks noGrp="1"/>
          </p:cNvSpPr>
          <p:nvPr>
            <p:ph type="body" sz="quarter" idx="20"/>
          </p:nvPr>
        </p:nvSpPr>
        <p:spPr>
          <a:xfrm>
            <a:off x="6544414" y="2463800"/>
            <a:ext cx="4872037" cy="35941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3"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31722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4128">
          <p15:clr>
            <a:srgbClr val="FBAE40"/>
          </p15:clr>
        </p15:guide>
        <p15:guide id="3" pos="355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Graphic Slid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3" y="800099"/>
            <a:ext cx="5329237" cy="558801"/>
          </a:xfrm>
          <a:prstGeom prst="rect">
            <a:avLst/>
          </a:prstGeom>
        </p:spPr>
        <p:txBody>
          <a:bodyPr lIns="0" tIns="0" rIns="0" bIns="0">
            <a:normAutofit/>
          </a:bodyPr>
          <a:lstStyle>
            <a:lvl1pPr>
              <a:defRPr sz="3600"/>
            </a:lvl1pPr>
          </a:lstStyle>
          <a:p>
            <a:endParaRPr lang="en-BE" dirty="0"/>
          </a:p>
        </p:txBody>
      </p:sp>
      <p:sp>
        <p:nvSpPr>
          <p:cNvPr id="4" name="Tijdelijke aanduiding voor tekst 3">
            <a:extLst>
              <a:ext uri="{FF2B5EF4-FFF2-40B4-BE49-F238E27FC236}">
                <a16:creationId xmlns:a16="http://schemas.microsoft.com/office/drawing/2014/main" id="{C77A671E-B4FD-4971-A22F-87DB01A11F14}"/>
              </a:ext>
            </a:extLst>
          </p:cNvPr>
          <p:cNvSpPr>
            <a:spLocks noGrp="1"/>
          </p:cNvSpPr>
          <p:nvPr>
            <p:ph type="body" sz="quarter" idx="14"/>
          </p:nvPr>
        </p:nvSpPr>
        <p:spPr>
          <a:xfrm>
            <a:off x="766763" y="1460501"/>
            <a:ext cx="5329237" cy="922958"/>
          </a:xfrm>
          <a:prstGeom prst="rect">
            <a:avLst/>
          </a:prstGeom>
        </p:spPr>
        <p:txBody>
          <a:bodyPr lIns="0" tIns="0" rIns="0" bIns="91440">
            <a:normAutofit/>
          </a:bodyPr>
          <a:lstStyle>
            <a:lvl1pPr marL="0" indent="0">
              <a:buFontTx/>
              <a:buNone/>
              <a:defRPr sz="2800" b="0">
                <a:solidFill>
                  <a:schemeClr val="accent1"/>
                </a:solidFill>
                <a:latin typeface="Georgia" panose="02040502050405020303" pitchFamily="18" charset="0"/>
                <a:cs typeface="Segoe UI Semibold" panose="020B0702040204020203" pitchFamily="34" charset="0"/>
              </a:defRPr>
            </a:lvl1pPr>
          </a:lstStyle>
          <a:p>
            <a:pPr lvl="0"/>
            <a:endParaRPr lang="nl-NL" dirty="0"/>
          </a:p>
        </p:txBody>
      </p:sp>
      <p:sp>
        <p:nvSpPr>
          <p:cNvPr id="8" name="Tijdelijke aanduiding voor grafiek 7">
            <a:extLst>
              <a:ext uri="{FF2B5EF4-FFF2-40B4-BE49-F238E27FC236}">
                <a16:creationId xmlns:a16="http://schemas.microsoft.com/office/drawing/2014/main" id="{785BDB02-0669-46C1-BC18-4B6915F659E2}"/>
              </a:ext>
            </a:extLst>
          </p:cNvPr>
          <p:cNvSpPr>
            <a:spLocks noGrp="1"/>
          </p:cNvSpPr>
          <p:nvPr>
            <p:ph type="chart" sz="quarter" idx="15"/>
          </p:nvPr>
        </p:nvSpPr>
        <p:spPr>
          <a:xfrm>
            <a:off x="6553200" y="800101"/>
            <a:ext cx="4872038" cy="5257800"/>
          </a:xfrm>
          <a:prstGeom prst="rect">
            <a:avLst/>
          </a:prstGeom>
        </p:spPr>
        <p:txBody>
          <a:bodyPr>
            <a:normAutofit/>
          </a:bodyPr>
          <a:lstStyle>
            <a:lvl1pPr marL="0" indent="0" algn="ctr">
              <a:buFontTx/>
              <a:buNone/>
              <a:defRPr sz="1800" b="0"/>
            </a:lvl1pPr>
          </a:lstStyle>
          <a:p>
            <a:endParaRPr lang="en-BE" dirty="0"/>
          </a:p>
        </p:txBody>
      </p:sp>
      <p:sp>
        <p:nvSpPr>
          <p:cNvPr id="5" name="Text Placeholder 4"/>
          <p:cNvSpPr>
            <a:spLocks noGrp="1"/>
          </p:cNvSpPr>
          <p:nvPr>
            <p:ph type="body" sz="quarter" idx="16"/>
          </p:nvPr>
        </p:nvSpPr>
        <p:spPr>
          <a:xfrm>
            <a:off x="766762" y="2485059"/>
            <a:ext cx="5329237" cy="35728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2"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598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pos="3840">
          <p15:clr>
            <a:srgbClr val="FBAE40"/>
          </p15:clr>
        </p15:guide>
        <p15:guide id="2" pos="4128">
          <p15:clr>
            <a:srgbClr val="FBAE40"/>
          </p15:clr>
        </p15:guide>
        <p15:guide id="3" pos="355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xt &amp; Pictur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EDE2AA-5EC7-4E82-852A-FE7B050223C2}"/>
              </a:ext>
            </a:extLst>
          </p:cNvPr>
          <p:cNvSpPr>
            <a:spLocks noGrp="1"/>
          </p:cNvSpPr>
          <p:nvPr>
            <p:ph type="title"/>
          </p:nvPr>
        </p:nvSpPr>
        <p:spPr>
          <a:xfrm>
            <a:off x="766764" y="800100"/>
            <a:ext cx="5983288" cy="838200"/>
          </a:xfrm>
          <a:prstGeom prst="rect">
            <a:avLst/>
          </a:prstGeom>
        </p:spPr>
        <p:txBody>
          <a:bodyPr lIns="0" tIns="0" rIns="0" bIns="0">
            <a:normAutofit/>
          </a:bodyPr>
          <a:lstStyle>
            <a:lvl1pPr>
              <a:defRPr sz="3600"/>
            </a:lvl1pPr>
          </a:lstStyle>
          <a:p>
            <a:endParaRPr lang="en-BE" dirty="0"/>
          </a:p>
        </p:txBody>
      </p:sp>
      <p:sp>
        <p:nvSpPr>
          <p:cNvPr id="8" name="Tijdelijke aanduiding voor afbeelding 7">
            <a:extLst>
              <a:ext uri="{FF2B5EF4-FFF2-40B4-BE49-F238E27FC236}">
                <a16:creationId xmlns:a16="http://schemas.microsoft.com/office/drawing/2014/main" id="{DA1F5B52-3085-476E-BB6D-6FEB75BDE4A8}"/>
              </a:ext>
            </a:extLst>
          </p:cNvPr>
          <p:cNvSpPr>
            <a:spLocks noGrp="1"/>
          </p:cNvSpPr>
          <p:nvPr>
            <p:ph type="pic" sz="quarter" idx="11"/>
          </p:nvPr>
        </p:nvSpPr>
        <p:spPr>
          <a:xfrm>
            <a:off x="7000875" y="0"/>
            <a:ext cx="5191125" cy="6858000"/>
          </a:xfrm>
          <a:prstGeom prst="rect">
            <a:avLst/>
          </a:prstGeom>
        </p:spPr>
        <p:txBody>
          <a:bodyPr anchor="ctr" anchorCtr="0"/>
          <a:lstStyle>
            <a:lvl1pPr marL="0" indent="0" algn="ctr">
              <a:buFontTx/>
              <a:buNone/>
              <a:defRPr/>
            </a:lvl1pPr>
          </a:lstStyle>
          <a:p>
            <a:endParaRPr lang="en-BE" dirty="0"/>
          </a:p>
        </p:txBody>
      </p:sp>
      <p:sp>
        <p:nvSpPr>
          <p:cNvPr id="4" name="Tijdelijke aanduiding voor tekst 3">
            <a:extLst>
              <a:ext uri="{FF2B5EF4-FFF2-40B4-BE49-F238E27FC236}">
                <a16:creationId xmlns:a16="http://schemas.microsoft.com/office/drawing/2014/main" id="{3EC44366-3659-4A5F-8C4F-FE4BEEF77354}"/>
              </a:ext>
            </a:extLst>
          </p:cNvPr>
          <p:cNvSpPr>
            <a:spLocks noGrp="1"/>
          </p:cNvSpPr>
          <p:nvPr>
            <p:ph type="body" sz="quarter" idx="12"/>
          </p:nvPr>
        </p:nvSpPr>
        <p:spPr>
          <a:xfrm>
            <a:off x="766763" y="1768890"/>
            <a:ext cx="6010275" cy="847310"/>
          </a:xfrm>
          <a:prstGeom prst="rect">
            <a:avLst/>
          </a:prstGeom>
        </p:spPr>
        <p:txBody>
          <a:bodyPr lIns="0" tIns="0" rIns="0" bIns="0">
            <a:noAutofit/>
          </a:bodyPr>
          <a:lstStyle>
            <a:lvl1pPr marL="0" indent="0">
              <a:buFontTx/>
              <a:buNone/>
              <a:defRPr sz="2800">
                <a:solidFill>
                  <a:schemeClr val="accent1"/>
                </a:solidFill>
                <a:latin typeface="Georgia" panose="02040502050405020303" pitchFamily="18"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endParaRPr lang="nl-NL" dirty="0"/>
          </a:p>
        </p:txBody>
      </p:sp>
      <p:sp>
        <p:nvSpPr>
          <p:cNvPr id="11" name="Text Placeholder 10"/>
          <p:cNvSpPr>
            <a:spLocks noGrp="1"/>
          </p:cNvSpPr>
          <p:nvPr>
            <p:ph type="body" sz="quarter" idx="13"/>
          </p:nvPr>
        </p:nvSpPr>
        <p:spPr>
          <a:xfrm>
            <a:off x="766763" y="2895600"/>
            <a:ext cx="6010275" cy="3581400"/>
          </a:xfrm>
        </p:spPr>
        <p:txBody>
          <a:bodyPr/>
          <a:lstStyle>
            <a:lvl1pPr marL="355600" indent="-355600">
              <a:defRPr/>
            </a:lvl1pPr>
            <a:lvl2pPr marL="622300" indent="-266700">
              <a:defRPr/>
            </a:lvl2pPr>
            <a:lvl3pPr marL="990600" indent="-266700">
              <a:defRPr/>
            </a:lvl3pPr>
            <a:lvl4pPr marL="1524000" indent="-266700">
              <a:defRPr/>
            </a:lvl4pPr>
            <a:lvl5pPr marL="1968500" indent="-35560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2810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Icon &amp; Text 1">
    <p:spTree>
      <p:nvGrpSpPr>
        <p:cNvPr id="1" name=""/>
        <p:cNvGrpSpPr/>
        <p:nvPr/>
      </p:nvGrpSpPr>
      <p:grpSpPr>
        <a:xfrm>
          <a:off x="0" y="0"/>
          <a:ext cx="0" cy="0"/>
          <a:chOff x="0" y="0"/>
          <a:chExt cx="0" cy="0"/>
        </a:xfrm>
      </p:grpSpPr>
      <p:sp>
        <p:nvSpPr>
          <p:cNvPr id="15" name="Tijdelijke aanduiding voor afbeelding 3">
            <a:extLst>
              <a:ext uri="{FF2B5EF4-FFF2-40B4-BE49-F238E27FC236}">
                <a16:creationId xmlns:a16="http://schemas.microsoft.com/office/drawing/2014/main" id="{E2D5FF81-71AA-4A77-BAFA-7D04F841B056}"/>
              </a:ext>
            </a:extLst>
          </p:cNvPr>
          <p:cNvSpPr>
            <a:spLocks noGrp="1"/>
          </p:cNvSpPr>
          <p:nvPr>
            <p:ph type="pic" sz="quarter" idx="15" hasCustomPrompt="1"/>
          </p:nvPr>
        </p:nvSpPr>
        <p:spPr>
          <a:xfrm>
            <a:off x="5067299" y="1905000"/>
            <a:ext cx="2160000" cy="1346400"/>
          </a:xfrm>
          <a:prstGeom prst="rect">
            <a:avLst/>
          </a:prstGeom>
        </p:spPr>
        <p:txBody>
          <a:bodyPr>
            <a:normAutofit/>
          </a:bodyPr>
          <a:lstStyle>
            <a:lvl1pPr marL="0" indent="0" algn="ctr">
              <a:lnSpc>
                <a:spcPct val="100000"/>
              </a:lnSpc>
              <a:spcBef>
                <a:spcPts val="300"/>
              </a:spcBef>
              <a:buFontTx/>
              <a:buNone/>
              <a:defRPr sz="1100">
                <a:solidFill>
                  <a:schemeClr val="tx1"/>
                </a:solidFill>
              </a:defRPr>
            </a:lvl1pPr>
          </a:lstStyle>
          <a:p>
            <a:r>
              <a:rPr lang="en-US"/>
              <a:t>add icon</a:t>
            </a:r>
          </a:p>
        </p:txBody>
      </p:sp>
      <p:sp>
        <p:nvSpPr>
          <p:cNvPr id="16" name="Tijdelijke aanduiding voor tekst 9">
            <a:extLst>
              <a:ext uri="{FF2B5EF4-FFF2-40B4-BE49-F238E27FC236}">
                <a16:creationId xmlns:a16="http://schemas.microsoft.com/office/drawing/2014/main" id="{2F64FA00-F52F-4F8C-9ED0-8C00855A7D4E}"/>
              </a:ext>
            </a:extLst>
          </p:cNvPr>
          <p:cNvSpPr>
            <a:spLocks noGrp="1"/>
          </p:cNvSpPr>
          <p:nvPr>
            <p:ph type="body" sz="quarter" idx="17"/>
          </p:nvPr>
        </p:nvSpPr>
        <p:spPr>
          <a:xfrm>
            <a:off x="766763" y="3647804"/>
            <a:ext cx="10661665" cy="2168795"/>
          </a:xfrm>
          <a:prstGeom prst="rect">
            <a:avLst/>
          </a:prstGeom>
        </p:spPr>
        <p:txBody>
          <a:bodyPr lIns="0" tIns="0" rIns="0" bIns="0" anchor="ctr" anchorCtr="0">
            <a:noAutofit/>
          </a:bodyPr>
          <a:lstStyle>
            <a:lvl1pPr marL="0" indent="0" algn="ctr">
              <a:buFontTx/>
              <a:buNone/>
              <a:defRPr sz="3600">
                <a:solidFill>
                  <a:schemeClr val="accent2"/>
                </a:solidFill>
                <a:latin typeface="Segoe UI Semibold" panose="020B0702040204020203" pitchFamily="34" charset="0"/>
                <a:cs typeface="Segoe UI Semibold" panose="020B0702040204020203" pitchFamily="34" charset="0"/>
              </a:defRPr>
            </a:lvl1pPr>
            <a:lvl2pPr marL="457200" indent="0">
              <a:buFontTx/>
              <a:buNone/>
              <a:defRPr>
                <a:latin typeface="+mj-lt"/>
              </a:defRPr>
            </a:lvl2pPr>
            <a:lvl3pPr marL="914400" indent="0">
              <a:buFontTx/>
              <a:buNone/>
              <a:defRPr>
                <a:latin typeface="+mj-lt"/>
              </a:defRPr>
            </a:lvl3pPr>
            <a:lvl4pPr marL="1371600" indent="0">
              <a:buFontTx/>
              <a:buNone/>
              <a:defRPr>
                <a:latin typeface="+mj-lt"/>
              </a:defRPr>
            </a:lvl4pPr>
            <a:lvl5pPr marL="1828800" indent="0">
              <a:buFontTx/>
              <a:buNone/>
              <a:defRPr>
                <a:latin typeface="+mj-lt"/>
              </a:defRPr>
            </a:lvl5pPr>
          </a:lstStyle>
          <a:p>
            <a:pPr lvl="0"/>
            <a:endParaRPr lang="nl-NL" dirty="0"/>
          </a:p>
        </p:txBody>
      </p:sp>
      <p:sp>
        <p:nvSpPr>
          <p:cNvPr id="6"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6858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21325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CB4322-0EA7-4B1A-85AC-28CABAE877A2}" type="slidenum">
              <a:rPr lang="en-GB" smtClean="0"/>
              <a:t>‹#›</a:t>
            </a:fld>
            <a:endParaRPr lang="en-GB"/>
          </a:p>
        </p:txBody>
      </p:sp>
    </p:spTree>
    <p:extLst>
      <p:ext uri="{BB962C8B-B14F-4D97-AF65-F5344CB8AC3E}">
        <p14:creationId xmlns:p14="http://schemas.microsoft.com/office/powerpoint/2010/main" val="139065646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2CB4322-0EA7-4B1A-85AC-28CABAE877A2}" type="slidenum">
              <a:rPr lang="en-GB" smtClean="0"/>
              <a:t>‹#›</a:t>
            </a:fld>
            <a:endParaRPr lang="en-GB"/>
          </a:p>
        </p:txBody>
      </p:sp>
    </p:spTree>
    <p:extLst>
      <p:ext uri="{BB962C8B-B14F-4D97-AF65-F5344CB8AC3E}">
        <p14:creationId xmlns:p14="http://schemas.microsoft.com/office/powerpoint/2010/main" val="71375487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Subtitel slide 3">
    <p:spTree>
      <p:nvGrpSpPr>
        <p:cNvPr id="1" name=""/>
        <p:cNvGrpSpPr/>
        <p:nvPr/>
      </p:nvGrpSpPr>
      <p:grpSpPr>
        <a:xfrm>
          <a:off x="0" y="0"/>
          <a:ext cx="0" cy="0"/>
          <a:chOff x="0" y="0"/>
          <a:chExt cx="0" cy="0"/>
        </a:xfrm>
      </p:grpSpPr>
      <p:pic>
        <p:nvPicPr>
          <p:cNvPr id="6" name="Afbeelding 8">
            <a:extLst>
              <a:ext uri="{FF2B5EF4-FFF2-40B4-BE49-F238E27FC236}">
                <a16:creationId xmlns:a16="http://schemas.microsoft.com/office/drawing/2014/main" id="{647C93FD-69BD-4ECC-920A-2E0DC25772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3721" t="28982" r="2160" b="26878"/>
          <a:stretch/>
        </p:blipFill>
        <p:spPr>
          <a:xfrm>
            <a:off x="742950" y="733425"/>
            <a:ext cx="9210675" cy="5353050"/>
          </a:xfrm>
          <a:prstGeom prst="rect">
            <a:avLst/>
          </a:prstGeom>
        </p:spPr>
      </p:pic>
      <p:sp>
        <p:nvSpPr>
          <p:cNvPr id="3" name="Rectangle 2"/>
          <p:cNvSpPr/>
          <p:nvPr userDrawn="1"/>
        </p:nvSpPr>
        <p:spPr>
          <a:xfrm>
            <a:off x="1334125" y="2241030"/>
            <a:ext cx="5074170" cy="2360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AC9C767-9A67-4216-A05F-95382F81BAEA}"/>
              </a:ext>
            </a:extLst>
          </p:cNvPr>
          <p:cNvSpPr>
            <a:spLocks noGrp="1"/>
          </p:cNvSpPr>
          <p:nvPr>
            <p:ph type="title" hasCustomPrompt="1"/>
          </p:nvPr>
        </p:nvSpPr>
        <p:spPr>
          <a:xfrm>
            <a:off x="1333500" y="2247899"/>
            <a:ext cx="5067300" cy="2362201"/>
          </a:xfrm>
          <a:prstGeom prst="rect">
            <a:avLst/>
          </a:prstGeom>
          <a:noFill/>
        </p:spPr>
        <p:txBody>
          <a:bodyPr lIns="182880" tIns="182880" rIns="182880" bIns="182880" anchor="ctr" anchorCtr="0">
            <a:normAutofit/>
          </a:bodyPr>
          <a:lstStyle>
            <a:lvl1pPr>
              <a:defRPr sz="3600"/>
            </a:lvl1pPr>
          </a:lstStyle>
          <a:p>
            <a:r>
              <a:rPr lang="en-US"/>
              <a:t>Click to add subtitle</a:t>
            </a:r>
            <a:endParaRPr lang="en-BE" dirty="0"/>
          </a:p>
        </p:txBody>
      </p:sp>
      <p:sp>
        <p:nvSpPr>
          <p:cNvPr id="8"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554549"/>
            <a:ext cx="2743200" cy="230784"/>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9"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554549"/>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474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theme" Target="../theme/theme1.xml"/><Relationship Id="rId39"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theme" Target="../theme/theme2.xml"/><Relationship Id="rId3" Type="http://schemas.openxmlformats.org/officeDocument/2006/relationships/image" Target="../media/image1.w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slideLayout" Target="../slideLayouts/slideLayout52.xml"/><Relationship Id="rId15" Type="http://schemas.openxmlformats.org/officeDocument/2006/relationships/slideLayout" Target="../slideLayouts/slideLayout53.xml"/><Relationship Id="rId16" Type="http://schemas.openxmlformats.org/officeDocument/2006/relationships/slideLayout" Target="../slideLayouts/slideLayout54.xml"/><Relationship Id="rId17" Type="http://schemas.openxmlformats.org/officeDocument/2006/relationships/slideLayout" Target="../slideLayouts/slideLayout55.xml"/><Relationship Id="rId18" Type="http://schemas.openxmlformats.org/officeDocument/2006/relationships/slideLayout" Target="../slideLayouts/slideLayout56.xml"/><Relationship Id="rId19" Type="http://schemas.openxmlformats.org/officeDocument/2006/relationships/slideLayout" Target="../slideLayouts/slideLayout57.xml"/><Relationship Id="rId20" Type="http://schemas.openxmlformats.org/officeDocument/2006/relationships/slideLayout" Target="../slideLayouts/slideLayout58.xml"/><Relationship Id="rId21" Type="http://schemas.openxmlformats.org/officeDocument/2006/relationships/slideLayout" Target="../slideLayouts/slideLayout59.xml"/><Relationship Id="rId22" Type="http://schemas.openxmlformats.org/officeDocument/2006/relationships/slideLayout" Target="../slideLayouts/slideLayout60.xml"/><Relationship Id="rId23" Type="http://schemas.openxmlformats.org/officeDocument/2006/relationships/slideLayout" Target="../slideLayouts/slideLayout61.xml"/><Relationship Id="rId24" Type="http://schemas.openxmlformats.org/officeDocument/2006/relationships/slideLayout" Target="../slideLayouts/slideLayout62.xml"/><Relationship Id="rId25" Type="http://schemas.openxmlformats.org/officeDocument/2006/relationships/slideLayout" Target="../slideLayouts/slideLayout63.xml"/><Relationship Id="rId26" Type="http://schemas.openxmlformats.org/officeDocument/2006/relationships/slideLayout" Target="../slideLayouts/slideLayout64.xml"/><Relationship Id="rId27" Type="http://schemas.openxmlformats.org/officeDocument/2006/relationships/slideLayout" Target="../slideLayouts/slideLayout65.xml"/><Relationship Id="rId28" Type="http://schemas.openxmlformats.org/officeDocument/2006/relationships/slideLayout" Target="../slideLayouts/slideLayout66.xml"/><Relationship Id="rId29" Type="http://schemas.openxmlformats.org/officeDocument/2006/relationships/slideLayout" Target="../slideLayouts/slideLayout67.xml"/><Relationship Id="rId30" Type="http://schemas.openxmlformats.org/officeDocument/2006/relationships/slideLayout" Target="../slideLayouts/slideLayout68.xml"/><Relationship Id="rId31" Type="http://schemas.openxmlformats.org/officeDocument/2006/relationships/slideLayout" Target="../slideLayouts/slideLayout69.xml"/><Relationship Id="rId32" Type="http://schemas.openxmlformats.org/officeDocument/2006/relationships/slideLayout" Target="../slideLayouts/slideLayout70.xml"/><Relationship Id="rId33" Type="http://schemas.openxmlformats.org/officeDocument/2006/relationships/slideLayout" Target="../slideLayouts/slideLayout71.xml"/><Relationship Id="rId34" Type="http://schemas.openxmlformats.org/officeDocument/2006/relationships/slideLayout" Target="../slideLayouts/slideLayout72.xml"/><Relationship Id="rId35" Type="http://schemas.openxmlformats.org/officeDocument/2006/relationships/slideLayout" Target="../slideLayouts/slideLayout73.xml"/><Relationship Id="rId36" Type="http://schemas.openxmlformats.org/officeDocument/2006/relationships/theme" Target="../theme/theme3.xml"/><Relationship Id="rId37" Type="http://schemas.openxmlformats.org/officeDocument/2006/relationships/image" Target="../media/image1.w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slideLayout" Target="../slideLayouts/slideLayout75.xml"/><Relationship Id="rId3" Type="http://schemas.openxmlformats.org/officeDocument/2006/relationships/slideLayout" Target="../slideLayouts/slideLayout76.xml"/><Relationship Id="rId4" Type="http://schemas.openxmlformats.org/officeDocument/2006/relationships/slideLayout" Target="../slideLayouts/slideLayout77.xml"/><Relationship Id="rId5" Type="http://schemas.openxmlformats.org/officeDocument/2006/relationships/slideLayout" Target="../slideLayouts/slideLayout78.xml"/><Relationship Id="rId6" Type="http://schemas.openxmlformats.org/officeDocument/2006/relationships/slideLayout" Target="../slideLayouts/slideLayout79.xml"/><Relationship Id="rId7" Type="http://schemas.openxmlformats.org/officeDocument/2006/relationships/slideLayout" Target="../slideLayouts/slideLayout80.xml"/><Relationship Id="rId8" Type="http://schemas.openxmlformats.org/officeDocument/2006/relationships/slideLayout" Target="../slideLayouts/slideLayout81.xml"/><Relationship Id="rId9" Type="http://schemas.openxmlformats.org/officeDocument/2006/relationships/slideLayout" Target="../slideLayouts/slideLayout82.xml"/><Relationship Id="rId10" Type="http://schemas.openxmlformats.org/officeDocument/2006/relationships/slideLayout" Target="../slideLayouts/slideLayout83.xml"/><Relationship Id="rId11" Type="http://schemas.openxmlformats.org/officeDocument/2006/relationships/slideLayout" Target="../slideLayouts/slideLayout84.xml"/><Relationship Id="rId12" Type="http://schemas.openxmlformats.org/officeDocument/2006/relationships/slideLayout" Target="../slideLayouts/slideLayout85.xml"/><Relationship Id="rId13" Type="http://schemas.openxmlformats.org/officeDocument/2006/relationships/slideLayout" Target="../slideLayouts/slideLayout86.xml"/><Relationship Id="rId14" Type="http://schemas.openxmlformats.org/officeDocument/2006/relationships/theme" Target="../theme/theme4.xml"/><Relationship Id="rId15"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806211"/>
            <a:ext cx="10515600" cy="884477"/>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39" cstate="print">
            <a:extLst>
              <a:ext uri="{28A0092B-C50C-407E-A947-70E740481C1C}">
                <a14:useLocalDpi xmlns:a14="http://schemas.microsoft.com/office/drawing/2010/main" val="0"/>
              </a:ext>
            </a:extLst>
          </a:blip>
          <a:stretch>
            <a:fillRect/>
          </a:stretch>
        </p:blipFill>
        <p:spPr>
          <a:xfrm>
            <a:off x="305321" y="6469091"/>
            <a:ext cx="733149" cy="167146"/>
          </a:xfrm>
          <a:prstGeom prst="rect">
            <a:avLst/>
          </a:prstGeom>
        </p:spPr>
      </p:pic>
      <p:sp>
        <p:nvSpPr>
          <p:cNvPr id="12" name="TextBox 11" title="AlexandriaReference"/>
          <p:cNvSpPr txBox="1"/>
          <p:nvPr userDrawn="1"/>
        </p:nvSpPr>
        <p:spPr>
          <a:xfrm>
            <a:off x="1117063" y="6443533"/>
            <a:ext cx="1440000" cy="21544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en-US" sz="800" b="0" i="1"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SCK CEN/46467661</a:t>
            </a:r>
            <a:endParaRPr kumimoji="0" lang="nl-BE" sz="8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13" name="TextBox 12" title="AlexandriaDistributionLimitations"/>
          <p:cNvSpPr txBox="1"/>
          <p:nvPr userDrawn="1"/>
        </p:nvSpPr>
        <p:spPr>
          <a:xfrm>
            <a:off x="10155691" y="6587241"/>
            <a:ext cx="1660707" cy="215444"/>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fr-FR" sz="800" b="0" i="1"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ISC: Restricted</a:t>
            </a:r>
            <a:endParaRPr kumimoji="0" lang="fr-FR" sz="8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14" name="TextBox 13" title="AlexandriaAlternativeReference"/>
          <p:cNvSpPr txBox="1"/>
          <p:nvPr userDrawn="1"/>
        </p:nvSpPr>
        <p:spPr>
          <a:xfrm>
            <a:off x="1117063" y="6587241"/>
            <a:ext cx="1440000" cy="21544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en-US" sz="800" b="0" i="1"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 </a:t>
            </a:r>
            <a:endParaRPr kumimoji="0" lang="nl-BE" sz="8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15"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143176"/>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6"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17063"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264741"/>
      </p:ext>
    </p:extLst>
  </p:cSld>
  <p:clrMap bg1="lt1" tx1="dk1" bg2="lt2" tx2="dk2" accent1="accent1" accent2="accent2" accent3="accent3" accent4="accent4" accent5="accent5" accent6="accent6" hlink="hlink" folHlink="folHlink"/>
  <p:sldLayoutIdLst>
    <p:sldLayoutId id="2147483660" r:id="rId1"/>
    <p:sldLayoutId id="2147483680" r:id="rId2"/>
    <p:sldLayoutId id="2147483681" r:id="rId3"/>
    <p:sldLayoutId id="2147483683" r:id="rId4"/>
    <p:sldLayoutId id="2147483699" r:id="rId5"/>
    <p:sldLayoutId id="2147483700" r:id="rId6"/>
    <p:sldLayoutId id="2147483661" r:id="rId7"/>
    <p:sldLayoutId id="2147483662" r:id="rId8"/>
    <p:sldLayoutId id="2147483663" r:id="rId9"/>
    <p:sldLayoutId id="2147483664" r:id="rId10"/>
    <p:sldLayoutId id="2147483682" r:id="rId11"/>
    <p:sldLayoutId id="2147483668" r:id="rId12"/>
    <p:sldLayoutId id="2147483669" r:id="rId13"/>
    <p:sldLayoutId id="2147483701" r:id="rId14"/>
    <p:sldLayoutId id="2147483694" r:id="rId15"/>
    <p:sldLayoutId id="2147483670" r:id="rId16"/>
    <p:sldLayoutId id="2147483671" r:id="rId17"/>
    <p:sldLayoutId id="2147483667" r:id="rId18"/>
    <p:sldLayoutId id="2147483677" r:id="rId19"/>
    <p:sldLayoutId id="2147483665" r:id="rId20"/>
    <p:sldLayoutId id="2147483675" r:id="rId21"/>
    <p:sldLayoutId id="2147483676" r:id="rId22"/>
    <p:sldLayoutId id="2147483673" r:id="rId23"/>
    <p:sldLayoutId id="2147483674" r:id="rId24"/>
    <p:sldLayoutId id="2147483678" r:id="rId25"/>
    <p:sldLayoutId id="2147483679" r:id="rId26"/>
    <p:sldLayoutId id="2147483685" r:id="rId27"/>
    <p:sldLayoutId id="2147483690" r:id="rId28"/>
    <p:sldLayoutId id="2147483688" r:id="rId29"/>
    <p:sldLayoutId id="2147483655" r:id="rId30"/>
    <p:sldLayoutId id="2147483684" r:id="rId31"/>
    <p:sldLayoutId id="2147483687" r:id="rId32"/>
    <p:sldLayoutId id="2147483692" r:id="rId33"/>
    <p:sldLayoutId id="2147483693" r:id="rId34"/>
    <p:sldLayoutId id="2147483697" r:id="rId35"/>
    <p:sldLayoutId id="2147483794" r:id="rId36"/>
    <p:sldLayoutId id="2147483795" r:id="rId3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3600" b="1" kern="1200">
          <a:solidFill>
            <a:schemeClr val="accent2"/>
          </a:solidFill>
          <a:latin typeface="+mj-lt"/>
          <a:ea typeface="+mj-ea"/>
          <a:cs typeface="+mj-cs"/>
        </a:defRPr>
      </a:lvl1pPr>
    </p:titleStyle>
    <p:bodyStyle>
      <a:lvl1pPr marL="355600" indent="-266700" algn="l" defTabSz="914400" rtl="0" eaLnBrk="1" latinLnBrk="0" hangingPunct="1">
        <a:lnSpc>
          <a:spcPct val="100000"/>
        </a:lnSpc>
        <a:spcBef>
          <a:spcPts val="1000"/>
        </a:spcBef>
        <a:buClr>
          <a:schemeClr val="accent2"/>
        </a:buClr>
        <a:buFont typeface="Arial" panose="020B0604020202020204" pitchFamily="34" charset="0"/>
        <a:buChar char="•"/>
        <a:defRPr sz="2400" kern="1200">
          <a:solidFill>
            <a:schemeClr val="tx1"/>
          </a:solidFill>
          <a:latin typeface="+mn-lt"/>
          <a:ea typeface="+mn-ea"/>
          <a:cs typeface="+mn-cs"/>
        </a:defRPr>
      </a:lvl1pPr>
      <a:lvl2pPr marL="622300" indent="-266700" algn="l" defTabSz="914400" rtl="0" eaLnBrk="1" latinLnBrk="0" hangingPunct="1">
        <a:lnSpc>
          <a:spcPct val="10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990600" indent="-266700" algn="l" defTabSz="914400" rtl="0" eaLnBrk="1" latinLnBrk="0" hangingPunct="1">
        <a:lnSpc>
          <a:spcPct val="100000"/>
        </a:lnSpc>
        <a:spcBef>
          <a:spcPts val="500"/>
        </a:spcBef>
        <a:buClr>
          <a:schemeClr val="accent4"/>
        </a:buClr>
        <a:buFont typeface="Arial" panose="020B0604020202020204" pitchFamily="34" charset="0"/>
        <a:buChar char="•"/>
        <a:defRPr sz="2000" kern="1200">
          <a:solidFill>
            <a:schemeClr val="tx1"/>
          </a:solidFill>
          <a:latin typeface="+mn-lt"/>
          <a:ea typeface="+mn-ea"/>
          <a:cs typeface="+mn-cs"/>
        </a:defRPr>
      </a:lvl3pPr>
      <a:lvl4pPr marL="1257300" indent="-266700" algn="l" defTabSz="914400" rtl="0" eaLnBrk="1" latinLnBrk="0" hangingPunct="1">
        <a:lnSpc>
          <a:spcPct val="100000"/>
        </a:lnSpc>
        <a:spcBef>
          <a:spcPts val="5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1612900" indent="-266700" algn="l" defTabSz="914400" rtl="0" eaLnBrk="1" latinLnBrk="0" hangingPunct="1">
        <a:lnSpc>
          <a:spcPct val="100000"/>
        </a:lnSpc>
        <a:spcBef>
          <a:spcPts val="500"/>
        </a:spcBef>
        <a:buClr>
          <a:schemeClr val="bg1">
            <a:lumMod val="50000"/>
          </a:schemeClr>
        </a:buClr>
        <a:buFont typeface="Arial" panose="020B0604020202020204" pitchFamily="34" charset="0"/>
        <a:buChar char="•"/>
        <a:defRPr lang="en-US" sz="18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483">
          <p15:clr>
            <a:srgbClr val="F26B43"/>
          </p15:clr>
        </p15:guide>
        <p15:guide id="4" pos="7197">
          <p15:clr>
            <a:srgbClr val="F26B43"/>
          </p15:clr>
        </p15:guide>
        <p15:guide id="5" orient="horz" pos="504">
          <p15:clr>
            <a:srgbClr val="F26B43"/>
          </p15:clr>
        </p15:guide>
        <p15:guide id="6" orient="horz" pos="38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ALEXANDRIA INTEGRATION</a:t>
            </a:r>
            <a:br>
              <a:rPr lang="en-US" dirty="0"/>
            </a:br>
            <a:r>
              <a:rPr lang="en-US" dirty="0"/>
              <a:t>Do not delete this master!</a:t>
            </a:r>
            <a:endParaRPr lang="nl-BE" dirty="0"/>
          </a:p>
        </p:txBody>
      </p:sp>
      <p:sp>
        <p:nvSpPr>
          <p:cNvPr id="8" name="TextBox 7" title="AlexandriaReference"/>
          <p:cNvSpPr txBox="1"/>
          <p:nvPr userDrawn="1"/>
        </p:nvSpPr>
        <p:spPr>
          <a:xfrm>
            <a:off x="765544" y="1658678"/>
            <a:ext cx="1953600"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nl-BE" sz="9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rPr>
              <a:t>[Common </a:t>
            </a:r>
            <a:r>
              <a:rPr kumimoji="0" lang="nl-BE" sz="900" b="0" i="1" u="none" strike="noStrike" kern="1200" cap="none" spc="0" normalizeH="0" baseline="0" noProof="0" dirty="0" err="1">
                <a:ln>
                  <a:noFill/>
                </a:ln>
                <a:solidFill>
                  <a:prstClr val="white">
                    <a:lumMod val="50000"/>
                  </a:prstClr>
                </a:solidFill>
                <a:effectLst/>
                <a:uLnTx/>
                <a:uFillTx/>
                <a:latin typeface="Segoe UI" pitchFamily="34" charset="0"/>
                <a:ea typeface="Segoe UI" pitchFamily="34" charset="0"/>
                <a:cs typeface="Segoe UI" pitchFamily="34" charset="0"/>
              </a:rPr>
              <a:t>Attributes_Short</a:t>
            </a:r>
            <a:r>
              <a:rPr kumimoji="0" lang="nl-BE" sz="9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rPr>
              <a:t> Reference]</a:t>
            </a:r>
          </a:p>
        </p:txBody>
      </p:sp>
      <p:sp>
        <p:nvSpPr>
          <p:cNvPr id="4" name="TextBox 3" title="AlexandriaSecurltyClearance"/>
          <p:cNvSpPr txBox="1"/>
          <p:nvPr userDrawn="1"/>
        </p:nvSpPr>
        <p:spPr>
          <a:xfrm>
            <a:off x="2719144" y="2575110"/>
            <a:ext cx="1953600" cy="2308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nl-BE" sz="900" b="0" i="1" u="none" strike="noStrike" kern="1200" cap="none" spc="0" normalizeH="0" baseline="0" noProof="0" dirty="0">
                <a:ln>
                  <a:noFill/>
                </a:ln>
                <a:solidFill>
                  <a:srgbClr val="FF0000"/>
                </a:solidFill>
                <a:effectLst/>
                <a:uLnTx/>
                <a:uFillTx/>
                <a:latin typeface="Segoe UI" pitchFamily="34" charset="0"/>
                <a:ea typeface="Segoe UI" pitchFamily="34" charset="0"/>
                <a:cs typeface="Segoe UI" pitchFamily="34" charset="0"/>
              </a:rPr>
              <a:t>[Security Clearance]</a:t>
            </a:r>
          </a:p>
        </p:txBody>
      </p:sp>
      <p:sp>
        <p:nvSpPr>
          <p:cNvPr id="5" name="TextBox 4" title="AlexandriaDistributionLimitations"/>
          <p:cNvSpPr txBox="1"/>
          <p:nvPr userDrawn="1"/>
        </p:nvSpPr>
        <p:spPr>
          <a:xfrm>
            <a:off x="4672744" y="1658678"/>
            <a:ext cx="1953600" cy="507831"/>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nl-BE" sz="9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rPr>
              <a:t>ISC: [Common </a:t>
            </a:r>
            <a:r>
              <a:rPr kumimoji="0" lang="nl-BE" sz="900" b="0" i="1" u="none" strike="noStrike" kern="1200" cap="none" spc="0" normalizeH="0" baseline="0" noProof="0" dirty="0" err="1">
                <a:ln>
                  <a:noFill/>
                </a:ln>
                <a:solidFill>
                  <a:prstClr val="white">
                    <a:lumMod val="50000"/>
                  </a:prstClr>
                </a:solidFill>
                <a:effectLst/>
                <a:uLnTx/>
                <a:uFillTx/>
                <a:latin typeface="Segoe UI" pitchFamily="34" charset="0"/>
                <a:ea typeface="Segoe UI" pitchFamily="34" charset="0"/>
                <a:cs typeface="Segoe UI" pitchFamily="34" charset="0"/>
              </a:rPr>
              <a:t>Attributes_Information</a:t>
            </a:r>
            <a:r>
              <a:rPr kumimoji="0" lang="nl-BE" sz="9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rPr>
              <a:t> Security </a:t>
            </a:r>
            <a:r>
              <a:rPr kumimoji="0" lang="nl-BE" sz="900" b="0" i="1" u="none" strike="noStrike" kern="1200" cap="none" spc="0" normalizeH="0" baseline="0" noProof="0" dirty="0" err="1">
                <a:ln>
                  <a:noFill/>
                </a:ln>
                <a:solidFill>
                  <a:prstClr val="white">
                    <a:lumMod val="50000"/>
                  </a:prstClr>
                </a:solidFill>
                <a:effectLst/>
                <a:uLnTx/>
                <a:uFillTx/>
                <a:latin typeface="Segoe UI" pitchFamily="34" charset="0"/>
                <a:ea typeface="Segoe UI" pitchFamily="34" charset="0"/>
                <a:cs typeface="Segoe UI" pitchFamily="34" charset="0"/>
              </a:rPr>
              <a:t>Classification</a:t>
            </a:r>
            <a:r>
              <a:rPr kumimoji="0" lang="nl-BE" sz="9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rPr>
              <a:t>]</a:t>
            </a:r>
          </a:p>
        </p:txBody>
      </p:sp>
      <p:sp>
        <p:nvSpPr>
          <p:cNvPr id="6" name="TextBox 5" title="AlexandriaEventAttributes"/>
          <p:cNvSpPr txBox="1"/>
          <p:nvPr userDrawn="1"/>
        </p:nvSpPr>
        <p:spPr>
          <a:xfrm>
            <a:off x="2464199" y="3013157"/>
            <a:ext cx="6190219" cy="2308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nl-BE" sz="9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rPr>
              <a:t>[Event </a:t>
            </a:r>
            <a:r>
              <a:rPr kumimoji="0" lang="nl-BE" sz="900" b="0" i="1" u="none" strike="noStrike" kern="1200" cap="none" spc="0" normalizeH="0" baseline="0" noProof="0" dirty="0" err="1">
                <a:ln>
                  <a:noFill/>
                </a:ln>
                <a:solidFill>
                  <a:prstClr val="white">
                    <a:lumMod val="50000"/>
                  </a:prstClr>
                </a:solidFill>
                <a:effectLst/>
                <a:uLnTx/>
                <a:uFillTx/>
                <a:latin typeface="Segoe UI" pitchFamily="34" charset="0"/>
                <a:ea typeface="Segoe UI" pitchFamily="34" charset="0"/>
                <a:cs typeface="Segoe UI" pitchFamily="34" charset="0"/>
              </a:rPr>
              <a:t>Attributes_Event_Event</a:t>
            </a:r>
            <a:r>
              <a:rPr kumimoji="0" lang="nl-BE" sz="9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rPr>
              <a:t> Name]</a:t>
            </a:r>
          </a:p>
        </p:txBody>
      </p:sp>
      <p:sp>
        <p:nvSpPr>
          <p:cNvPr id="9" name="TextBox 8" title="AlexandriaAlternativeReference"/>
          <p:cNvSpPr txBox="1"/>
          <p:nvPr userDrawn="1"/>
        </p:nvSpPr>
        <p:spPr>
          <a:xfrm>
            <a:off x="2464199" y="1661549"/>
            <a:ext cx="1953600" cy="369332"/>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nl-BE" sz="9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rPr>
              <a:t>[Common </a:t>
            </a:r>
            <a:r>
              <a:rPr kumimoji="0" lang="nl-BE" sz="900" b="0" i="1" u="none" strike="noStrike" kern="1200" cap="none" spc="0" normalizeH="0" baseline="0" noProof="0" dirty="0" err="1">
                <a:ln>
                  <a:noFill/>
                </a:ln>
                <a:solidFill>
                  <a:prstClr val="white">
                    <a:lumMod val="50000"/>
                  </a:prstClr>
                </a:solidFill>
                <a:effectLst/>
                <a:uLnTx/>
                <a:uFillTx/>
                <a:latin typeface="Segoe UI" pitchFamily="34" charset="0"/>
                <a:ea typeface="Segoe UI" pitchFamily="34" charset="0"/>
                <a:cs typeface="Segoe UI" pitchFamily="34" charset="0"/>
              </a:rPr>
              <a:t>Attributes_Alternative</a:t>
            </a:r>
            <a:r>
              <a:rPr kumimoji="0" lang="nl-BE" sz="9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rPr>
              <a:t> Reference]</a:t>
            </a:r>
          </a:p>
        </p:txBody>
      </p:sp>
      <p:pic>
        <p:nvPicPr>
          <p:cNvPr id="10"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5321" y="6469091"/>
            <a:ext cx="733149" cy="167146"/>
          </a:xfrm>
          <a:prstGeom prst="rect">
            <a:avLst/>
          </a:prstGeom>
        </p:spPr>
      </p:pic>
    </p:spTree>
    <p:extLst>
      <p:ext uri="{BB962C8B-B14F-4D97-AF65-F5344CB8AC3E}">
        <p14:creationId xmlns:p14="http://schemas.microsoft.com/office/powerpoint/2010/main" val="716537220"/>
      </p:ext>
    </p:extLst>
  </p:cSld>
  <p:clrMap bg1="lt1" tx1="dk1" bg2="lt2" tx2="dk2" accent1="accent1" accent2="accent2" accent3="accent3" accent4="accent4" accent5="accent5" accent6="accent6" hlink="hlink" folHlink="folHlink"/>
  <p:sldLayoutIdLst>
    <p:sldLayoutId id="2147483696" r:id="rId1"/>
  </p:sldLayoutIdLst>
  <p:hf hdr="0" ftr="0" dt="0"/>
  <p:txStyles>
    <p:titleStyle>
      <a:lvl1pPr algn="ctr" defTabSz="914400" rtl="0" eaLnBrk="1" latinLnBrk="0" hangingPunct="1">
        <a:spcBef>
          <a:spcPct val="0"/>
        </a:spcBef>
        <a:buNone/>
        <a:defRPr sz="4400" kern="1200">
          <a:solidFill>
            <a:srgbClr val="FF0000"/>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806211"/>
            <a:ext cx="10515600" cy="884477"/>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37" cstate="print">
            <a:extLst>
              <a:ext uri="{28A0092B-C50C-407E-A947-70E740481C1C}">
                <a14:useLocalDpi xmlns:a14="http://schemas.microsoft.com/office/drawing/2010/main" val="0"/>
              </a:ext>
            </a:extLst>
          </a:blip>
          <a:stretch>
            <a:fillRect/>
          </a:stretch>
        </p:blipFill>
        <p:spPr>
          <a:xfrm>
            <a:off x="305321" y="6469091"/>
            <a:ext cx="733149" cy="167146"/>
          </a:xfrm>
          <a:prstGeom prst="rect">
            <a:avLst/>
          </a:prstGeom>
        </p:spPr>
      </p:pic>
      <p:sp>
        <p:nvSpPr>
          <p:cNvPr id="13" name="TextBox 12" title="AlexandriaDistributionLimitations"/>
          <p:cNvSpPr txBox="1"/>
          <p:nvPr userDrawn="1"/>
        </p:nvSpPr>
        <p:spPr>
          <a:xfrm>
            <a:off x="10155691" y="6587241"/>
            <a:ext cx="1660707" cy="215444"/>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fr-FR" sz="800" b="0" i="1"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ISC: Restricted</a:t>
            </a:r>
            <a:endParaRPr kumimoji="0" lang="fr-FR" sz="8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15"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143176"/>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6"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17063"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title="AlexandriaReference"/>
          <p:cNvSpPr txBox="1"/>
          <p:nvPr userDrawn="1"/>
        </p:nvSpPr>
        <p:spPr>
          <a:xfrm>
            <a:off x="1117063" y="6469909"/>
            <a:ext cx="1440000" cy="21544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en-US" sz="800" b="0" i="1"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SCK CEN/46467661</a:t>
            </a:r>
            <a:endParaRPr kumimoji="0" lang="nl-BE" sz="8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903352582"/>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 id="2147483722" r:id="rId20"/>
    <p:sldLayoutId id="2147483723" r:id="rId21"/>
    <p:sldLayoutId id="2147483724" r:id="rId22"/>
    <p:sldLayoutId id="2147483725" r:id="rId23"/>
    <p:sldLayoutId id="2147483726" r:id="rId24"/>
    <p:sldLayoutId id="2147483727" r:id="rId25"/>
    <p:sldLayoutId id="2147483728" r:id="rId26"/>
    <p:sldLayoutId id="2147483729" r:id="rId27"/>
    <p:sldLayoutId id="2147483730" r:id="rId28"/>
    <p:sldLayoutId id="2147483731" r:id="rId29"/>
    <p:sldLayoutId id="2147483732" r:id="rId30"/>
    <p:sldLayoutId id="2147483733" r:id="rId31"/>
    <p:sldLayoutId id="2147483734" r:id="rId32"/>
    <p:sldLayoutId id="2147483735" r:id="rId33"/>
    <p:sldLayoutId id="2147483736" r:id="rId34"/>
    <p:sldLayoutId id="2147483737" r:id="rId3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3600" b="1" kern="1200">
          <a:solidFill>
            <a:schemeClr val="accent2"/>
          </a:solidFill>
          <a:latin typeface="+mj-lt"/>
          <a:ea typeface="+mj-ea"/>
          <a:cs typeface="+mj-cs"/>
        </a:defRPr>
      </a:lvl1pPr>
    </p:titleStyle>
    <p:bodyStyle>
      <a:lvl1pPr marL="355600" indent="-266700" algn="l" defTabSz="914400" rtl="0" eaLnBrk="1" latinLnBrk="0" hangingPunct="1">
        <a:lnSpc>
          <a:spcPct val="100000"/>
        </a:lnSpc>
        <a:spcBef>
          <a:spcPts val="1000"/>
        </a:spcBef>
        <a:buClr>
          <a:schemeClr val="accent2"/>
        </a:buClr>
        <a:buFont typeface="Arial" panose="020B0604020202020204" pitchFamily="34" charset="0"/>
        <a:buChar char="•"/>
        <a:defRPr sz="2400" kern="1200">
          <a:solidFill>
            <a:schemeClr val="tx1"/>
          </a:solidFill>
          <a:latin typeface="+mn-lt"/>
          <a:ea typeface="+mn-ea"/>
          <a:cs typeface="+mn-cs"/>
        </a:defRPr>
      </a:lvl1pPr>
      <a:lvl2pPr marL="622300" indent="-266700" algn="l" defTabSz="914400" rtl="0" eaLnBrk="1" latinLnBrk="0" hangingPunct="1">
        <a:lnSpc>
          <a:spcPct val="10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990600" indent="-266700" algn="l" defTabSz="914400" rtl="0" eaLnBrk="1" latinLnBrk="0" hangingPunct="1">
        <a:lnSpc>
          <a:spcPct val="100000"/>
        </a:lnSpc>
        <a:spcBef>
          <a:spcPts val="500"/>
        </a:spcBef>
        <a:buClr>
          <a:schemeClr val="accent4"/>
        </a:buClr>
        <a:buFont typeface="Arial" panose="020B0604020202020204" pitchFamily="34" charset="0"/>
        <a:buChar char="•"/>
        <a:defRPr sz="2000" kern="1200">
          <a:solidFill>
            <a:schemeClr val="tx1"/>
          </a:solidFill>
          <a:latin typeface="+mn-lt"/>
          <a:ea typeface="+mn-ea"/>
          <a:cs typeface="+mn-cs"/>
        </a:defRPr>
      </a:lvl3pPr>
      <a:lvl4pPr marL="1257300" indent="-266700" algn="l" defTabSz="914400" rtl="0" eaLnBrk="1" latinLnBrk="0" hangingPunct="1">
        <a:lnSpc>
          <a:spcPct val="100000"/>
        </a:lnSpc>
        <a:spcBef>
          <a:spcPts val="5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1612900" indent="-266700" algn="l" defTabSz="914400" rtl="0" eaLnBrk="1" latinLnBrk="0" hangingPunct="1">
        <a:lnSpc>
          <a:spcPct val="100000"/>
        </a:lnSpc>
        <a:spcBef>
          <a:spcPts val="500"/>
        </a:spcBef>
        <a:buClr>
          <a:schemeClr val="bg1">
            <a:lumMod val="50000"/>
          </a:schemeClr>
        </a:buClr>
        <a:buFont typeface="Arial" panose="020B0604020202020204" pitchFamily="34" charset="0"/>
        <a:buChar char="•"/>
        <a:defRPr lang="en-US" sz="18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483">
          <p15:clr>
            <a:srgbClr val="F26B43"/>
          </p15:clr>
        </p15:guide>
        <p15:guide id="4" pos="7197">
          <p15:clr>
            <a:srgbClr val="F26B43"/>
          </p15:clr>
        </p15:guide>
        <p15:guide id="5" orient="horz" pos="504">
          <p15:clr>
            <a:srgbClr val="F26B43"/>
          </p15:clr>
        </p15:guide>
        <p15:guide id="6" orient="horz" pos="381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806211"/>
            <a:ext cx="10515600" cy="884477"/>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Afbeelding 13">
            <a:extLst>
              <a:ext uri="{FF2B5EF4-FFF2-40B4-BE49-F238E27FC236}">
                <a16:creationId xmlns:a16="http://schemas.microsoft.com/office/drawing/2014/main" id="{522606A1-5983-4956-9002-1FC101450FAF}"/>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305321" y="6469091"/>
            <a:ext cx="733149" cy="167146"/>
          </a:xfrm>
          <a:prstGeom prst="rect">
            <a:avLst/>
          </a:prstGeom>
        </p:spPr>
      </p:pic>
      <p:sp>
        <p:nvSpPr>
          <p:cNvPr id="12" name="TextBox 11" title="AlexandriaReference"/>
          <p:cNvSpPr txBox="1"/>
          <p:nvPr userDrawn="1"/>
        </p:nvSpPr>
        <p:spPr>
          <a:xfrm>
            <a:off x="1117063" y="6443533"/>
            <a:ext cx="1440000" cy="21544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en-US" sz="800" b="0" i="1"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SCK CEN/46467661</a:t>
            </a:r>
            <a:endParaRPr kumimoji="0" lang="nl-BE" sz="8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13" name="TextBox 12" title="AlexandriaDistributionLimitations"/>
          <p:cNvSpPr txBox="1"/>
          <p:nvPr userDrawn="1"/>
        </p:nvSpPr>
        <p:spPr>
          <a:xfrm>
            <a:off x="10155691" y="6587241"/>
            <a:ext cx="1660707" cy="215444"/>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fr-FR" sz="800" b="0" i="1"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ISC: Restricted</a:t>
            </a:r>
            <a:endParaRPr kumimoji="0" lang="fr-FR" sz="8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14" name="TextBox 13" title="AlexandriaAlternativeReference"/>
          <p:cNvSpPr txBox="1"/>
          <p:nvPr userDrawn="1"/>
        </p:nvSpPr>
        <p:spPr>
          <a:xfrm>
            <a:off x="1117063" y="6587241"/>
            <a:ext cx="1440000" cy="215444"/>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tab pos="3780000" algn="r"/>
              </a:tabLst>
              <a:defRPr/>
            </a:pPr>
            <a:r>
              <a:rPr kumimoji="0" lang="en-150" sz="800" b="0" i="1" u="none" strike="noStrike" kern="1200" cap="none" spc="0" normalizeH="0" baseline="0" noProof="0">
                <a:ln>
                  <a:noFill/>
                </a:ln>
                <a:solidFill>
                  <a:prstClr val="white">
                    <a:lumMod val="50000"/>
                  </a:prstClr>
                </a:solidFill>
                <a:effectLst/>
                <a:uLnTx/>
                <a:uFillTx/>
                <a:latin typeface="Segoe UI" pitchFamily="34" charset="0"/>
                <a:ea typeface="Segoe UI" pitchFamily="34" charset="0"/>
                <a:cs typeface="Segoe UI" pitchFamily="34" charset="0"/>
              </a:rPr>
              <a:t> </a:t>
            </a:r>
            <a:endParaRPr kumimoji="0" lang="nl-BE" sz="800" b="0" i="1" u="none" strike="noStrike" kern="1200" cap="none" spc="0" normalizeH="0" baseline="0" noProof="0" dirty="0">
              <a:ln>
                <a:noFill/>
              </a:ln>
              <a:solidFill>
                <a:prstClr val="white">
                  <a:lumMod val="50000"/>
                </a:prstClr>
              </a:solidFill>
              <a:effectLst/>
              <a:uLnTx/>
              <a:uFillTx/>
              <a:latin typeface="Segoe UI" pitchFamily="34" charset="0"/>
              <a:ea typeface="Segoe UI" pitchFamily="34" charset="0"/>
              <a:cs typeface="Segoe UI" pitchFamily="34" charset="0"/>
            </a:endParaRPr>
          </a:p>
        </p:txBody>
      </p:sp>
      <p:sp>
        <p:nvSpPr>
          <p:cNvPr id="15" name="Tijdelijke aanduiding voor dianummer 5">
            <a:extLst>
              <a:ext uri="{FF2B5EF4-FFF2-40B4-BE49-F238E27FC236}">
                <a16:creationId xmlns:a16="http://schemas.microsoft.com/office/drawing/2014/main" id="{85ACB9A7-77F2-41DA-BDAD-3E1B26CA8CAF}"/>
              </a:ext>
            </a:extLst>
          </p:cNvPr>
          <p:cNvSpPr>
            <a:spLocks noGrp="1"/>
          </p:cNvSpPr>
          <p:nvPr>
            <p:ph type="sldNum" sz="quarter" idx="4"/>
          </p:nvPr>
        </p:nvSpPr>
        <p:spPr>
          <a:xfrm>
            <a:off x="8980433" y="6479665"/>
            <a:ext cx="2743200" cy="143176"/>
          </a:xfrm>
          <a:prstGeom prst="rect">
            <a:avLst/>
          </a:prstGeom>
        </p:spPr>
        <p:txBody>
          <a:bodyPr vert="horz" lIns="0" tIns="0" rIns="0" bIns="0" rtlCol="0" anchor="t" anchorCtr="0"/>
          <a:lstStyle>
            <a:lvl1pPr algn="r">
              <a:defRPr sz="1000" b="1">
                <a:solidFill>
                  <a:schemeClr val="tx1"/>
                </a:solidFill>
                <a:latin typeface="+mj-lt"/>
                <a:ea typeface="Segoe UI Black" panose="020B0A02040204020203" pitchFamily="34" charset="0"/>
                <a:cs typeface="Segoe UI Semibold" panose="020B0702040204020203" pitchFamily="34" charset="0"/>
              </a:defRPr>
            </a:lvl1pPr>
          </a:lstStyle>
          <a:p>
            <a:fld id="{A814E660-BF25-4843-B2A0-93C6E2B6253B}" type="slidenum">
              <a:rPr lang="en-BE" smtClean="0"/>
              <a:pPr/>
              <a:t>‹#›</a:t>
            </a:fld>
            <a:endParaRPr lang="en-BE" dirty="0"/>
          </a:p>
        </p:txBody>
      </p:sp>
      <p:cxnSp>
        <p:nvCxnSpPr>
          <p:cNvPr id="16"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816398"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Rechte verbindingslijn 15">
            <a:extLst>
              <a:ext uri="{FF2B5EF4-FFF2-40B4-BE49-F238E27FC236}">
                <a16:creationId xmlns:a16="http://schemas.microsoft.com/office/drawing/2014/main" id="{37B50A3E-DDAF-4A5F-ADED-8187508C78E1}"/>
              </a:ext>
            </a:extLst>
          </p:cNvPr>
          <p:cNvCxnSpPr>
            <a:cxnSpLocks/>
          </p:cNvCxnSpPr>
          <p:nvPr userDrawn="1"/>
        </p:nvCxnSpPr>
        <p:spPr>
          <a:xfrm>
            <a:off x="1117063" y="6479665"/>
            <a:ext cx="0" cy="4028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86104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1" r:id="rId12"/>
    <p:sldLayoutId id="2147483752" r:id="rId13"/>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txStyles>
    <p:titleStyle>
      <a:lvl1pPr algn="l" defTabSz="914400" rtl="0" eaLnBrk="1" latinLnBrk="0" hangingPunct="1">
        <a:lnSpc>
          <a:spcPct val="90000"/>
        </a:lnSpc>
        <a:spcBef>
          <a:spcPct val="0"/>
        </a:spcBef>
        <a:buNone/>
        <a:defRPr sz="3600" b="1" kern="1200">
          <a:solidFill>
            <a:schemeClr val="accent2"/>
          </a:solidFill>
          <a:latin typeface="+mj-lt"/>
          <a:ea typeface="+mj-ea"/>
          <a:cs typeface="+mj-cs"/>
        </a:defRPr>
      </a:lvl1pPr>
    </p:titleStyle>
    <p:bodyStyle>
      <a:lvl1pPr marL="355600" indent="-266700" algn="l" defTabSz="914400" rtl="0" eaLnBrk="1" latinLnBrk="0" hangingPunct="1">
        <a:lnSpc>
          <a:spcPct val="100000"/>
        </a:lnSpc>
        <a:spcBef>
          <a:spcPts val="1000"/>
        </a:spcBef>
        <a:buClr>
          <a:schemeClr val="accent2"/>
        </a:buClr>
        <a:buFont typeface="Arial" panose="020B0604020202020204" pitchFamily="34" charset="0"/>
        <a:buChar char="•"/>
        <a:defRPr sz="2400" kern="1200">
          <a:solidFill>
            <a:schemeClr val="tx1"/>
          </a:solidFill>
          <a:latin typeface="+mn-lt"/>
          <a:ea typeface="+mn-ea"/>
          <a:cs typeface="+mn-cs"/>
        </a:defRPr>
      </a:lvl1pPr>
      <a:lvl2pPr marL="622300" indent="-266700" algn="l" defTabSz="914400" rtl="0" eaLnBrk="1" latinLnBrk="0" hangingPunct="1">
        <a:lnSpc>
          <a:spcPct val="10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990600" indent="-266700" algn="l" defTabSz="914400" rtl="0" eaLnBrk="1" latinLnBrk="0" hangingPunct="1">
        <a:lnSpc>
          <a:spcPct val="100000"/>
        </a:lnSpc>
        <a:spcBef>
          <a:spcPts val="500"/>
        </a:spcBef>
        <a:buClr>
          <a:schemeClr val="accent4"/>
        </a:buClr>
        <a:buFont typeface="Arial" panose="020B0604020202020204" pitchFamily="34" charset="0"/>
        <a:buChar char="•"/>
        <a:defRPr sz="2000" kern="1200">
          <a:solidFill>
            <a:schemeClr val="tx1"/>
          </a:solidFill>
          <a:latin typeface="+mn-lt"/>
          <a:ea typeface="+mn-ea"/>
          <a:cs typeface="+mn-cs"/>
        </a:defRPr>
      </a:lvl3pPr>
      <a:lvl4pPr marL="1257300" indent="-266700" algn="l" defTabSz="914400" rtl="0" eaLnBrk="1" latinLnBrk="0" hangingPunct="1">
        <a:lnSpc>
          <a:spcPct val="100000"/>
        </a:lnSpc>
        <a:spcBef>
          <a:spcPts val="5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1612900" indent="-266700" algn="l" defTabSz="914400" rtl="0" eaLnBrk="1" latinLnBrk="0" hangingPunct="1">
        <a:lnSpc>
          <a:spcPct val="100000"/>
        </a:lnSpc>
        <a:spcBef>
          <a:spcPts val="500"/>
        </a:spcBef>
        <a:buClr>
          <a:schemeClr val="bg1">
            <a:lumMod val="50000"/>
          </a:schemeClr>
        </a:buClr>
        <a:buFont typeface="Arial" panose="020B0604020202020204" pitchFamily="34" charset="0"/>
        <a:buChar char="•"/>
        <a:defRPr lang="en-US" sz="18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483">
          <p15:clr>
            <a:srgbClr val="F26B43"/>
          </p15:clr>
        </p15:guide>
        <p15:guide id="4" pos="7197">
          <p15:clr>
            <a:srgbClr val="F26B43"/>
          </p15:clr>
        </p15:guide>
        <p15:guide id="5" orient="horz" pos="504">
          <p15:clr>
            <a:srgbClr val="F26B43"/>
          </p15:clr>
        </p15:guide>
        <p15:guide id="6" orient="horz" pos="38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2.png"/><Relationship Id="rId3"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4.png"/><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9.png"/><Relationship Id="rId3" Type="http://schemas.openxmlformats.org/officeDocument/2006/relationships/image" Target="../media/image3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5.png"/><Relationship Id="rId3"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32.png"/><Relationship Id="rId3"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r>
              <a:rPr>
                <a:latin typeface="Segoe UI"/>
              </a:rPr>
              <a:t>MTBF Policy · Flow Assumptions · Acceptance + CIS/MCS Integration</a:t>
            </a:r>
          </a:p>
        </p:txBody>
      </p:sp>
      <p:sp>
        <p:nvSpPr>
          <p:cNvPr id="3" name="Title 2"/>
          <p:cNvSpPr>
            <a:spLocks noGrp="1"/>
          </p:cNvSpPr>
          <p:nvPr>
            <p:ph type="title"/>
          </p:nvPr>
        </p:nvSpPr>
        <p:spPr/>
        <p:txBody>
          <a:bodyPr/>
          <a:lstStyle/>
          <a:p>
            <a:r>
              <a:rPr>
                <a:latin typeface="Segoe UI"/>
              </a:rPr>
              <a:t>Cryoplant MTBF and System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950000"/>
          </a:xfrm>
        </p:spPr>
        <p:txBody>
          <a:bodyPr wrap="square"/>
          <a:lstStyle/>
          <a:p>
            <a:r>
              <a:rPr sz="2700" dirty="0">
                <a:solidFill>
                  <a:schemeClr val="accent1"/>
                </a:solidFill>
                <a:latin typeface="Segoe UI" panose="020B0004020202020204" pitchFamily="34" charset="0"/>
              </a:rPr>
              <a:t>DMAIC Roadmap (1/3) — Define &amp; Measure</a:t>
            </a:r>
          </a:p>
        </p:txBody>
      </p:sp>
      <p:sp>
        <p:nvSpPr>
          <p:cNvPr id="3" name="Text Placeholder 2"/>
          <p:cNvSpPr>
            <a:spLocks noGrp="1"/>
          </p:cNvSpPr>
          <p:nvPr>
            <p:ph type="body" sz="quarter" idx="14"/>
          </p:nvPr>
        </p:nvSpPr>
        <p:spPr>
          <a:xfrm>
            <a:off x="457200" y="1440000"/>
            <a:ext cx="10650000" cy="460000"/>
          </a:xfrm>
        </p:spPr>
        <p:txBody>
          <a:bodyPr>
            <a:noAutofit/>
          </a:bodyPr>
          <a:lstStyle/>
          <a:p>
            <a:r>
              <a:rPr sz="1500" b="1" dirty="0">
                <a:solidFill>
                  <a:schemeClr val="accent1"/>
                </a:solidFill>
                <a:latin typeface="Segoe UI" panose="020B0004020202020204" pitchFamily="34" charset="0"/>
              </a:rPr>
              <a:t>How to read this master deck, part 1 — scope, requirements, and baseline data</a:t>
            </a:r>
            <a:r>
              <a:rPr lang="en-US" sz="1500" b="1" dirty="0">
                <a:solidFill>
                  <a:schemeClr val="accent1"/>
                </a:solidFill>
                <a:latin typeface="Segoe UI" panose="020B0004020202020204" pitchFamily="34" charset="0"/>
              </a:rPr>
              <a:t> | </a:t>
            </a:r>
            <a:r>
              <a:rPr lang="en-US" sz="1500" dirty="0">
                <a:solidFill>
                  <a:schemeClr val="accent1"/>
                </a:solidFill>
                <a:latin typeface="Segoe UI" panose="020B0004020202020204" pitchFamily="34" charset="0"/>
              </a:rPr>
              <a:t>Without LOOKING at OFFERS</a:t>
            </a:r>
            <a:endParaRPr sz="1500" dirty="0">
              <a:solidFill>
                <a:schemeClr val="accent1"/>
              </a:solidFill>
              <a:latin typeface="Aptos" panose="020B0004020202020204" pitchFamily="34" charset="0"/>
            </a:endParaRPr>
          </a:p>
        </p:txBody>
      </p:sp>
      <p:sp>
        <p:nvSpPr>
          <p:cNvPr id="4" name="Text Placeholder 3"/>
          <p:cNvSpPr>
            <a:spLocks noGrp="1"/>
          </p:cNvSpPr>
          <p:nvPr>
            <p:ph type="body" sz="quarter" idx="15"/>
          </p:nvPr>
        </p:nvSpPr>
        <p:spPr>
          <a:xfrm>
            <a:off x="766763" y="2260000"/>
            <a:ext cx="5300000" cy="4150000"/>
          </a:xfrm>
        </p:spPr>
        <p:txBody>
          <a:bodyPr wrap="square">
            <a:normAutofit/>
          </a:bodyPr>
          <a:lstStyle/>
          <a:p>
            <a:pPr>
              <a:lnSpc>
                <a:spcPct val="145000"/>
              </a:lnSpc>
              <a:spcBef>
                <a:spcPts val="0"/>
              </a:spcBef>
              <a:spcAft>
                <a:spcPts val="800"/>
              </a:spcAft>
            </a:pPr>
            <a:r>
              <a:rPr sz="1300" b="1" dirty="0">
                <a:solidFill>
                  <a:schemeClr val="accent1"/>
                </a:solidFill>
                <a:latin typeface="Segoe UI" panose="020B0004020202020204" pitchFamily="34" charset="0"/>
              </a:rPr>
              <a:t>DEFINE</a:t>
            </a:r>
            <a:r>
              <a:rPr sz="1250" i="1" dirty="0">
                <a:solidFill>
                  <a:schemeClr val="accent2"/>
                </a:solidFill>
                <a:latin typeface="Segoe UI" panose="020B0004020202020204" pitchFamily="34" charset="0"/>
              </a:rPr>
              <a:t>  (Slides 5–7, 13, 20–21)</a:t>
            </a:r>
          </a:p>
          <a:p>
            <a:pPr marL="88900" indent="0">
              <a:lnSpc>
                <a:spcPct val="145000"/>
              </a:lnSpc>
              <a:spcBef>
                <a:spcPts val="0"/>
              </a:spcBef>
              <a:spcAft>
                <a:spcPts val="800"/>
              </a:spcAft>
              <a:buNone/>
            </a:pPr>
            <a:r>
              <a:rPr sz="1300" b="1" dirty="0">
                <a:solidFill>
                  <a:schemeClr val="tx1">
                    <a:lumMod val="90000"/>
                    <a:lumOff val="10000"/>
                  </a:schemeClr>
                </a:solidFill>
                <a:latin typeface="Segoe UI" panose="020B0004020202020204" pitchFamily="34" charset="0"/>
              </a:rPr>
              <a:t>What the system must achieve: </a:t>
            </a:r>
            <a:r>
              <a:rPr sz="1300" dirty="0">
                <a:solidFill>
                  <a:schemeClr val="tx1">
                    <a:lumMod val="90000"/>
                    <a:lumOff val="10000"/>
                  </a:schemeClr>
                </a:solidFill>
                <a:latin typeface="Segoe UI" panose="020B0004020202020204" pitchFamily="34" charset="0"/>
              </a:rPr>
              <a:t>scope, RTM obligations, the operating-state hierarchy, and failure-class definitions with their MTBF targets.</a:t>
            </a:r>
          </a:p>
          <a:p>
            <a:pPr>
              <a:lnSpc>
                <a:spcPct val="145000"/>
              </a:lnSpc>
              <a:spcBef>
                <a:spcPts val="0"/>
              </a:spcBef>
              <a:spcAft>
                <a:spcPts val="800"/>
              </a:spcAft>
            </a:pPr>
            <a:r>
              <a:rPr sz="1300" b="1" dirty="0">
                <a:solidFill>
                  <a:schemeClr val="accent1"/>
                </a:solidFill>
                <a:latin typeface="Segoe UI" panose="020B0004020202020204" pitchFamily="34" charset="0"/>
              </a:rPr>
              <a:t>MEASURE</a:t>
            </a:r>
            <a:r>
              <a:rPr sz="1250" i="1" dirty="0">
                <a:solidFill>
                  <a:schemeClr val="accent2"/>
                </a:solidFill>
                <a:latin typeface="Segoe UI" panose="020B0004020202020204" pitchFamily="34" charset="0"/>
              </a:rPr>
              <a:t>  (Slides 8–12, 16–18)</a:t>
            </a:r>
          </a:p>
          <a:p>
            <a:pPr marL="88900" indent="0">
              <a:lnSpc>
                <a:spcPct val="145000"/>
              </a:lnSpc>
              <a:spcBef>
                <a:spcPts val="0"/>
              </a:spcBef>
              <a:spcAft>
                <a:spcPts val="800"/>
              </a:spcAft>
              <a:buNone/>
            </a:pPr>
            <a:r>
              <a:rPr sz="1300" b="1" dirty="0">
                <a:solidFill>
                  <a:schemeClr val="tx1">
                    <a:lumMod val="90000"/>
                    <a:lumOff val="10000"/>
                  </a:schemeClr>
                </a:solidFill>
                <a:latin typeface="Segoe UI" panose="020B0004020202020204" pitchFamily="34" charset="0"/>
              </a:rPr>
              <a:t>What the fleet can actually deliver: </a:t>
            </a:r>
            <a:r>
              <a:rPr sz="1300" dirty="0">
                <a:solidFill>
                  <a:schemeClr val="tx1">
                    <a:lumMod val="90000"/>
                    <a:lumOff val="10000"/>
                  </a:schemeClr>
                </a:solidFill>
                <a:latin typeface="Segoe UI" panose="020B0004020202020204" pitchFamily="34" charset="0"/>
              </a:rPr>
              <a:t>OEM flow data, N−1 capability, unit energy economics, acceptance-test criteria, and liquid-buffer coverage time.</a:t>
            </a:r>
          </a:p>
          <a:p>
            <a:pPr>
              <a:lnSpc>
                <a:spcPct val="145000"/>
              </a:lnSpc>
              <a:spcBef>
                <a:spcPts val="0"/>
              </a:spcBef>
              <a:spcAft>
                <a:spcPts val="800"/>
              </a:spcAft>
            </a:pPr>
            <a:r>
              <a:rPr sz="1050" i="1" dirty="0">
                <a:solidFill>
                  <a:schemeClr val="tx1">
                    <a:lumMod val="65000"/>
                    <a:lumOff val="35000"/>
                  </a:schemeClr>
                </a:solidFill>
                <a:latin typeface="Segoe UI" panose="020B0004020202020204" pitchFamily="34" charset="0"/>
              </a:rPr>
              <a:t>This is a MASTER slide set — each third of this roadmap can be lifted into its own briefing.</a:t>
            </a:r>
          </a:p>
        </p:txBody>
      </p:sp>
      <p:sp>
        <p:nvSpPr>
          <p:cNvPr id="5" name="Rounded Rectangle 4"/>
          <p:cNvSpPr/>
          <p:nvPr/>
        </p:nvSpPr>
        <p:spPr>
          <a:xfrm>
            <a:off x="6350000" y="2260000"/>
            <a:ext cx="2560000" cy="1200000"/>
          </a:xfrm>
          <a:prstGeom prst="roundRect">
            <a:avLst>
              <a:gd name="adj" fmla="val 8000"/>
            </a:avLst>
          </a:prstGeom>
          <a:solidFill>
            <a:schemeClr val="accent1">
              <a:lumMod val="8000"/>
              <a:lumOff val="92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ctr"/>
          <a:lstStyle/>
          <a:p>
            <a:pPr algn="ctr">
              <a:lnSpc>
                <a:spcPct val="100000"/>
              </a:lnSpc>
            </a:pPr>
            <a:r>
              <a:rPr sz="2000" b="1">
                <a:solidFill>
                  <a:schemeClr val="accent1"/>
                </a:solidFill>
                <a:latin typeface="Segoe UI" panose="020B0004020202020204" pitchFamily="34" charset="0"/>
              </a:rPr>
              <a:t>307 g/s</a:t>
            </a:r>
          </a:p>
          <a:p>
            <a:pPr algn="ctr">
              <a:lnSpc>
                <a:spcPct val="105000"/>
              </a:lnSpc>
            </a:pPr>
            <a:r>
              <a:rPr sz="1050">
                <a:solidFill>
                  <a:schemeClr val="tx1">
                    <a:lumMod val="80000"/>
                    <a:lumOff val="20000"/>
                  </a:schemeClr>
                </a:solidFill>
                <a:latin typeface="Segoe UI" panose="020B0004020202020204" pitchFamily="34" charset="0"/>
              </a:rPr>
              <a:t>24 QM target flow
(design envelope 320–350 g/s)</a:t>
            </a:r>
          </a:p>
        </p:txBody>
      </p:sp>
      <p:sp>
        <p:nvSpPr>
          <p:cNvPr id="6" name="Rounded Rectangle 5"/>
          <p:cNvSpPr/>
          <p:nvPr/>
        </p:nvSpPr>
        <p:spPr>
          <a:xfrm>
            <a:off x="9030000" y="2260000"/>
            <a:ext cx="2560000" cy="1200000"/>
          </a:xfrm>
          <a:prstGeom prst="roundRect">
            <a:avLst>
              <a:gd name="adj" fmla="val 8000"/>
            </a:avLst>
          </a:prstGeom>
          <a:solidFill>
            <a:schemeClr val="accent1">
              <a:lumMod val="8000"/>
              <a:lumOff val="92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ctr"/>
          <a:lstStyle/>
          <a:p>
            <a:pPr algn="ctr">
              <a:lnSpc>
                <a:spcPct val="100000"/>
              </a:lnSpc>
            </a:pPr>
            <a:r>
              <a:rPr sz="2000" b="1">
                <a:solidFill>
                  <a:schemeClr val="accent1"/>
                </a:solidFill>
                <a:latin typeface="Segoe UI" panose="020B0004020202020204" pitchFamily="34" charset="0"/>
              </a:rPr>
              <a:t>N − 1</a:t>
            </a:r>
          </a:p>
          <a:p>
            <a:pPr algn="ctr">
              <a:lnSpc>
                <a:spcPct val="105000"/>
              </a:lnSpc>
            </a:pPr>
            <a:r>
              <a:rPr sz="1050">
                <a:solidFill>
                  <a:schemeClr val="tx1">
                    <a:lumMod val="80000"/>
                    <a:lumOff val="20000"/>
                  </a:schemeClr>
                </a:solidFill>
                <a:latin typeface="Segoe UI" panose="020B0004020202020204" pitchFamily="34" charset="0"/>
              </a:rPr>
              <a:t>sizing rule: fleet must
survive one unit down</a:t>
            </a:r>
          </a:p>
        </p:txBody>
      </p:sp>
      <p:sp>
        <p:nvSpPr>
          <p:cNvPr id="7" name="Rounded Rectangle 6"/>
          <p:cNvSpPr/>
          <p:nvPr/>
        </p:nvSpPr>
        <p:spPr>
          <a:xfrm>
            <a:off x="6350000" y="3580000"/>
            <a:ext cx="2560000" cy="1200000"/>
          </a:xfrm>
          <a:prstGeom prst="roundRect">
            <a:avLst>
              <a:gd name="adj" fmla="val 8000"/>
            </a:avLst>
          </a:prstGeom>
          <a:solidFill>
            <a:schemeClr val="accent1">
              <a:lumMod val="8000"/>
              <a:lumOff val="92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ctr"/>
          <a:lstStyle/>
          <a:p>
            <a:pPr algn="ctr">
              <a:lnSpc>
                <a:spcPct val="100000"/>
              </a:lnSpc>
            </a:pPr>
            <a:r>
              <a:rPr sz="2000" b="1">
                <a:solidFill>
                  <a:schemeClr val="accent1"/>
                </a:solidFill>
                <a:latin typeface="Segoe UI" panose="020B0004020202020204" pitchFamily="34" charset="0"/>
              </a:rPr>
              <a:t>A&gt;5y · B&gt;10y · C&gt;15y</a:t>
            </a:r>
          </a:p>
          <a:p>
            <a:pPr algn="ctr">
              <a:lnSpc>
                <a:spcPct val="105000"/>
              </a:lnSpc>
            </a:pPr>
            <a:r>
              <a:rPr sz="1050">
                <a:solidFill>
                  <a:schemeClr val="tx1">
                    <a:lumMod val="80000"/>
                    <a:lumOff val="20000"/>
                  </a:schemeClr>
                </a:solidFill>
                <a:latin typeface="Segoe UI" panose="020B0004020202020204" pitchFamily="34" charset="0"/>
              </a:rPr>
              <a:t>MTBF targets by
failure-consequence class</a:t>
            </a:r>
          </a:p>
        </p:txBody>
      </p:sp>
      <p:sp>
        <p:nvSpPr>
          <p:cNvPr id="8" name="Rounded Rectangle 7"/>
          <p:cNvSpPr/>
          <p:nvPr/>
        </p:nvSpPr>
        <p:spPr>
          <a:xfrm>
            <a:off x="9030000" y="3580000"/>
            <a:ext cx="2560000" cy="1200000"/>
          </a:xfrm>
          <a:prstGeom prst="roundRect">
            <a:avLst>
              <a:gd name="adj" fmla="val 8000"/>
            </a:avLst>
          </a:prstGeom>
          <a:solidFill>
            <a:schemeClr val="accent1">
              <a:lumMod val="8000"/>
              <a:lumOff val="92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ctr"/>
          <a:lstStyle/>
          <a:p>
            <a:pPr algn="ctr">
              <a:lnSpc>
                <a:spcPct val="100000"/>
              </a:lnSpc>
            </a:pPr>
            <a:r>
              <a:rPr sz="2000" b="1">
                <a:solidFill>
                  <a:schemeClr val="accent1"/>
                </a:solidFill>
                <a:latin typeface="Segoe UI" panose="020B0004020202020204" pitchFamily="34" charset="0"/>
              </a:rPr>
              <a:t>350 kW</a:t>
            </a:r>
          </a:p>
          <a:p>
            <a:pPr algn="ctr">
              <a:lnSpc>
                <a:spcPct val="105000"/>
              </a:lnSpc>
            </a:pPr>
            <a:r>
              <a:rPr sz="1050">
                <a:solidFill>
                  <a:schemeClr val="tx1">
                    <a:lumMod val="80000"/>
                    <a:lumOff val="20000"/>
                  </a:schemeClr>
                </a:solidFill>
                <a:latin typeface="Segoe UI" panose="020B0004020202020204" pitchFamily="34" charset="0"/>
              </a:rPr>
              <a:t>installed power per HP
compressor (validated Slide 10)</a:t>
            </a:r>
          </a:p>
        </p:txBody>
      </p:sp>
      <p:sp>
        <p:nvSpPr>
          <p:cNvPr id="9" name="Rounded Rectangle 8"/>
          <p:cNvSpPr/>
          <p:nvPr/>
        </p:nvSpPr>
        <p:spPr>
          <a:xfrm>
            <a:off x="6350000" y="4950000"/>
            <a:ext cx="5240000" cy="80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00" b="1">
                <a:solidFill>
                  <a:schemeClr val="accent1"/>
                </a:solidFill>
                <a:latin typeface="Segoe UI" panose="020B0004020202020204" pitchFamily="34" charset="0"/>
              </a:rPr>
              <a:t>SAMPLE CALC  </a:t>
            </a:r>
            <a:r>
              <a:rPr sz="1100" b="0">
                <a:solidFill>
                  <a:schemeClr val="accent1"/>
                </a:solidFill>
                <a:latin typeface="Segoe UI" panose="020B0004020202020204" pitchFamily="34" charset="0"/>
              </a:rPr>
              <a:t>N−1 check, FSD 575: 3 × 112.5 g/s @ 72 Hz = 337.5 g/s ≥ 307 g/s target → passes with +30 g/s margin (Slide 9).</a:t>
            </a:r>
          </a:p>
        </p:txBody>
      </p:sp>
      <p:sp>
        <p:nvSpPr>
          <p:cNvPr id="11" name="Slide Number Placeholder 10">
            <a:extLst>
              <a:ext uri="{FF2B5EF4-FFF2-40B4-BE49-F238E27FC236}">
                <a16:creationId xmlns:a16="http://schemas.microsoft.com/office/drawing/2014/main" id="{806DAA6A-417E-1550-BD17-AE3AF330D5BD}"/>
              </a:ext>
            </a:extLst>
          </p:cNvPr>
          <p:cNvSpPr>
            <a:spLocks noGrp="1"/>
          </p:cNvSpPr>
          <p:nvPr>
            <p:ph type="sldNum" sz="quarter" idx="4"/>
          </p:nvPr>
        </p:nvSpPr>
        <p:spPr/>
        <p:txBody>
          <a:bodyPr/>
          <a:lstStyle/>
          <a:p>
            <a:fld id="{A814E660-BF25-4843-B2A0-93C6E2B6253B}" type="slidenum">
              <a:rPr lang="en-BE" smtClean="0"/>
              <a:pPr/>
              <a:t>2</a:t>
            </a:fld>
            <a:endParaRPr lang="en-BE" dirty="0"/>
          </a:p>
        </p:txBody>
      </p:sp>
      <p:sp>
        <p:nvSpPr>
          <p:cNvPr id="12" name="Rounded Rectangle 11"/>
          <p:cNvSpPr/>
          <p:nvPr/>
        </p:nvSpPr>
        <p:spPr>
          <a:xfrm>
            <a:off x="9546535" y="150000"/>
            <a:ext cx="2000000" cy="460000"/>
          </a:xfrm>
          <a:prstGeom prst="roundRect">
            <a:avLst>
              <a:gd name="adj" fmla="val 50000"/>
            </a:avLst>
          </a:prstGeom>
          <a:solidFill>
            <a:srgbClr val="5628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Segoe UI"/>
              </a:rPr>
              <a:t>DEFINE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950000"/>
          </a:xfrm>
        </p:spPr>
        <p:txBody>
          <a:bodyPr wrap="square"/>
          <a:lstStyle/>
          <a:p>
            <a:r>
              <a:rPr sz="2700" dirty="0">
                <a:solidFill>
                  <a:schemeClr val="accent4"/>
                </a:solidFill>
                <a:latin typeface="Segoe UI" panose="020B0004020202020204" pitchFamily="34" charset="0"/>
              </a:rPr>
              <a:t>DMAIC Roadmap (2/3) — Analyze</a:t>
            </a:r>
          </a:p>
        </p:txBody>
      </p:sp>
      <p:sp>
        <p:nvSpPr>
          <p:cNvPr id="3" name="Text Placeholder 2"/>
          <p:cNvSpPr>
            <a:spLocks noGrp="1"/>
          </p:cNvSpPr>
          <p:nvPr>
            <p:ph type="body" sz="quarter" idx="14"/>
          </p:nvPr>
        </p:nvSpPr>
        <p:spPr>
          <a:xfrm>
            <a:off x="457200" y="1440000"/>
            <a:ext cx="10650000" cy="460000"/>
          </a:xfrm>
        </p:spPr>
        <p:txBody>
          <a:bodyPr>
            <a:noAutofit/>
          </a:bodyPr>
          <a:lstStyle/>
          <a:p>
            <a:r>
              <a:rPr sz="1500" dirty="0">
                <a:solidFill>
                  <a:schemeClr val="accent4"/>
                </a:solidFill>
                <a:latin typeface="Segoe UI" panose="020B0004020202020204" pitchFamily="34" charset="0"/>
              </a:rPr>
              <a:t>How to read this master deck, part 2 — why the numbers behave the way they do</a:t>
            </a:r>
          </a:p>
        </p:txBody>
      </p:sp>
      <p:sp>
        <p:nvSpPr>
          <p:cNvPr id="4" name="Text Placeholder 3"/>
          <p:cNvSpPr>
            <a:spLocks noGrp="1"/>
          </p:cNvSpPr>
          <p:nvPr>
            <p:ph type="body" sz="quarter" idx="15"/>
          </p:nvPr>
        </p:nvSpPr>
        <p:spPr>
          <a:xfrm>
            <a:off x="766763" y="2260000"/>
            <a:ext cx="5300000" cy="4150000"/>
          </a:xfrm>
        </p:spPr>
        <p:txBody>
          <a:bodyPr wrap="square">
            <a:normAutofit/>
          </a:bodyPr>
          <a:lstStyle/>
          <a:p>
            <a:pPr marL="88900" indent="0">
              <a:lnSpc>
                <a:spcPct val="145000"/>
              </a:lnSpc>
              <a:spcBef>
                <a:spcPts val="0"/>
              </a:spcBef>
              <a:spcAft>
                <a:spcPts val="800"/>
              </a:spcAft>
              <a:buNone/>
            </a:pPr>
            <a:r>
              <a:rPr sz="1150" b="1" dirty="0">
                <a:solidFill>
                  <a:schemeClr val="accent4"/>
                </a:solidFill>
                <a:latin typeface="Segoe UI" panose="020B0004020202020204" pitchFamily="34" charset="0"/>
              </a:rPr>
              <a:t>ANALYZE</a:t>
            </a:r>
            <a:r>
              <a:rPr sz="1250" i="1" dirty="0">
                <a:solidFill>
                  <a:schemeClr val="accent2"/>
                </a:solidFill>
                <a:latin typeface="Segoe UI" panose="020B0004020202020204" pitchFamily="34" charset="0"/>
              </a:rPr>
              <a:t>  (Slides 22–28)</a:t>
            </a:r>
          </a:p>
          <a:p>
            <a:pPr>
              <a:lnSpc>
                <a:spcPct val="145000"/>
              </a:lnSpc>
              <a:spcBef>
                <a:spcPts val="0"/>
              </a:spcBef>
              <a:spcAft>
                <a:spcPts val="800"/>
              </a:spcAft>
            </a:pPr>
            <a:r>
              <a:rPr sz="1150" dirty="0">
                <a:solidFill>
                  <a:schemeClr val="tx1">
                    <a:lumMod val="90000"/>
                    <a:lumOff val="10000"/>
                  </a:schemeClr>
                </a:solidFill>
                <a:latin typeface="Segoe UI" panose="020B0004020202020204" pitchFamily="34" charset="0"/>
              </a:rPr>
              <a:t>This is the deck's math core: the Poisson/exponential campaign-success model, the 94–95% reliability ceiling, the Wrong / Better / Chosen architecture trade-off, and the Weibull wear-out relation that eventually limits any MTBF-only argument.</a:t>
            </a:r>
          </a:p>
          <a:p>
            <a:pPr>
              <a:lnSpc>
                <a:spcPct val="145000"/>
              </a:lnSpc>
              <a:spcBef>
                <a:spcPts val="0"/>
              </a:spcBef>
              <a:spcAft>
                <a:spcPts val="800"/>
              </a:spcAft>
            </a:pPr>
            <a:r>
              <a:rPr sz="1100" i="1" dirty="0">
                <a:solidFill>
                  <a:schemeClr val="tx1">
                    <a:lumMod val="70000"/>
                    <a:lumOff val="30000"/>
                  </a:schemeClr>
                </a:solidFill>
                <a:latin typeface="Segoe UI" panose="020B0004020202020204" pitchFamily="34" charset="0"/>
              </a:rPr>
              <a:t>This section is intentionally chart-heavy — the technical-blue banner marks it as the deck's quantitative narrative, distinct from the definitional purple sections either side.</a:t>
            </a:r>
          </a:p>
          <a:p>
            <a:pPr>
              <a:lnSpc>
                <a:spcPct val="145000"/>
              </a:lnSpc>
              <a:spcBef>
                <a:spcPts val="0"/>
              </a:spcBef>
              <a:spcAft>
                <a:spcPts val="800"/>
              </a:spcAft>
            </a:pPr>
            <a:r>
              <a:rPr sz="1050" i="1" dirty="0">
                <a:solidFill>
                  <a:schemeClr val="tx1">
                    <a:lumMod val="65000"/>
                    <a:lumOff val="35000"/>
                  </a:schemeClr>
                </a:solidFill>
                <a:latin typeface="Segoe UI" panose="020B0004020202020204" pitchFamily="34" charset="0"/>
              </a:rPr>
              <a:t>This is a MASTER slide set — the Analyze section alone can be lifted into a standalone reliability-math briefing.</a:t>
            </a:r>
          </a:p>
        </p:txBody>
      </p:sp>
      <p:sp>
        <p:nvSpPr>
          <p:cNvPr id="5" name="Rounded Rectangle 4"/>
          <p:cNvSpPr/>
          <p:nvPr/>
        </p:nvSpPr>
        <p:spPr>
          <a:xfrm>
            <a:off x="6350000" y="2260000"/>
            <a:ext cx="5240000" cy="1300000"/>
          </a:xfrm>
          <a:prstGeom prst="roundRect">
            <a:avLst>
              <a:gd name="adj" fmla="val 6000"/>
            </a:avLst>
          </a:prstGeom>
          <a:solidFill>
            <a:schemeClr val="accent4">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00" b="1">
                <a:solidFill>
                  <a:schemeClr val="accent4"/>
                </a:solidFill>
                <a:latin typeface="Segoe UI" panose="020B0004020202020204" pitchFamily="34" charset="0"/>
              </a:rPr>
              <a:t>SAMPLE CALC — Poisson  </a:t>
            </a:r>
            <a:r>
              <a:rPr sz="1100" b="0">
                <a:solidFill>
                  <a:schemeClr val="accent4"/>
                </a:solidFill>
                <a:latin typeface="Segoe UI" panose="020B0004020202020204" pitchFamily="34" charset="0"/>
              </a:rPr>
              <a:t>MTBF = 5 y → λ = 1/5 = 0.200 / y. P(zero trips, 90 d) = e^(−λt) = e^(−0.200 × 0.246) ≈ 95.3%  →  the origin of the deck's ~95% campaign figure (Slides 22–23, 25).</a:t>
            </a:r>
          </a:p>
        </p:txBody>
      </p:sp>
      <p:sp>
        <p:nvSpPr>
          <p:cNvPr id="6" name="Rounded Rectangle 5"/>
          <p:cNvSpPr/>
          <p:nvPr/>
        </p:nvSpPr>
        <p:spPr>
          <a:xfrm>
            <a:off x="6350000" y="3690000"/>
            <a:ext cx="5240000" cy="1300000"/>
          </a:xfrm>
          <a:prstGeom prst="roundRect">
            <a:avLst>
              <a:gd name="adj" fmla="val 6000"/>
            </a:avLst>
          </a:prstGeom>
          <a:solidFill>
            <a:schemeClr val="accent4">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00" b="1">
                <a:solidFill>
                  <a:schemeClr val="accent4"/>
                </a:solidFill>
                <a:latin typeface="Segoe UI" panose="020B0004020202020204" pitchFamily="34" charset="0"/>
              </a:rPr>
              <a:t>SAMPLE CALC — Weibull  </a:t>
            </a:r>
            <a:r>
              <a:rPr sz="1100" b="0">
                <a:solidFill>
                  <a:schemeClr val="accent4"/>
                </a:solidFill>
                <a:latin typeface="Segoe UI" panose="020B0004020202020204" pitchFamily="34" charset="0"/>
              </a:rPr>
              <a:t>β = 2.5, η = 114,400 h (cold compressor). P(fail in next 90 d | age = 5 y) is ≈ 235× the same-window probability right after a good-as-new overhaul (Slide 28) — the mechanism that IMPROVE (part 3) responds to.</a:t>
            </a:r>
          </a:p>
        </p:txBody>
      </p:sp>
      <p:sp>
        <p:nvSpPr>
          <p:cNvPr id="7" name="Rounded Rectangle 6"/>
          <p:cNvSpPr/>
          <p:nvPr/>
        </p:nvSpPr>
        <p:spPr>
          <a:xfrm>
            <a:off x="6350000" y="5120000"/>
            <a:ext cx="2560000" cy="1050000"/>
          </a:xfrm>
          <a:prstGeom prst="roundRect">
            <a:avLst>
              <a:gd name="adj" fmla="val 8000"/>
            </a:avLst>
          </a:prstGeom>
          <a:solidFill>
            <a:schemeClr val="accent4">
              <a:lumMod val="8000"/>
              <a:lumOff val="92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ctr"/>
          <a:lstStyle/>
          <a:p>
            <a:pPr algn="ctr">
              <a:lnSpc>
                <a:spcPct val="100000"/>
              </a:lnSpc>
            </a:pPr>
            <a:r>
              <a:rPr sz="2000" b="1">
                <a:solidFill>
                  <a:schemeClr val="accent4"/>
                </a:solidFill>
                <a:latin typeface="Segoe UI" panose="020B0004020202020204" pitchFamily="34" charset="0"/>
              </a:rPr>
              <a:t>94–95%</a:t>
            </a:r>
          </a:p>
          <a:p>
            <a:pPr algn="ctr">
              <a:lnSpc>
                <a:spcPct val="105000"/>
              </a:lnSpc>
            </a:pPr>
            <a:r>
              <a:rPr sz="1050">
                <a:solidFill>
                  <a:schemeClr val="tx1">
                    <a:lumMod val="80000"/>
                    <a:lumOff val="20000"/>
                  </a:schemeClr>
                </a:solidFill>
                <a:latin typeface="Segoe UI" panose="020B0004020202020204" pitchFamily="34" charset="0"/>
              </a:rPr>
              <a:t>90-day campaign
success ceiling (single-train)</a:t>
            </a:r>
          </a:p>
        </p:txBody>
      </p:sp>
      <p:sp>
        <p:nvSpPr>
          <p:cNvPr id="8" name="Rounded Rectangle 7"/>
          <p:cNvSpPr/>
          <p:nvPr/>
        </p:nvSpPr>
        <p:spPr>
          <a:xfrm>
            <a:off x="9030000" y="5120000"/>
            <a:ext cx="2560000" cy="1050000"/>
          </a:xfrm>
          <a:prstGeom prst="roundRect">
            <a:avLst>
              <a:gd name="adj" fmla="val 8000"/>
            </a:avLst>
          </a:prstGeom>
          <a:solidFill>
            <a:schemeClr val="accent4">
              <a:lumMod val="8000"/>
              <a:lumOff val="92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ctr"/>
          <a:lstStyle/>
          <a:p>
            <a:pPr algn="ctr">
              <a:lnSpc>
                <a:spcPct val="100000"/>
              </a:lnSpc>
            </a:pPr>
            <a:r>
              <a:rPr sz="2000" b="1">
                <a:solidFill>
                  <a:schemeClr val="accent4"/>
                </a:solidFill>
                <a:latin typeface="Segoe UI" panose="020B0004020202020204" pitchFamily="34" charset="0"/>
              </a:rPr>
              <a:t>β &gt; 1</a:t>
            </a:r>
          </a:p>
          <a:p>
            <a:pPr algn="ctr">
              <a:lnSpc>
                <a:spcPct val="105000"/>
              </a:lnSpc>
            </a:pPr>
            <a:r>
              <a:rPr sz="1050">
                <a:solidFill>
                  <a:schemeClr val="tx1">
                    <a:lumMod val="80000"/>
                    <a:lumOff val="20000"/>
                  </a:schemeClr>
                </a:solidFill>
                <a:latin typeface="Segoe UI" panose="020B0004020202020204" pitchFamily="34" charset="0"/>
              </a:rPr>
              <a:t>hazard rises with age →
MTBF alone understates risk</a:t>
            </a:r>
          </a:p>
        </p:txBody>
      </p:sp>
      <p:sp>
        <p:nvSpPr>
          <p:cNvPr id="10" name="Slide Number Placeholder 9">
            <a:extLst>
              <a:ext uri="{FF2B5EF4-FFF2-40B4-BE49-F238E27FC236}">
                <a16:creationId xmlns:a16="http://schemas.microsoft.com/office/drawing/2014/main" id="{980E74F1-6793-9E24-B230-1E89D890B9E8}"/>
              </a:ext>
            </a:extLst>
          </p:cNvPr>
          <p:cNvSpPr>
            <a:spLocks noGrp="1"/>
          </p:cNvSpPr>
          <p:nvPr>
            <p:ph type="sldNum" sz="quarter" idx="4"/>
          </p:nvPr>
        </p:nvSpPr>
        <p:spPr/>
        <p:txBody>
          <a:bodyPr/>
          <a:lstStyle/>
          <a:p>
            <a:fld id="{A814E660-BF25-4843-B2A0-93C6E2B6253B}" type="slidenum">
              <a:rPr lang="en-BE" smtClean="0"/>
              <a:pPr/>
              <a:t>3</a:t>
            </a:fld>
            <a:endParaRPr lang="en-BE" dirty="0"/>
          </a:p>
        </p:txBody>
      </p:sp>
      <p:sp>
        <p:nvSpPr>
          <p:cNvPr id="11" name="Rounded Rectangle 10"/>
          <p:cNvSpPr/>
          <p:nvPr/>
        </p:nvSpPr>
        <p:spPr>
          <a:xfrm>
            <a:off x="9546535" y="150000"/>
            <a:ext cx="2000000" cy="460000"/>
          </a:xfrm>
          <a:prstGeom prst="roundRect">
            <a:avLst>
              <a:gd name="adj" fmla="val 50000"/>
            </a:avLst>
          </a:prstGeom>
          <a:solidFill>
            <a:srgbClr val="0346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Segoe UI"/>
              </a:rPr>
              <a:t>ANALYZE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950000"/>
          </a:xfrm>
        </p:spPr>
        <p:txBody>
          <a:bodyPr wrap="square"/>
          <a:lstStyle/>
          <a:p>
            <a:r>
              <a:rPr sz="2700" dirty="0">
                <a:solidFill>
                  <a:schemeClr val="accent1"/>
                </a:solidFill>
                <a:latin typeface="Segoe UI"/>
              </a:rPr>
              <a:t>DMAIC Roadmap (3/3) — Improve &amp; Control</a:t>
            </a:r>
          </a:p>
        </p:txBody>
      </p:sp>
      <p:sp>
        <p:nvSpPr>
          <p:cNvPr id="3" name="Text Placeholder 2"/>
          <p:cNvSpPr>
            <a:spLocks noGrp="1"/>
          </p:cNvSpPr>
          <p:nvPr>
            <p:ph type="body" sz="quarter" idx="14"/>
          </p:nvPr>
        </p:nvSpPr>
        <p:spPr>
          <a:xfrm>
            <a:off x="457200" y="1440000"/>
            <a:ext cx="10650000" cy="460000"/>
          </a:xfrm>
        </p:spPr>
        <p:txBody>
          <a:bodyPr>
            <a:noAutofit/>
          </a:bodyPr>
          <a:lstStyle/>
          <a:p>
            <a:r>
              <a:rPr sz="1500" dirty="0">
                <a:solidFill>
                  <a:schemeClr val="accent1"/>
                </a:solidFill>
                <a:latin typeface="Aptos"/>
              </a:rPr>
              <a:t>How to read this master deck, part 3 — from prediction to a maintenance policy</a:t>
            </a:r>
          </a:p>
        </p:txBody>
      </p:sp>
      <p:sp>
        <p:nvSpPr>
          <p:cNvPr id="4" name="Text Placeholder 3"/>
          <p:cNvSpPr>
            <a:spLocks noGrp="1"/>
          </p:cNvSpPr>
          <p:nvPr>
            <p:ph type="body" sz="quarter" idx="15"/>
          </p:nvPr>
        </p:nvSpPr>
        <p:spPr>
          <a:xfrm>
            <a:off x="766763" y="2260000"/>
            <a:ext cx="5300000" cy="4150000"/>
          </a:xfrm>
        </p:spPr>
        <p:txBody>
          <a:bodyPr wrap="square">
            <a:normAutofit/>
          </a:bodyPr>
          <a:lstStyle/>
          <a:p>
            <a:pPr>
              <a:lnSpc>
                <a:spcPct val="145000"/>
              </a:lnSpc>
              <a:spcBef>
                <a:spcPts val="0"/>
              </a:spcBef>
              <a:spcAft>
                <a:spcPts val="800"/>
              </a:spcAft>
            </a:pPr>
            <a:r>
              <a:rPr sz="1250" b="1">
                <a:solidFill>
                  <a:schemeClr val="accent1"/>
                </a:solidFill>
                <a:latin typeface="Aptos"/>
              </a:rPr>
              <a:t>IMPROVE</a:t>
            </a:r>
            <a:r>
              <a:rPr sz="1250" i="1">
                <a:solidFill>
                  <a:schemeClr val="accent2"/>
                </a:solidFill>
                <a:latin typeface="Aptos"/>
              </a:rPr>
              <a:t>  (Slides 29–34)</a:t>
            </a:r>
          </a:p>
          <a:p>
            <a:pPr>
              <a:lnSpc>
                <a:spcPct val="145000"/>
              </a:lnSpc>
              <a:spcBef>
                <a:spcPts val="0"/>
              </a:spcBef>
              <a:spcAft>
                <a:spcPts val="800"/>
              </a:spcAft>
            </a:pPr>
            <a:r>
              <a:rPr sz="1250">
                <a:solidFill>
                  <a:schemeClr val="tx1">
                    <a:lumMod val="90000"/>
                    <a:lumOff val="10000"/>
                  </a:schemeClr>
                </a:solidFill>
                <a:latin typeface="Aptos"/>
              </a:rPr>
              <a:t>Why MTBF matters, when it stops being trustworthy, and the component evidence (compressors, PVPS, turbines) that proves it.</a:t>
            </a:r>
          </a:p>
          <a:p>
            <a:pPr>
              <a:lnSpc>
                <a:spcPct val="145000"/>
              </a:lnSpc>
              <a:spcBef>
                <a:spcPts val="0"/>
              </a:spcBef>
              <a:spcAft>
                <a:spcPts val="800"/>
              </a:spcAft>
            </a:pPr>
            <a:r>
              <a:rPr sz="1250" b="1">
                <a:solidFill>
                  <a:schemeClr val="accent1"/>
                </a:solidFill>
                <a:latin typeface="Aptos"/>
              </a:rPr>
              <a:t>CONTROL</a:t>
            </a:r>
            <a:r>
              <a:rPr sz="1250" i="1">
                <a:solidFill>
                  <a:schemeClr val="accent2"/>
                </a:solidFill>
                <a:latin typeface="Aptos"/>
              </a:rPr>
              <a:t>  (Slides 35–38)</a:t>
            </a:r>
          </a:p>
          <a:p>
            <a:pPr>
              <a:lnSpc>
                <a:spcPct val="145000"/>
              </a:lnSpc>
              <a:spcBef>
                <a:spcPts val="0"/>
              </a:spcBef>
              <a:spcAft>
                <a:spcPts val="800"/>
              </a:spcAft>
            </a:pPr>
            <a:r>
              <a:rPr sz="1250">
                <a:solidFill>
                  <a:schemeClr val="tx1">
                    <a:lumMod val="90000"/>
                    <a:lumOff val="10000"/>
                  </a:schemeClr>
                </a:solidFill>
                <a:latin typeface="Aptos"/>
              </a:rPr>
              <a:t>Predictable, usage-based service replacement; the reset-to-new renewal principle; and the governance loop that keeps the system inside the assumptions MTBF requires.</a:t>
            </a:r>
          </a:p>
          <a:p>
            <a:pPr>
              <a:lnSpc>
                <a:spcPct val="145000"/>
              </a:lnSpc>
              <a:spcBef>
                <a:spcPts val="0"/>
              </a:spcBef>
              <a:spcAft>
                <a:spcPts val="800"/>
              </a:spcAft>
            </a:pPr>
            <a:r>
              <a:rPr sz="1050" i="1">
                <a:solidFill>
                  <a:schemeClr val="tx1">
                    <a:lumMod val="65000"/>
                    <a:lumOff val="35000"/>
                  </a:schemeClr>
                </a:solidFill>
                <a:latin typeface="Aptos"/>
              </a:rPr>
              <a:t>This is a MASTER slide set — Improve + Control together form a standalone maintenance-policy pack.</a:t>
            </a:r>
          </a:p>
        </p:txBody>
      </p:sp>
      <p:sp>
        <p:nvSpPr>
          <p:cNvPr id="5" name="Rounded Rectangle 4"/>
          <p:cNvSpPr/>
          <p:nvPr/>
        </p:nvSpPr>
        <p:spPr>
          <a:xfrm>
            <a:off x="6350000" y="2260000"/>
            <a:ext cx="5240000" cy="115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00" b="1">
                <a:solidFill>
                  <a:schemeClr val="accent1"/>
                </a:solidFill>
                <a:latin typeface="Aptos"/>
              </a:rPr>
              <a:t>SAMPLE CALC  </a:t>
            </a:r>
            <a:r>
              <a:rPr sz="1100" b="0">
                <a:solidFill>
                  <a:schemeClr val="accent1"/>
                </a:solidFill>
                <a:latin typeface="Aptos"/>
              </a:rPr>
              <a:t>Same β=2.5, η=114,400 h cold-compressor pair as part 2 → replace at ≈ 0.65×η (≈ 74,000 h) instead of running to MTBF-implied end of life — the deadline is set before the hazard curve turns upward, not after (Slide 36).</a:t>
            </a:r>
          </a:p>
        </p:txBody>
      </p:sp>
      <p:sp>
        <p:nvSpPr>
          <p:cNvPr id="6" name="Oval 5"/>
          <p:cNvSpPr/>
          <p:nvPr/>
        </p:nvSpPr>
        <p:spPr>
          <a:xfrm>
            <a:off x="6350000" y="3560000"/>
            <a:ext cx="340000" cy="34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chemeClr val="bg1"/>
                </a:solidFill>
                <a:latin typeface="Aptos"/>
              </a:rPr>
              <a:t>1</a:t>
            </a:r>
          </a:p>
        </p:txBody>
      </p:sp>
      <p:sp>
        <p:nvSpPr>
          <p:cNvPr id="7" name="TextBox 6"/>
          <p:cNvSpPr txBox="1"/>
          <p:nvPr/>
        </p:nvSpPr>
        <p:spPr>
          <a:xfrm>
            <a:off x="6780000" y="3530000"/>
            <a:ext cx="4810000" cy="560000"/>
          </a:xfrm>
          <a:prstGeom prst="rect">
            <a:avLst/>
          </a:prstGeom>
          <a:noFill/>
        </p:spPr>
        <p:txBody>
          <a:bodyPr wrap="square">
            <a:spAutoFit/>
          </a:bodyPr>
          <a:lstStyle/>
          <a:p>
            <a:pPr>
              <a:lnSpc>
                <a:spcPct val="145000"/>
              </a:lnSpc>
              <a:spcBef>
                <a:spcPts val="0"/>
              </a:spcBef>
              <a:spcAft>
                <a:spcPts val="800"/>
              </a:spcAft>
            </a:pPr>
            <a:r>
              <a:rPr sz="1300" b="1">
                <a:solidFill>
                  <a:schemeClr val="accent1"/>
                </a:solidFill>
                <a:latin typeface="Aptos"/>
              </a:rPr>
              <a:t>MEASURE exposure</a:t>
            </a:r>
          </a:p>
        </p:txBody>
      </p:sp>
      <p:sp>
        <p:nvSpPr>
          <p:cNvPr id="8" name="Oval 7"/>
          <p:cNvSpPr/>
          <p:nvPr/>
        </p:nvSpPr>
        <p:spPr>
          <a:xfrm>
            <a:off x="6350000" y="4160000"/>
            <a:ext cx="340000" cy="34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chemeClr val="bg1"/>
                </a:solidFill>
                <a:latin typeface="Aptos"/>
              </a:rPr>
              <a:t>2</a:t>
            </a:r>
          </a:p>
        </p:txBody>
      </p:sp>
      <p:sp>
        <p:nvSpPr>
          <p:cNvPr id="9" name="TextBox 8"/>
          <p:cNvSpPr txBox="1"/>
          <p:nvPr/>
        </p:nvSpPr>
        <p:spPr>
          <a:xfrm>
            <a:off x="6780000" y="4130000"/>
            <a:ext cx="4810000" cy="560000"/>
          </a:xfrm>
          <a:prstGeom prst="rect">
            <a:avLst/>
          </a:prstGeom>
          <a:noFill/>
        </p:spPr>
        <p:txBody>
          <a:bodyPr wrap="square">
            <a:spAutoFit/>
          </a:bodyPr>
          <a:lstStyle/>
          <a:p>
            <a:pPr>
              <a:lnSpc>
                <a:spcPct val="145000"/>
              </a:lnSpc>
              <a:spcBef>
                <a:spcPts val="0"/>
              </a:spcBef>
              <a:spcAft>
                <a:spcPts val="800"/>
              </a:spcAft>
            </a:pPr>
            <a:r>
              <a:rPr sz="1300" b="1">
                <a:solidFill>
                  <a:schemeClr val="accent1"/>
                </a:solidFill>
                <a:latin typeface="Aptos"/>
              </a:rPr>
              <a:t>TRACK age vs. η</a:t>
            </a:r>
          </a:p>
        </p:txBody>
      </p:sp>
      <p:sp>
        <p:nvSpPr>
          <p:cNvPr id="10" name="Oval 9"/>
          <p:cNvSpPr/>
          <p:nvPr/>
        </p:nvSpPr>
        <p:spPr>
          <a:xfrm>
            <a:off x="6350000" y="4760000"/>
            <a:ext cx="340000" cy="34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chemeClr val="bg1"/>
                </a:solidFill>
                <a:latin typeface="Aptos"/>
              </a:rPr>
              <a:t>3</a:t>
            </a:r>
          </a:p>
        </p:txBody>
      </p:sp>
      <p:sp>
        <p:nvSpPr>
          <p:cNvPr id="11" name="TextBox 10"/>
          <p:cNvSpPr txBox="1"/>
          <p:nvPr/>
        </p:nvSpPr>
        <p:spPr>
          <a:xfrm>
            <a:off x="6780000" y="4730000"/>
            <a:ext cx="4810000" cy="560000"/>
          </a:xfrm>
          <a:prstGeom prst="rect">
            <a:avLst/>
          </a:prstGeom>
          <a:noFill/>
        </p:spPr>
        <p:txBody>
          <a:bodyPr wrap="square">
            <a:spAutoFit/>
          </a:bodyPr>
          <a:lstStyle/>
          <a:p>
            <a:pPr>
              <a:lnSpc>
                <a:spcPct val="145000"/>
              </a:lnSpc>
              <a:spcBef>
                <a:spcPts val="0"/>
              </a:spcBef>
              <a:spcAft>
                <a:spcPts val="800"/>
              </a:spcAft>
            </a:pPr>
            <a:r>
              <a:rPr sz="1300" b="1">
                <a:solidFill>
                  <a:schemeClr val="accent1"/>
                </a:solidFill>
                <a:latin typeface="Aptos"/>
              </a:rPr>
              <a:t>REPLACE before wear-out</a:t>
            </a:r>
          </a:p>
        </p:txBody>
      </p:sp>
      <p:sp>
        <p:nvSpPr>
          <p:cNvPr id="12" name="Oval 11"/>
          <p:cNvSpPr/>
          <p:nvPr/>
        </p:nvSpPr>
        <p:spPr>
          <a:xfrm>
            <a:off x="6350000" y="5360000"/>
            <a:ext cx="340000" cy="34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chemeClr val="bg1"/>
                </a:solidFill>
                <a:latin typeface="Aptos"/>
              </a:rPr>
              <a:t>4</a:t>
            </a:r>
          </a:p>
        </p:txBody>
      </p:sp>
      <p:sp>
        <p:nvSpPr>
          <p:cNvPr id="13" name="TextBox 12"/>
          <p:cNvSpPr txBox="1"/>
          <p:nvPr/>
        </p:nvSpPr>
        <p:spPr>
          <a:xfrm>
            <a:off x="6780000" y="5330000"/>
            <a:ext cx="4810000" cy="560000"/>
          </a:xfrm>
          <a:prstGeom prst="rect">
            <a:avLst/>
          </a:prstGeom>
          <a:noFill/>
        </p:spPr>
        <p:txBody>
          <a:bodyPr wrap="square">
            <a:spAutoFit/>
          </a:bodyPr>
          <a:lstStyle/>
          <a:p>
            <a:pPr>
              <a:lnSpc>
                <a:spcPct val="145000"/>
              </a:lnSpc>
              <a:spcBef>
                <a:spcPts val="0"/>
              </a:spcBef>
              <a:spcAft>
                <a:spcPts val="800"/>
              </a:spcAft>
            </a:pPr>
            <a:r>
              <a:rPr sz="1300" b="1">
                <a:solidFill>
                  <a:schemeClr val="accent1"/>
                </a:solidFill>
                <a:latin typeface="Aptos"/>
              </a:rPr>
              <a:t>RESET &amp; feed back</a:t>
            </a:r>
          </a:p>
        </p:txBody>
      </p:sp>
      <p:sp>
        <p:nvSpPr>
          <p:cNvPr id="15" name="Slide Number Placeholder 14">
            <a:extLst>
              <a:ext uri="{FF2B5EF4-FFF2-40B4-BE49-F238E27FC236}">
                <a16:creationId xmlns:a16="http://schemas.microsoft.com/office/drawing/2014/main" id="{85961C3E-569D-633A-ACBE-1DDAFA47A1B2}"/>
              </a:ext>
            </a:extLst>
          </p:cNvPr>
          <p:cNvSpPr>
            <a:spLocks noGrp="1"/>
          </p:cNvSpPr>
          <p:nvPr>
            <p:ph type="sldNum" sz="quarter" idx="4"/>
          </p:nvPr>
        </p:nvSpPr>
        <p:spPr/>
        <p:txBody>
          <a:bodyPr/>
          <a:lstStyle/>
          <a:p>
            <a:fld id="{A814E660-BF25-4843-B2A0-93C6E2B6253B}" type="slidenum">
              <a:rPr lang="en-BE" smtClean="0"/>
              <a:pPr/>
              <a:t>4</a:t>
            </a:fld>
            <a:endParaRPr lang="en-BE" dirty="0"/>
          </a:p>
        </p:txBody>
      </p:sp>
      <p:sp>
        <p:nvSpPr>
          <p:cNvPr id="16" name="Rounded Rectangle 15"/>
          <p:cNvSpPr/>
          <p:nvPr/>
        </p:nvSpPr>
        <p:spPr>
          <a:xfrm>
            <a:off x="9546535" y="150000"/>
            <a:ext cx="2000000" cy="460000"/>
          </a:xfrm>
          <a:prstGeom prst="roundRect">
            <a:avLst>
              <a:gd name="adj" fmla="val 50000"/>
            </a:avLst>
          </a:prstGeom>
          <a:solidFill>
            <a:srgbClr val="1D7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CONTROL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0"/>
          </a:xfrm>
        </p:spPr>
        <p:txBody>
          <a:bodyPr/>
          <a:lstStyle/>
          <a:p>
            <a:r>
              <a:rPr dirty="0">
                <a:latin typeface="Segoe UI"/>
              </a:rPr>
              <a:t>Objectives &amp; Scope</a:t>
            </a:r>
          </a:p>
        </p:txBody>
      </p:sp>
      <p:sp>
        <p:nvSpPr>
          <p:cNvPr id="3" name="Text Placeholder 2"/>
          <p:cNvSpPr>
            <a:spLocks noGrp="1"/>
          </p:cNvSpPr>
          <p:nvPr>
            <p:ph type="body" sz="quarter" idx="14"/>
          </p:nvPr>
        </p:nvSpPr>
        <p:spPr>
          <a:xfrm>
            <a:off x="457200" y="1105967"/>
            <a:ext cx="10607253" cy="725105"/>
          </a:xfrm>
        </p:spPr>
        <p:txBody>
          <a:bodyPr>
            <a:noAutofit/>
          </a:bodyPr>
          <a:lstStyle/>
          <a:p>
            <a:r>
              <a:rPr sz="2000" dirty="0">
                <a:latin typeface="Aptos"/>
              </a:rPr>
              <a:t>MTBF Policy · Flow Assumptions · Acceptance + CIS/MCS Integration</a:t>
            </a:r>
          </a:p>
        </p:txBody>
      </p:sp>
      <p:sp>
        <p:nvSpPr>
          <p:cNvPr id="4" name="TextBox 3"/>
          <p:cNvSpPr txBox="1"/>
          <p:nvPr/>
        </p:nvSpPr>
        <p:spPr>
          <a:xfrm>
            <a:off x="766763" y="2200000"/>
            <a:ext cx="6100000" cy="4300000"/>
          </a:xfrm>
          <a:prstGeom prst="rect">
            <a:avLst/>
          </a:prstGeom>
          <a:noFill/>
        </p:spPr>
        <p:txBody>
          <a:bodyPr wrap="square">
            <a:spAutoFit/>
          </a:bodyPr>
          <a:lstStyle/>
          <a:p>
            <a:pPr>
              <a:lnSpc>
                <a:spcPct val="145000"/>
              </a:lnSpc>
              <a:spcBef>
                <a:spcPts val="0"/>
              </a:spcBef>
              <a:spcAft>
                <a:spcPts val="800"/>
              </a:spcAft>
            </a:pPr>
            <a:r>
              <a:rPr sz="1100" b="1">
                <a:solidFill>
                  <a:schemeClr val="accent2"/>
                </a:solidFill>
                <a:latin typeface="Aptos"/>
              </a:rPr>
              <a:t>Fleet baseline</a:t>
            </a:r>
          </a:p>
          <a:p>
            <a:pPr>
              <a:lnSpc>
                <a:spcPct val="145000"/>
              </a:lnSpc>
              <a:spcBef>
                <a:spcPts val="0"/>
              </a:spcBef>
              <a:spcAft>
                <a:spcPts val="800"/>
              </a:spcAft>
            </a:pPr>
            <a:r>
              <a:rPr sz="1100">
                <a:solidFill>
                  <a:schemeClr val="tx1">
                    <a:lumMod val="88000"/>
                    <a:lumOff val="12000"/>
                  </a:schemeClr>
                </a:solidFill>
                <a:latin typeface="Aptos"/>
              </a:rPr>
              <a:t>Consolidate compressor fleet assumptions — ≥ 3 units minimum, Option A baseline = 4 × FSD 575.</a:t>
            </a:r>
          </a:p>
          <a:p>
            <a:pPr>
              <a:lnSpc>
                <a:spcPct val="145000"/>
              </a:lnSpc>
              <a:spcBef>
                <a:spcPts val="0"/>
              </a:spcBef>
              <a:spcAft>
                <a:spcPts val="800"/>
              </a:spcAft>
            </a:pPr>
            <a:r>
              <a:rPr sz="1100" b="1">
                <a:solidFill>
                  <a:schemeClr val="accent2"/>
                </a:solidFill>
                <a:latin typeface="Aptos"/>
              </a:rPr>
              <a:t>RTM alignment</a:t>
            </a:r>
          </a:p>
          <a:p>
            <a:pPr>
              <a:lnSpc>
                <a:spcPct val="145000"/>
              </a:lnSpc>
              <a:spcBef>
                <a:spcPts val="0"/>
              </a:spcBef>
              <a:spcAft>
                <a:spcPts val="800"/>
              </a:spcAft>
            </a:pPr>
            <a:r>
              <a:rPr sz="1100">
                <a:solidFill>
                  <a:schemeClr val="tx1">
                    <a:lumMod val="88000"/>
                    <a:lumOff val="12000"/>
                  </a:schemeClr>
                </a:solidFill>
                <a:latin typeface="Aptos"/>
              </a:rPr>
              <a:t>Align with Addendum II canonical RTMs, incl. 'To be offered…' statements.</a:t>
            </a:r>
          </a:p>
          <a:p>
            <a:pPr>
              <a:lnSpc>
                <a:spcPct val="145000"/>
              </a:lnSpc>
              <a:spcBef>
                <a:spcPts val="0"/>
              </a:spcBef>
              <a:spcAft>
                <a:spcPts val="800"/>
              </a:spcAft>
            </a:pPr>
            <a:r>
              <a:rPr sz="1100" b="1">
                <a:solidFill>
                  <a:schemeClr val="accent2"/>
                </a:solidFill>
                <a:latin typeface="Aptos"/>
              </a:rPr>
              <a:t>Acceptance &amp; integration</a:t>
            </a:r>
          </a:p>
          <a:p>
            <a:pPr>
              <a:lnSpc>
                <a:spcPct val="145000"/>
              </a:lnSpc>
              <a:spcBef>
                <a:spcPts val="0"/>
              </a:spcBef>
              <a:spcAft>
                <a:spcPts val="800"/>
              </a:spcAft>
            </a:pPr>
            <a:r>
              <a:rPr sz="1100">
                <a:solidFill>
                  <a:schemeClr val="tx1">
                    <a:lumMod val="88000"/>
                    <a:lumOff val="12000"/>
                  </a:schemeClr>
                </a:solidFill>
                <a:latin typeface="Aptos"/>
              </a:rPr>
              <a:t>Define acceptance tests (24×2 K SB &amp; 24×2 K OP) and CIS/MCS integration checkpoints (Slides 12, 14).</a:t>
            </a:r>
          </a:p>
          <a:p>
            <a:pPr>
              <a:lnSpc>
                <a:spcPct val="145000"/>
              </a:lnSpc>
              <a:spcBef>
                <a:spcPts val="0"/>
              </a:spcBef>
              <a:spcAft>
                <a:spcPts val="800"/>
              </a:spcAft>
            </a:pPr>
            <a:r>
              <a:rPr sz="1100" b="1">
                <a:solidFill>
                  <a:schemeClr val="accent2"/>
                </a:solidFill>
                <a:latin typeface="Aptos"/>
              </a:rPr>
              <a:t>Operating scope</a:t>
            </a:r>
          </a:p>
          <a:p>
            <a:pPr>
              <a:lnSpc>
                <a:spcPct val="145000"/>
              </a:lnSpc>
              <a:spcBef>
                <a:spcPts val="0"/>
              </a:spcBef>
              <a:spcAft>
                <a:spcPts val="800"/>
              </a:spcAft>
            </a:pPr>
            <a:r>
              <a:rPr sz="1100">
                <a:solidFill>
                  <a:schemeClr val="tx1">
                    <a:lumMod val="88000"/>
                    <a:lumOff val="12000"/>
                  </a:schemeClr>
                </a:solidFill>
                <a:latin typeface="Aptos"/>
              </a:rPr>
              <a:t>24 QM with FFT operating mode — below the 307 g/s nominal design target.</a:t>
            </a:r>
          </a:p>
          <a:p>
            <a:pPr>
              <a:lnSpc>
                <a:spcPct val="145000"/>
              </a:lnSpc>
              <a:spcBef>
                <a:spcPts val="0"/>
              </a:spcBef>
              <a:spcAft>
                <a:spcPts val="800"/>
              </a:spcAft>
            </a:pPr>
            <a:r>
              <a:rPr sz="1100" b="1">
                <a:solidFill>
                  <a:schemeClr val="accent2"/>
                </a:solidFill>
                <a:latin typeface="Aptos"/>
              </a:rPr>
              <a:t>Design envelope</a:t>
            </a:r>
          </a:p>
          <a:p>
            <a:pPr>
              <a:lnSpc>
                <a:spcPct val="145000"/>
              </a:lnSpc>
              <a:spcBef>
                <a:spcPts val="0"/>
              </a:spcBef>
              <a:spcAft>
                <a:spcPts val="800"/>
              </a:spcAft>
            </a:pPr>
            <a:r>
              <a:rPr sz="1100">
                <a:solidFill>
                  <a:schemeClr val="tx1">
                    <a:lumMod val="88000"/>
                    <a:lumOff val="12000"/>
                  </a:schemeClr>
                </a:solidFill>
                <a:latin typeface="Aptos"/>
              </a:rPr>
              <a:t>320–350 g/s total flow — the envelope every capability check in this deck is measured against (Slide 9).</a:t>
            </a:r>
          </a:p>
        </p:txBody>
      </p:sp>
      <p:sp>
        <p:nvSpPr>
          <p:cNvPr id="5" name="Rounded Rectangle 4"/>
          <p:cNvSpPr/>
          <p:nvPr/>
        </p:nvSpPr>
        <p:spPr>
          <a:xfrm>
            <a:off x="7200000" y="2200000"/>
            <a:ext cx="2160000" cy="1150000"/>
          </a:xfrm>
          <a:prstGeom prst="roundRect">
            <a:avLst>
              <a:gd name="adj" fmla="val 8000"/>
            </a:avLst>
          </a:prstGeom>
          <a:solidFill>
            <a:schemeClr val="accent1">
              <a:lumMod val="8000"/>
              <a:lumOff val="92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ctr"/>
          <a:lstStyle/>
          <a:p>
            <a:pPr algn="ctr">
              <a:lnSpc>
                <a:spcPct val="100000"/>
              </a:lnSpc>
            </a:pPr>
            <a:r>
              <a:rPr sz="2000" b="1">
                <a:solidFill>
                  <a:schemeClr val="accent1"/>
                </a:solidFill>
                <a:latin typeface="Aptos"/>
              </a:rPr>
              <a:t>307 g/s</a:t>
            </a:r>
          </a:p>
          <a:p>
            <a:pPr algn="ctr">
              <a:lnSpc>
                <a:spcPct val="105000"/>
              </a:lnSpc>
            </a:pPr>
            <a:r>
              <a:rPr sz="1050">
                <a:solidFill>
                  <a:schemeClr val="tx1">
                    <a:lumMod val="80000"/>
                    <a:lumOff val="20000"/>
                  </a:schemeClr>
                </a:solidFill>
                <a:latin typeface="Aptos"/>
              </a:rPr>
              <a:t>24 QM nominal
target flow</a:t>
            </a:r>
          </a:p>
        </p:txBody>
      </p:sp>
      <p:sp>
        <p:nvSpPr>
          <p:cNvPr id="6" name="Rounded Rectangle 5"/>
          <p:cNvSpPr/>
          <p:nvPr/>
        </p:nvSpPr>
        <p:spPr>
          <a:xfrm>
            <a:off x="9480000" y="2200000"/>
            <a:ext cx="2160000" cy="1150000"/>
          </a:xfrm>
          <a:prstGeom prst="roundRect">
            <a:avLst>
              <a:gd name="adj" fmla="val 8000"/>
            </a:avLst>
          </a:prstGeom>
          <a:solidFill>
            <a:schemeClr val="accent1">
              <a:lumMod val="8000"/>
              <a:lumOff val="92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ctr"/>
          <a:lstStyle/>
          <a:p>
            <a:pPr algn="ctr">
              <a:lnSpc>
                <a:spcPct val="100000"/>
              </a:lnSpc>
            </a:pPr>
            <a:r>
              <a:rPr sz="2000" b="1">
                <a:solidFill>
                  <a:schemeClr val="accent1"/>
                </a:solidFill>
                <a:latin typeface="Aptos"/>
              </a:rPr>
              <a:t>320–350</a:t>
            </a:r>
          </a:p>
          <a:p>
            <a:pPr algn="ctr">
              <a:lnSpc>
                <a:spcPct val="105000"/>
              </a:lnSpc>
            </a:pPr>
            <a:r>
              <a:rPr sz="1050">
                <a:solidFill>
                  <a:schemeClr val="tx1">
                    <a:lumMod val="80000"/>
                    <a:lumOff val="20000"/>
                  </a:schemeClr>
                </a:solidFill>
                <a:latin typeface="Aptos"/>
              </a:rPr>
              <a:t>g/s design
envelope (Slide 9)</a:t>
            </a:r>
          </a:p>
        </p:txBody>
      </p:sp>
      <p:sp>
        <p:nvSpPr>
          <p:cNvPr id="7" name="Rounded Rectangle 6"/>
          <p:cNvSpPr/>
          <p:nvPr/>
        </p:nvSpPr>
        <p:spPr>
          <a:xfrm>
            <a:off x="7200000" y="3550000"/>
            <a:ext cx="4440000" cy="75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00" b="1">
                <a:solidFill>
                  <a:schemeClr val="accent1"/>
                </a:solidFill>
                <a:latin typeface="Aptos"/>
              </a:rPr>
              <a:t>SCOPE IN ONE LINE  </a:t>
            </a:r>
            <a:r>
              <a:rPr sz="1100" b="0">
                <a:solidFill>
                  <a:schemeClr val="accent1"/>
                </a:solidFill>
                <a:latin typeface="Aptos"/>
              </a:rPr>
              <a:t>Everything from here to the closing governance loop exists to keep the fleet inside this envelope, provably.</a:t>
            </a:r>
          </a:p>
        </p:txBody>
      </p:sp>
      <p:sp>
        <p:nvSpPr>
          <p:cNvPr id="9" name="Slide Number Placeholder 8">
            <a:extLst>
              <a:ext uri="{FF2B5EF4-FFF2-40B4-BE49-F238E27FC236}">
                <a16:creationId xmlns:a16="http://schemas.microsoft.com/office/drawing/2014/main" id="{927746E1-D1E2-52D2-82EE-25A1D657D3C9}"/>
              </a:ext>
            </a:extLst>
          </p:cNvPr>
          <p:cNvSpPr>
            <a:spLocks noGrp="1"/>
          </p:cNvSpPr>
          <p:nvPr>
            <p:ph type="sldNum" sz="quarter" idx="4"/>
          </p:nvPr>
        </p:nvSpPr>
        <p:spPr/>
        <p:txBody>
          <a:bodyPr/>
          <a:lstStyle/>
          <a:p>
            <a:fld id="{A814E660-BF25-4843-B2A0-93C6E2B6253B}" type="slidenum">
              <a:rPr lang="en-BE" smtClean="0"/>
              <a:pPr/>
              <a:t>5</a:t>
            </a:fld>
            <a:endParaRPr lang="en-BE" dirty="0"/>
          </a:p>
        </p:txBody>
      </p:sp>
      <p:sp>
        <p:nvSpPr>
          <p:cNvPr id="10" name="Rounded Rectangle 9"/>
          <p:cNvSpPr/>
          <p:nvPr/>
        </p:nvSpPr>
        <p:spPr>
          <a:xfrm>
            <a:off x="9546535" y="150000"/>
            <a:ext cx="2000000" cy="460000"/>
          </a:xfrm>
          <a:prstGeom prst="roundRect">
            <a:avLst>
              <a:gd name="adj" fmla="val 50000"/>
            </a:avLst>
          </a:prstGeom>
          <a:solidFill>
            <a:srgbClr val="5628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DEFINE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525078"/>
          </a:xfrm>
        </p:spPr>
        <p:txBody>
          <a:bodyPr/>
          <a:lstStyle/>
          <a:p>
            <a:r>
              <a:rPr sz="2550" dirty="0">
                <a:latin typeface="Segoe UI"/>
              </a:rPr>
              <a:t>Configuration Baseline (Option A – 4× HSD Combi)</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a:rPr>
              <a:t>Fleet Sizing and Utilities Envelope</a:t>
            </a:r>
          </a:p>
        </p:txBody>
      </p:sp>
      <p:sp>
        <p:nvSpPr>
          <p:cNvPr id="4" name="TextBox 3"/>
          <p:cNvSpPr txBox="1"/>
          <p:nvPr/>
        </p:nvSpPr>
        <p:spPr>
          <a:xfrm>
            <a:off x="766763" y="2200000"/>
            <a:ext cx="6600000" cy="4300000"/>
          </a:xfrm>
          <a:prstGeom prst="rect">
            <a:avLst/>
          </a:prstGeom>
          <a:noFill/>
        </p:spPr>
        <p:txBody>
          <a:bodyPr wrap="square">
            <a:spAutoFit/>
          </a:bodyPr>
          <a:lstStyle/>
          <a:p>
            <a:pPr>
              <a:lnSpc>
                <a:spcPct val="145000"/>
              </a:lnSpc>
              <a:spcBef>
                <a:spcPts val="0"/>
              </a:spcBef>
              <a:spcAft>
                <a:spcPts val="800"/>
              </a:spcAft>
            </a:pPr>
            <a:r>
              <a:rPr sz="950" b="1" dirty="0">
                <a:solidFill>
                  <a:schemeClr val="accent2"/>
                </a:solidFill>
                <a:latin typeface="Aptos"/>
              </a:rPr>
              <a:t>Fleet power</a:t>
            </a:r>
          </a:p>
          <a:p>
            <a:pPr>
              <a:lnSpc>
                <a:spcPct val="145000"/>
              </a:lnSpc>
              <a:spcBef>
                <a:spcPts val="0"/>
              </a:spcBef>
              <a:spcAft>
                <a:spcPts val="800"/>
              </a:spcAft>
            </a:pPr>
            <a:r>
              <a:rPr sz="950" dirty="0">
                <a:solidFill>
                  <a:schemeClr val="tx1">
                    <a:lumMod val="88000"/>
                    <a:lumOff val="12000"/>
                  </a:schemeClr>
                </a:solidFill>
                <a:latin typeface="Aptos"/>
              </a:rPr>
              <a:t>4 × 350 kW HP compressors ≈ 1.4 MW total installed.</a:t>
            </a:r>
          </a:p>
          <a:p>
            <a:pPr>
              <a:lnSpc>
                <a:spcPct val="145000"/>
              </a:lnSpc>
              <a:spcBef>
                <a:spcPts val="0"/>
              </a:spcBef>
              <a:spcAft>
                <a:spcPts val="800"/>
              </a:spcAft>
            </a:pPr>
            <a:r>
              <a:rPr sz="950" b="1" dirty="0">
                <a:solidFill>
                  <a:schemeClr val="accent2"/>
                </a:solidFill>
                <a:latin typeface="Aptos"/>
              </a:rPr>
              <a:t>Cooling water</a:t>
            </a:r>
          </a:p>
          <a:p>
            <a:pPr>
              <a:lnSpc>
                <a:spcPct val="145000"/>
              </a:lnSpc>
              <a:spcBef>
                <a:spcPts val="0"/>
              </a:spcBef>
              <a:spcAft>
                <a:spcPts val="800"/>
              </a:spcAft>
            </a:pPr>
            <a:r>
              <a:rPr sz="950" dirty="0">
                <a:solidFill>
                  <a:schemeClr val="tx1">
                    <a:lumMod val="88000"/>
                    <a:lumOff val="12000"/>
                  </a:schemeClr>
                </a:solidFill>
                <a:latin typeface="Aptos"/>
              </a:rPr>
              <a:t>27→ 37°C supply/return (ΔT 10 K) nominal; up to 42°C return (ΔT 15 K) for PS01 at reduced flow.</a:t>
            </a:r>
          </a:p>
          <a:p>
            <a:pPr>
              <a:lnSpc>
                <a:spcPct val="145000"/>
              </a:lnSpc>
              <a:spcBef>
                <a:spcPts val="0"/>
              </a:spcBef>
              <a:spcAft>
                <a:spcPts val="800"/>
              </a:spcAft>
            </a:pPr>
            <a:r>
              <a:rPr sz="950" b="1" dirty="0">
                <a:solidFill>
                  <a:schemeClr val="accent2"/>
                </a:solidFill>
                <a:latin typeface="Aptos"/>
              </a:rPr>
              <a:t>Piping</a:t>
            </a:r>
          </a:p>
          <a:p>
            <a:pPr>
              <a:lnSpc>
                <a:spcPct val="145000"/>
              </a:lnSpc>
              <a:spcBef>
                <a:spcPts val="0"/>
              </a:spcBef>
              <a:spcAft>
                <a:spcPts val="800"/>
              </a:spcAft>
            </a:pPr>
            <a:r>
              <a:rPr sz="950" dirty="0">
                <a:solidFill>
                  <a:schemeClr val="tx1">
                    <a:lumMod val="88000"/>
                    <a:lumOff val="12000"/>
                  </a:schemeClr>
                </a:solidFill>
                <a:latin typeface="Aptos"/>
              </a:rPr>
              <a:t>Shared header, looped feed/return.</a:t>
            </a:r>
          </a:p>
          <a:p>
            <a:pPr>
              <a:lnSpc>
                <a:spcPct val="145000"/>
              </a:lnSpc>
              <a:spcBef>
                <a:spcPts val="0"/>
              </a:spcBef>
              <a:spcAft>
                <a:spcPts val="800"/>
              </a:spcAft>
            </a:pPr>
            <a:r>
              <a:rPr sz="950" b="1" dirty="0">
                <a:solidFill>
                  <a:schemeClr val="accent2"/>
                </a:solidFill>
                <a:latin typeface="Aptos"/>
              </a:rPr>
              <a:t>4th-unit deferral</a:t>
            </a:r>
          </a:p>
          <a:p>
            <a:pPr>
              <a:lnSpc>
                <a:spcPct val="145000"/>
              </a:lnSpc>
              <a:spcBef>
                <a:spcPts val="0"/>
              </a:spcBef>
              <a:spcAft>
                <a:spcPts val="800"/>
              </a:spcAft>
            </a:pPr>
            <a:r>
              <a:rPr sz="950" dirty="0">
                <a:solidFill>
                  <a:schemeClr val="tx1">
                    <a:lumMod val="88000"/>
                    <a:lumOff val="12000"/>
                  </a:schemeClr>
                </a:solidFill>
                <a:latin typeface="Aptos"/>
              </a:rPr>
              <a:t>Fully stubbed install position — enforceable by SCK CEN at grant or </a:t>
            </a:r>
            <a:r>
              <a:rPr sz="950" dirty="0" err="1">
                <a:solidFill>
                  <a:schemeClr val="tx1">
                    <a:lumMod val="88000"/>
                    <a:lumOff val="12000"/>
                  </a:schemeClr>
                </a:solidFill>
                <a:latin typeface="Aptos"/>
              </a:rPr>
              <a:t>EoCD</a:t>
            </a:r>
            <a:r>
              <a:rPr sz="950" dirty="0">
                <a:solidFill>
                  <a:schemeClr val="tx1">
                    <a:lumMod val="88000"/>
                    <a:lumOff val="12000"/>
                  </a:schemeClr>
                </a:solidFill>
                <a:latin typeface="Aptos"/>
              </a:rPr>
              <a:t>.</a:t>
            </a:r>
          </a:p>
          <a:p>
            <a:pPr>
              <a:lnSpc>
                <a:spcPct val="145000"/>
              </a:lnSpc>
              <a:spcBef>
                <a:spcPts val="0"/>
              </a:spcBef>
              <a:spcAft>
                <a:spcPts val="800"/>
              </a:spcAft>
            </a:pPr>
            <a:r>
              <a:rPr sz="950" b="1" dirty="0">
                <a:solidFill>
                  <a:schemeClr val="accent2"/>
                </a:solidFill>
                <a:latin typeface="Aptos"/>
              </a:rPr>
              <a:t>Pressure control</a:t>
            </a:r>
          </a:p>
          <a:p>
            <a:pPr>
              <a:lnSpc>
                <a:spcPct val="145000"/>
              </a:lnSpc>
              <a:spcBef>
                <a:spcPts val="0"/>
              </a:spcBef>
              <a:spcAft>
                <a:spcPts val="800"/>
              </a:spcAft>
            </a:pPr>
            <a:r>
              <a:rPr sz="950" dirty="0">
                <a:solidFill>
                  <a:schemeClr val="tx1">
                    <a:lumMod val="88000"/>
                    <a:lumOff val="12000"/>
                  </a:schemeClr>
                </a:solidFill>
                <a:latin typeface="Aptos"/>
              </a:rPr>
              <a:t>≈ 14 bar discharge maintained; VFD trims flow (feeds the Unit Economics model, Slide 10).</a:t>
            </a:r>
          </a:p>
          <a:p>
            <a:pPr>
              <a:lnSpc>
                <a:spcPct val="145000"/>
              </a:lnSpc>
              <a:spcBef>
                <a:spcPts val="0"/>
              </a:spcBef>
              <a:spcAft>
                <a:spcPts val="800"/>
              </a:spcAft>
            </a:pPr>
            <a:r>
              <a:rPr sz="950" b="1" dirty="0">
                <a:solidFill>
                  <a:schemeClr val="accent2"/>
                </a:solidFill>
                <a:latin typeface="Aptos"/>
              </a:rPr>
              <a:t>Applicant shall</a:t>
            </a:r>
          </a:p>
          <a:p>
            <a:pPr>
              <a:lnSpc>
                <a:spcPct val="145000"/>
              </a:lnSpc>
              <a:spcBef>
                <a:spcPts val="0"/>
              </a:spcBef>
              <a:spcAft>
                <a:spcPts val="800"/>
              </a:spcAft>
            </a:pPr>
            <a:r>
              <a:rPr sz="950" dirty="0">
                <a:solidFill>
                  <a:schemeClr val="tx1">
                    <a:lumMod val="88000"/>
                    <a:lumOff val="12000"/>
                  </a:schemeClr>
                </a:solidFill>
                <a:latin typeface="Aptos"/>
              </a:rPr>
              <a:t>Deliver layout &amp; piping stubs if the 4th unit is deferred.</a:t>
            </a:r>
          </a:p>
        </p:txBody>
      </p:sp>
      <p:sp>
        <p:nvSpPr>
          <p:cNvPr id="6" name="Rounded Rectangle 5"/>
          <p:cNvSpPr/>
          <p:nvPr/>
        </p:nvSpPr>
        <p:spPr>
          <a:xfrm>
            <a:off x="7650000" y="2200000"/>
            <a:ext cx="1330000" cy="1150000"/>
          </a:xfrm>
          <a:prstGeom prst="roundRect">
            <a:avLst>
              <a:gd name="adj" fmla="val 8000"/>
            </a:avLst>
          </a:prstGeom>
          <a:solidFill>
            <a:schemeClr val="accent1">
              <a:lumMod val="8000"/>
              <a:lumOff val="92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ctr"/>
          <a:lstStyle/>
          <a:p>
            <a:pPr algn="ctr">
              <a:lnSpc>
                <a:spcPct val="100000"/>
              </a:lnSpc>
            </a:pPr>
            <a:r>
              <a:rPr sz="2000" b="1">
                <a:solidFill>
                  <a:schemeClr val="accent1"/>
                </a:solidFill>
                <a:latin typeface="Aptos"/>
              </a:rPr>
              <a:t>1.4 MW</a:t>
            </a:r>
          </a:p>
          <a:p>
            <a:pPr algn="ctr">
              <a:lnSpc>
                <a:spcPct val="105000"/>
              </a:lnSpc>
            </a:pPr>
            <a:r>
              <a:rPr sz="1050">
                <a:solidFill>
                  <a:schemeClr val="tx1">
                    <a:lumMod val="80000"/>
                    <a:lumOff val="20000"/>
                  </a:schemeClr>
                </a:solidFill>
                <a:latin typeface="Aptos"/>
              </a:rPr>
              <a:t>installed
(4×350 kW)</a:t>
            </a:r>
          </a:p>
        </p:txBody>
      </p:sp>
      <p:sp>
        <p:nvSpPr>
          <p:cNvPr id="7" name="Rounded Rectangle 6"/>
          <p:cNvSpPr/>
          <p:nvPr/>
        </p:nvSpPr>
        <p:spPr>
          <a:xfrm>
            <a:off x="9070000" y="2200000"/>
            <a:ext cx="1330000" cy="1150000"/>
          </a:xfrm>
          <a:prstGeom prst="roundRect">
            <a:avLst>
              <a:gd name="adj" fmla="val 8000"/>
            </a:avLst>
          </a:prstGeom>
          <a:solidFill>
            <a:schemeClr val="accent1">
              <a:lumMod val="8000"/>
              <a:lumOff val="92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ctr"/>
          <a:lstStyle/>
          <a:p>
            <a:pPr algn="ctr">
              <a:lnSpc>
                <a:spcPct val="100000"/>
              </a:lnSpc>
            </a:pPr>
            <a:r>
              <a:rPr sz="2000" b="1">
                <a:solidFill>
                  <a:schemeClr val="accent1"/>
                </a:solidFill>
                <a:latin typeface="Aptos"/>
              </a:rPr>
              <a:t>14 bar</a:t>
            </a:r>
          </a:p>
          <a:p>
            <a:pPr algn="ctr">
              <a:lnSpc>
                <a:spcPct val="105000"/>
              </a:lnSpc>
            </a:pPr>
            <a:r>
              <a:rPr sz="1050">
                <a:solidFill>
                  <a:schemeClr val="tx1">
                    <a:lumMod val="80000"/>
                    <a:lumOff val="20000"/>
                  </a:schemeClr>
                </a:solidFill>
                <a:latin typeface="Aptos"/>
              </a:rPr>
              <a:t>discharge
pressure</a:t>
            </a:r>
          </a:p>
        </p:txBody>
      </p:sp>
      <p:sp>
        <p:nvSpPr>
          <p:cNvPr id="8" name="Rounded Rectangle 7"/>
          <p:cNvSpPr/>
          <p:nvPr/>
        </p:nvSpPr>
        <p:spPr>
          <a:xfrm>
            <a:off x="10490000" y="2200000"/>
            <a:ext cx="1330000" cy="1150000"/>
          </a:xfrm>
          <a:prstGeom prst="roundRect">
            <a:avLst>
              <a:gd name="adj" fmla="val 8000"/>
            </a:avLst>
          </a:prstGeom>
          <a:solidFill>
            <a:schemeClr val="accent1">
              <a:lumMod val="8000"/>
              <a:lumOff val="92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0000" tIns="70000" rIns="100000" bIns="70000" rtlCol="0" anchor="ctr"/>
          <a:lstStyle/>
          <a:p>
            <a:pPr algn="ctr">
              <a:lnSpc>
                <a:spcPct val="100000"/>
              </a:lnSpc>
            </a:pPr>
            <a:r>
              <a:rPr sz="2000" b="1">
                <a:solidFill>
                  <a:schemeClr val="accent1"/>
                </a:solidFill>
                <a:latin typeface="Aptos"/>
              </a:rPr>
              <a:t>10–15 K</a:t>
            </a:r>
          </a:p>
          <a:p>
            <a:pPr algn="ctr">
              <a:lnSpc>
                <a:spcPct val="105000"/>
              </a:lnSpc>
            </a:pPr>
            <a:r>
              <a:rPr sz="1050">
                <a:solidFill>
                  <a:schemeClr val="tx1">
                    <a:lumMod val="80000"/>
                    <a:lumOff val="20000"/>
                  </a:schemeClr>
                </a:solidFill>
                <a:latin typeface="Aptos"/>
              </a:rPr>
              <a:t>cooling
ΔT range</a:t>
            </a:r>
          </a:p>
        </p:txBody>
      </p:sp>
      <p:sp>
        <p:nvSpPr>
          <p:cNvPr id="9" name="Rounded Rectangle 8"/>
          <p:cNvSpPr/>
          <p:nvPr/>
        </p:nvSpPr>
        <p:spPr>
          <a:xfrm>
            <a:off x="7650000" y="3550000"/>
            <a:ext cx="4170000" cy="95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050" b="1">
                <a:solidFill>
                  <a:schemeClr val="accent1"/>
                </a:solidFill>
                <a:latin typeface="Aptos"/>
              </a:rPr>
              <a:t>WHY IT MATTERS  </a:t>
            </a:r>
            <a:r>
              <a:rPr sz="1050" b="0">
                <a:solidFill>
                  <a:schemeClr val="accent1"/>
                </a:solidFill>
                <a:latin typeface="Aptos"/>
              </a:rPr>
              <a:t>This power/water/pressure envelope is the input to the Unit Economics energy-cost model (Slide 10) and the Utilities hub-and-spoke diagram (Slide 15).</a:t>
            </a:r>
          </a:p>
        </p:txBody>
      </p:sp>
      <p:sp>
        <p:nvSpPr>
          <p:cNvPr id="11" name="Slide Number Placeholder 10">
            <a:extLst>
              <a:ext uri="{FF2B5EF4-FFF2-40B4-BE49-F238E27FC236}">
                <a16:creationId xmlns:a16="http://schemas.microsoft.com/office/drawing/2014/main" id="{CB1D2897-E042-8758-D0AE-E5BB73C65ECD}"/>
              </a:ext>
            </a:extLst>
          </p:cNvPr>
          <p:cNvSpPr>
            <a:spLocks noGrp="1"/>
          </p:cNvSpPr>
          <p:nvPr>
            <p:ph type="sldNum" sz="quarter" idx="4"/>
          </p:nvPr>
        </p:nvSpPr>
        <p:spPr/>
        <p:txBody>
          <a:bodyPr/>
          <a:lstStyle/>
          <a:p>
            <a:fld id="{A814E660-BF25-4843-B2A0-93C6E2B6253B}" type="slidenum">
              <a:rPr lang="en-BE" smtClean="0"/>
              <a:pPr/>
              <a:t>6</a:t>
            </a:fld>
            <a:endParaRPr lang="en-BE" dirty="0"/>
          </a:p>
        </p:txBody>
      </p:sp>
      <p:sp>
        <p:nvSpPr>
          <p:cNvPr id="13" name="Rounded Rectangle 4">
            <a:extLst>
              <a:ext uri="{FF2B5EF4-FFF2-40B4-BE49-F238E27FC236}">
                <a16:creationId xmlns:a16="http://schemas.microsoft.com/office/drawing/2014/main" id="{73E49CBF-0011-2D0E-4915-E9CBFA82815D}"/>
              </a:ext>
            </a:extLst>
          </p:cNvPr>
          <p:cNvSpPr/>
          <p:nvPr/>
        </p:nvSpPr>
        <p:spPr>
          <a:xfrm>
            <a:off x="645465" y="5950000"/>
            <a:ext cx="11000000" cy="470000"/>
          </a:xfrm>
          <a:prstGeom prst="roundRect">
            <a:avLst>
              <a:gd name="adj" fmla="val 6000"/>
            </a:avLst>
          </a:prstGeom>
          <a:solidFill>
            <a:schemeClr val="accent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00" b="1" dirty="0">
                <a:solidFill>
                  <a:schemeClr val="accent2"/>
                </a:solidFill>
                <a:latin typeface="Aptos" panose="020B0004020202020204" pitchFamily="34" charset="0"/>
              </a:rPr>
              <a:t>KEY TAKEAWAY  </a:t>
            </a:r>
            <a:r>
              <a:rPr lang="en-US" sz="1100" i="1" dirty="0">
                <a:solidFill>
                  <a:schemeClr val="accent2"/>
                </a:solidFill>
                <a:highlight>
                  <a:srgbClr val="FF9999"/>
                </a:highlight>
                <a:latin typeface="Aptos"/>
              </a:rPr>
              <a:t>Open baseline question: pressure-constant vs. pressure-swing control — not yet decided.</a:t>
            </a:r>
          </a:p>
          <a:p>
            <a:pPr algn="ctr">
              <a:lnSpc>
                <a:spcPct val="110000"/>
              </a:lnSpc>
            </a:pPr>
            <a:endParaRPr sz="1100" b="0" dirty="0">
              <a:solidFill>
                <a:schemeClr val="accent2"/>
              </a:solidFill>
              <a:latin typeface="Aptos" panose="020B0004020202020204" pitchFamily="34" charset="0"/>
            </a:endParaRPr>
          </a:p>
        </p:txBody>
      </p:sp>
      <p:sp>
        <p:nvSpPr>
          <p:cNvPr id="14" name="Rounded Rectangle 13"/>
          <p:cNvSpPr/>
          <p:nvPr/>
        </p:nvSpPr>
        <p:spPr>
          <a:xfrm>
            <a:off x="9546535" y="150000"/>
            <a:ext cx="2000000" cy="460000"/>
          </a:xfrm>
          <a:prstGeom prst="roundRect">
            <a:avLst>
              <a:gd name="adj" fmla="val 50000"/>
            </a:avLst>
          </a:prstGeom>
          <a:solidFill>
            <a:srgbClr val="5628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DEFINE</a:t>
            </a:r>
          </a:p>
        </p:txBody>
      </p:sp>
      <p:pic>
        <p:nvPicPr>
          <p:cNvPr id="15" name="Picture 14" descr="energy_mix_donut.png"/>
          <p:cNvPicPr>
            <a:picLocks noChangeAspect="1"/>
          </p:cNvPicPr>
          <p:nvPr/>
        </p:nvPicPr>
        <p:blipFill>
          <a:blip r:embed="rId3"/>
          <a:stretch>
            <a:fillRect/>
          </a:stretch>
        </p:blipFill>
        <p:spPr>
          <a:xfrm>
            <a:off x="7650000" y="4560000"/>
            <a:ext cx="1330000" cy="1330000"/>
          </a:xfrm>
          <a:prstGeom prst="rect">
            <a:avLst/>
          </a:prstGeom>
        </p:spPr>
      </p:pic>
      <p:sp>
        <p:nvSpPr>
          <p:cNvPr id="16" name="TextBox 15"/>
          <p:cNvSpPr txBox="1"/>
          <p:nvPr/>
        </p:nvSpPr>
        <p:spPr>
          <a:xfrm>
            <a:off x="9150000" y="4560000"/>
            <a:ext cx="2670000" cy="1350000"/>
          </a:xfrm>
          <a:prstGeom prst="rect">
            <a:avLst/>
          </a:prstGeom>
          <a:noFill/>
        </p:spPr>
        <p:txBody>
          <a:bodyPr wrap="square">
            <a:spAutoFit/>
          </a:bodyPr>
          <a:lstStyle/>
          <a:p>
            <a:pPr>
              <a:lnSpc>
                <a:spcPct val="100000"/>
              </a:lnSpc>
              <a:spcBef>
                <a:spcPts val="0"/>
              </a:spcBef>
              <a:spcAft>
                <a:spcPts val="200"/>
              </a:spcAft>
            </a:pPr>
            <a:r>
              <a:rPr sz="1150">
                <a:solidFill>
                  <a:srgbClr val="562873"/>
                </a:solidFill>
                <a:latin typeface="Aptos"/>
              </a:rPr>
              <a:t>■ </a:t>
            </a:r>
            <a:r>
              <a:rPr sz="1150" b="0">
                <a:solidFill>
                  <a:srgbClr val="33333D"/>
                </a:solidFill>
                <a:latin typeface="Aptos"/>
              </a:rPr>
              <a:t>HP Compressors — 1,424 kW (80%)</a:t>
            </a:r>
          </a:p>
          <a:p>
            <a:pPr>
              <a:lnSpc>
                <a:spcPct val="100000"/>
              </a:lnSpc>
              <a:spcBef>
                <a:spcPts val="0"/>
              </a:spcBef>
              <a:spcAft>
                <a:spcPts val="200"/>
              </a:spcAft>
            </a:pPr>
            <a:r>
              <a:rPr sz="1150">
                <a:solidFill>
                  <a:srgbClr val="1FA7A0"/>
                </a:solidFill>
                <a:latin typeface="Aptos"/>
              </a:rPr>
              <a:t>■ </a:t>
            </a:r>
            <a:r>
              <a:rPr sz="1150" b="0">
                <a:solidFill>
                  <a:srgbClr val="33333D"/>
                </a:solidFill>
                <a:latin typeface="Aptos"/>
              </a:rPr>
              <a:t>PVPS — 150 kW (8%)</a:t>
            </a:r>
          </a:p>
          <a:p>
            <a:pPr>
              <a:lnSpc>
                <a:spcPct val="100000"/>
              </a:lnSpc>
              <a:spcBef>
                <a:spcPts val="0"/>
              </a:spcBef>
              <a:spcAft>
                <a:spcPts val="200"/>
              </a:spcAft>
            </a:pPr>
            <a:r>
              <a:rPr sz="1150">
                <a:solidFill>
                  <a:srgbClr val="E0A9D6"/>
                </a:solidFill>
                <a:latin typeface="Aptos"/>
              </a:rPr>
              <a:t>■ </a:t>
            </a:r>
            <a:r>
              <a:rPr sz="1150" b="0">
                <a:solidFill>
                  <a:srgbClr val="33333D"/>
                </a:solidFill>
                <a:latin typeface="Aptos"/>
              </a:rPr>
              <a:t>Rest of plant — 206 kW (12%)</a:t>
            </a:r>
          </a:p>
          <a:p>
            <a:pPr>
              <a:spcBef>
                <a:spcPts val="400"/>
              </a:spcBef>
            </a:pPr>
            <a:r>
              <a:rPr sz="800" i="1">
                <a:solidFill>
                  <a:srgbClr val="707078"/>
                </a:solidFill>
                <a:latin typeface="Aptos"/>
              </a:rPr>
              <a:t>RTM-395, Table 19–20 (excl. back-up diesel)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0"/>
          </a:xfrm>
        </p:spPr>
        <p:txBody>
          <a:bodyPr/>
          <a:lstStyle/>
          <a:p>
            <a:r>
              <a:rPr>
                <a:latin typeface="Segoe UI" panose="020B0004020202020204" pitchFamily="34" charset="0"/>
              </a:rPr>
              <a:t>Frequency and Upset Policy</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panose="020B0004020202020204" pitchFamily="34" charset="0"/>
              </a:rPr>
              <a:t>Operating Limits and Logging Requirements</a:t>
            </a:r>
          </a:p>
        </p:txBody>
      </p:sp>
      <p:sp>
        <p:nvSpPr>
          <p:cNvPr id="4" name="Text Placeholder 3"/>
          <p:cNvSpPr>
            <a:spLocks noGrp="1"/>
          </p:cNvSpPr>
          <p:nvPr>
            <p:ph type="body" sz="quarter" idx="15"/>
          </p:nvPr>
        </p:nvSpPr>
        <p:spPr>
          <a:xfrm>
            <a:off x="645465" y="2000000"/>
            <a:ext cx="5350000" cy="4350000"/>
          </a:xfrm>
        </p:spPr>
        <p:txBody>
          <a:bodyPr>
            <a:noAutofit/>
          </a:bodyPr>
          <a:lstStyle/>
          <a:p>
            <a:pPr marL="182880" indent="-182880">
              <a:lnSpc>
                <a:spcPct val="145000"/>
              </a:lnSpc>
              <a:spcBef>
                <a:spcPts val="0"/>
              </a:spcBef>
              <a:spcAft>
                <a:spcPts val="800"/>
              </a:spcAft>
              <a:buFont typeface="Arial"/>
              <a:buChar char="•"/>
            </a:pPr>
            <a:r>
              <a:rPr sz="1400" dirty="0">
                <a:solidFill>
                  <a:schemeClr val="tx1">
                    <a:lumMod val="92000"/>
                    <a:lumOff val="8000"/>
                  </a:schemeClr>
                </a:solidFill>
                <a:latin typeface="Aptos" panose="020B0004020202020204" pitchFamily="34" charset="0"/>
              </a:rPr>
              <a:t>Nominal: ≤ 65 Hz, sustainable continuous operation.</a:t>
            </a:r>
          </a:p>
          <a:p>
            <a:pPr marL="182880" indent="-182880">
              <a:lnSpc>
                <a:spcPct val="145000"/>
              </a:lnSpc>
              <a:spcBef>
                <a:spcPts val="0"/>
              </a:spcBef>
              <a:spcAft>
                <a:spcPts val="800"/>
              </a:spcAft>
              <a:buFont typeface="Arial"/>
              <a:buChar char="•"/>
            </a:pPr>
            <a:r>
              <a:rPr sz="1400" dirty="0">
                <a:solidFill>
                  <a:schemeClr val="tx1">
                    <a:lumMod val="92000"/>
                    <a:lumOff val="8000"/>
                  </a:schemeClr>
                </a:solidFill>
                <a:latin typeface="Aptos" panose="020B0004020202020204" pitchFamily="34" charset="0"/>
              </a:rPr>
              <a:t>Transient / </a:t>
            </a:r>
            <a:r>
              <a:rPr lang="en-US" sz="1400" dirty="0">
                <a:solidFill>
                  <a:schemeClr val="tx1">
                    <a:lumMod val="92000"/>
                    <a:lumOff val="8000"/>
                  </a:schemeClr>
                </a:solidFill>
                <a:latin typeface="Aptos" panose="020B0004020202020204" pitchFamily="34" charset="0"/>
              </a:rPr>
              <a:t>upset</a:t>
            </a:r>
            <a:r>
              <a:rPr sz="1400" dirty="0">
                <a:solidFill>
                  <a:schemeClr val="tx1">
                    <a:lumMod val="92000"/>
                    <a:lumOff val="8000"/>
                  </a:schemeClr>
                </a:solidFill>
                <a:latin typeface="Aptos" panose="020B0004020202020204" pitchFamily="34" charset="0"/>
              </a:rPr>
              <a:t> up to 72 Hz, ≤ 8 h per event (covers service or trip recovery, 8 h MTTR).</a:t>
            </a:r>
          </a:p>
          <a:p>
            <a:pPr marL="182880" indent="-182880">
              <a:lnSpc>
                <a:spcPct val="145000"/>
              </a:lnSpc>
              <a:spcBef>
                <a:spcPts val="0"/>
              </a:spcBef>
              <a:spcAft>
                <a:spcPts val="800"/>
              </a:spcAft>
              <a:buFont typeface="Arial"/>
              <a:buChar char="•"/>
            </a:pPr>
            <a:r>
              <a:rPr sz="1400" dirty="0">
                <a:solidFill>
                  <a:schemeClr val="tx1">
                    <a:lumMod val="92000"/>
                    <a:lumOff val="8000"/>
                  </a:schemeClr>
                </a:solidFill>
                <a:latin typeface="Aptos" panose="020B0004020202020204" pitchFamily="34" charset="0"/>
              </a:rPr>
              <a:t>Cumulative &gt; 72 Hz: ≤ 24 h / compressor / month — logged, triggers monthly RAMI review if exceeded.</a:t>
            </a:r>
          </a:p>
          <a:p>
            <a:pPr marL="182880" indent="-182880">
              <a:lnSpc>
                <a:spcPct val="145000"/>
              </a:lnSpc>
              <a:spcBef>
                <a:spcPts val="0"/>
              </a:spcBef>
              <a:spcAft>
                <a:spcPts val="800"/>
              </a:spcAft>
              <a:buFont typeface="Arial"/>
              <a:buChar char="•"/>
            </a:pPr>
            <a:r>
              <a:rPr sz="1400" dirty="0">
                <a:solidFill>
                  <a:schemeClr val="tx1">
                    <a:lumMod val="92000"/>
                    <a:lumOff val="8000"/>
                  </a:schemeClr>
                </a:solidFill>
                <a:latin typeface="Aptos" panose="020B0004020202020204" pitchFamily="34" charset="0"/>
              </a:rPr>
              <a:t>Recovery: return to ≤ 60 Hz to re-stabilize after a repair.</a:t>
            </a:r>
          </a:p>
          <a:p>
            <a:pPr marL="88900" indent="0">
              <a:lnSpc>
                <a:spcPct val="145000"/>
              </a:lnSpc>
              <a:spcBef>
                <a:spcPts val="0"/>
              </a:spcBef>
              <a:spcAft>
                <a:spcPts val="800"/>
              </a:spcAft>
              <a:buNone/>
            </a:pPr>
            <a:r>
              <a:rPr sz="1100" b="1" i="1" dirty="0">
                <a:solidFill>
                  <a:schemeClr val="accent2"/>
                </a:solidFill>
                <a:latin typeface="Aptos" panose="020B0004020202020204" pitchFamily="34" charset="0"/>
              </a:rPr>
              <a:t>Applicant shall quantify sustained MTBF vs. frequency band (≤ 60 Hz, 60–68 Hz, ≥ 68 Hz).</a:t>
            </a:r>
          </a:p>
        </p:txBody>
      </p:sp>
      <p:pic>
        <p:nvPicPr>
          <p:cNvPr id="5" name="Picture 4" descr="s04_frequency_zones.png"/>
          <p:cNvPicPr>
            <a:picLocks noChangeAspect="1"/>
          </p:cNvPicPr>
          <p:nvPr/>
        </p:nvPicPr>
        <p:blipFill>
          <a:blip r:embed="rId3"/>
          <a:stretch>
            <a:fillRect/>
          </a:stretch>
        </p:blipFill>
        <p:spPr>
          <a:xfrm>
            <a:off x="6100000" y="2390625"/>
            <a:ext cx="5650000" cy="2118750"/>
          </a:xfrm>
          <a:prstGeom prst="rect">
            <a:avLst/>
          </a:prstGeom>
        </p:spPr>
      </p:pic>
      <p:sp>
        <p:nvSpPr>
          <p:cNvPr id="7" name="Slide Number Placeholder 6">
            <a:extLst>
              <a:ext uri="{FF2B5EF4-FFF2-40B4-BE49-F238E27FC236}">
                <a16:creationId xmlns:a16="http://schemas.microsoft.com/office/drawing/2014/main" id="{A7FC5975-23E6-842F-B35E-A36F819A6A4D}"/>
              </a:ext>
            </a:extLst>
          </p:cNvPr>
          <p:cNvSpPr>
            <a:spLocks noGrp="1"/>
          </p:cNvSpPr>
          <p:nvPr>
            <p:ph type="sldNum" sz="quarter" idx="4"/>
          </p:nvPr>
        </p:nvSpPr>
        <p:spPr/>
        <p:txBody>
          <a:bodyPr/>
          <a:lstStyle/>
          <a:p>
            <a:fld id="{A814E660-BF25-4843-B2A0-93C6E2B6253B}" type="slidenum">
              <a:rPr lang="en-BE" smtClean="0">
                <a:latin typeface="Aptos" panose="020B0004020202020204" pitchFamily="34" charset="0"/>
              </a:rPr>
              <a:pPr/>
              <a:t>7</a:t>
            </a:fld>
            <a:endParaRPr lang="en-BE" dirty="0">
              <a:latin typeface="Aptos" panose="020B0004020202020204" pitchFamily="34" charset="0"/>
            </a:endParaRPr>
          </a:p>
        </p:txBody>
      </p:sp>
      <p:sp>
        <p:nvSpPr>
          <p:cNvPr id="8" name="Rounded Rectangle 7"/>
          <p:cNvSpPr/>
          <p:nvPr/>
        </p:nvSpPr>
        <p:spPr>
          <a:xfrm>
            <a:off x="9546535" y="150000"/>
            <a:ext cx="2000000" cy="460000"/>
          </a:xfrm>
          <a:prstGeom prst="roundRect">
            <a:avLst>
              <a:gd name="adj" fmla="val 50000"/>
            </a:avLst>
          </a:prstGeom>
          <a:solidFill>
            <a:srgbClr val="5628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DEFINE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525078"/>
          </a:xfrm>
        </p:spPr>
        <p:txBody>
          <a:bodyPr/>
          <a:lstStyle/>
          <a:p>
            <a:r>
              <a:rPr dirty="0">
                <a:latin typeface="Segoe UI"/>
              </a:rPr>
              <a:t>Compressor Flow Capability</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a:rPr>
              <a:t>OEM Performance Figures</a:t>
            </a:r>
          </a:p>
        </p:txBody>
      </p:sp>
      <p:sp>
        <p:nvSpPr>
          <p:cNvPr id="4" name="Text Placeholder 3"/>
          <p:cNvSpPr>
            <a:spLocks noGrp="1"/>
          </p:cNvSpPr>
          <p:nvPr>
            <p:ph type="body" sz="quarter" idx="15"/>
          </p:nvPr>
        </p:nvSpPr>
        <p:spPr>
          <a:xfrm>
            <a:off x="645465" y="2000000"/>
            <a:ext cx="5350000" cy="4350000"/>
          </a:xfrm>
        </p:spPr>
        <p:txBody>
          <a:bodyPr>
            <a:noAutofit/>
          </a:bodyPr>
          <a:lstStyle/>
          <a:p>
            <a:pPr marL="182880" indent="-182880">
              <a:lnSpc>
                <a:spcPct val="145000"/>
              </a:lnSpc>
              <a:spcBef>
                <a:spcPts val="0"/>
              </a:spcBef>
              <a:spcAft>
                <a:spcPts val="800"/>
              </a:spcAft>
              <a:buFont typeface="Arial"/>
              <a:buChar char="•"/>
            </a:pPr>
            <a:r>
              <a:rPr sz="1550">
                <a:solidFill>
                  <a:schemeClr val="tx1">
                    <a:lumMod val="92000"/>
                    <a:lumOff val="8000"/>
                  </a:schemeClr>
                </a:solidFill>
                <a:latin typeface="Aptos"/>
              </a:rPr>
              <a:t>OEM reference figures at 60 Hz and 72 Hz for the three candidate compressor types.</a:t>
            </a:r>
          </a:p>
          <a:p>
            <a:pPr marL="182880" indent="-182880">
              <a:lnSpc>
                <a:spcPct val="145000"/>
              </a:lnSpc>
              <a:spcBef>
                <a:spcPts val="0"/>
              </a:spcBef>
              <a:spcAft>
                <a:spcPts val="800"/>
              </a:spcAft>
              <a:buFont typeface="Arial"/>
              <a:buChar char="•"/>
            </a:pPr>
            <a:r>
              <a:rPr sz="1550">
                <a:solidFill>
                  <a:schemeClr val="tx1">
                    <a:lumMod val="92000"/>
                    <a:lumOff val="8000"/>
                  </a:schemeClr>
                </a:solidFill>
                <a:latin typeface="Aptos"/>
              </a:rPr>
              <a:t>FSD 575 gives the largest per-unit margin — carries directly into the N−1 case (Slide 9).</a:t>
            </a:r>
          </a:p>
          <a:p>
            <a:pPr marL="182880" indent="-182880">
              <a:lnSpc>
                <a:spcPct val="145000"/>
              </a:lnSpc>
              <a:spcBef>
                <a:spcPts val="0"/>
              </a:spcBef>
              <a:spcAft>
                <a:spcPts val="800"/>
              </a:spcAft>
              <a:buFont typeface="Arial"/>
              <a:buChar char="•"/>
            </a:pPr>
            <a:r>
              <a:rPr sz="1550">
                <a:solidFill>
                  <a:schemeClr val="tx1">
                    <a:lumMod val="92000"/>
                    <a:lumOff val="8000"/>
                  </a:schemeClr>
                </a:solidFill>
                <a:latin typeface="Aptos"/>
              </a:rPr>
              <a:t>HSD Combi figures are Option A basis, flagged in the baseline as an estimate ('guess').</a:t>
            </a:r>
          </a:p>
          <a:p>
            <a:pPr marL="182880" indent="-182880">
              <a:lnSpc>
                <a:spcPct val="145000"/>
              </a:lnSpc>
              <a:spcBef>
                <a:spcPts val="0"/>
              </a:spcBef>
              <a:spcAft>
                <a:spcPts val="800"/>
              </a:spcAft>
              <a:buFont typeface="Arial"/>
              <a:buChar char="•"/>
            </a:pPr>
            <a:r>
              <a:rPr sz="1550">
                <a:solidFill>
                  <a:schemeClr val="tx1">
                    <a:lumMod val="92000"/>
                    <a:lumOff val="8000"/>
                  </a:schemeClr>
                </a:solidFill>
                <a:latin typeface="Aptos"/>
              </a:rPr>
              <a:t>Controls principle: hold discharge pressure, use VFD turndown; avoid &gt; 60 Hz except upsets.</a:t>
            </a:r>
          </a:p>
        </p:txBody>
      </p:sp>
      <p:pic>
        <p:nvPicPr>
          <p:cNvPr id="5" name="Picture 4" descr="s05_flow_capability.png"/>
          <p:cNvPicPr>
            <a:picLocks noChangeAspect="1"/>
          </p:cNvPicPr>
          <p:nvPr/>
        </p:nvPicPr>
        <p:blipFill>
          <a:blip r:embed="rId3"/>
          <a:stretch>
            <a:fillRect/>
          </a:stretch>
        </p:blipFill>
        <p:spPr>
          <a:xfrm>
            <a:off x="6400000" y="2573837"/>
            <a:ext cx="5250000" cy="3052325"/>
          </a:xfrm>
          <a:prstGeom prst="rect">
            <a:avLst/>
          </a:prstGeom>
        </p:spPr>
      </p:pic>
      <p:sp>
        <p:nvSpPr>
          <p:cNvPr id="7" name="Slide Number Placeholder 6">
            <a:extLst>
              <a:ext uri="{FF2B5EF4-FFF2-40B4-BE49-F238E27FC236}">
                <a16:creationId xmlns:a16="http://schemas.microsoft.com/office/drawing/2014/main" id="{990E144A-B700-36E6-0AC6-85CB16390F6A}"/>
              </a:ext>
            </a:extLst>
          </p:cNvPr>
          <p:cNvSpPr>
            <a:spLocks noGrp="1"/>
          </p:cNvSpPr>
          <p:nvPr>
            <p:ph type="sldNum" sz="quarter" idx="4"/>
          </p:nvPr>
        </p:nvSpPr>
        <p:spPr/>
        <p:txBody>
          <a:bodyPr/>
          <a:lstStyle/>
          <a:p>
            <a:fld id="{A814E660-BF25-4843-B2A0-93C6E2B6253B}" type="slidenum">
              <a:rPr lang="en-BE" smtClean="0"/>
              <a:pPr/>
              <a:t>8</a:t>
            </a:fld>
            <a:endParaRPr lang="en-BE" dirty="0"/>
          </a:p>
        </p:txBody>
      </p:sp>
      <p:sp>
        <p:nvSpPr>
          <p:cNvPr id="8" name="Rounded Rectangle 7"/>
          <p:cNvSpPr/>
          <p:nvPr/>
        </p:nvSpPr>
        <p:spPr>
          <a:xfrm>
            <a:off x="9546535" y="150000"/>
            <a:ext cx="2000000" cy="460000"/>
          </a:xfrm>
          <a:prstGeom prst="roundRect">
            <a:avLst>
              <a:gd name="adj" fmla="val 50000"/>
            </a:avLst>
          </a:prstGeom>
          <a:solidFill>
            <a:srgbClr val="984A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MEASURE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0"/>
          </a:xfrm>
        </p:spPr>
        <p:txBody>
          <a:bodyPr/>
          <a:lstStyle/>
          <a:p>
            <a:r>
              <a:rPr>
                <a:latin typeface="Segoe UI" panose="020B0004020202020204" pitchFamily="34" charset="0"/>
              </a:rPr>
              <a:t>Total Flow and N−1 Snapshots</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panose="020B0004020202020204" pitchFamily="34" charset="0"/>
              </a:rPr>
              <a:t>Fleet Comparison for 307 g/s Target</a:t>
            </a:r>
          </a:p>
        </p:txBody>
      </p:sp>
      <p:sp>
        <p:nvSpPr>
          <p:cNvPr id="4" name="Text Placeholder 3"/>
          <p:cNvSpPr>
            <a:spLocks noGrp="1"/>
          </p:cNvSpPr>
          <p:nvPr>
            <p:ph type="body" sz="quarter" idx="15"/>
          </p:nvPr>
        </p:nvSpPr>
        <p:spPr>
          <a:xfrm>
            <a:off x="645465" y="2000000"/>
            <a:ext cx="5350000" cy="4350000"/>
          </a:xfrm>
        </p:spPr>
        <p:txBody>
          <a:bodyPr>
            <a:noAutofit/>
          </a:bodyPr>
          <a:lstStyle/>
          <a:p>
            <a:pPr marL="182880" indent="-182880">
              <a:lnSpc>
                <a:spcPct val="145000"/>
              </a:lnSpc>
              <a:spcBef>
                <a:spcPts val="0"/>
              </a:spcBef>
              <a:spcAft>
                <a:spcPts val="800"/>
              </a:spcAft>
              <a:buFont typeface="Arial"/>
              <a:buChar char="•"/>
            </a:pPr>
            <a:r>
              <a:rPr sz="1600" dirty="0">
                <a:solidFill>
                  <a:schemeClr val="tx1">
                    <a:lumMod val="92000"/>
                    <a:lumOff val="8000"/>
                  </a:schemeClr>
                </a:solidFill>
                <a:latin typeface="Aptos" panose="020B0004020202020204" pitchFamily="34" charset="0"/>
              </a:rPr>
              <a:t>Target: 307 g/s total flow (24 QM, FFT operating mode).</a:t>
            </a:r>
          </a:p>
          <a:p>
            <a:pPr marL="182880" indent="-182880">
              <a:lnSpc>
                <a:spcPct val="145000"/>
              </a:lnSpc>
              <a:spcBef>
                <a:spcPts val="0"/>
              </a:spcBef>
              <a:spcAft>
                <a:spcPts val="800"/>
              </a:spcAft>
              <a:buFont typeface="Arial"/>
              <a:buChar char="•"/>
            </a:pPr>
            <a:r>
              <a:rPr sz="1600" dirty="0">
                <a:solidFill>
                  <a:schemeClr val="tx1">
                    <a:lumMod val="92000"/>
                    <a:lumOff val="8000"/>
                  </a:schemeClr>
                </a:solidFill>
                <a:latin typeface="Aptos" panose="020B0004020202020204" pitchFamily="34" charset="0"/>
              </a:rPr>
              <a:t>FSD 575 is the only type whose N−1 case clears the target outright (+30 g/s margin).</a:t>
            </a:r>
          </a:p>
          <a:p>
            <a:pPr marL="182880" indent="-182880">
              <a:lnSpc>
                <a:spcPct val="145000"/>
              </a:lnSpc>
              <a:spcBef>
                <a:spcPts val="0"/>
              </a:spcBef>
              <a:spcAft>
                <a:spcPts val="800"/>
              </a:spcAft>
              <a:buFont typeface="Arial"/>
              <a:buChar char="•"/>
            </a:pPr>
            <a:r>
              <a:rPr sz="1600" dirty="0">
                <a:solidFill>
                  <a:schemeClr val="tx1">
                    <a:lumMod val="92000"/>
                    <a:lumOff val="8000"/>
                  </a:schemeClr>
                </a:solidFill>
                <a:latin typeface="Aptos" panose="020B0004020202020204" pitchFamily="34" charset="0"/>
              </a:rPr>
              <a:t>FSD 475's N−1 shortfall (≈19 g/s) is covered by a 5 m³ liquid buffer (≈12 h repair window, Slide 18).</a:t>
            </a:r>
          </a:p>
          <a:p>
            <a:pPr marL="182880" indent="-182880">
              <a:lnSpc>
                <a:spcPct val="145000"/>
              </a:lnSpc>
              <a:spcBef>
                <a:spcPts val="0"/>
              </a:spcBef>
              <a:spcAft>
                <a:spcPts val="800"/>
              </a:spcAft>
              <a:buFont typeface="Arial"/>
              <a:buChar char="•"/>
            </a:pPr>
            <a:r>
              <a:rPr sz="1600" dirty="0">
                <a:solidFill>
                  <a:schemeClr val="tx1">
                    <a:lumMod val="92000"/>
                    <a:lumOff val="8000"/>
                  </a:schemeClr>
                </a:solidFill>
                <a:latin typeface="Aptos" panose="020B0004020202020204" pitchFamily="34" charset="0"/>
              </a:rPr>
              <a:t>HSD Combi N−1 is marginal — usable only as a short-term check mode.</a:t>
            </a:r>
          </a:p>
        </p:txBody>
      </p:sp>
      <p:pic>
        <p:nvPicPr>
          <p:cNvPr id="5" name="Picture 4" descr="s06_total_flow_n1.png"/>
          <p:cNvPicPr>
            <a:picLocks noChangeAspect="1"/>
          </p:cNvPicPr>
          <p:nvPr/>
        </p:nvPicPr>
        <p:blipFill>
          <a:blip r:embed="rId3"/>
          <a:stretch>
            <a:fillRect/>
          </a:stretch>
        </p:blipFill>
        <p:spPr>
          <a:xfrm>
            <a:off x="6400000" y="2573837"/>
            <a:ext cx="5250000" cy="3052325"/>
          </a:xfrm>
          <a:prstGeom prst="rect">
            <a:avLst/>
          </a:prstGeom>
        </p:spPr>
      </p:pic>
      <p:sp>
        <p:nvSpPr>
          <p:cNvPr id="7" name="Slide Number Placeholder 6">
            <a:extLst>
              <a:ext uri="{FF2B5EF4-FFF2-40B4-BE49-F238E27FC236}">
                <a16:creationId xmlns:a16="http://schemas.microsoft.com/office/drawing/2014/main" id="{D6A28128-CDEC-6266-4BDC-8926E1B6A999}"/>
              </a:ext>
            </a:extLst>
          </p:cNvPr>
          <p:cNvSpPr>
            <a:spLocks noGrp="1"/>
          </p:cNvSpPr>
          <p:nvPr>
            <p:ph type="sldNum" sz="quarter" idx="4"/>
          </p:nvPr>
        </p:nvSpPr>
        <p:spPr/>
        <p:txBody>
          <a:bodyPr/>
          <a:lstStyle/>
          <a:p>
            <a:fld id="{A814E660-BF25-4843-B2A0-93C6E2B6253B}" type="slidenum">
              <a:rPr lang="en-BE" smtClean="0">
                <a:latin typeface="Aptos" panose="020B0004020202020204" pitchFamily="34" charset="0"/>
              </a:rPr>
              <a:pPr/>
              <a:t>9</a:t>
            </a:fld>
            <a:endParaRPr lang="en-BE" dirty="0">
              <a:latin typeface="Aptos" panose="020B0004020202020204" pitchFamily="34" charset="0"/>
            </a:endParaRPr>
          </a:p>
        </p:txBody>
      </p:sp>
      <p:sp>
        <p:nvSpPr>
          <p:cNvPr id="8" name="Rounded Rectangle 7"/>
          <p:cNvSpPr/>
          <p:nvPr/>
        </p:nvSpPr>
        <p:spPr>
          <a:xfrm>
            <a:off x="9546535" y="150000"/>
            <a:ext cx="2000000" cy="460000"/>
          </a:xfrm>
          <a:prstGeom prst="roundRect">
            <a:avLst>
              <a:gd name="adj" fmla="val 50000"/>
            </a:avLst>
          </a:prstGeom>
          <a:solidFill>
            <a:srgbClr val="984A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MEASURE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0"/>
          </a:xfrm>
        </p:spPr>
        <p:txBody>
          <a:bodyPr/>
          <a:lstStyle/>
          <a:p>
            <a:r>
              <a:rPr sz="2900">
                <a:latin typeface="Segoe UI" panose="020B0004020202020204" pitchFamily="34" charset="0"/>
              </a:rPr>
              <a:t>Unit Economics — Single HP Compressor</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panose="020B0004020202020204" pitchFamily="34" charset="0"/>
              </a:rPr>
              <a:t>Isothermal Compression Power &amp; Energy Cost (new — not in baseline)</a:t>
            </a:r>
          </a:p>
        </p:txBody>
      </p:sp>
      <p:sp>
        <p:nvSpPr>
          <p:cNvPr id="4" name="Text Placeholder 3"/>
          <p:cNvSpPr>
            <a:spLocks noGrp="1"/>
          </p:cNvSpPr>
          <p:nvPr>
            <p:ph type="body" sz="quarter" idx="15"/>
          </p:nvPr>
        </p:nvSpPr>
        <p:spPr>
          <a:xfrm>
            <a:off x="645465" y="2260000"/>
            <a:ext cx="5350000" cy="4060000"/>
          </a:xfrm>
        </p:spPr>
        <p:txBody>
          <a:bodyPr>
            <a:noAutofit/>
          </a:bodyPr>
          <a:lstStyle/>
          <a:p>
            <a:pPr>
              <a:lnSpc>
                <a:spcPct val="145000"/>
              </a:lnSpc>
              <a:spcBef>
                <a:spcPts val="0"/>
              </a:spcBef>
              <a:spcAft>
                <a:spcPts val="800"/>
              </a:spcAft>
            </a:pPr>
            <a:r>
              <a:rPr sz="1100" b="1" dirty="0">
                <a:solidFill>
                  <a:schemeClr val="accent2"/>
                </a:solidFill>
                <a:latin typeface="Aptos" panose="020B0004020202020204" pitchFamily="34" charset="0"/>
              </a:rPr>
              <a:t>Model</a:t>
            </a:r>
          </a:p>
          <a:p>
            <a:pPr marL="88900" indent="0">
              <a:lnSpc>
                <a:spcPct val="145000"/>
              </a:lnSpc>
              <a:spcBef>
                <a:spcPts val="0"/>
              </a:spcBef>
              <a:spcAft>
                <a:spcPts val="800"/>
              </a:spcAft>
              <a:buNone/>
            </a:pPr>
            <a:r>
              <a:rPr sz="1100" dirty="0">
                <a:solidFill>
                  <a:schemeClr val="tx1">
                    <a:lumMod val="88000"/>
                    <a:lumOff val="12000"/>
                  </a:schemeClr>
                </a:solidFill>
                <a:latin typeface="Aptos" panose="020B0004020202020204" pitchFamily="34" charset="0"/>
              </a:rPr>
              <a:t>Isothermal compression, Ẇ = </a:t>
            </a:r>
            <a:r>
              <a:rPr sz="1100" dirty="0" err="1">
                <a:solidFill>
                  <a:schemeClr val="tx1">
                    <a:lumMod val="88000"/>
                    <a:lumOff val="12000"/>
                  </a:schemeClr>
                </a:solidFill>
                <a:latin typeface="Aptos" panose="020B0004020202020204" pitchFamily="34" charset="0"/>
              </a:rPr>
              <a:t>ṁ·R·T·ln</a:t>
            </a:r>
            <a:r>
              <a:rPr sz="1100" dirty="0">
                <a:solidFill>
                  <a:schemeClr val="tx1">
                    <a:lumMod val="88000"/>
                    <a:lumOff val="12000"/>
                  </a:schemeClr>
                </a:solidFill>
                <a:latin typeface="Aptos" panose="020B0004020202020204" pitchFamily="34" charset="0"/>
              </a:rPr>
              <a:t>(P₂/P₁) — the thermodynamic best case for a water-cooled, intercooled screw compressor.</a:t>
            </a:r>
          </a:p>
          <a:p>
            <a:pPr>
              <a:lnSpc>
                <a:spcPct val="145000"/>
              </a:lnSpc>
              <a:spcBef>
                <a:spcPts val="0"/>
              </a:spcBef>
              <a:spcAft>
                <a:spcPts val="800"/>
              </a:spcAft>
            </a:pPr>
            <a:r>
              <a:rPr sz="1100" b="1" dirty="0">
                <a:solidFill>
                  <a:schemeClr val="accent2"/>
                </a:solidFill>
                <a:latin typeface="Aptos" panose="020B0004020202020204" pitchFamily="34" charset="0"/>
              </a:rPr>
              <a:t>Assumptions (flagged)</a:t>
            </a:r>
          </a:p>
          <a:p>
            <a:pPr marL="88900" indent="0">
              <a:lnSpc>
                <a:spcPct val="145000"/>
              </a:lnSpc>
              <a:spcBef>
                <a:spcPts val="0"/>
              </a:spcBef>
              <a:spcAft>
                <a:spcPts val="800"/>
              </a:spcAft>
              <a:buNone/>
            </a:pPr>
            <a:r>
              <a:rPr sz="1100" dirty="0">
                <a:solidFill>
                  <a:schemeClr val="tx1">
                    <a:lumMod val="88000"/>
                    <a:lumOff val="12000"/>
                  </a:schemeClr>
                </a:solidFill>
                <a:latin typeface="Aptos" panose="020B0004020202020204" pitchFamily="34" charset="0"/>
              </a:rPr>
              <a:t>T=300 K inlet · P₂=14 bar(a) (Slide 6) · P₁≈1.1 bar(a) LP suction (assumed, not in RTMs) · </a:t>
            </a:r>
            <a:r>
              <a:rPr sz="1100" dirty="0" err="1">
                <a:solidFill>
                  <a:schemeClr val="tx1">
                    <a:lumMod val="88000"/>
                    <a:lumOff val="12000"/>
                  </a:schemeClr>
                </a:solidFill>
                <a:latin typeface="Aptos" panose="020B0004020202020204" pitchFamily="34" charset="0"/>
              </a:rPr>
              <a:t>η_isothermal</a:t>
            </a:r>
            <a:r>
              <a:rPr sz="1100" dirty="0">
                <a:solidFill>
                  <a:schemeClr val="tx1">
                    <a:lumMod val="88000"/>
                    <a:lumOff val="12000"/>
                  </a:schemeClr>
                </a:solidFill>
                <a:latin typeface="Aptos" panose="020B0004020202020204" pitchFamily="34" charset="0"/>
              </a:rPr>
              <a:t>=50% · helium, R=2077 J/(</a:t>
            </a:r>
            <a:r>
              <a:rPr sz="1100" dirty="0" err="1">
                <a:solidFill>
                  <a:schemeClr val="tx1">
                    <a:lumMod val="88000"/>
                    <a:lumOff val="12000"/>
                  </a:schemeClr>
                </a:solidFill>
                <a:latin typeface="Aptos" panose="020B0004020202020204" pitchFamily="34" charset="0"/>
              </a:rPr>
              <a:t>kg·K</a:t>
            </a:r>
            <a:r>
              <a:rPr sz="1100" dirty="0">
                <a:solidFill>
                  <a:schemeClr val="tx1">
                    <a:lumMod val="88000"/>
                    <a:lumOff val="12000"/>
                  </a:schemeClr>
                </a:solidFill>
                <a:latin typeface="Aptos" panose="020B0004020202020204" pitchFamily="34" charset="0"/>
              </a:rPr>
              <a:t>)</a:t>
            </a:r>
          </a:p>
          <a:p>
            <a:pPr>
              <a:lnSpc>
                <a:spcPct val="145000"/>
              </a:lnSpc>
              <a:spcBef>
                <a:spcPts val="0"/>
              </a:spcBef>
              <a:spcAft>
                <a:spcPts val="800"/>
              </a:spcAft>
            </a:pPr>
            <a:r>
              <a:rPr sz="1100" b="1" dirty="0">
                <a:solidFill>
                  <a:schemeClr val="accent2"/>
                </a:solidFill>
                <a:latin typeface="Aptos" panose="020B0004020202020204" pitchFamily="34" charset="0"/>
              </a:rPr>
              <a:t>Flow point used</a:t>
            </a:r>
          </a:p>
          <a:p>
            <a:pPr marL="88900" indent="0">
              <a:lnSpc>
                <a:spcPct val="145000"/>
              </a:lnSpc>
              <a:spcBef>
                <a:spcPts val="0"/>
              </a:spcBef>
              <a:spcAft>
                <a:spcPts val="800"/>
              </a:spcAft>
              <a:buNone/>
            </a:pPr>
            <a:r>
              <a:rPr sz="1100" dirty="0">
                <a:solidFill>
                  <a:schemeClr val="tx1">
                    <a:lumMod val="88000"/>
                    <a:lumOff val="12000"/>
                  </a:schemeClr>
                </a:solidFill>
                <a:latin typeface="Aptos" panose="020B0004020202020204" pitchFamily="34" charset="0"/>
              </a:rPr>
              <a:t>112.5 g/s = FSD 575 @ 72 Hz (Slide 8) — same per-unit number as the N−1 and Hz-requirement charts.</a:t>
            </a:r>
          </a:p>
          <a:p>
            <a:pPr>
              <a:lnSpc>
                <a:spcPct val="145000"/>
              </a:lnSpc>
              <a:spcBef>
                <a:spcPts val="0"/>
              </a:spcBef>
              <a:spcAft>
                <a:spcPts val="800"/>
              </a:spcAft>
            </a:pPr>
            <a:r>
              <a:rPr sz="1100" b="1" dirty="0">
                <a:solidFill>
                  <a:schemeClr val="accent2"/>
                </a:solidFill>
                <a:latin typeface="Aptos" panose="020B0004020202020204" pitchFamily="34" charset="0"/>
              </a:rPr>
              <a:t>VFD &amp; cooling note</a:t>
            </a:r>
          </a:p>
          <a:p>
            <a:pPr marL="88900" indent="0">
              <a:lnSpc>
                <a:spcPct val="145000"/>
              </a:lnSpc>
              <a:spcBef>
                <a:spcPts val="0"/>
              </a:spcBef>
              <a:spcAft>
                <a:spcPts val="800"/>
              </a:spcAft>
              <a:buNone/>
            </a:pPr>
            <a:r>
              <a:rPr sz="1100" dirty="0">
                <a:solidFill>
                  <a:schemeClr val="tx1">
                    <a:lumMod val="88000"/>
                    <a:lumOff val="12000"/>
                  </a:schemeClr>
                </a:solidFill>
                <a:latin typeface="Aptos" panose="020B0004020202020204" pitchFamily="34" charset="0"/>
              </a:rPr>
              <a:t>Water-cooling keeps compression near-isothermal; VFD scales power ~linearly with flow, not cubically.</a:t>
            </a:r>
          </a:p>
        </p:txBody>
      </p:sp>
      <p:sp>
        <p:nvSpPr>
          <p:cNvPr id="5" name="Rounded Rectangle 4"/>
          <p:cNvSpPr/>
          <p:nvPr/>
        </p:nvSpPr>
        <p:spPr>
          <a:xfrm>
            <a:off x="645465" y="5950000"/>
            <a:ext cx="11000000" cy="470000"/>
          </a:xfrm>
          <a:prstGeom prst="roundRect">
            <a:avLst>
              <a:gd name="adj" fmla="val 6000"/>
            </a:avLst>
          </a:prstGeom>
          <a:solidFill>
            <a:schemeClr val="accent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00" b="1" dirty="0">
                <a:solidFill>
                  <a:schemeClr val="accent2"/>
                </a:solidFill>
                <a:latin typeface="Aptos" panose="020B0004020202020204" pitchFamily="34" charset="0"/>
              </a:rPr>
              <a:t>KEY TAKEAWAY  </a:t>
            </a:r>
            <a:r>
              <a:rPr sz="1100" b="0" dirty="0">
                <a:solidFill>
                  <a:schemeClr val="accent2"/>
                </a:solidFill>
                <a:latin typeface="Aptos" panose="020B0004020202020204" pitchFamily="34" charset="0"/>
              </a:rPr>
              <a:t>The 50%-isothermal model, with a plausible 1.1 bar suction assumption, reproduces the deck's own 350 kW nameplate rating to within 2% — a useful sanity check on both numbers.</a:t>
            </a:r>
          </a:p>
        </p:txBody>
      </p:sp>
      <p:pic>
        <p:nvPicPr>
          <p:cNvPr id="6" name="Picture 5" descr="s_unit_economics.png"/>
          <p:cNvPicPr>
            <a:picLocks noChangeAspect="1"/>
          </p:cNvPicPr>
          <p:nvPr/>
        </p:nvPicPr>
        <p:blipFill>
          <a:blip r:embed="rId3"/>
          <a:stretch>
            <a:fillRect/>
          </a:stretch>
        </p:blipFill>
        <p:spPr>
          <a:xfrm>
            <a:off x="6250000" y="2450000"/>
            <a:ext cx="5400000" cy="2700000"/>
          </a:xfrm>
          <a:prstGeom prst="rect">
            <a:avLst/>
          </a:prstGeom>
        </p:spPr>
      </p:pic>
      <p:sp>
        <p:nvSpPr>
          <p:cNvPr id="8" name="Slide Number Placeholder 7">
            <a:extLst>
              <a:ext uri="{FF2B5EF4-FFF2-40B4-BE49-F238E27FC236}">
                <a16:creationId xmlns:a16="http://schemas.microsoft.com/office/drawing/2014/main" id="{C42AF7CB-A169-999C-D7AF-610AFA2D324D}"/>
              </a:ext>
            </a:extLst>
          </p:cNvPr>
          <p:cNvSpPr>
            <a:spLocks noGrp="1"/>
          </p:cNvSpPr>
          <p:nvPr>
            <p:ph type="sldNum" sz="quarter" idx="4"/>
          </p:nvPr>
        </p:nvSpPr>
        <p:spPr/>
        <p:txBody>
          <a:bodyPr/>
          <a:lstStyle/>
          <a:p>
            <a:fld id="{A814E660-BF25-4843-B2A0-93C6E2B6253B}" type="slidenum">
              <a:rPr lang="en-BE" smtClean="0">
                <a:latin typeface="Aptos" panose="020B0004020202020204" pitchFamily="34" charset="0"/>
              </a:rPr>
              <a:pPr/>
              <a:t>10</a:t>
            </a:fld>
            <a:endParaRPr lang="en-BE" dirty="0">
              <a:latin typeface="Aptos" panose="020B0004020202020204" pitchFamily="34" charset="0"/>
            </a:endParaRPr>
          </a:p>
        </p:txBody>
      </p:sp>
      <p:sp>
        <p:nvSpPr>
          <p:cNvPr id="9" name="Rounded Rectangle 8"/>
          <p:cNvSpPr/>
          <p:nvPr/>
        </p:nvSpPr>
        <p:spPr>
          <a:xfrm>
            <a:off x="9546535" y="150000"/>
            <a:ext cx="2000000" cy="460000"/>
          </a:xfrm>
          <a:prstGeom prst="roundRect">
            <a:avLst>
              <a:gd name="adj" fmla="val 50000"/>
            </a:avLst>
          </a:prstGeom>
          <a:solidFill>
            <a:srgbClr val="984A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MEASURE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525078"/>
          </a:xfrm>
        </p:spPr>
        <p:txBody>
          <a:bodyPr/>
          <a:lstStyle/>
          <a:p>
            <a:r>
              <a:rPr dirty="0">
                <a:latin typeface="Segoe UI"/>
              </a:rPr>
              <a:t>3-Only Envelope (Service / MTTR)</a:t>
            </a:r>
          </a:p>
        </p:txBody>
      </p:sp>
      <p:sp>
        <p:nvSpPr>
          <p:cNvPr id="3" name="Text Placeholder 2"/>
          <p:cNvSpPr>
            <a:spLocks noGrp="1"/>
          </p:cNvSpPr>
          <p:nvPr>
            <p:ph type="body" sz="quarter" idx="14"/>
          </p:nvPr>
        </p:nvSpPr>
        <p:spPr>
          <a:xfrm>
            <a:off x="457200" y="1105967"/>
            <a:ext cx="10691229" cy="725105"/>
          </a:xfrm>
        </p:spPr>
        <p:txBody>
          <a:bodyPr/>
          <a:lstStyle/>
          <a:p>
            <a:r>
              <a:rPr dirty="0">
                <a:latin typeface="Aptos"/>
              </a:rPr>
              <a:t>Flow vs Frequency, 3 Compressors Only</a:t>
            </a:r>
          </a:p>
        </p:txBody>
      </p:sp>
      <p:sp>
        <p:nvSpPr>
          <p:cNvPr id="4" name="Text Placeholder 3"/>
          <p:cNvSpPr>
            <a:spLocks noGrp="1"/>
          </p:cNvSpPr>
          <p:nvPr>
            <p:ph type="body" sz="quarter" idx="15"/>
          </p:nvPr>
        </p:nvSpPr>
        <p:spPr>
          <a:xfrm>
            <a:off x="645465" y="2000000"/>
            <a:ext cx="5350000" cy="4350000"/>
          </a:xfrm>
        </p:spPr>
        <p:txBody>
          <a:bodyPr>
            <a:normAutofit/>
          </a:bodyPr>
          <a:lstStyle/>
          <a:p>
            <a:pPr marL="182880" indent="-182880">
              <a:lnSpc>
                <a:spcPct val="145000"/>
              </a:lnSpc>
              <a:spcBef>
                <a:spcPts val="0"/>
              </a:spcBef>
              <a:spcAft>
                <a:spcPts val="800"/>
              </a:spcAft>
              <a:buFont typeface="Arial"/>
              <a:buChar char="•"/>
            </a:pPr>
            <a:r>
              <a:rPr sz="1400" dirty="0">
                <a:solidFill>
                  <a:schemeClr val="tx1">
                    <a:lumMod val="92000"/>
                    <a:lumOff val="8000"/>
                  </a:schemeClr>
                </a:solidFill>
                <a:latin typeface="Aptos"/>
              </a:rPr>
              <a:t>Same N−1 question as Slide 9, reframed as the live 3-compressor operating envelope.</a:t>
            </a:r>
          </a:p>
          <a:p>
            <a:pPr marL="182880" indent="-182880">
              <a:lnSpc>
                <a:spcPct val="145000"/>
              </a:lnSpc>
              <a:spcBef>
                <a:spcPts val="0"/>
              </a:spcBef>
              <a:spcAft>
                <a:spcPts val="800"/>
              </a:spcAft>
              <a:buFont typeface="Arial"/>
              <a:buChar char="•"/>
            </a:pPr>
            <a:r>
              <a:rPr sz="1400" dirty="0">
                <a:solidFill>
                  <a:schemeClr val="tx1">
                    <a:lumMod val="92000"/>
                    <a:lumOff val="8000"/>
                  </a:schemeClr>
                </a:solidFill>
                <a:latin typeface="Aptos"/>
              </a:rPr>
              <a:t>FSD 575 clears 307 g/s at 72 Hz; FSD 475 does not.</a:t>
            </a:r>
          </a:p>
          <a:p>
            <a:pPr marL="182880" indent="-182880">
              <a:lnSpc>
                <a:spcPct val="145000"/>
              </a:lnSpc>
              <a:spcBef>
                <a:spcPts val="0"/>
              </a:spcBef>
              <a:spcAft>
                <a:spcPts val="800"/>
              </a:spcAft>
              <a:buFont typeface="Arial"/>
              <a:buChar char="•"/>
            </a:pPr>
            <a:r>
              <a:rPr sz="1400" dirty="0">
                <a:solidFill>
                  <a:schemeClr val="tx1">
                    <a:lumMod val="92000"/>
                    <a:lumOff val="8000"/>
                  </a:schemeClr>
                </a:solidFill>
                <a:latin typeface="Aptos"/>
              </a:rPr>
              <a:t>At ≤ 65 Hz, 3-unit flow is marginal for both types but may meet target with buffer support.</a:t>
            </a:r>
          </a:p>
          <a:p>
            <a:pPr marL="182880" indent="-182880">
              <a:lnSpc>
                <a:spcPct val="145000"/>
              </a:lnSpc>
              <a:spcBef>
                <a:spcPts val="0"/>
              </a:spcBef>
              <a:spcAft>
                <a:spcPts val="800"/>
              </a:spcAft>
              <a:buFont typeface="Arial"/>
              <a:buChar char="•"/>
            </a:pPr>
            <a:r>
              <a:rPr sz="1400" dirty="0">
                <a:solidFill>
                  <a:schemeClr val="tx1">
                    <a:lumMod val="92000"/>
                    <a:lumOff val="8000"/>
                  </a:schemeClr>
                </a:solidFill>
                <a:latin typeface="Aptos"/>
              </a:rPr>
              <a:t>Descent-rate check: 3-of-4 flow ≈ 0.4 m³/h → a 5 m³ buffer gives ≈ 12 h repair window (Slide 18).</a:t>
            </a:r>
          </a:p>
          <a:p>
            <a:pPr marL="88900" indent="0">
              <a:lnSpc>
                <a:spcPct val="145000"/>
              </a:lnSpc>
              <a:spcBef>
                <a:spcPts val="0"/>
              </a:spcBef>
              <a:spcAft>
                <a:spcPts val="800"/>
              </a:spcAft>
              <a:buNone/>
            </a:pPr>
            <a:r>
              <a:rPr sz="1100" i="1" dirty="0">
                <a:solidFill>
                  <a:schemeClr val="accent2"/>
                </a:solidFill>
                <a:latin typeface="Aptos"/>
              </a:rPr>
              <a:t>Applicant shall simulate 2/3 and 3/4 flow cases (F</a:t>
            </a:r>
            <a:r>
              <a:rPr lang="en-US" sz="1100" i="1" dirty="0">
                <a:solidFill>
                  <a:schemeClr val="accent2"/>
                </a:solidFill>
                <a:latin typeface="Aptos"/>
              </a:rPr>
              <a:t>RM</a:t>
            </a:r>
            <a:r>
              <a:rPr sz="1100" i="1" dirty="0">
                <a:solidFill>
                  <a:schemeClr val="accent2"/>
                </a:solidFill>
                <a:latin typeface="Aptos"/>
              </a:rPr>
              <a:t>/DBE loop analysis) and report restart capability.</a:t>
            </a:r>
          </a:p>
        </p:txBody>
      </p:sp>
      <p:pic>
        <p:nvPicPr>
          <p:cNvPr id="5" name="Picture 4" descr="s07_three_only_envelope.png"/>
          <p:cNvPicPr>
            <a:picLocks noChangeAspect="1"/>
          </p:cNvPicPr>
          <p:nvPr/>
        </p:nvPicPr>
        <p:blipFill>
          <a:blip r:embed="rId3"/>
          <a:stretch>
            <a:fillRect/>
          </a:stretch>
        </p:blipFill>
        <p:spPr>
          <a:xfrm>
            <a:off x="6400000" y="2373026"/>
            <a:ext cx="5250000" cy="3453947"/>
          </a:xfrm>
          <a:prstGeom prst="rect">
            <a:avLst/>
          </a:prstGeom>
        </p:spPr>
      </p:pic>
      <p:sp>
        <p:nvSpPr>
          <p:cNvPr id="7" name="Slide Number Placeholder 6">
            <a:extLst>
              <a:ext uri="{FF2B5EF4-FFF2-40B4-BE49-F238E27FC236}">
                <a16:creationId xmlns:a16="http://schemas.microsoft.com/office/drawing/2014/main" id="{B3E4493E-3A23-3CF8-6B60-57A403E20C1E}"/>
              </a:ext>
            </a:extLst>
          </p:cNvPr>
          <p:cNvSpPr>
            <a:spLocks noGrp="1"/>
          </p:cNvSpPr>
          <p:nvPr>
            <p:ph type="sldNum" sz="quarter" idx="4"/>
          </p:nvPr>
        </p:nvSpPr>
        <p:spPr/>
        <p:txBody>
          <a:bodyPr/>
          <a:lstStyle/>
          <a:p>
            <a:fld id="{A814E660-BF25-4843-B2A0-93C6E2B6253B}" type="slidenum">
              <a:rPr lang="en-BE" smtClean="0"/>
              <a:pPr/>
              <a:t>11</a:t>
            </a:fld>
            <a:endParaRPr lang="en-BE" dirty="0"/>
          </a:p>
        </p:txBody>
      </p:sp>
      <p:sp>
        <p:nvSpPr>
          <p:cNvPr id="8" name="Rounded Rectangle 7"/>
          <p:cNvSpPr/>
          <p:nvPr/>
        </p:nvSpPr>
        <p:spPr>
          <a:xfrm>
            <a:off x="9546535" y="150000"/>
            <a:ext cx="2000000" cy="460000"/>
          </a:xfrm>
          <a:prstGeom prst="roundRect">
            <a:avLst>
              <a:gd name="adj" fmla="val 50000"/>
            </a:avLst>
          </a:prstGeom>
          <a:solidFill>
            <a:srgbClr val="984A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MEASURE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525078"/>
          </a:xfrm>
        </p:spPr>
        <p:txBody>
          <a:bodyPr/>
          <a:lstStyle/>
          <a:p>
            <a:r>
              <a:rPr sz="3200" dirty="0">
                <a:latin typeface="Segoe UI" panose="020B0004020202020204" pitchFamily="34" charset="0"/>
              </a:rPr>
              <a:t>Acceptance &amp; Test System</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panose="020B0004020202020204" pitchFamily="34" charset="0"/>
              </a:rPr>
              <a:t>Test Objectives and Criteria</a:t>
            </a:r>
          </a:p>
        </p:txBody>
      </p:sp>
      <p:sp>
        <p:nvSpPr>
          <p:cNvPr id="4" name="Text Placeholder 3"/>
          <p:cNvSpPr>
            <a:spLocks noGrp="1"/>
          </p:cNvSpPr>
          <p:nvPr>
            <p:ph type="body" sz="quarter" idx="15"/>
          </p:nvPr>
        </p:nvSpPr>
        <p:spPr>
          <a:xfrm>
            <a:off x="645465" y="2000000"/>
            <a:ext cx="4600000" cy="4300000"/>
          </a:xfrm>
        </p:spPr>
        <p:txBody>
          <a:bodyPr>
            <a:noAutofit/>
          </a:bodyPr>
          <a:lstStyle/>
          <a:p>
            <a:pPr>
              <a:lnSpc>
                <a:spcPct val="145000"/>
              </a:lnSpc>
              <a:spcBef>
                <a:spcPts val="0"/>
              </a:spcBef>
              <a:spcAft>
                <a:spcPts val="800"/>
              </a:spcAft>
            </a:pPr>
            <a:r>
              <a:rPr sz="1600" dirty="0">
                <a:solidFill>
                  <a:schemeClr val="tx1">
                    <a:lumMod val="90000"/>
                    <a:lumOff val="10000"/>
                  </a:schemeClr>
                </a:solidFill>
                <a:latin typeface="Aptos" panose="020B0004020202020204" pitchFamily="34" charset="0"/>
              </a:rPr>
              <a:t>Four gated checks, run in sequence, before the plant is accepted for 24×2 K operation (SB and OP variants). Each step must pass before the next is credited.</a:t>
            </a:r>
          </a:p>
        </p:txBody>
      </p:sp>
      <p:sp>
        <p:nvSpPr>
          <p:cNvPr id="5" name="Oval 4"/>
          <p:cNvSpPr/>
          <p:nvPr/>
        </p:nvSpPr>
        <p:spPr>
          <a:xfrm>
            <a:off x="6250000" y="1950000"/>
            <a:ext cx="340000" cy="34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latin typeface="Aptos" panose="020B0004020202020204" pitchFamily="34" charset="0"/>
              </a:rPr>
              <a:t>1</a:t>
            </a:r>
          </a:p>
        </p:txBody>
      </p:sp>
      <p:sp>
        <p:nvSpPr>
          <p:cNvPr id="6" name="TextBox 5"/>
          <p:cNvSpPr txBox="1"/>
          <p:nvPr/>
        </p:nvSpPr>
        <p:spPr>
          <a:xfrm>
            <a:off x="6680000" y="1920000"/>
            <a:ext cx="4920000" cy="644525"/>
          </a:xfrm>
          <a:prstGeom prst="rect">
            <a:avLst/>
          </a:prstGeom>
          <a:noFill/>
        </p:spPr>
        <p:txBody>
          <a:bodyPr wrap="square">
            <a:spAutoFit/>
          </a:bodyPr>
          <a:lstStyle/>
          <a:p>
            <a:pPr>
              <a:lnSpc>
                <a:spcPct val="145000"/>
              </a:lnSpc>
              <a:spcBef>
                <a:spcPts val="0"/>
              </a:spcBef>
              <a:spcAft>
                <a:spcPts val="800"/>
              </a:spcAft>
            </a:pPr>
            <a:r>
              <a:rPr sz="950" b="1">
                <a:solidFill>
                  <a:schemeClr val="accent1"/>
                </a:solidFill>
                <a:latin typeface="Aptos" panose="020B0004020202020204" pitchFamily="34" charset="0"/>
              </a:rPr>
              <a:t>72 Hz stress (per unit)</a:t>
            </a:r>
          </a:p>
          <a:p>
            <a:pPr>
              <a:lnSpc>
                <a:spcPct val="145000"/>
              </a:lnSpc>
              <a:spcBef>
                <a:spcPts val="0"/>
              </a:spcBef>
              <a:spcAft>
                <a:spcPts val="800"/>
              </a:spcAft>
            </a:pPr>
            <a:r>
              <a:rPr sz="950">
                <a:solidFill>
                  <a:schemeClr val="tx1">
                    <a:lumMod val="85000"/>
                    <a:lumOff val="15000"/>
                  </a:schemeClr>
                </a:solidFill>
                <a:latin typeface="Aptos" panose="020B0004020202020204" pitchFamily="34" charset="0"/>
              </a:rPr>
              <a:t>≥ 2 h continuous, no derate. Vibration / oil-temp / ΔT logged.</a:t>
            </a:r>
          </a:p>
        </p:txBody>
      </p:sp>
      <p:sp>
        <p:nvSpPr>
          <p:cNvPr id="7" name="Oval 6"/>
          <p:cNvSpPr/>
          <p:nvPr/>
        </p:nvSpPr>
        <p:spPr>
          <a:xfrm>
            <a:off x="6250000" y="2990000"/>
            <a:ext cx="340000" cy="34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latin typeface="Aptos" panose="020B0004020202020204" pitchFamily="34" charset="0"/>
              </a:rPr>
              <a:t>2</a:t>
            </a:r>
          </a:p>
        </p:txBody>
      </p:sp>
      <p:sp>
        <p:nvSpPr>
          <p:cNvPr id="8" name="TextBox 7"/>
          <p:cNvSpPr txBox="1"/>
          <p:nvPr/>
        </p:nvSpPr>
        <p:spPr>
          <a:xfrm>
            <a:off x="6680000" y="2960000"/>
            <a:ext cx="4920000" cy="819467"/>
          </a:xfrm>
          <a:prstGeom prst="rect">
            <a:avLst/>
          </a:prstGeom>
          <a:noFill/>
        </p:spPr>
        <p:txBody>
          <a:bodyPr wrap="square">
            <a:spAutoFit/>
          </a:bodyPr>
          <a:lstStyle/>
          <a:p>
            <a:pPr>
              <a:lnSpc>
                <a:spcPct val="145000"/>
              </a:lnSpc>
              <a:spcBef>
                <a:spcPts val="0"/>
              </a:spcBef>
              <a:spcAft>
                <a:spcPts val="800"/>
              </a:spcAft>
            </a:pPr>
            <a:r>
              <a:rPr sz="950" b="1">
                <a:solidFill>
                  <a:schemeClr val="accent1"/>
                </a:solidFill>
                <a:latin typeface="Aptos" panose="020B0004020202020204" pitchFamily="34" charset="0"/>
              </a:rPr>
              <a:t>3-only envelope check</a:t>
            </a:r>
          </a:p>
          <a:p>
            <a:pPr>
              <a:lnSpc>
                <a:spcPct val="145000"/>
              </a:lnSpc>
              <a:spcBef>
                <a:spcPts val="0"/>
              </a:spcBef>
              <a:spcAft>
                <a:spcPts val="800"/>
              </a:spcAft>
            </a:pPr>
            <a:r>
              <a:rPr sz="950">
                <a:solidFill>
                  <a:schemeClr val="tx1">
                    <a:lumMod val="85000"/>
                    <a:lumOff val="15000"/>
                  </a:schemeClr>
                </a:solidFill>
                <a:latin typeface="Aptos" panose="020B0004020202020204" pitchFamily="34" charset="0"/>
              </a:rPr>
              <a:t>MTTR 8 h coverage; maintain 24 QM w/ FFT; flow + pressure trend recorded.</a:t>
            </a:r>
          </a:p>
        </p:txBody>
      </p:sp>
      <p:sp>
        <p:nvSpPr>
          <p:cNvPr id="9" name="Oval 8"/>
          <p:cNvSpPr/>
          <p:nvPr/>
        </p:nvSpPr>
        <p:spPr>
          <a:xfrm>
            <a:off x="6250000" y="4030000"/>
            <a:ext cx="340000" cy="34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latin typeface="Aptos" panose="020B0004020202020204" pitchFamily="34" charset="0"/>
              </a:rPr>
              <a:t>3</a:t>
            </a:r>
          </a:p>
        </p:txBody>
      </p:sp>
      <p:sp>
        <p:nvSpPr>
          <p:cNvPr id="10" name="TextBox 9"/>
          <p:cNvSpPr txBox="1"/>
          <p:nvPr/>
        </p:nvSpPr>
        <p:spPr>
          <a:xfrm>
            <a:off x="6680000" y="4000000"/>
            <a:ext cx="4920000" cy="819467"/>
          </a:xfrm>
          <a:prstGeom prst="rect">
            <a:avLst/>
          </a:prstGeom>
          <a:noFill/>
        </p:spPr>
        <p:txBody>
          <a:bodyPr wrap="square">
            <a:spAutoFit/>
          </a:bodyPr>
          <a:lstStyle/>
          <a:p>
            <a:pPr>
              <a:lnSpc>
                <a:spcPct val="145000"/>
              </a:lnSpc>
              <a:spcBef>
                <a:spcPts val="0"/>
              </a:spcBef>
              <a:spcAft>
                <a:spcPts val="800"/>
              </a:spcAft>
            </a:pPr>
            <a:r>
              <a:rPr sz="950" b="1" dirty="0">
                <a:solidFill>
                  <a:schemeClr val="accent1"/>
                </a:solidFill>
                <a:latin typeface="Aptos" panose="020B0004020202020204" pitchFamily="34" charset="0"/>
              </a:rPr>
              <a:t>CIS / MCS exchange</a:t>
            </a:r>
          </a:p>
          <a:p>
            <a:pPr>
              <a:lnSpc>
                <a:spcPct val="145000"/>
              </a:lnSpc>
              <a:spcBef>
                <a:spcPts val="0"/>
              </a:spcBef>
              <a:spcAft>
                <a:spcPts val="800"/>
              </a:spcAft>
            </a:pPr>
            <a:r>
              <a:rPr sz="950" dirty="0">
                <a:solidFill>
                  <a:schemeClr val="tx1">
                    <a:lumMod val="85000"/>
                    <a:lumOff val="15000"/>
                  </a:schemeClr>
                </a:solidFill>
                <a:latin typeface="Aptos" panose="020B0004020202020204" pitchFamily="34" charset="0"/>
              </a:rPr>
              <a:t>Autonomy &amp; data sync; </a:t>
            </a:r>
            <a:r>
              <a:rPr lang="en-US" sz="950" dirty="0">
                <a:solidFill>
                  <a:schemeClr val="tx1">
                    <a:lumMod val="85000"/>
                    <a:lumOff val="15000"/>
                  </a:schemeClr>
                </a:solidFill>
                <a:latin typeface="Aptos" panose="020B0004020202020204" pitchFamily="34" charset="0"/>
              </a:rPr>
              <a:t/>
            </a:r>
            <a:r>
              <a:rPr sz="1080" i="1" dirty="0">
                <a:solidFill>
                  <a:schemeClr val="accent2"/>
                </a:solidFill>
                <a:latin typeface="Aptos" panose="020B0004020202020204" pitchFamily="34" charset="0"/>
              </a:rPr>
              <a:t>RTM-330/331/332 pass</a:t>
            </a:r>
            <a:r>
              <a:rPr lang="en-US" sz="1080" i="1" dirty="0">
                <a:solidFill>
                  <a:schemeClr val="accent2"/>
                </a:solidFill>
                <a:latin typeface="Aptos" panose="020B0004020202020204" pitchFamily="34" charset="0"/>
              </a:rPr>
              <a:t/>
            </a:r>
            <a:r>
              <a:rPr sz="950" dirty="0">
                <a:solidFill>
                  <a:schemeClr val="tx1">
                    <a:lumMod val="85000"/>
                    <a:lumOff val="15000"/>
                  </a:schemeClr>
                </a:solidFill>
                <a:latin typeface="Aptos" panose="020B0004020202020204" pitchFamily="34" charset="0"/>
              </a:rPr>
              <a:t>; event logs + MTBF fields verified.</a:t>
            </a:r>
          </a:p>
        </p:txBody>
      </p:sp>
      <p:sp>
        <p:nvSpPr>
          <p:cNvPr id="11" name="Oval 10"/>
          <p:cNvSpPr/>
          <p:nvPr/>
        </p:nvSpPr>
        <p:spPr>
          <a:xfrm>
            <a:off x="6250000" y="5070000"/>
            <a:ext cx="340000" cy="34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latin typeface="Aptos" panose="020B0004020202020204" pitchFamily="34" charset="0"/>
              </a:rPr>
              <a:t>4</a:t>
            </a:r>
          </a:p>
        </p:txBody>
      </p:sp>
      <p:sp>
        <p:nvSpPr>
          <p:cNvPr id="12" name="TextBox 11"/>
          <p:cNvSpPr txBox="1"/>
          <p:nvPr/>
        </p:nvSpPr>
        <p:spPr>
          <a:xfrm>
            <a:off x="6680000" y="5040000"/>
            <a:ext cx="4920000" cy="644525"/>
          </a:xfrm>
          <a:prstGeom prst="rect">
            <a:avLst/>
          </a:prstGeom>
          <a:noFill/>
        </p:spPr>
        <p:txBody>
          <a:bodyPr wrap="square">
            <a:spAutoFit/>
          </a:bodyPr>
          <a:lstStyle/>
          <a:p>
            <a:pPr>
              <a:lnSpc>
                <a:spcPct val="145000"/>
              </a:lnSpc>
              <a:spcBef>
                <a:spcPts val="0"/>
              </a:spcBef>
              <a:spcAft>
                <a:spcPts val="800"/>
              </a:spcAft>
            </a:pPr>
            <a:r>
              <a:rPr sz="950" b="1">
                <a:solidFill>
                  <a:schemeClr val="accent1"/>
                </a:solidFill>
                <a:latin typeface="Aptos" panose="020B0004020202020204" pitchFamily="34" charset="0"/>
              </a:rPr>
              <a:t>Recovery</a:t>
            </a:r>
          </a:p>
          <a:p>
            <a:pPr>
              <a:lnSpc>
                <a:spcPct val="145000"/>
              </a:lnSpc>
              <a:spcBef>
                <a:spcPts val="0"/>
              </a:spcBef>
              <a:spcAft>
                <a:spcPts val="800"/>
              </a:spcAft>
            </a:pPr>
            <a:r>
              <a:rPr sz="950">
                <a:solidFill>
                  <a:schemeClr val="tx1">
                    <a:lumMod val="85000"/>
                    <a:lumOff val="15000"/>
                  </a:schemeClr>
                </a:solidFill>
                <a:latin typeface="Aptos" panose="020B0004020202020204" pitchFamily="34" charset="0"/>
              </a:rPr>
              <a:t>Back to ≤ 60 Hz within ≤ 15 min post-upset; control loop verified.</a:t>
            </a:r>
          </a:p>
        </p:txBody>
      </p:sp>
      <p:sp>
        <p:nvSpPr>
          <p:cNvPr id="14" name="Slide Number Placeholder 13">
            <a:extLst>
              <a:ext uri="{FF2B5EF4-FFF2-40B4-BE49-F238E27FC236}">
                <a16:creationId xmlns:a16="http://schemas.microsoft.com/office/drawing/2014/main" id="{EEDA052B-6173-6497-01E4-3FF96F70FCF2}"/>
              </a:ext>
            </a:extLst>
          </p:cNvPr>
          <p:cNvSpPr>
            <a:spLocks noGrp="1"/>
          </p:cNvSpPr>
          <p:nvPr>
            <p:ph type="sldNum" sz="quarter" idx="4"/>
          </p:nvPr>
        </p:nvSpPr>
        <p:spPr/>
        <p:txBody>
          <a:bodyPr/>
          <a:lstStyle/>
          <a:p>
            <a:fld id="{A814E660-BF25-4843-B2A0-93C6E2B6253B}" type="slidenum">
              <a:rPr lang="en-BE" smtClean="0">
                <a:latin typeface="Aptos" panose="020B0004020202020204" pitchFamily="34" charset="0"/>
              </a:rPr>
              <a:pPr/>
              <a:t>12</a:t>
            </a:fld>
            <a:endParaRPr lang="en-BE" dirty="0">
              <a:latin typeface="Aptos" panose="020B0004020202020204" pitchFamily="34" charset="0"/>
            </a:endParaRPr>
          </a:p>
        </p:txBody>
      </p:sp>
      <p:sp>
        <p:nvSpPr>
          <p:cNvPr id="15" name="Rounded Rectangle 14"/>
          <p:cNvSpPr/>
          <p:nvPr/>
        </p:nvSpPr>
        <p:spPr>
          <a:xfrm>
            <a:off x="9546535" y="150000"/>
            <a:ext cx="2000000" cy="460000"/>
          </a:xfrm>
          <a:prstGeom prst="roundRect">
            <a:avLst>
              <a:gd name="adj" fmla="val 50000"/>
            </a:avLst>
          </a:prstGeom>
          <a:solidFill>
            <a:srgbClr val="984A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MEASURE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0"/>
          </a:xfrm>
        </p:spPr>
        <p:txBody>
          <a:bodyPr/>
          <a:lstStyle/>
          <a:p>
            <a:r>
              <a:rPr>
                <a:latin typeface="Segoe UI"/>
              </a:rPr>
              <a:t>Reliability Targets and RAMI</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a:rPr>
              <a:t>MTBF Expectations and Maintenance Policy</a:t>
            </a:r>
          </a:p>
        </p:txBody>
      </p:sp>
      <p:sp>
        <p:nvSpPr>
          <p:cNvPr id="4" name="Text Placeholder 3"/>
          <p:cNvSpPr>
            <a:spLocks noGrp="1"/>
          </p:cNvSpPr>
          <p:nvPr>
            <p:ph type="body" sz="quarter" idx="15"/>
          </p:nvPr>
        </p:nvSpPr>
        <p:spPr>
          <a:xfrm>
            <a:off x="645465" y="2000000"/>
            <a:ext cx="5350000" cy="4350000"/>
          </a:xfrm>
        </p:spPr>
        <p:txBody>
          <a:bodyPr>
            <a:noAutofit/>
          </a:bodyPr>
          <a:lstStyle/>
          <a:p>
            <a:pPr marL="182880" indent="-182880">
              <a:lnSpc>
                <a:spcPct val="145000"/>
              </a:lnSpc>
              <a:spcBef>
                <a:spcPts val="0"/>
              </a:spcBef>
              <a:spcAft>
                <a:spcPts val="800"/>
              </a:spcAft>
              <a:buFont typeface="Arial"/>
              <a:buChar char="•"/>
            </a:pPr>
            <a:r>
              <a:rPr sz="1300">
                <a:solidFill>
                  <a:schemeClr val="tx1">
                    <a:lumMod val="92000"/>
                    <a:lumOff val="8000"/>
                  </a:schemeClr>
                </a:solidFill>
                <a:latin typeface="Aptos"/>
              </a:rPr>
              <a:t>MTBF targets scale with the consequence of the failure — Class A / B / C (defined Slide 19).</a:t>
            </a:r>
          </a:p>
          <a:p>
            <a:pPr marL="182880" indent="-182880">
              <a:lnSpc>
                <a:spcPct val="145000"/>
              </a:lnSpc>
              <a:spcBef>
                <a:spcPts val="0"/>
              </a:spcBef>
              <a:spcAft>
                <a:spcPts val="800"/>
              </a:spcAft>
              <a:buFont typeface="Arial"/>
              <a:buChar char="•"/>
            </a:pPr>
            <a:r>
              <a:rPr sz="1300">
                <a:solidFill>
                  <a:schemeClr val="tx1">
                    <a:lumMod val="92000"/>
                    <a:lumOff val="8000"/>
                  </a:schemeClr>
                </a:solidFill>
                <a:latin typeface="Aptos"/>
              </a:rPr>
              <a:t>Planning assumption: rotary screw compressors run ≈ 40,000–80,000 h between major overhauls.</a:t>
            </a:r>
          </a:p>
          <a:p>
            <a:pPr marL="182880" indent="-182880">
              <a:lnSpc>
                <a:spcPct val="145000"/>
              </a:lnSpc>
              <a:spcBef>
                <a:spcPts val="0"/>
              </a:spcBef>
              <a:spcAft>
                <a:spcPts val="800"/>
              </a:spcAft>
              <a:buFont typeface="Arial"/>
              <a:buChar char="•"/>
            </a:pPr>
            <a:r>
              <a:rPr sz="1300">
                <a:solidFill>
                  <a:schemeClr val="tx1">
                    <a:lumMod val="92000"/>
                    <a:lumOff val="8000"/>
                  </a:schemeClr>
                </a:solidFill>
                <a:latin typeface="Aptos"/>
              </a:rPr>
              <a:t>These targets are the input to the Poisson campaign-success model built in Slides 22–28.</a:t>
            </a:r>
          </a:p>
          <a:p>
            <a:pPr marL="182880" indent="-182880">
              <a:lnSpc>
                <a:spcPct val="145000"/>
              </a:lnSpc>
              <a:spcBef>
                <a:spcPts val="0"/>
              </a:spcBef>
              <a:spcAft>
                <a:spcPts val="800"/>
              </a:spcAft>
              <a:buFont typeface="Arial"/>
              <a:buChar char="•"/>
            </a:pPr>
            <a:r>
              <a:rPr sz="1300">
                <a:solidFill>
                  <a:schemeClr val="tx1">
                    <a:lumMod val="92000"/>
                    <a:lumOff val="8000"/>
                  </a:schemeClr>
                </a:solidFill>
                <a:latin typeface="Aptos"/>
              </a:rPr>
              <a:t>Same three numbers are restated per failure-class in Slide 20 — same chart, different lens.</a:t>
            </a:r>
          </a:p>
          <a:p>
            <a:pPr>
              <a:lnSpc>
                <a:spcPct val="145000"/>
              </a:lnSpc>
              <a:spcBef>
                <a:spcPts val="0"/>
              </a:spcBef>
              <a:spcAft>
                <a:spcPts val="800"/>
              </a:spcAft>
            </a:pPr>
            <a:r>
              <a:rPr sz="1100" i="1">
                <a:solidFill>
                  <a:schemeClr val="accent2"/>
                </a:solidFill>
                <a:latin typeface="Aptos"/>
              </a:rPr>
              <a:t>Applicant shall submit a RAMI dossier with component MTBFs, frequency bins, maintenance policy, and MTBF impact for ≥ 68 Hz operation.</a:t>
            </a:r>
          </a:p>
        </p:txBody>
      </p:sp>
      <p:pic>
        <p:nvPicPr>
          <p:cNvPr id="5" name="Picture 4" descr="s09_mtbf_by_class.png"/>
          <p:cNvPicPr>
            <a:picLocks noChangeAspect="1"/>
          </p:cNvPicPr>
          <p:nvPr/>
        </p:nvPicPr>
        <p:blipFill>
          <a:blip r:embed="rId3"/>
          <a:stretch>
            <a:fillRect/>
          </a:stretch>
        </p:blipFill>
        <p:spPr>
          <a:xfrm>
            <a:off x="6400000" y="2562562"/>
            <a:ext cx="5250000" cy="3074875"/>
          </a:xfrm>
          <a:prstGeom prst="rect">
            <a:avLst/>
          </a:prstGeom>
        </p:spPr>
      </p:pic>
      <p:sp>
        <p:nvSpPr>
          <p:cNvPr id="7" name="Slide Number Placeholder 6">
            <a:extLst>
              <a:ext uri="{FF2B5EF4-FFF2-40B4-BE49-F238E27FC236}">
                <a16:creationId xmlns:a16="http://schemas.microsoft.com/office/drawing/2014/main" id="{D5AA4E0D-91FB-083E-9BF9-7D5273077701}"/>
              </a:ext>
            </a:extLst>
          </p:cNvPr>
          <p:cNvSpPr>
            <a:spLocks noGrp="1"/>
          </p:cNvSpPr>
          <p:nvPr>
            <p:ph type="sldNum" sz="quarter" idx="4"/>
          </p:nvPr>
        </p:nvSpPr>
        <p:spPr/>
        <p:txBody>
          <a:bodyPr/>
          <a:lstStyle/>
          <a:p>
            <a:fld id="{A814E660-BF25-4843-B2A0-93C6E2B6253B}" type="slidenum">
              <a:rPr lang="en-BE" smtClean="0"/>
              <a:pPr/>
              <a:t>13</a:t>
            </a:fld>
            <a:endParaRPr lang="en-BE" dirty="0"/>
          </a:p>
        </p:txBody>
      </p:sp>
      <p:sp>
        <p:nvSpPr>
          <p:cNvPr id="8" name="Rounded Rectangle 7"/>
          <p:cNvSpPr/>
          <p:nvPr/>
        </p:nvSpPr>
        <p:spPr>
          <a:xfrm>
            <a:off x="9546535" y="150000"/>
            <a:ext cx="2000000" cy="460000"/>
          </a:xfrm>
          <a:prstGeom prst="roundRect">
            <a:avLst>
              <a:gd name="adj" fmla="val 50000"/>
            </a:avLst>
          </a:prstGeom>
          <a:solidFill>
            <a:srgbClr val="5628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DEFINE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1140271"/>
          </a:xfrm>
        </p:spPr>
        <p:txBody>
          <a:bodyPr/>
          <a:lstStyle/>
          <a:p>
            <a:r>
              <a:rPr sz="2800" dirty="0">
                <a:latin typeface="Segoe UI"/>
              </a:rPr>
              <a:t>CIS Autonomy &amp; MCS Exchange</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a:rPr>
              <a:t>Integration Requirements and Obligations</a:t>
            </a:r>
          </a:p>
        </p:txBody>
      </p:sp>
      <p:sp>
        <p:nvSpPr>
          <p:cNvPr id="4" name="Text Placeholder 3"/>
          <p:cNvSpPr>
            <a:spLocks noGrp="1"/>
          </p:cNvSpPr>
          <p:nvPr>
            <p:ph type="body" sz="quarter" idx="15"/>
          </p:nvPr>
        </p:nvSpPr>
        <p:spPr>
          <a:xfrm>
            <a:off x="645465" y="2000000"/>
            <a:ext cx="4600000" cy="4300000"/>
          </a:xfrm>
        </p:spPr>
        <p:txBody>
          <a:bodyPr>
            <a:normAutofit/>
          </a:bodyPr>
          <a:lstStyle/>
          <a:p>
            <a:pPr>
              <a:lnSpc>
                <a:spcPct val="145000"/>
              </a:lnSpc>
              <a:spcBef>
                <a:spcPts val="0"/>
              </a:spcBef>
              <a:spcAft>
                <a:spcPts val="800"/>
              </a:spcAft>
            </a:pPr>
            <a:r>
              <a:rPr sz="1350" b="1" dirty="0">
                <a:solidFill>
                  <a:schemeClr val="accent2"/>
                </a:solidFill>
                <a:latin typeface="Aptos"/>
              </a:rPr>
              <a:t>RTM-330 / 331 / 332</a:t>
            </a:r>
          </a:p>
          <a:p>
            <a:pPr marL="355600" lvl="1" indent="0">
              <a:lnSpc>
                <a:spcPct val="145000"/>
              </a:lnSpc>
              <a:spcBef>
                <a:spcPts val="0"/>
              </a:spcBef>
              <a:spcAft>
                <a:spcPts val="800"/>
              </a:spcAft>
              <a:buNone/>
            </a:pPr>
            <a:r>
              <a:rPr sz="1350" dirty="0">
                <a:solidFill>
                  <a:schemeClr val="tx1">
                    <a:lumMod val="88000"/>
                    <a:lumOff val="12000"/>
                  </a:schemeClr>
                </a:solidFill>
                <a:latin typeface="Aptos"/>
              </a:rPr>
              <a:t>CIS Autonomy / MCS Exchange obligation (reconciled to canonical RTM-330/331/332, MCS Integration §4.6.5).</a:t>
            </a:r>
          </a:p>
          <a:p>
            <a:pPr marL="88900" indent="0">
              <a:lnSpc>
                <a:spcPct val="145000"/>
              </a:lnSpc>
              <a:spcBef>
                <a:spcPts val="0"/>
              </a:spcBef>
              <a:spcAft>
                <a:spcPts val="800"/>
              </a:spcAft>
              <a:buNone/>
            </a:pPr>
            <a:r>
              <a:rPr sz="1350" b="1" dirty="0">
                <a:solidFill>
                  <a:schemeClr val="accent2"/>
                </a:solidFill>
                <a:latin typeface="Aptos"/>
              </a:rPr>
              <a:t>Applicant shall</a:t>
            </a:r>
          </a:p>
          <a:p>
            <a:pPr marL="355600" lvl="1" indent="0">
              <a:lnSpc>
                <a:spcPct val="145000"/>
              </a:lnSpc>
              <a:spcBef>
                <a:spcPts val="0"/>
              </a:spcBef>
              <a:spcAft>
                <a:spcPts val="800"/>
              </a:spcAft>
              <a:buNone/>
            </a:pPr>
            <a:r>
              <a:rPr sz="1350" dirty="0">
                <a:solidFill>
                  <a:schemeClr val="tx1">
                    <a:lumMod val="88000"/>
                    <a:lumOff val="12000"/>
                  </a:schemeClr>
                </a:solidFill>
                <a:latin typeface="Aptos"/>
              </a:rPr>
              <a:t>Implement real-time linking of event IDs, Hz-band hours, and MTBF tracking per compressor.</a:t>
            </a:r>
          </a:p>
          <a:p>
            <a:pPr marL="88900" indent="0">
              <a:lnSpc>
                <a:spcPct val="145000"/>
              </a:lnSpc>
              <a:spcBef>
                <a:spcPts val="0"/>
              </a:spcBef>
              <a:spcAft>
                <a:spcPts val="800"/>
              </a:spcAft>
              <a:buNone/>
            </a:pPr>
            <a:r>
              <a:rPr sz="1350" b="1" dirty="0">
                <a:solidFill>
                  <a:schemeClr val="accent2"/>
                </a:solidFill>
                <a:latin typeface="Aptos"/>
              </a:rPr>
              <a:t>Cross-references</a:t>
            </a:r>
          </a:p>
          <a:p>
            <a:pPr marL="88900" indent="0">
              <a:lnSpc>
                <a:spcPct val="145000"/>
              </a:lnSpc>
              <a:spcBef>
                <a:spcPts val="0"/>
              </a:spcBef>
              <a:spcAft>
                <a:spcPts val="800"/>
              </a:spcAft>
              <a:buNone/>
            </a:pPr>
            <a:r>
              <a:rPr sz="1350" dirty="0">
                <a:solidFill>
                  <a:schemeClr val="tx1">
                    <a:lumMod val="88000"/>
                    <a:lumOff val="12000"/>
                  </a:schemeClr>
                </a:solidFill>
                <a:latin typeface="Aptos"/>
              </a:rPr>
              <a:t>Fig. 9, Addendum II §3.5.4, RTM-470 (VFD target ≤ 60 Hz nominal, per IEC 60034).</a:t>
            </a:r>
          </a:p>
        </p:txBody>
      </p:sp>
      <p:sp>
        <p:nvSpPr>
          <p:cNvPr id="5" name="Rounded Rectangle 4"/>
          <p:cNvSpPr/>
          <p:nvPr/>
        </p:nvSpPr>
        <p:spPr>
          <a:xfrm>
            <a:off x="6450000" y="2450000"/>
            <a:ext cx="1500000" cy="1000000"/>
          </a:xfrm>
          <a:prstGeom prst="roundRect">
            <a:avLst>
              <a:gd name="adj" fmla="val 1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chemeClr val="bg1"/>
                </a:solidFill>
                <a:latin typeface="Aptos"/>
              </a:rPr>
              <a:t>QPLANT
compressors</a:t>
            </a:r>
          </a:p>
        </p:txBody>
      </p:sp>
      <p:sp>
        <p:nvSpPr>
          <p:cNvPr id="6" name="Rounded Rectangle 5"/>
          <p:cNvSpPr/>
          <p:nvPr/>
        </p:nvSpPr>
        <p:spPr>
          <a:xfrm>
            <a:off x="8450000" y="2450000"/>
            <a:ext cx="1500000" cy="1000000"/>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chemeClr val="bg1"/>
                </a:solidFill>
                <a:latin typeface="Aptos"/>
              </a:rPr>
              <a:t>CIS</a:t>
            </a:r>
          </a:p>
        </p:txBody>
      </p:sp>
      <p:sp>
        <p:nvSpPr>
          <p:cNvPr id="7" name="Rounded Rectangle 6"/>
          <p:cNvSpPr/>
          <p:nvPr/>
        </p:nvSpPr>
        <p:spPr>
          <a:xfrm>
            <a:off x="10450000" y="2450000"/>
            <a:ext cx="1500000" cy="1000000"/>
          </a:xfrm>
          <a:prstGeom prst="roundRect">
            <a:avLst>
              <a:gd name="adj" fmla="val 1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chemeClr val="bg1"/>
                </a:solidFill>
                <a:latin typeface="Aptos"/>
              </a:rPr>
              <a:t>MCS</a:t>
            </a:r>
          </a:p>
        </p:txBody>
      </p:sp>
      <p:cxnSp>
        <p:nvCxnSpPr>
          <p:cNvPr id="8" name="Connector 7"/>
          <p:cNvCxnSpPr/>
          <p:nvPr/>
        </p:nvCxnSpPr>
        <p:spPr>
          <a:xfrm>
            <a:off x="7950000" y="2890000"/>
            <a:ext cx="500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7950000" y="3010000"/>
            <a:ext cx="500000" cy="0"/>
          </a:xfrm>
          <a:prstGeom prst="line">
            <a:avLst/>
          </a:prstGeom>
          <a:ln w="19050">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950000" y="2890000"/>
            <a:ext cx="500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9950000" y="3010000"/>
            <a:ext cx="500000" cy="0"/>
          </a:xfrm>
          <a:prstGeom prst="line">
            <a:avLst/>
          </a:prstGeom>
          <a:ln w="19050">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50000" y="3630000"/>
            <a:ext cx="5500000" cy="600000"/>
          </a:xfrm>
          <a:prstGeom prst="rect">
            <a:avLst/>
          </a:prstGeom>
          <a:noFill/>
        </p:spPr>
        <p:txBody>
          <a:bodyPr wrap="square">
            <a:spAutoFit/>
          </a:bodyPr>
          <a:lstStyle/>
          <a:p>
            <a:pPr algn="ctr"/>
            <a:r>
              <a:rPr sz="1050" i="1">
                <a:solidFill>
                  <a:schemeClr val="tx1">
                    <a:lumMod val="70000"/>
                    <a:lumOff val="30000"/>
                  </a:schemeClr>
                </a:solidFill>
                <a:latin typeface="Aptos"/>
              </a:rPr>
              <a:t>event IDs · Hz-band hours · MTBF tracking, exchanged continuously in both directions</a:t>
            </a:r>
          </a:p>
        </p:txBody>
      </p:sp>
      <p:sp>
        <p:nvSpPr>
          <p:cNvPr id="13" name="Rounded Rectangle 12"/>
          <p:cNvSpPr/>
          <p:nvPr/>
        </p:nvSpPr>
        <p:spPr>
          <a:xfrm>
            <a:off x="6450000" y="4600000"/>
            <a:ext cx="5500000" cy="700000"/>
          </a:xfrm>
          <a:prstGeom prst="roundRect">
            <a:avLst>
              <a:gd name="adj" fmla="val 6000"/>
            </a:avLst>
          </a:prstGeom>
          <a:solidFill>
            <a:schemeClr val="accent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050" b="1" dirty="0">
                <a:solidFill>
                  <a:schemeClr val="accent2"/>
                </a:solidFill>
                <a:latin typeface="Aptos"/>
              </a:rPr>
              <a:t>WHY IT MATTERS  </a:t>
            </a:r>
            <a:r>
              <a:rPr sz="1050" b="0" dirty="0">
                <a:solidFill>
                  <a:schemeClr val="accent2"/>
                </a:solidFill>
                <a:latin typeface="Aptos"/>
              </a:rPr>
              <a:t>This live link is what makes Slide 13's MTBF dossier and the CONTROL section's governance loop possible — the data </a:t>
            </a:r>
            <a:r>
              <a:rPr lang="en-US" sz="1050" b="0" dirty="0">
                <a:solidFill>
                  <a:schemeClr val="accent2"/>
                </a:solidFill>
                <a:latin typeface="Aptos"/>
              </a:rPr>
              <a:t>must</a:t>
            </a:r>
            <a:r>
              <a:rPr sz="1050" b="0" dirty="0">
                <a:solidFill>
                  <a:schemeClr val="accent2"/>
                </a:solidFill>
                <a:latin typeface="Aptos"/>
              </a:rPr>
              <a:t> flow before it can be tracked.</a:t>
            </a:r>
          </a:p>
        </p:txBody>
      </p:sp>
      <p:sp>
        <p:nvSpPr>
          <p:cNvPr id="15" name="Slide Number Placeholder 14">
            <a:extLst>
              <a:ext uri="{FF2B5EF4-FFF2-40B4-BE49-F238E27FC236}">
                <a16:creationId xmlns:a16="http://schemas.microsoft.com/office/drawing/2014/main" id="{FEA564D3-9AC0-9827-31A2-1CBB414724CC}"/>
              </a:ext>
            </a:extLst>
          </p:cNvPr>
          <p:cNvSpPr>
            <a:spLocks noGrp="1"/>
          </p:cNvSpPr>
          <p:nvPr>
            <p:ph type="sldNum" sz="quarter" idx="4"/>
          </p:nvPr>
        </p:nvSpPr>
        <p:spPr/>
        <p:txBody>
          <a:bodyPr/>
          <a:lstStyle/>
          <a:p>
            <a:fld id="{A814E660-BF25-4843-B2A0-93C6E2B6253B}" type="slidenum">
              <a:rPr lang="en-BE" smtClean="0"/>
              <a:pPr/>
              <a:t>14</a:t>
            </a:fld>
            <a:endParaRPr lang="en-BE" dirty="0"/>
          </a:p>
        </p:txBody>
      </p:sp>
      <p:sp>
        <p:nvSpPr>
          <p:cNvPr id="16" name="Rounded Rectangle 15"/>
          <p:cNvSpPr/>
          <p:nvPr/>
        </p:nvSpPr>
        <p:spPr>
          <a:xfrm>
            <a:off x="9546535" y="150000"/>
            <a:ext cx="2000000" cy="460000"/>
          </a:xfrm>
          <a:prstGeom prst="roundRect">
            <a:avLst>
              <a:gd name="adj" fmla="val 50000"/>
            </a:avLst>
          </a:prstGeom>
          <a:solidFill>
            <a:srgbClr val="5628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DEFINE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0"/>
          </a:xfrm>
        </p:spPr>
        <p:txBody>
          <a:bodyPr/>
          <a:lstStyle/>
          <a:p>
            <a:r>
              <a:rPr dirty="0">
                <a:latin typeface="Segoe UI"/>
              </a:rPr>
              <a:t>Utilities &amp; Interfaces</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a:rPr>
              <a:t>System Integration Points</a:t>
            </a:r>
          </a:p>
        </p:txBody>
      </p:sp>
      <p:sp>
        <p:nvSpPr>
          <p:cNvPr id="4" name="Text Placeholder 3"/>
          <p:cNvSpPr>
            <a:spLocks noGrp="1"/>
          </p:cNvSpPr>
          <p:nvPr>
            <p:ph type="body" sz="quarter" idx="15"/>
          </p:nvPr>
        </p:nvSpPr>
        <p:spPr>
          <a:xfrm>
            <a:off x="645465" y="2000000"/>
            <a:ext cx="4600000" cy="4300000"/>
          </a:xfrm>
        </p:spPr>
        <p:txBody>
          <a:bodyPr>
            <a:normAutofit/>
          </a:bodyPr>
          <a:lstStyle/>
          <a:p>
            <a:pPr>
              <a:lnSpc>
                <a:spcPct val="145000"/>
              </a:lnSpc>
              <a:spcBef>
                <a:spcPts val="0"/>
              </a:spcBef>
              <a:spcAft>
                <a:spcPts val="800"/>
              </a:spcAft>
            </a:pPr>
            <a:r>
              <a:rPr sz="1300" dirty="0">
                <a:solidFill>
                  <a:schemeClr val="tx1">
                    <a:lumMod val="90000"/>
                    <a:lumOff val="10000"/>
                  </a:schemeClr>
                </a:solidFill>
                <a:latin typeface="Aptos"/>
              </a:rPr>
              <a:t>Four utility interfaces size and constrain the compressor fleet's operating envelope used throughout this deck (Slides 8–18). Applicant shall design the mechanical &amp; process tie-in kit.</a:t>
            </a:r>
            <a:br>
              <a:rPr lang="en-US" sz="1250" dirty="0">
                <a:solidFill>
                  <a:schemeClr val="tx1">
                    <a:lumMod val="90000"/>
                    <a:lumOff val="10000"/>
                  </a:schemeClr>
                </a:solidFill>
              </a:rPr>
            </a:br>
            <a:br>
              <a:rPr lang="en-US" sz="1250" dirty="0">
                <a:solidFill>
                  <a:schemeClr val="tx1">
                    <a:lumMod val="90000"/>
                    <a:lumOff val="10000"/>
                  </a:schemeClr>
                </a:solidFill>
              </a:rPr>
            </a:br>
            <a:br>
              <a:rPr lang="en-US" sz="1250" dirty="0">
                <a:solidFill>
                  <a:schemeClr val="tx1">
                    <a:lumMod val="90000"/>
                    <a:lumOff val="10000"/>
                  </a:schemeClr>
                </a:solidFill>
              </a:rPr>
            </a:br>
            <a:r>
              <a:rPr lang="en-US" sz="1300" dirty="0">
                <a:solidFill>
                  <a:schemeClr val="tx1">
                    <a:lumMod val="90000"/>
                    <a:lumOff val="10000"/>
                  </a:schemeClr>
                </a:solidFill>
                <a:latin typeface="Aptos"/>
              </a:rPr>
              <a:t>Control of PAB12 and HV06 flows and link to operational need of QPLANT (HCC specific) compressor fleet's operating envelope used throughout this deck (Slides 8–18). Applicant shall design the mechanical &amp; process tie-in kit.</a:t>
            </a:r>
            <a:endParaRPr sz="1250" dirty="0">
              <a:solidFill>
                <a:schemeClr val="tx1">
                  <a:lumMod val="90000"/>
                  <a:lumOff val="10000"/>
                </a:schemeClr>
              </a:solidFill>
            </a:endParaRPr>
          </a:p>
        </p:txBody>
      </p:sp>
      <p:sp>
        <p:nvSpPr>
          <p:cNvPr id="5" name="Oval 4"/>
          <p:cNvSpPr/>
          <p:nvPr/>
        </p:nvSpPr>
        <p:spPr>
          <a:xfrm>
            <a:off x="8250000" y="3200000"/>
            <a:ext cx="1500000" cy="15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chemeClr val="bg1"/>
                </a:solidFill>
                <a:latin typeface="Aptos"/>
              </a:rPr>
              <a:t>QPLANT</a:t>
            </a:r>
          </a:p>
        </p:txBody>
      </p:sp>
      <p:sp>
        <p:nvSpPr>
          <p:cNvPr id="6" name="Rounded Rectangle 5"/>
          <p:cNvSpPr/>
          <p:nvPr/>
        </p:nvSpPr>
        <p:spPr>
          <a:xfrm>
            <a:off x="5950000" y="1600000"/>
            <a:ext cx="2300000" cy="950000"/>
          </a:xfrm>
          <a:prstGeom prst="roundRect">
            <a:avLst>
              <a:gd name="adj" fmla="val 10000"/>
            </a:avLst>
          </a:prstGeom>
          <a:solidFill>
            <a:schemeClr val="accent2">
              <a:lumMod val="12000"/>
              <a:lumOff val="8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lnSpc>
                <a:spcPct val="100000"/>
              </a:lnSpc>
            </a:pPr>
            <a:r>
              <a:rPr sz="1150" b="1">
                <a:solidFill>
                  <a:schemeClr val="accent2"/>
                </a:solidFill>
                <a:latin typeface="Aptos"/>
              </a:rPr>
              <a:t>Electrical</a:t>
            </a:r>
          </a:p>
          <a:p>
            <a:pPr algn="ctr">
              <a:lnSpc>
                <a:spcPct val="100000"/>
              </a:lnSpc>
            </a:pPr>
            <a:r>
              <a:rPr sz="950">
                <a:solidFill>
                  <a:schemeClr val="tx1">
                    <a:lumMod val="80000"/>
                    <a:lumOff val="20000"/>
                  </a:schemeClr>
                </a:solidFill>
                <a:latin typeface="Aptos"/>
              </a:rPr>
              <a:t>4 × 350 kW
metered + aggregated log</a:t>
            </a:r>
          </a:p>
        </p:txBody>
      </p:sp>
      <p:cxnSp>
        <p:nvCxnSpPr>
          <p:cNvPr id="7" name="Connector 6"/>
          <p:cNvCxnSpPr/>
          <p:nvPr/>
        </p:nvCxnSpPr>
        <p:spPr>
          <a:xfrm flipH="1" flipV="1">
            <a:off x="7480000" y="2450000"/>
            <a:ext cx="1216000" cy="1200000"/>
          </a:xfrm>
          <a:prstGeom prst="line">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750000" y="1600000"/>
            <a:ext cx="2300000" cy="950000"/>
          </a:xfrm>
          <a:prstGeom prst="roundRect">
            <a:avLst>
              <a:gd name="adj" fmla="val 10000"/>
            </a:avLst>
          </a:prstGeom>
          <a:solidFill>
            <a:schemeClr val="accent2">
              <a:lumMod val="12000"/>
              <a:lumOff val="8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lnSpc>
                <a:spcPct val="100000"/>
              </a:lnSpc>
            </a:pPr>
            <a:r>
              <a:rPr sz="1150" b="1">
                <a:solidFill>
                  <a:schemeClr val="accent2"/>
                </a:solidFill>
                <a:latin typeface="Aptos"/>
              </a:rPr>
              <a:t>Cooling Water</a:t>
            </a:r>
          </a:p>
          <a:p>
            <a:pPr algn="ctr">
              <a:lnSpc>
                <a:spcPct val="100000"/>
              </a:lnSpc>
            </a:pPr>
            <a:r>
              <a:rPr sz="950">
                <a:solidFill>
                  <a:schemeClr val="tx1">
                    <a:lumMod val="80000"/>
                    <a:lumOff val="20000"/>
                  </a:schemeClr>
                </a:solidFill>
                <a:latin typeface="Aptos"/>
              </a:rPr>
              <a:t>27→37°C (ΔT 10K)
42°C max (ΔT 15K, PS01)</a:t>
            </a:r>
          </a:p>
        </p:txBody>
      </p:sp>
      <p:cxnSp>
        <p:nvCxnSpPr>
          <p:cNvPr id="9" name="Connector 8"/>
          <p:cNvCxnSpPr/>
          <p:nvPr/>
        </p:nvCxnSpPr>
        <p:spPr>
          <a:xfrm flipV="1">
            <a:off x="9304000" y="2450000"/>
            <a:ext cx="1216000" cy="1200000"/>
          </a:xfrm>
          <a:prstGeom prst="line">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950000" y="5600000"/>
            <a:ext cx="2300000" cy="950000"/>
          </a:xfrm>
          <a:prstGeom prst="roundRect">
            <a:avLst>
              <a:gd name="adj" fmla="val 10000"/>
            </a:avLst>
          </a:prstGeom>
          <a:solidFill>
            <a:schemeClr val="accent2">
              <a:lumMod val="12000"/>
              <a:lumOff val="8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lnSpc>
                <a:spcPct val="100000"/>
              </a:lnSpc>
            </a:pPr>
            <a:r>
              <a:rPr sz="1150" b="1" dirty="0">
                <a:solidFill>
                  <a:schemeClr val="accent2"/>
                </a:solidFill>
                <a:latin typeface="Aptos"/>
              </a:rPr>
              <a:t>Process Headers</a:t>
            </a:r>
            <a:r>
              <a:rPr lang="en-US" sz="1150" b="1" dirty="0">
                <a:solidFill>
                  <a:schemeClr val="accent2"/>
                </a:solidFill>
                <a:latin typeface="Aptos"/>
              </a:rPr>
              <a:t> (</a:t>
            </a:r>
            <a:r>
              <a:rPr lang="en-US" sz="1150" b="1" dirty="0" err="1">
                <a:solidFill>
                  <a:schemeClr val="accent2"/>
                </a:solidFill>
                <a:latin typeface="Aptos"/>
              </a:rPr>
              <a:t>INTERCONNECGà</a:t>
            </a:r>
            <a:endParaRPr sz="1150" b="1" dirty="0">
              <a:solidFill>
                <a:schemeClr val="accent2"/>
              </a:solidFill>
            </a:endParaRPr>
          </a:p>
          <a:p>
            <a:pPr algn="ctr">
              <a:lnSpc>
                <a:spcPct val="100000"/>
              </a:lnSpc>
            </a:pPr>
            <a:r>
              <a:rPr sz="950" dirty="0">
                <a:solidFill>
                  <a:schemeClr val="tx1">
                    <a:lumMod val="80000"/>
                    <a:lumOff val="20000"/>
                  </a:schemeClr>
                </a:solidFill>
                <a:latin typeface="Aptos"/>
              </a:rPr>
              <a:t>14 bar supply setpoint
VFD + trim valves</a:t>
            </a:r>
          </a:p>
        </p:txBody>
      </p:sp>
      <p:cxnSp>
        <p:nvCxnSpPr>
          <p:cNvPr id="11" name="Connector 10"/>
          <p:cNvCxnSpPr/>
          <p:nvPr/>
        </p:nvCxnSpPr>
        <p:spPr>
          <a:xfrm flipH="1">
            <a:off x="7480000" y="4290000"/>
            <a:ext cx="1216000" cy="1360000"/>
          </a:xfrm>
          <a:prstGeom prst="line">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750000" y="5600000"/>
            <a:ext cx="2300000" cy="950000"/>
          </a:xfrm>
          <a:prstGeom prst="roundRect">
            <a:avLst>
              <a:gd name="adj" fmla="val 10000"/>
            </a:avLst>
          </a:prstGeom>
          <a:solidFill>
            <a:schemeClr val="accent2">
              <a:lumMod val="12000"/>
              <a:lumOff val="8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lnSpc>
                <a:spcPct val="100000"/>
              </a:lnSpc>
            </a:pPr>
            <a:r>
              <a:rPr sz="1150" b="1" dirty="0">
                <a:solidFill>
                  <a:schemeClr val="accent2"/>
                </a:solidFill>
                <a:latin typeface="Aptos"/>
              </a:rPr>
              <a:t>Future </a:t>
            </a:r>
            <a:r>
              <a:rPr lang="en-US" sz="1150" b="1" dirty="0">
                <a:solidFill>
                  <a:schemeClr val="accent2"/>
                </a:solidFill>
                <a:latin typeface="Aptos"/>
              </a:rPr>
              <a:t>QDB </a:t>
            </a:r>
            <a:br>
              <a:rPr lang="en-US" sz="1150" b="1" dirty="0">
                <a:solidFill>
                  <a:schemeClr val="accent2"/>
                </a:solidFill>
              </a:rPr>
            </a:br>
            <a:r>
              <a:rPr sz="1150" b="1" dirty="0">
                <a:solidFill>
                  <a:schemeClr val="accent2"/>
                </a:solidFill>
                <a:latin typeface="Aptos"/>
              </a:rPr>
              <a:t>4.5K/2K Tie-in</a:t>
            </a:r>
          </a:p>
          <a:p>
            <a:pPr algn="ctr">
              <a:lnSpc>
                <a:spcPct val="100000"/>
              </a:lnSpc>
            </a:pPr>
            <a:r>
              <a:rPr sz="950" dirty="0">
                <a:solidFill>
                  <a:schemeClr val="tx1">
                    <a:lumMod val="80000"/>
                    <a:lumOff val="20000"/>
                  </a:schemeClr>
                </a:solidFill>
                <a:latin typeface="Aptos"/>
              </a:rPr>
              <a:t>QRB provision
pilot valve pads + IO stubs</a:t>
            </a:r>
          </a:p>
        </p:txBody>
      </p:sp>
      <p:cxnSp>
        <p:nvCxnSpPr>
          <p:cNvPr id="13" name="Connector 12"/>
          <p:cNvCxnSpPr/>
          <p:nvPr/>
        </p:nvCxnSpPr>
        <p:spPr>
          <a:xfrm>
            <a:off x="9304000" y="4290000"/>
            <a:ext cx="1216000" cy="1360000"/>
          </a:xfrm>
          <a:prstGeom prst="line">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7">
            <a:extLst>
              <a:ext uri="{FF2B5EF4-FFF2-40B4-BE49-F238E27FC236}">
                <a16:creationId xmlns:a16="http://schemas.microsoft.com/office/drawing/2014/main" id="{9737293A-A19B-BF8C-4E33-6A2A37DF044C}"/>
              </a:ext>
            </a:extLst>
          </p:cNvPr>
          <p:cNvSpPr/>
          <p:nvPr/>
        </p:nvSpPr>
        <p:spPr>
          <a:xfrm>
            <a:off x="9587345" y="1379999"/>
            <a:ext cx="1667190" cy="501019"/>
          </a:xfrm>
          <a:prstGeom prst="roundRect">
            <a:avLst>
              <a:gd name="adj" fmla="val 10000"/>
            </a:avLst>
          </a:prstGeom>
          <a:solidFill>
            <a:schemeClr val="accent1">
              <a:lumMod val="60000"/>
              <a:lumOff val="40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lnSpc>
                <a:spcPct val="100000"/>
              </a:lnSpc>
            </a:pPr>
            <a:r>
              <a:rPr lang="en-US" sz="1150" b="1" dirty="0">
                <a:solidFill>
                  <a:schemeClr val="tx1"/>
                </a:solidFill>
                <a:latin typeface="Aptos"/>
              </a:rPr>
              <a:t>PAB12 	&amp; HV06 </a:t>
            </a:r>
            <a:endParaRPr sz="950" dirty="0">
              <a:solidFill>
                <a:schemeClr val="tx1">
                  <a:lumMod val="80000"/>
                  <a:lumOff val="20000"/>
                </a:schemeClr>
              </a:solidFill>
            </a:endParaRPr>
          </a:p>
        </p:txBody>
      </p:sp>
      <p:sp>
        <p:nvSpPr>
          <p:cNvPr id="18" name="Rounded Rectangle 7">
            <a:extLst>
              <a:ext uri="{FF2B5EF4-FFF2-40B4-BE49-F238E27FC236}">
                <a16:creationId xmlns:a16="http://schemas.microsoft.com/office/drawing/2014/main" id="{C5AB2DEC-67A3-2F52-3FD9-5CD3593F40AB}"/>
              </a:ext>
            </a:extLst>
          </p:cNvPr>
          <p:cNvSpPr/>
          <p:nvPr/>
        </p:nvSpPr>
        <p:spPr>
          <a:xfrm>
            <a:off x="6604827" y="1285454"/>
            <a:ext cx="1667190" cy="501019"/>
          </a:xfrm>
          <a:prstGeom prst="roundRect">
            <a:avLst>
              <a:gd name="adj" fmla="val 10000"/>
            </a:avLst>
          </a:prstGeom>
          <a:solidFill>
            <a:schemeClr val="accent1">
              <a:lumMod val="60000"/>
              <a:lumOff val="40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lnSpc>
                <a:spcPct val="100000"/>
              </a:lnSpc>
            </a:pPr>
            <a:r>
              <a:rPr lang="en-US" sz="1150" b="1" dirty="0">
                <a:solidFill>
                  <a:schemeClr val="tx1"/>
                </a:solidFill>
                <a:latin typeface="Aptos"/>
              </a:rPr>
              <a:t>Back-up (350 kW) and VFD HARMONICS</a:t>
            </a:r>
            <a:endParaRPr sz="950" dirty="0">
              <a:solidFill>
                <a:schemeClr val="tx1">
                  <a:lumMod val="80000"/>
                  <a:lumOff val="20000"/>
                </a:schemeClr>
              </a:solidFill>
            </a:endParaRPr>
          </a:p>
        </p:txBody>
      </p:sp>
      <p:sp>
        <p:nvSpPr>
          <p:cNvPr id="20" name="Rounded Rectangle 11">
            <a:extLst>
              <a:ext uri="{FF2B5EF4-FFF2-40B4-BE49-F238E27FC236}">
                <a16:creationId xmlns:a16="http://schemas.microsoft.com/office/drawing/2014/main" id="{46E1E8AB-F5F2-D92A-36F6-A4AD8299405E}"/>
              </a:ext>
            </a:extLst>
          </p:cNvPr>
          <p:cNvSpPr/>
          <p:nvPr/>
        </p:nvSpPr>
        <p:spPr>
          <a:xfrm>
            <a:off x="9898169" y="4675638"/>
            <a:ext cx="2003662" cy="802363"/>
          </a:xfrm>
          <a:prstGeom prst="roundRect">
            <a:avLst>
              <a:gd name="adj" fmla="val 10000"/>
            </a:avLst>
          </a:prstGeom>
          <a:solidFill>
            <a:schemeClr val="accent2">
              <a:lumMod val="12000"/>
              <a:lumOff val="8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lnSpc>
                <a:spcPct val="100000"/>
              </a:lnSpc>
            </a:pPr>
            <a:r>
              <a:rPr sz="1150" b="1" dirty="0">
                <a:solidFill>
                  <a:schemeClr val="accent2"/>
                </a:solidFill>
                <a:latin typeface="Aptos"/>
              </a:rPr>
              <a:t>Future </a:t>
            </a:r>
            <a:r>
              <a:rPr lang="en-US" sz="1150" b="1" dirty="0">
                <a:solidFill>
                  <a:schemeClr val="accent2"/>
                </a:solidFill>
                <a:latin typeface="Aptos"/>
              </a:rPr>
              <a:t>WPS </a:t>
            </a:r>
            <a:br>
              <a:rPr lang="en-US" sz="1150" b="1" dirty="0">
                <a:solidFill>
                  <a:schemeClr val="accent2"/>
                </a:solidFill>
              </a:rPr>
            </a:br>
            <a:r>
              <a:rPr lang="en-US" sz="1150" b="1" dirty="0">
                <a:solidFill>
                  <a:schemeClr val="accent2"/>
                </a:solidFill>
                <a:latin typeface="Aptos"/>
              </a:rPr>
              <a:t>S, U, W</a:t>
            </a:r>
            <a:endParaRPr sz="1150" b="1" dirty="0">
              <a:solidFill>
                <a:schemeClr val="accent2"/>
              </a:solidFill>
            </a:endParaRPr>
          </a:p>
          <a:p>
            <a:pPr algn="ctr">
              <a:lnSpc>
                <a:spcPct val="100000"/>
              </a:lnSpc>
            </a:pPr>
            <a:r>
              <a:rPr sz="950" dirty="0">
                <a:solidFill>
                  <a:schemeClr val="tx1">
                    <a:lumMod val="80000"/>
                    <a:lumOff val="20000"/>
                  </a:schemeClr>
                </a:solidFill>
                <a:latin typeface="Aptos"/>
              </a:rPr>
              <a:t>QRB provision
pilot valve pads + IO stubs</a:t>
            </a:r>
          </a:p>
        </p:txBody>
      </p:sp>
      <p:sp>
        <p:nvSpPr>
          <p:cNvPr id="22" name="Rounded Rectangle 11">
            <a:extLst>
              <a:ext uri="{FF2B5EF4-FFF2-40B4-BE49-F238E27FC236}">
                <a16:creationId xmlns:a16="http://schemas.microsoft.com/office/drawing/2014/main" id="{6D12F2F0-9E4D-FEC9-4A62-43856C306EC6}"/>
              </a:ext>
            </a:extLst>
          </p:cNvPr>
          <p:cNvSpPr/>
          <p:nvPr/>
        </p:nvSpPr>
        <p:spPr>
          <a:xfrm>
            <a:off x="5918507" y="3650000"/>
            <a:ext cx="2003662" cy="802363"/>
          </a:xfrm>
          <a:prstGeom prst="roundRect">
            <a:avLst>
              <a:gd name="adj" fmla="val 10000"/>
            </a:avLst>
          </a:prstGeom>
          <a:solidFill>
            <a:schemeClr val="accent2">
              <a:lumMod val="12000"/>
              <a:lumOff val="8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lnSpc>
                <a:spcPct val="100000"/>
              </a:lnSpc>
            </a:pPr>
            <a:r>
              <a:rPr lang="en-US" sz="1150" b="1" dirty="0">
                <a:solidFill>
                  <a:schemeClr val="accent2"/>
                </a:solidFill>
                <a:latin typeface="Aptos"/>
              </a:rPr>
              <a:t>LHE USER + Return</a:t>
            </a:r>
            <a:endParaRPr sz="1150" b="1" dirty="0">
              <a:solidFill>
                <a:schemeClr val="accent2"/>
              </a:solidFill>
            </a:endParaRPr>
          </a:p>
          <a:p>
            <a:pPr algn="ctr">
              <a:lnSpc>
                <a:spcPct val="100000"/>
              </a:lnSpc>
            </a:pPr>
            <a:r>
              <a:rPr lang="en-US" sz="950" dirty="0" err="1">
                <a:solidFill>
                  <a:schemeClr val="tx1">
                    <a:lumMod val="80000"/>
                    <a:lumOff val="20000"/>
                  </a:schemeClr>
                </a:solidFill>
                <a:latin typeface="Aptos"/>
              </a:rPr>
              <a:t>Dewar+GHE</a:t>
            </a:r>
            <a:r>
              <a:rPr lang="en-US" sz="950" dirty="0">
                <a:solidFill>
                  <a:schemeClr val="tx1">
                    <a:lumMod val="80000"/>
                    <a:lumOff val="20000"/>
                  </a:schemeClr>
                </a:solidFill>
                <a:latin typeface="Aptos"/>
              </a:rPr>
              <a:t> recovery</a:t>
            </a:r>
            <a:endParaRPr sz="950" dirty="0">
              <a:solidFill>
                <a:schemeClr val="tx1">
                  <a:lumMod val="80000"/>
                  <a:lumOff val="20000"/>
                </a:schemeClr>
              </a:solidFill>
            </a:endParaRPr>
          </a:p>
        </p:txBody>
      </p:sp>
      <p:sp>
        <p:nvSpPr>
          <p:cNvPr id="24" name="Rounded Rectangle 7">
            <a:extLst>
              <a:ext uri="{FF2B5EF4-FFF2-40B4-BE49-F238E27FC236}">
                <a16:creationId xmlns:a16="http://schemas.microsoft.com/office/drawing/2014/main" id="{04B9FF71-31AB-4E25-0898-4A45812774D6}"/>
              </a:ext>
            </a:extLst>
          </p:cNvPr>
          <p:cNvSpPr/>
          <p:nvPr/>
        </p:nvSpPr>
        <p:spPr>
          <a:xfrm>
            <a:off x="5918507" y="5227491"/>
            <a:ext cx="1667190" cy="501019"/>
          </a:xfrm>
          <a:prstGeom prst="roundRect">
            <a:avLst>
              <a:gd name="adj" fmla="val 10000"/>
            </a:avLst>
          </a:prstGeom>
          <a:solidFill>
            <a:schemeClr val="accent1">
              <a:lumMod val="60000"/>
              <a:lumOff val="40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80000" rIns="80000" rtlCol="0" anchor="ctr"/>
          <a:lstStyle/>
          <a:p>
            <a:pPr algn="ctr">
              <a:lnSpc>
                <a:spcPct val="100000"/>
              </a:lnSpc>
            </a:pPr>
            <a:r>
              <a:rPr lang="en-US" sz="1150" b="1" dirty="0">
                <a:solidFill>
                  <a:schemeClr val="tx1"/>
                </a:solidFill>
                <a:latin typeface="Aptos"/>
              </a:rPr>
              <a:t>WCS, WSH</a:t>
            </a:r>
            <a:endParaRPr sz="950" dirty="0">
              <a:solidFill>
                <a:schemeClr val="tx1">
                  <a:lumMod val="80000"/>
                  <a:lumOff val="20000"/>
                </a:schemeClr>
              </a:solidFill>
            </a:endParaRPr>
          </a:p>
        </p:txBody>
      </p:sp>
      <p:sp>
        <p:nvSpPr>
          <p:cNvPr id="25" name="Slide Number Placeholder 24">
            <a:extLst>
              <a:ext uri="{FF2B5EF4-FFF2-40B4-BE49-F238E27FC236}">
                <a16:creationId xmlns:a16="http://schemas.microsoft.com/office/drawing/2014/main" id="{3C314A0F-09D0-DEE7-845B-BD92C693D9AF}"/>
              </a:ext>
            </a:extLst>
          </p:cNvPr>
          <p:cNvSpPr>
            <a:spLocks noGrp="1"/>
          </p:cNvSpPr>
          <p:nvPr>
            <p:ph type="sldNum" sz="quarter" idx="4"/>
          </p:nvPr>
        </p:nvSpPr>
        <p:spPr/>
        <p:txBody>
          <a:bodyPr/>
          <a:lstStyle/>
          <a:p>
            <a:fld id="{A814E660-BF25-4843-B2A0-93C6E2B6253B}" type="slidenum">
              <a:rPr lang="en-BE" smtClean="0"/>
              <a:pPr/>
              <a:t>15</a:t>
            </a:fld>
            <a:endParaRPr lang="en-BE" dirty="0"/>
          </a:p>
        </p:txBody>
      </p:sp>
      <p:sp>
        <p:nvSpPr>
          <p:cNvPr id="26" name="Rounded Rectangle 25"/>
          <p:cNvSpPr/>
          <p:nvPr/>
        </p:nvSpPr>
        <p:spPr>
          <a:xfrm>
            <a:off x="9546535" y="150000"/>
            <a:ext cx="2000000" cy="460000"/>
          </a:xfrm>
          <a:prstGeom prst="roundRect">
            <a:avLst>
              <a:gd name="adj" fmla="val 50000"/>
            </a:avLst>
          </a:prstGeom>
          <a:solidFill>
            <a:srgbClr val="5628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DEFINE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0"/>
          </a:xfrm>
        </p:spPr>
        <p:txBody>
          <a:bodyPr/>
          <a:lstStyle/>
          <a:p>
            <a:r>
              <a:rPr sz="2800" dirty="0">
                <a:latin typeface="Segoe UI"/>
              </a:rPr>
              <a:t>Appendix A — Canonical Scenarios</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a:rPr>
              <a:t>Cross-check Addendum II Table 3 and Fig. 6</a:t>
            </a:r>
          </a:p>
        </p:txBody>
      </p:sp>
      <p:sp>
        <p:nvSpPr>
          <p:cNvPr id="4" name="Text Placeholder 3"/>
          <p:cNvSpPr>
            <a:spLocks noGrp="1"/>
          </p:cNvSpPr>
          <p:nvPr>
            <p:ph type="body" sz="quarter" idx="15"/>
          </p:nvPr>
        </p:nvSpPr>
        <p:spPr>
          <a:xfrm>
            <a:off x="645465" y="2000000"/>
            <a:ext cx="5350000" cy="4350000"/>
          </a:xfrm>
        </p:spPr>
        <p:txBody>
          <a:bodyPr>
            <a:noAutofit/>
          </a:bodyPr>
          <a:lstStyle/>
          <a:p>
            <a:pPr marL="182880" indent="-182880">
              <a:lnSpc>
                <a:spcPct val="145000"/>
              </a:lnSpc>
              <a:spcBef>
                <a:spcPts val="0"/>
              </a:spcBef>
              <a:spcAft>
                <a:spcPts val="800"/>
              </a:spcAft>
              <a:buFont typeface="Arial"/>
              <a:buChar char="•"/>
            </a:pPr>
            <a:r>
              <a:rPr sz="1600">
                <a:solidFill>
                  <a:schemeClr val="tx1">
                    <a:lumMod val="92000"/>
                    <a:lumOff val="8000"/>
                  </a:schemeClr>
                </a:solidFill>
                <a:latin typeface="Aptos"/>
              </a:rPr>
              <a:t>Five canonical WCS HP-flow scenarios, cross-checked against Addendum II Table 3 / Fig. 6.</a:t>
            </a:r>
          </a:p>
          <a:p>
            <a:pPr marL="182880" indent="-182880">
              <a:lnSpc>
                <a:spcPct val="145000"/>
              </a:lnSpc>
              <a:spcBef>
                <a:spcPts val="0"/>
              </a:spcBef>
              <a:spcAft>
                <a:spcPts val="800"/>
              </a:spcAft>
              <a:buFont typeface="Arial"/>
              <a:buChar char="•"/>
            </a:pPr>
            <a:r>
              <a:rPr sz="1600">
                <a:solidFill>
                  <a:schemeClr val="tx1">
                    <a:lumMod val="92000"/>
                    <a:lumOff val="8000"/>
                  </a:schemeClr>
                </a:solidFill>
                <a:latin typeface="Aptos"/>
              </a:rPr>
              <a:t>24 QM Operation (307 g/s) is the real operations target used throughout this deck.</a:t>
            </a:r>
          </a:p>
          <a:p>
            <a:pPr marL="182880" indent="-182880">
              <a:lnSpc>
                <a:spcPct val="145000"/>
              </a:lnSpc>
              <a:spcBef>
                <a:spcPts val="0"/>
              </a:spcBef>
              <a:spcAft>
                <a:spcPts val="800"/>
              </a:spcAft>
              <a:buFont typeface="Arial"/>
              <a:buChar char="•"/>
            </a:pPr>
            <a:r>
              <a:rPr sz="1600">
                <a:solidFill>
                  <a:schemeClr val="tx1">
                    <a:lumMod val="92000"/>
                    <a:lumOff val="8000"/>
                  </a:schemeClr>
                </a:solidFill>
                <a:latin typeface="Aptos"/>
              </a:rPr>
              <a:t>30 QM Operation (344 g/s) is the design point — the margin above real operations.</a:t>
            </a:r>
          </a:p>
          <a:p>
            <a:pPr marL="182880" indent="-182880">
              <a:lnSpc>
                <a:spcPct val="145000"/>
              </a:lnSpc>
              <a:spcBef>
                <a:spcPts val="0"/>
              </a:spcBef>
              <a:spcAft>
                <a:spcPts val="800"/>
              </a:spcAft>
              <a:buFont typeface="Arial"/>
              <a:buChar char="•"/>
            </a:pPr>
            <a:r>
              <a:rPr sz="1600">
                <a:solidFill>
                  <a:schemeClr val="tx1">
                    <a:lumMod val="92000"/>
                    <a:lumOff val="8000"/>
                  </a:schemeClr>
                </a:solidFill>
                <a:latin typeface="Aptos"/>
              </a:rPr>
              <a:t>Standby scenarios (both QM counts) size the fleet's low-flow / warm-standby envelope.</a:t>
            </a:r>
          </a:p>
        </p:txBody>
      </p:sp>
      <p:pic>
        <p:nvPicPr>
          <p:cNvPr id="5" name="Picture 4" descr="s12_appendixA_scenarios.png"/>
          <p:cNvPicPr>
            <a:picLocks noChangeAspect="1"/>
          </p:cNvPicPr>
          <p:nvPr/>
        </p:nvPicPr>
        <p:blipFill>
          <a:blip r:embed="rId3"/>
          <a:stretch>
            <a:fillRect/>
          </a:stretch>
        </p:blipFill>
        <p:spPr>
          <a:xfrm>
            <a:off x="6250000" y="2613889"/>
            <a:ext cx="5350000" cy="2972222"/>
          </a:xfrm>
          <a:prstGeom prst="rect">
            <a:avLst/>
          </a:prstGeom>
        </p:spPr>
      </p:pic>
      <p:sp>
        <p:nvSpPr>
          <p:cNvPr id="7" name="Slide Number Placeholder 6">
            <a:extLst>
              <a:ext uri="{FF2B5EF4-FFF2-40B4-BE49-F238E27FC236}">
                <a16:creationId xmlns:a16="http://schemas.microsoft.com/office/drawing/2014/main" id="{8CCA0E99-BEE8-E1DA-BDCE-D0211ABF8C0A}"/>
              </a:ext>
            </a:extLst>
          </p:cNvPr>
          <p:cNvSpPr>
            <a:spLocks noGrp="1"/>
          </p:cNvSpPr>
          <p:nvPr>
            <p:ph type="sldNum" sz="quarter" idx="4"/>
          </p:nvPr>
        </p:nvSpPr>
        <p:spPr/>
        <p:txBody>
          <a:bodyPr/>
          <a:lstStyle/>
          <a:p>
            <a:fld id="{A814E660-BF25-4843-B2A0-93C6E2B6253B}" type="slidenum">
              <a:rPr lang="en-BE" smtClean="0"/>
              <a:pPr/>
              <a:t>16</a:t>
            </a:fld>
            <a:endParaRPr lang="en-BE" dirty="0"/>
          </a:p>
        </p:txBody>
      </p:sp>
      <p:sp>
        <p:nvSpPr>
          <p:cNvPr id="8" name="Rounded Rectangle 7"/>
          <p:cNvSpPr/>
          <p:nvPr/>
        </p:nvSpPr>
        <p:spPr>
          <a:xfrm>
            <a:off x="9546535" y="150000"/>
            <a:ext cx="2000000" cy="460000"/>
          </a:xfrm>
          <a:prstGeom prst="roundRect">
            <a:avLst>
              <a:gd name="adj" fmla="val 50000"/>
            </a:avLst>
          </a:prstGeom>
          <a:solidFill>
            <a:srgbClr val="984A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MEASURE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0"/>
          </a:xfrm>
        </p:spPr>
        <p:txBody>
          <a:bodyPr/>
          <a:lstStyle/>
          <a:p>
            <a:r>
              <a:rPr sz="2800" dirty="0">
                <a:latin typeface="Segoe UI"/>
              </a:rPr>
              <a:t>Appendix B — N−1 Hz Requirement</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a:rPr>
              <a:t>Hz to reach 307 g/s (N−1</a:t>
            </a:r>
            <a:r>
              <a:rPr lang="en-US" sz="2000" dirty="0">
                <a:latin typeface="Aptos"/>
              </a:rPr>
              <a:t>:</a:t>
            </a:r>
            <a:r>
              <a:rPr sz="2000" dirty="0">
                <a:latin typeface="Aptos"/>
              </a:rPr>
              <a:t> 3 units)</a:t>
            </a:r>
          </a:p>
        </p:txBody>
      </p:sp>
      <p:sp>
        <p:nvSpPr>
          <p:cNvPr id="4" name="Text Placeholder 3"/>
          <p:cNvSpPr>
            <a:spLocks noGrp="1"/>
          </p:cNvSpPr>
          <p:nvPr>
            <p:ph type="body" sz="quarter" idx="15"/>
          </p:nvPr>
        </p:nvSpPr>
        <p:spPr>
          <a:xfrm>
            <a:off x="645465" y="2000000"/>
            <a:ext cx="5350000" cy="4350000"/>
          </a:xfrm>
        </p:spPr>
        <p:txBody>
          <a:bodyPr>
            <a:normAutofit/>
          </a:bodyPr>
          <a:lstStyle/>
          <a:p>
            <a:pPr marL="182880" indent="-182880">
              <a:lnSpc>
                <a:spcPct val="145000"/>
              </a:lnSpc>
              <a:spcBef>
                <a:spcPts val="0"/>
              </a:spcBef>
              <a:spcAft>
                <a:spcPts val="800"/>
              </a:spcAft>
              <a:buFont typeface="Arial"/>
              <a:buChar char="•"/>
            </a:pPr>
            <a:r>
              <a:rPr sz="1550">
                <a:solidFill>
                  <a:schemeClr val="tx1">
                    <a:lumMod val="92000"/>
                    <a:lumOff val="8000"/>
                  </a:schemeClr>
                </a:solidFill>
                <a:latin typeface="Aptos"/>
              </a:rPr>
              <a:t>Same N−1 question as Slides 9 and 11, now expressed as required frequency, not flow.</a:t>
            </a:r>
          </a:p>
          <a:p>
            <a:pPr marL="182880" indent="-182880">
              <a:lnSpc>
                <a:spcPct val="145000"/>
              </a:lnSpc>
              <a:spcBef>
                <a:spcPts val="0"/>
              </a:spcBef>
              <a:spcAft>
                <a:spcPts val="800"/>
              </a:spcAft>
              <a:buFont typeface="Arial"/>
              <a:buChar char="•"/>
            </a:pPr>
            <a:r>
              <a:rPr sz="1550">
                <a:solidFill>
                  <a:schemeClr val="tx1">
                    <a:lumMod val="92000"/>
                    <a:lumOff val="8000"/>
                  </a:schemeClr>
                </a:solidFill>
                <a:latin typeface="Aptos"/>
              </a:rPr>
              <a:t>FSD 575 needs only ≈ 65–66 Hz — comfortably inside the ≤ 72 Hz upset ceiling (Slide 7).</a:t>
            </a:r>
          </a:p>
          <a:p>
            <a:pPr marL="182880" indent="-182880">
              <a:lnSpc>
                <a:spcPct val="145000"/>
              </a:lnSpc>
              <a:spcBef>
                <a:spcPts val="0"/>
              </a:spcBef>
              <a:spcAft>
                <a:spcPts val="800"/>
              </a:spcAft>
              <a:buFont typeface="Arial"/>
              <a:buChar char="•"/>
            </a:pPr>
            <a:r>
              <a:rPr sz="1550">
                <a:solidFill>
                  <a:schemeClr val="tx1">
                    <a:lumMod val="92000"/>
                    <a:lumOff val="8000"/>
                  </a:schemeClr>
                </a:solidFill>
                <a:latin typeface="Aptos"/>
              </a:rPr>
              <a:t>FSD 475 needs ≈ 75 Hz — exceeds the limit outright; requires the liquid buffer or a 4th unit.</a:t>
            </a:r>
          </a:p>
          <a:p>
            <a:pPr marL="182880" indent="-182880">
              <a:lnSpc>
                <a:spcPct val="145000"/>
              </a:lnSpc>
              <a:spcBef>
                <a:spcPts val="0"/>
              </a:spcBef>
              <a:spcAft>
                <a:spcPts val="800"/>
              </a:spcAft>
              <a:buFont typeface="Arial"/>
              <a:buChar char="•"/>
            </a:pPr>
            <a:r>
              <a:rPr sz="1550">
                <a:solidFill>
                  <a:schemeClr val="tx1">
                    <a:lumMod val="92000"/>
                    <a:lumOff val="8000"/>
                  </a:schemeClr>
                </a:solidFill>
                <a:latin typeface="Aptos"/>
              </a:rPr>
              <a:t>HSD Combi sits right at the 72 Hz edge — usable only as a short-term check mode.</a:t>
            </a:r>
          </a:p>
        </p:txBody>
      </p:sp>
      <p:pic>
        <p:nvPicPr>
          <p:cNvPr id="5" name="Picture 4" descr="s13_appendixB_hz.png"/>
          <p:cNvPicPr>
            <a:picLocks noChangeAspect="1"/>
          </p:cNvPicPr>
          <p:nvPr/>
        </p:nvPicPr>
        <p:blipFill>
          <a:blip r:embed="rId3"/>
          <a:stretch>
            <a:fillRect/>
          </a:stretch>
        </p:blipFill>
        <p:spPr>
          <a:xfrm>
            <a:off x="6400000" y="2604360"/>
            <a:ext cx="5250000" cy="2991279"/>
          </a:xfrm>
          <a:prstGeom prst="rect">
            <a:avLst/>
          </a:prstGeom>
        </p:spPr>
      </p:pic>
      <p:sp>
        <p:nvSpPr>
          <p:cNvPr id="7" name="Slide Number Placeholder 6">
            <a:extLst>
              <a:ext uri="{FF2B5EF4-FFF2-40B4-BE49-F238E27FC236}">
                <a16:creationId xmlns:a16="http://schemas.microsoft.com/office/drawing/2014/main" id="{C1040219-167B-5CD2-1BF5-1CA64BFF8CEA}"/>
              </a:ext>
            </a:extLst>
          </p:cNvPr>
          <p:cNvSpPr>
            <a:spLocks noGrp="1"/>
          </p:cNvSpPr>
          <p:nvPr>
            <p:ph type="sldNum" sz="quarter" idx="4"/>
          </p:nvPr>
        </p:nvSpPr>
        <p:spPr/>
        <p:txBody>
          <a:bodyPr/>
          <a:lstStyle/>
          <a:p>
            <a:fld id="{A814E660-BF25-4843-B2A0-93C6E2B6253B}" type="slidenum">
              <a:rPr lang="en-BE" smtClean="0"/>
              <a:pPr/>
              <a:t>17</a:t>
            </a:fld>
            <a:endParaRPr lang="en-BE" dirty="0"/>
          </a:p>
        </p:txBody>
      </p:sp>
      <p:sp>
        <p:nvSpPr>
          <p:cNvPr id="8" name="Rounded Rectangle 7"/>
          <p:cNvSpPr/>
          <p:nvPr/>
        </p:nvSpPr>
        <p:spPr>
          <a:xfrm>
            <a:off x="9546535" y="150000"/>
            <a:ext cx="2000000" cy="460000"/>
          </a:xfrm>
          <a:prstGeom prst="roundRect">
            <a:avLst>
              <a:gd name="adj" fmla="val 50000"/>
            </a:avLst>
          </a:prstGeom>
          <a:solidFill>
            <a:srgbClr val="984A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MEASURE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0"/>
          </a:xfrm>
        </p:spPr>
        <p:txBody>
          <a:bodyPr/>
          <a:lstStyle/>
          <a:p>
            <a:r>
              <a:rPr sz="2800" dirty="0">
                <a:latin typeface="Segoe UI"/>
              </a:rPr>
              <a:t>Appendix C — Liquid Buffer Coverage</a:t>
            </a:r>
          </a:p>
        </p:txBody>
      </p:sp>
      <p:sp>
        <p:nvSpPr>
          <p:cNvPr id="3" name="Text Placeholder 2"/>
          <p:cNvSpPr>
            <a:spLocks noGrp="1"/>
          </p:cNvSpPr>
          <p:nvPr>
            <p:ph type="body" sz="quarter" idx="14"/>
          </p:nvPr>
        </p:nvSpPr>
        <p:spPr>
          <a:xfrm>
            <a:off x="457200" y="1080000"/>
          </a:xfrm>
        </p:spPr>
        <p:txBody>
          <a:bodyPr>
            <a:normAutofit/>
          </a:bodyPr>
          <a:lstStyle/>
          <a:p>
            <a:r>
              <a:rPr sz="2000" dirty="0">
                <a:latin typeface="Aptos"/>
              </a:rPr>
              <a:t>Coverage Time Analysis</a:t>
            </a:r>
          </a:p>
        </p:txBody>
      </p:sp>
      <p:sp>
        <p:nvSpPr>
          <p:cNvPr id="4" name="Text Placeholder 3"/>
          <p:cNvSpPr>
            <a:spLocks noGrp="1"/>
          </p:cNvSpPr>
          <p:nvPr>
            <p:ph type="body" sz="quarter" idx="15"/>
          </p:nvPr>
        </p:nvSpPr>
        <p:spPr>
          <a:xfrm>
            <a:off x="645465" y="2000000"/>
            <a:ext cx="5350000" cy="4350000"/>
          </a:xfrm>
        </p:spPr>
        <p:txBody>
          <a:bodyPr>
            <a:noAutofit/>
          </a:bodyPr>
          <a:lstStyle/>
          <a:p>
            <a:pPr marL="182880" indent="-182880">
              <a:lnSpc>
                <a:spcPct val="145000"/>
              </a:lnSpc>
              <a:spcBef>
                <a:spcPts val="0"/>
              </a:spcBef>
              <a:spcAft>
                <a:spcPts val="800"/>
              </a:spcAft>
              <a:buFont typeface="Arial"/>
              <a:buChar char="•"/>
            </a:pPr>
            <a:r>
              <a:rPr sz="1300" dirty="0">
                <a:solidFill>
                  <a:schemeClr val="tx1">
                    <a:lumMod val="92000"/>
                    <a:lumOff val="8000"/>
                  </a:schemeClr>
                </a:solidFill>
                <a:latin typeface="Aptos"/>
              </a:rPr>
              <a:t>5 m³ liquid buffer converts an N−1 flow shortfall into a bounded repair window.</a:t>
            </a:r>
          </a:p>
          <a:p>
            <a:pPr marL="182880" indent="-182880">
              <a:lnSpc>
                <a:spcPct val="145000"/>
              </a:lnSpc>
              <a:spcBef>
                <a:spcPts val="0"/>
              </a:spcBef>
              <a:spcAft>
                <a:spcPts val="800"/>
              </a:spcAft>
              <a:buFont typeface="Arial"/>
              <a:buChar char="•"/>
            </a:pPr>
            <a:r>
              <a:rPr sz="1300" dirty="0">
                <a:solidFill>
                  <a:schemeClr val="tx1">
                    <a:lumMod val="92000"/>
                    <a:lumOff val="8000"/>
                  </a:schemeClr>
                </a:solidFill>
                <a:latin typeface="Aptos"/>
              </a:rPr>
              <a:t>¾ nominal flow (the FSD 475 N−1 case, Slides 9/11): ≈ 12 h coverage before buffer depletion.</a:t>
            </a:r>
          </a:p>
          <a:p>
            <a:pPr marL="182880" indent="-182880">
              <a:lnSpc>
                <a:spcPct val="145000"/>
              </a:lnSpc>
              <a:spcBef>
                <a:spcPts val="0"/>
              </a:spcBef>
              <a:spcAft>
                <a:spcPts val="800"/>
              </a:spcAft>
              <a:buFont typeface="Arial"/>
              <a:buChar char="•"/>
            </a:pPr>
            <a:r>
              <a:rPr sz="1300" dirty="0">
                <a:solidFill>
                  <a:schemeClr val="tx1">
                    <a:lumMod val="92000"/>
                    <a:lumOff val="8000"/>
                  </a:schemeClr>
                </a:solidFill>
                <a:latin typeface="Aptos"/>
              </a:rPr>
              <a:t>⅔ and ½ flow cases are progressively less forgiving — down to ≈ 5 h at half flow.</a:t>
            </a:r>
          </a:p>
          <a:p>
            <a:pPr marL="182880" indent="-182880">
              <a:lnSpc>
                <a:spcPct val="145000"/>
              </a:lnSpc>
              <a:spcBef>
                <a:spcPts val="0"/>
              </a:spcBef>
              <a:spcAft>
                <a:spcPts val="800"/>
              </a:spcAft>
              <a:buFont typeface="Arial"/>
              <a:buChar char="•"/>
            </a:pPr>
            <a:r>
              <a:rPr sz="1300" dirty="0">
                <a:solidFill>
                  <a:schemeClr val="tx1">
                    <a:lumMod val="92000"/>
                    <a:lumOff val="8000"/>
                  </a:schemeClr>
                </a:solidFill>
                <a:latin typeface="Aptos"/>
              </a:rPr>
              <a:t>This coverage time is what sizes the acceptable MTTR in the acceptance-test criteria (</a:t>
            </a:r>
            <a:r>
              <a:rPr sz="1300" dirty="0">
                <a:solidFill>
                  <a:schemeClr val="accent2"/>
                </a:solidFill>
                <a:latin typeface="Aptos"/>
              </a:rPr>
              <a:t>Slide 12</a:t>
            </a:r>
            <a:r>
              <a:rPr sz="1300" dirty="0">
                <a:solidFill>
                  <a:schemeClr val="tx1">
                    <a:lumMod val="92000"/>
                    <a:lumOff val="8000"/>
                  </a:schemeClr>
                </a:solidFill>
                <a:latin typeface="Aptos"/>
              </a:rPr>
              <a:t>).</a:t>
            </a:r>
          </a:p>
          <a:p>
            <a:pPr>
              <a:lnSpc>
                <a:spcPct val="145000"/>
              </a:lnSpc>
              <a:spcBef>
                <a:spcPts val="0"/>
              </a:spcBef>
              <a:spcAft>
                <a:spcPts val="800"/>
              </a:spcAft>
            </a:pPr>
            <a:r>
              <a:rPr sz="1100" i="1" dirty="0">
                <a:solidFill>
                  <a:schemeClr val="accent2"/>
                </a:solidFill>
                <a:latin typeface="Aptos"/>
              </a:rPr>
              <a:t>Applicant shall validate these loops (2/3, 3/4 nominal) and demonstrate restart criteria after flow recovery.</a:t>
            </a:r>
          </a:p>
        </p:txBody>
      </p:sp>
      <p:pic>
        <p:nvPicPr>
          <p:cNvPr id="5" name="Picture 4" descr="s14_appendixC_buffer.png"/>
          <p:cNvPicPr>
            <a:picLocks noChangeAspect="1"/>
          </p:cNvPicPr>
          <p:nvPr/>
        </p:nvPicPr>
        <p:blipFill>
          <a:blip r:embed="rId3"/>
          <a:stretch>
            <a:fillRect/>
          </a:stretch>
        </p:blipFill>
        <p:spPr>
          <a:xfrm>
            <a:off x="6100000" y="2631141"/>
            <a:ext cx="5600000" cy="2737717"/>
          </a:xfrm>
          <a:prstGeom prst="rect">
            <a:avLst/>
          </a:prstGeom>
        </p:spPr>
      </p:pic>
      <p:sp>
        <p:nvSpPr>
          <p:cNvPr id="7" name="Slide Number Placeholder 6">
            <a:extLst>
              <a:ext uri="{FF2B5EF4-FFF2-40B4-BE49-F238E27FC236}">
                <a16:creationId xmlns:a16="http://schemas.microsoft.com/office/drawing/2014/main" id="{C94F248D-469B-8D8C-63A5-DFE8E4C52CB3}"/>
              </a:ext>
            </a:extLst>
          </p:cNvPr>
          <p:cNvSpPr>
            <a:spLocks noGrp="1"/>
          </p:cNvSpPr>
          <p:nvPr>
            <p:ph type="sldNum" sz="quarter" idx="4"/>
          </p:nvPr>
        </p:nvSpPr>
        <p:spPr/>
        <p:txBody>
          <a:bodyPr/>
          <a:lstStyle/>
          <a:p>
            <a:fld id="{A814E660-BF25-4843-B2A0-93C6E2B6253B}" type="slidenum">
              <a:rPr lang="en-BE" smtClean="0"/>
              <a:pPr/>
              <a:t>18</a:t>
            </a:fld>
            <a:endParaRPr lang="en-BE" dirty="0"/>
          </a:p>
        </p:txBody>
      </p:sp>
      <p:sp>
        <p:nvSpPr>
          <p:cNvPr id="8" name="Rounded Rectangle 7"/>
          <p:cNvSpPr/>
          <p:nvPr/>
        </p:nvSpPr>
        <p:spPr>
          <a:xfrm>
            <a:off x="9546535" y="150000"/>
            <a:ext cx="2000000" cy="460000"/>
          </a:xfrm>
          <a:prstGeom prst="roundRect">
            <a:avLst>
              <a:gd name="adj" fmla="val 50000"/>
            </a:avLst>
          </a:prstGeom>
          <a:solidFill>
            <a:srgbClr val="984A9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MEASURE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CA418-2314-992B-9052-237103B3F9B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64A22CD-96BA-7150-71C5-CF43732A5CFC}"/>
              </a:ext>
            </a:extLst>
          </p:cNvPr>
          <p:cNvSpPr txBox="1"/>
          <p:nvPr/>
        </p:nvSpPr>
        <p:spPr>
          <a:xfrm>
            <a:off x="6416040" y="1645921"/>
            <a:ext cx="3657600" cy="276999"/>
          </a:xfrm>
          <a:prstGeom prst="rect">
            <a:avLst/>
          </a:prstGeom>
          <a:noFill/>
        </p:spPr>
        <p:txBody>
          <a:bodyPr wrap="square">
            <a:spAutoFit/>
          </a:bodyPr>
          <a:lstStyle/>
          <a:p>
            <a:pPr>
              <a:defRPr sz="1200">
                <a:solidFill>
                  <a:srgbClr val="323232"/>
                </a:solidFill>
                <a:latin typeface="Courier New"/>
              </a:defRPr>
            </a:pPr>
            <a:endParaRPr sz="1200" dirty="0"/>
          </a:p>
        </p:txBody>
      </p:sp>
      <p:sp>
        <p:nvSpPr>
          <p:cNvPr id="2" name="Rectangle 1">
            <a:extLst>
              <a:ext uri="{FF2B5EF4-FFF2-40B4-BE49-F238E27FC236}">
                <a16:creationId xmlns:a16="http://schemas.microsoft.com/office/drawing/2014/main" id="{D39C34AB-E86B-ED36-7BEB-FDB7291C8351}"/>
              </a:ext>
            </a:extLst>
          </p:cNvPr>
          <p:cNvSpPr/>
          <p:nvPr/>
        </p:nvSpPr>
        <p:spPr>
          <a:xfrm>
            <a:off x="1524000" y="0"/>
            <a:ext cx="9144000" cy="914400"/>
          </a:xfrm>
          <a:prstGeom prst="rect">
            <a:avLst/>
          </a:prstGeom>
          <a:solidFill>
            <a:schemeClr val="accent4"/>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a:rPr>
              <a:t>Failure Classification</a:t>
            </a:r>
            <a:endParaRPr sz="2800" dirty="0"/>
          </a:p>
        </p:txBody>
      </p:sp>
      <p:sp>
        <p:nvSpPr>
          <p:cNvPr id="16" name="Slide Number Placeholder 15">
            <a:extLst>
              <a:ext uri="{FF2B5EF4-FFF2-40B4-BE49-F238E27FC236}">
                <a16:creationId xmlns:a16="http://schemas.microsoft.com/office/drawing/2014/main" id="{CB1AE350-8B46-2F05-27FC-3C1A89AF777B}"/>
              </a:ext>
            </a:extLst>
          </p:cNvPr>
          <p:cNvSpPr>
            <a:spLocks noGrp="1"/>
          </p:cNvSpPr>
          <p:nvPr>
            <p:ph type="sldNum" sz="quarter" idx="12"/>
          </p:nvPr>
        </p:nvSpPr>
        <p:spPr/>
        <p:txBody>
          <a:bodyPr/>
          <a:lstStyle/>
          <a:p>
            <a:fld id="{C1FF6DA9-008F-8B48-92A6-B652298478BF}" type="slidenum">
              <a:rPr lang="en-US" smtClean="0"/>
              <a:t>19</a:t>
            </a:fld>
            <a:endParaRPr lang="en-US"/>
          </a:p>
        </p:txBody>
      </p:sp>
      <p:sp>
        <p:nvSpPr>
          <p:cNvPr id="13" name="Rectangle 3">
            <a:extLst>
              <a:ext uri="{FF2B5EF4-FFF2-40B4-BE49-F238E27FC236}">
                <a16:creationId xmlns:a16="http://schemas.microsoft.com/office/drawing/2014/main" id="{E9FE0465-00CD-5658-8B55-CC8B7EDF8339}"/>
              </a:ext>
            </a:extLst>
          </p:cNvPr>
          <p:cNvSpPr>
            <a:spLocks noChangeArrowheads="1"/>
          </p:cNvSpPr>
          <p:nvPr/>
        </p:nvSpPr>
        <p:spPr bwMode="auto">
          <a:xfrm>
            <a:off x="1928793" y="1209106"/>
            <a:ext cx="46172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dirty="0">
                <a:latin typeface="Aptos"/>
              </a:rPr>
              <a:t>RTM-061 — three consequence-based classes (Class A/B/C)</a:t>
            </a:r>
          </a:p>
        </p:txBody>
      </p:sp>
      <p:graphicFrame>
        <p:nvGraphicFramePr>
          <p:cNvPr id="3" name="Table 2">
            <a:extLst>
              <a:ext uri="{FF2B5EF4-FFF2-40B4-BE49-F238E27FC236}">
                <a16:creationId xmlns:a16="http://schemas.microsoft.com/office/drawing/2014/main" id="{D559DA4B-E09D-24BB-22BF-29B3EE12129D}"/>
              </a:ext>
            </a:extLst>
          </p:cNvPr>
          <p:cNvGraphicFramePr>
            <a:graphicFrameLocks noGrp="1"/>
          </p:cNvGraphicFramePr>
          <p:nvPr/>
        </p:nvGraphicFramePr>
        <p:xfrm>
          <a:off x="1928793" y="1750000"/>
          <a:ext cx="8229600" cy="1463040"/>
        </p:xfrm>
        <a:graphic>
          <a:graphicData uri="http://schemas.openxmlformats.org/drawingml/2006/table">
            <a:tbl>
              <a:tblPr/>
              <a:tblGrid>
                <a:gridCol w="4114800">
                  <a:extLst>
                    <a:ext uri="{9D8B030D-6E8A-4147-A177-3AD203B41FA5}">
                      <a16:colId xmlns:a16="http://schemas.microsoft.com/office/drawing/2014/main" val="4026428272"/>
                    </a:ext>
                  </a:extLst>
                </a:gridCol>
                <a:gridCol w="4114800">
                  <a:extLst>
                    <a:ext uri="{9D8B030D-6E8A-4147-A177-3AD203B41FA5}">
                      <a16:colId xmlns:a16="http://schemas.microsoft.com/office/drawing/2014/main" val="1214332835"/>
                    </a:ext>
                  </a:extLst>
                </a:gridCol>
              </a:tblGrid>
              <a:tr h="0">
                <a:tc>
                  <a:txBody>
                    <a:bodyPr/>
                    <a:lstStyle/>
                    <a:p>
                      <a:r>
                        <a:rPr lang="en-US" b="1">
                          <a:solidFill>
                            <a:schemeClr val="bg1"/>
                          </a:solidFill>
                        </a:rPr>
                        <a:t>Class</a:t>
                      </a:r>
                    </a:p>
                  </a:txBody>
                  <a:tcPr anchor="ctr">
                    <a:lnL>
                      <a:noFill/>
                    </a:lnL>
                    <a:lnR>
                      <a:noFill/>
                    </a:lnR>
                    <a:lnT>
                      <a:noFill/>
                    </a:lnT>
                    <a:lnB>
                      <a:noFill/>
                    </a:lnB>
                    <a:solidFill>
                      <a:schemeClr val="accent1"/>
                    </a:solidFill>
                  </a:tcPr>
                </a:tc>
                <a:tc>
                  <a:txBody>
                    <a:bodyPr/>
                    <a:lstStyle/>
                    <a:p>
                      <a:r>
                        <a:rPr lang="en-US" b="1">
                          <a:solidFill>
                            <a:schemeClr val="bg1"/>
                          </a:solidFill>
                        </a:rPr>
                        <a:t>Consequence</a:t>
                      </a:r>
                    </a:p>
                  </a:txBody>
                  <a:tcPr anchor="ctr">
                    <a:lnL>
                      <a:noFill/>
                    </a:lnL>
                    <a:lnR>
                      <a:noFill/>
                    </a:lnR>
                    <a:lnT>
                      <a:noFill/>
                    </a:lnT>
                    <a:lnB>
                      <a:noFill/>
                    </a:lnB>
                    <a:solidFill>
                      <a:schemeClr val="accent1"/>
                    </a:solidFill>
                  </a:tcPr>
                </a:tc>
                <a:extLst>
                  <a:ext uri="{0D108BD9-81ED-4DB2-BD59-A6C34878D82A}">
                    <a16:rowId xmlns:a16="http://schemas.microsoft.com/office/drawing/2014/main" val="3240277228"/>
                  </a:ext>
                </a:extLst>
              </a:tr>
              <a:tr h="0">
                <a:tc>
                  <a:txBody>
                    <a:bodyPr/>
                    <a:lstStyle/>
                    <a:p>
                      <a:r>
                        <a:rPr lang="en-US" b="1" dirty="0">
                          <a:solidFill>
                            <a:schemeClr val="accent1"/>
                          </a:solidFill>
                        </a:rPr>
                        <a:t>A</a:t>
                      </a:r>
                    </a:p>
                  </a:txBody>
                  <a:tcPr anchor="ctr">
                    <a:lnL>
                      <a:noFill/>
                    </a:lnL>
                    <a:lnR>
                      <a:noFill/>
                    </a:lnR>
                    <a:lnT>
                      <a:noFill/>
                    </a:lnT>
                    <a:lnB>
                      <a:noFill/>
                    </a:lnB>
                    <a:solidFill>
                      <a:schemeClr val="bg1"/>
                    </a:solidFill>
                  </a:tcPr>
                </a:tc>
                <a:tc>
                  <a:txBody>
                    <a:bodyPr/>
                    <a:lstStyle/>
                    <a:p>
                      <a:r>
                        <a:rPr lang="en-US" dirty="0"/>
                        <a:t>Exit from 2 K, recoverable ≤ 24 h</a:t>
                      </a:r>
                    </a:p>
                  </a:txBody>
                  <a:tcPr anchor="ctr">
                    <a:lnL>
                      <a:noFill/>
                    </a:lnL>
                    <a:lnR>
                      <a:noFill/>
                    </a:lnR>
                    <a:lnT>
                      <a:noFill/>
                    </a:lnT>
                    <a:lnB>
                      <a:noFill/>
                    </a:lnB>
                    <a:solidFill>
                      <a:schemeClr val="bg1"/>
                    </a:solidFill>
                  </a:tcPr>
                </a:tc>
                <a:extLst>
                  <a:ext uri="{0D108BD9-81ED-4DB2-BD59-A6C34878D82A}">
                    <a16:rowId xmlns:a16="http://schemas.microsoft.com/office/drawing/2014/main" val="2593493329"/>
                  </a:ext>
                </a:extLst>
              </a:tr>
              <a:tr h="0">
                <a:tc>
                  <a:txBody>
                    <a:bodyPr/>
                    <a:lstStyle/>
                    <a:p>
                      <a:r>
                        <a:rPr lang="en-US" b="1" dirty="0">
                          <a:solidFill>
                            <a:schemeClr val="accent1"/>
                          </a:solidFill>
                        </a:rPr>
                        <a:t>B</a:t>
                      </a:r>
                    </a:p>
                  </a:txBody>
                  <a:tcPr anchor="ctr">
                    <a:lnL>
                      <a:noFill/>
                    </a:lnL>
                    <a:lnR>
                      <a:noFill/>
                    </a:lnR>
                    <a:lnT>
                      <a:noFill/>
                    </a:lnT>
                    <a:lnB>
                      <a:noFill/>
                    </a:lnB>
                    <a:solidFill>
                      <a:schemeClr val="accent1">
                        <a:lumMod val="8000"/>
                        <a:lumOff val="92000"/>
                      </a:schemeClr>
                    </a:solidFill>
                  </a:tcPr>
                </a:tc>
                <a:tc>
                  <a:txBody>
                    <a:bodyPr/>
                    <a:lstStyle/>
                    <a:p>
                      <a:r>
                        <a:rPr lang="en-US" dirty="0"/>
                        <a:t>Transition to 4.5 K / TS standby</a:t>
                      </a:r>
                    </a:p>
                  </a:txBody>
                  <a:tcPr anchor="ctr">
                    <a:lnL>
                      <a:noFill/>
                    </a:lnL>
                    <a:lnR>
                      <a:noFill/>
                    </a:lnR>
                    <a:lnT>
                      <a:noFill/>
                    </a:lnT>
                    <a:lnB>
                      <a:noFill/>
                    </a:lnB>
                    <a:solidFill>
                      <a:schemeClr val="accent1">
                        <a:lumMod val="8000"/>
                        <a:lumOff val="92000"/>
                      </a:schemeClr>
                    </a:solidFill>
                  </a:tcPr>
                </a:tc>
                <a:extLst>
                  <a:ext uri="{0D108BD9-81ED-4DB2-BD59-A6C34878D82A}">
                    <a16:rowId xmlns:a16="http://schemas.microsoft.com/office/drawing/2014/main" val="3082625600"/>
                  </a:ext>
                </a:extLst>
              </a:tr>
              <a:tr h="0">
                <a:tc>
                  <a:txBody>
                    <a:bodyPr/>
                    <a:lstStyle/>
                    <a:p>
                      <a:r>
                        <a:rPr lang="en-US" b="1" dirty="0">
                          <a:solidFill>
                            <a:schemeClr val="accent1"/>
                          </a:solidFill>
                        </a:rPr>
                        <a:t>C</a:t>
                      </a:r>
                    </a:p>
                  </a:txBody>
                  <a:tcPr anchor="ctr">
                    <a:lnL>
                      <a:noFill/>
                    </a:lnL>
                    <a:lnR>
                      <a:noFill/>
                    </a:lnR>
                    <a:lnT>
                      <a:noFill/>
                    </a:lnT>
                    <a:lnB>
                      <a:noFill/>
                    </a:lnB>
                    <a:solidFill>
                      <a:schemeClr val="bg1"/>
                    </a:solidFill>
                  </a:tcPr>
                </a:tc>
                <a:tc>
                  <a:txBody>
                    <a:bodyPr/>
                    <a:lstStyle/>
                    <a:p>
                      <a:r>
                        <a:rPr lang="en-US" dirty="0"/>
                        <a:t>Warm-up &gt; 4.5 K or &gt; 24 h recovery</a:t>
                      </a:r>
                    </a:p>
                  </a:txBody>
                  <a:tcPr anchor="ctr">
                    <a:lnL>
                      <a:noFill/>
                    </a:lnL>
                    <a:lnR>
                      <a:noFill/>
                    </a:lnR>
                    <a:lnT>
                      <a:noFill/>
                    </a:lnT>
                    <a:lnB>
                      <a:noFill/>
                    </a:lnB>
                    <a:solidFill>
                      <a:schemeClr val="bg1"/>
                    </a:solidFill>
                  </a:tcPr>
                </a:tc>
                <a:extLst>
                  <a:ext uri="{0D108BD9-81ED-4DB2-BD59-A6C34878D82A}">
                    <a16:rowId xmlns:a16="http://schemas.microsoft.com/office/drawing/2014/main" val="4074667669"/>
                  </a:ext>
                </a:extLst>
              </a:tr>
            </a:tbl>
          </a:graphicData>
        </a:graphic>
      </p:graphicFrame>
      <p:sp>
        <p:nvSpPr>
          <p:cNvPr id="17" name="TextBox 16"/>
          <p:cNvSpPr txBox="1"/>
          <p:nvPr/>
        </p:nvSpPr>
        <p:spPr>
          <a:xfrm>
            <a:off x="1928793" y="3450000"/>
            <a:ext cx="8229600" cy="542925"/>
          </a:xfrm>
          <a:prstGeom prst="rect">
            <a:avLst/>
          </a:prstGeom>
          <a:noFill/>
        </p:spPr>
        <p:txBody>
          <a:bodyPr wrap="square">
            <a:spAutoFit/>
          </a:bodyPr>
          <a:lstStyle/>
          <a:p>
            <a:pPr>
              <a:lnSpc>
                <a:spcPct val="145000"/>
              </a:lnSpc>
              <a:spcBef>
                <a:spcPts val="0"/>
              </a:spcBef>
              <a:spcAft>
                <a:spcPts val="800"/>
              </a:spcAft>
            </a:pPr>
            <a:r>
              <a:rPr sz="950" dirty="0">
                <a:solidFill>
                  <a:schemeClr val="tx1">
                    <a:lumMod val="92000"/>
                    <a:lumOff val="8000"/>
                  </a:schemeClr>
                </a:solidFill>
                <a:latin typeface="Aptos"/>
              </a:rPr>
              <a:t>Every unplanned transition out of 2 K is classified by how far it falls and how long recovery takes — the classification alone doesn't set a number, it decides which MTBF target applies (</a:t>
            </a:r>
            <a:r>
              <a:rPr sz="950" b="1" dirty="0">
                <a:solidFill>
                  <a:schemeClr val="accent2"/>
                </a:solidFill>
                <a:latin typeface="Aptos"/>
              </a:rPr>
              <a:t>Slide 20</a:t>
            </a:r>
            <a:r>
              <a:rPr sz="950" dirty="0">
                <a:solidFill>
                  <a:schemeClr val="tx1">
                    <a:lumMod val="92000"/>
                    <a:lumOff val="8000"/>
                  </a:schemeClr>
                </a:solidFill>
                <a:latin typeface="Aptos"/>
              </a:rPr>
              <a:t>).</a:t>
            </a:r>
          </a:p>
        </p:txBody>
      </p:sp>
      <p:sp>
        <p:nvSpPr>
          <p:cNvPr id="18" name="Rounded Rectangle 17"/>
          <p:cNvSpPr/>
          <p:nvPr/>
        </p:nvSpPr>
        <p:spPr>
          <a:xfrm>
            <a:off x="1928793" y="4550000"/>
            <a:ext cx="8229600" cy="70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50" b="1">
                <a:solidFill>
                  <a:schemeClr val="accent1"/>
                </a:solidFill>
                <a:latin typeface="Aptos"/>
              </a:rPr>
              <a:t>WHY IT MATTERS  </a:t>
            </a:r>
            <a:r>
              <a:rPr sz="1150" b="0">
                <a:solidFill>
                  <a:schemeClr val="accent1"/>
                </a:solidFill>
                <a:latin typeface="Aptos"/>
              </a:rPr>
              <a:t>Class is assigned by consequence, not cause — a Class C warm-up from a sensor fault counts the same as one from a compressor failure. This keeps the MTBF budget honest.</a:t>
            </a:r>
          </a:p>
        </p:txBody>
      </p:sp>
      <p:sp>
        <p:nvSpPr>
          <p:cNvPr id="19" name="Rounded Rectangle 18"/>
          <p:cNvSpPr/>
          <p:nvPr/>
        </p:nvSpPr>
        <p:spPr>
          <a:xfrm>
            <a:off x="10728000" y="227200"/>
            <a:ext cx="1404000" cy="460000"/>
          </a:xfrm>
          <a:prstGeom prst="roundRect">
            <a:avLst>
              <a:gd name="adj" fmla="val 50000"/>
            </a:avLst>
          </a:prstGeom>
          <a:solidFill>
            <a:srgbClr val="5628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DEFINE</a:t>
            </a:r>
          </a:p>
        </p:txBody>
      </p:sp>
    </p:spTree>
    <p:extLst>
      <p:ext uri="{BB962C8B-B14F-4D97-AF65-F5344CB8AC3E}">
        <p14:creationId xmlns:p14="http://schemas.microsoft.com/office/powerpoint/2010/main" val="3939133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CA418-2314-992B-9052-237103B3F9B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64A22CD-96BA-7150-71C5-CF43732A5CFC}"/>
              </a:ext>
            </a:extLst>
          </p:cNvPr>
          <p:cNvSpPr txBox="1"/>
          <p:nvPr/>
        </p:nvSpPr>
        <p:spPr>
          <a:xfrm>
            <a:off x="6416040" y="1645921"/>
            <a:ext cx="3657600" cy="276999"/>
          </a:xfrm>
          <a:prstGeom prst="rect">
            <a:avLst/>
          </a:prstGeom>
          <a:noFill/>
        </p:spPr>
        <p:txBody>
          <a:bodyPr wrap="square">
            <a:spAutoFit/>
          </a:bodyPr>
          <a:lstStyle/>
          <a:p>
            <a:pPr>
              <a:defRPr sz="1200">
                <a:solidFill>
                  <a:srgbClr val="323232"/>
                </a:solidFill>
                <a:latin typeface="Courier New"/>
              </a:defRPr>
            </a:pPr>
            <a:endParaRPr sz="1200" dirty="0"/>
          </a:p>
        </p:txBody>
      </p:sp>
      <p:sp>
        <p:nvSpPr>
          <p:cNvPr id="2" name="Rectangle 1">
            <a:extLst>
              <a:ext uri="{FF2B5EF4-FFF2-40B4-BE49-F238E27FC236}">
                <a16:creationId xmlns:a16="http://schemas.microsoft.com/office/drawing/2014/main" id="{D39C34AB-E86B-ED36-7BEB-FDB7291C8351}"/>
              </a:ext>
            </a:extLst>
          </p:cNvPr>
          <p:cNvSpPr/>
          <p:nvPr/>
        </p:nvSpPr>
        <p:spPr>
          <a:xfrm>
            <a:off x="1524000" y="0"/>
            <a:ext cx="9144000" cy="914400"/>
          </a:xfrm>
          <a:prstGeom prst="rect">
            <a:avLst/>
          </a:prstGeom>
          <a:solidFill>
            <a:schemeClr val="accent4"/>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a:rPr>
              <a:t>Reliability Targets by Failure Class</a:t>
            </a:r>
            <a:endParaRPr sz="2800" dirty="0"/>
          </a:p>
        </p:txBody>
      </p:sp>
      <p:sp>
        <p:nvSpPr>
          <p:cNvPr id="16" name="Slide Number Placeholder 15">
            <a:extLst>
              <a:ext uri="{FF2B5EF4-FFF2-40B4-BE49-F238E27FC236}">
                <a16:creationId xmlns:a16="http://schemas.microsoft.com/office/drawing/2014/main" id="{CB1AE350-8B46-2F05-27FC-3C1A89AF777B}"/>
              </a:ext>
            </a:extLst>
          </p:cNvPr>
          <p:cNvSpPr>
            <a:spLocks noGrp="1"/>
          </p:cNvSpPr>
          <p:nvPr>
            <p:ph type="sldNum" sz="quarter" idx="12"/>
          </p:nvPr>
        </p:nvSpPr>
        <p:spPr/>
        <p:txBody>
          <a:bodyPr/>
          <a:lstStyle/>
          <a:p>
            <a:fld id="{C1FF6DA9-008F-8B48-92A6-B652298478BF}" type="slidenum">
              <a:rPr lang="en-US" smtClean="0"/>
              <a:t>20</a:t>
            </a:fld>
            <a:endParaRPr lang="en-US"/>
          </a:p>
        </p:txBody>
      </p:sp>
      <p:sp>
        <p:nvSpPr>
          <p:cNvPr id="6" name="Rectangle 1">
            <a:extLst>
              <a:ext uri="{FF2B5EF4-FFF2-40B4-BE49-F238E27FC236}">
                <a16:creationId xmlns:a16="http://schemas.microsoft.com/office/drawing/2014/main" id="{CD5DBEEE-2771-2D49-F691-18B5543C5CA8}"/>
              </a:ext>
            </a:extLst>
          </p:cNvPr>
          <p:cNvSpPr>
            <a:spLocks noChangeArrowheads="1"/>
          </p:cNvSpPr>
          <p:nvPr/>
        </p:nvSpPr>
        <p:spPr bwMode="auto">
          <a:xfrm>
            <a:off x="1928794" y="1938281"/>
            <a:ext cx="485069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lang="en-US" altLang="en-US" sz="1600" b="1" dirty="0">
                <a:latin typeface="Aptos" panose="020B0004020202020204" pitchFamily="34" charset="0"/>
              </a:rPr>
              <a:t>MTBF requirements scale with severity of consequence</a:t>
            </a:r>
          </a:p>
          <a:p>
            <a:pPr lvl="1" eaLnBrk="0" fontAlgn="base" hangingPunct="0">
              <a:spcBef>
                <a:spcPct val="0"/>
              </a:spcBef>
              <a:spcAft>
                <a:spcPct val="0"/>
              </a:spcAft>
            </a:pPr>
            <a:r>
              <a:rPr lang="en-US" altLang="en-US" sz="1600" b="1" dirty="0">
                <a:latin typeface="Aptos" panose="020B0004020202020204" pitchFamily="34" charset="0"/>
              </a:rPr>
              <a:t>Applies to aggregated QPLANT contribution</a:t>
            </a:r>
          </a:p>
          <a:p>
            <a:pPr marL="285750" indent="-285750" eaLnBrk="0" fontAlgn="base" hangingPunct="0">
              <a:spcBef>
                <a:spcPct val="0"/>
              </a:spcBef>
              <a:spcAft>
                <a:spcPct val="0"/>
              </a:spcAft>
              <a:buFont typeface="Arial" panose="020B0604020202020204" pitchFamily="34" charset="0"/>
              <a:buChar char="•"/>
            </a:pPr>
            <a:r>
              <a:rPr lang="en-US" altLang="en-US" sz="1600" b="1" dirty="0">
                <a:latin typeface="Aptos" panose="020B0004020202020204" pitchFamily="34" charset="0"/>
              </a:rPr>
              <a:t>Prevents trading rare catastrophic events against frequent minor ones</a:t>
            </a:r>
          </a:p>
        </p:txBody>
      </p:sp>
      <p:sp>
        <p:nvSpPr>
          <p:cNvPr id="18" name="TextBox 17"/>
          <p:cNvSpPr txBox="1"/>
          <p:nvPr/>
        </p:nvSpPr>
        <p:spPr>
          <a:xfrm>
            <a:off x="1928793" y="3450000"/>
            <a:ext cx="4600000" cy="500000"/>
          </a:xfrm>
          <a:prstGeom prst="rect">
            <a:avLst/>
          </a:prstGeom>
          <a:noFill/>
        </p:spPr>
        <p:txBody>
          <a:bodyPr wrap="square">
            <a:spAutoFit/>
          </a:bodyPr>
          <a:lstStyle/>
          <a:p>
            <a:pPr>
              <a:lnSpc>
                <a:spcPct val="110000"/>
              </a:lnSpc>
            </a:pPr>
            <a:r>
              <a:rPr sz="1050" i="1">
                <a:solidFill>
                  <a:srgbClr val="595959"/>
                </a:solidFill>
                <a:latin typeface="Aptos"/>
              </a:rPr>
              <a:t>Target values (&gt; 5 / &gt; 10 / &gt; 15 years) are read directly off the chart, right →</a:t>
            </a:r>
          </a:p>
        </p:txBody>
      </p:sp>
      <p:pic>
        <p:nvPicPr>
          <p:cNvPr id="19" name="Picture 18" descr="s09_mtbf_by_class.png"/>
          <p:cNvPicPr>
            <a:picLocks noChangeAspect="1"/>
          </p:cNvPicPr>
          <p:nvPr/>
        </p:nvPicPr>
        <p:blipFill>
          <a:blip r:embed="rId3"/>
          <a:stretch>
            <a:fillRect/>
          </a:stretch>
        </p:blipFill>
        <p:spPr>
          <a:xfrm>
            <a:off x="6416344" y="1847088"/>
            <a:ext cx="5230368" cy="3063240"/>
          </a:xfrm>
          <a:prstGeom prst="rect">
            <a:avLst/>
          </a:prstGeom>
        </p:spPr>
      </p:pic>
      <p:sp>
        <p:nvSpPr>
          <p:cNvPr id="20" name="TextBox 19"/>
          <p:cNvSpPr txBox="1"/>
          <p:nvPr/>
        </p:nvSpPr>
        <p:spPr>
          <a:xfrm>
            <a:off x="6416344" y="4965192"/>
            <a:ext cx="5230368" cy="400000"/>
          </a:xfrm>
          <a:prstGeom prst="rect">
            <a:avLst/>
          </a:prstGeom>
          <a:noFill/>
        </p:spPr>
        <p:txBody>
          <a:bodyPr wrap="square">
            <a:spAutoFit/>
          </a:bodyPr>
          <a:lstStyle/>
          <a:p>
            <a:pPr algn="ctr"/>
            <a:r>
              <a:rPr sz="1000" i="1">
                <a:solidFill>
                  <a:srgbClr val="595959"/>
                </a:solidFill>
                <a:latin typeface="Aptos"/>
              </a:rPr>
              <a:t>Same chart, different lens — first shown on Slide 13</a:t>
            </a:r>
          </a:p>
        </p:txBody>
      </p:sp>
      <p:sp>
        <p:nvSpPr>
          <p:cNvPr id="21" name="Rounded Rectangle 20"/>
          <p:cNvSpPr/>
          <p:nvPr/>
        </p:nvSpPr>
        <p:spPr>
          <a:xfrm>
            <a:off x="1928793" y="4160520"/>
            <a:ext cx="4600000" cy="850392"/>
          </a:xfrm>
          <a:prstGeom prst="roundRect">
            <a:avLst>
              <a:gd name="adj" fmla="val 6000"/>
            </a:avLst>
          </a:prstGeom>
          <a:solidFill>
            <a:srgbClr val="EFE5F5"/>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00" b="1">
                <a:solidFill>
                  <a:srgbClr val="441F63"/>
                </a:solidFill>
                <a:latin typeface="Aptos"/>
              </a:rPr>
              <a:t>CROSS-CHECK  </a:t>
            </a:r>
            <a:r>
              <a:rPr sz="1100" b="0">
                <a:solidFill>
                  <a:srgbClr val="441F63"/>
                </a:solidFill>
                <a:latin typeface="Aptos"/>
              </a:rPr>
              <a:t>These are the same three numbers Slide 13 feeds into the Poisson campaign-success model (Slides 22–28) — defined once here, used twice.</a:t>
            </a:r>
          </a:p>
        </p:txBody>
      </p:sp>
      <p:sp>
        <p:nvSpPr>
          <p:cNvPr id="17" name="TextBox 16"/>
          <p:cNvSpPr txBox="1"/>
          <p:nvPr/>
        </p:nvSpPr>
        <p:spPr>
          <a:xfrm>
            <a:off x="1928793" y="1209106"/>
            <a:ext cx="4617290" cy="369332"/>
          </a:xfrm>
          <a:prstGeom prst="rect">
            <a:avLst/>
          </a:prstGeom>
          <a:noFill/>
        </p:spPr>
        <p:txBody>
          <a:bodyPr wrap="square">
            <a:spAutoFit/>
          </a:bodyPr>
          <a:lstStyle/>
          <a:p>
            <a:pPr>
              <a:lnSpc>
                <a:spcPct val="145000"/>
              </a:lnSpc>
              <a:spcBef>
                <a:spcPts val="0"/>
              </a:spcBef>
              <a:spcAft>
                <a:spcPts val="800"/>
              </a:spcAft>
            </a:pPr>
            <a:r>
              <a:rPr sz="950" b="1">
                <a:solidFill>
                  <a:srgbClr val="8B3F92"/>
                </a:solidFill>
                <a:latin typeface="Aptos"/>
              </a:rPr>
              <a:t>Same three classes as Slide 19 — MTBF target per consequence tier</a:t>
            </a:r>
          </a:p>
        </p:txBody>
      </p:sp>
      <p:sp>
        <p:nvSpPr>
          <p:cNvPr id="22" name="Rounded Rectangle 21"/>
          <p:cNvSpPr/>
          <p:nvPr/>
        </p:nvSpPr>
        <p:spPr>
          <a:xfrm>
            <a:off x="10728000" y="227200"/>
            <a:ext cx="1404000" cy="460000"/>
          </a:xfrm>
          <a:prstGeom prst="roundRect">
            <a:avLst>
              <a:gd name="adj" fmla="val 50000"/>
            </a:avLst>
          </a:prstGeom>
          <a:solidFill>
            <a:srgbClr val="5628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DEFINE</a:t>
            </a:r>
          </a:p>
        </p:txBody>
      </p:sp>
    </p:spTree>
    <p:extLst>
      <p:ext uri="{BB962C8B-B14F-4D97-AF65-F5344CB8AC3E}">
        <p14:creationId xmlns:p14="http://schemas.microsoft.com/office/powerpoint/2010/main" val="3939133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5FD22-0451-83E3-2B9B-A7F354B3705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EFFD8A6-C71E-E629-5A36-6CD51F3FDB6B}"/>
              </a:ext>
            </a:extLst>
          </p:cNvPr>
          <p:cNvSpPr txBox="1"/>
          <p:nvPr/>
        </p:nvSpPr>
        <p:spPr>
          <a:xfrm>
            <a:off x="6416040" y="1645921"/>
            <a:ext cx="3657600" cy="276999"/>
          </a:xfrm>
          <a:prstGeom prst="rect">
            <a:avLst/>
          </a:prstGeom>
          <a:noFill/>
        </p:spPr>
        <p:txBody>
          <a:bodyPr wrap="square">
            <a:spAutoFit/>
          </a:bodyPr>
          <a:lstStyle/>
          <a:p>
            <a:pPr>
              <a:defRPr sz="1200">
                <a:solidFill>
                  <a:srgbClr val="323232"/>
                </a:solidFill>
                <a:latin typeface="Courier New"/>
              </a:defRPr>
            </a:pPr>
            <a:endParaRPr sz="1200" dirty="0">
              <a:latin typeface="Aptos" panose="020B0004020202020204" pitchFamily="34" charset="0"/>
            </a:endParaRPr>
          </a:p>
        </p:txBody>
      </p:sp>
      <p:sp>
        <p:nvSpPr>
          <p:cNvPr id="2" name="Rectangle 1">
            <a:extLst>
              <a:ext uri="{FF2B5EF4-FFF2-40B4-BE49-F238E27FC236}">
                <a16:creationId xmlns:a16="http://schemas.microsoft.com/office/drawing/2014/main" id="{5EF5ACDE-0A98-AC65-CC5D-30C4DC304B10}"/>
              </a:ext>
            </a:extLst>
          </p:cNvPr>
          <p:cNvSpPr/>
          <p:nvPr/>
        </p:nvSpPr>
        <p:spPr>
          <a:xfrm>
            <a:off x="1524000" y="0"/>
            <a:ext cx="9144000" cy="914400"/>
          </a:xfrm>
          <a:prstGeom prst="rect">
            <a:avLst/>
          </a:prstGeom>
          <a:solidFill>
            <a:schemeClr val="accent4"/>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panose="020B0004020202020204" pitchFamily="34" charset="0"/>
              </a:rPr>
              <a:t>Operational Philosophy: Cold ≠ Off</a:t>
            </a:r>
            <a:endParaRPr sz="2800" dirty="0">
              <a:latin typeface="Aptos" panose="020B0004020202020204" pitchFamily="34" charset="0"/>
            </a:endParaRPr>
          </a:p>
        </p:txBody>
      </p:sp>
      <p:sp>
        <p:nvSpPr>
          <p:cNvPr id="16" name="Slide Number Placeholder 15">
            <a:extLst>
              <a:ext uri="{FF2B5EF4-FFF2-40B4-BE49-F238E27FC236}">
                <a16:creationId xmlns:a16="http://schemas.microsoft.com/office/drawing/2014/main" id="{E6937787-C166-0B56-53CC-E47815CFD3ED}"/>
              </a:ext>
            </a:extLst>
          </p:cNvPr>
          <p:cNvSpPr>
            <a:spLocks noGrp="1"/>
          </p:cNvSpPr>
          <p:nvPr>
            <p:ph type="sldNum" sz="quarter" idx="12"/>
          </p:nvPr>
        </p:nvSpPr>
        <p:spPr/>
        <p:txBody>
          <a:bodyPr/>
          <a:lstStyle/>
          <a:p>
            <a:fld id="{C1FF6DA9-008F-8B48-92A6-B652298478BF}" type="slidenum">
              <a:rPr lang="en-US" smtClean="0">
                <a:latin typeface="Aptos" panose="020B0004020202020204" pitchFamily="34" charset="0"/>
              </a:rPr>
              <a:t>21</a:t>
            </a:fld>
            <a:endParaRPr lang="en-US">
              <a:latin typeface="Aptos" panose="020B0004020202020204" pitchFamily="34" charset="0"/>
            </a:endParaRPr>
          </a:p>
        </p:txBody>
      </p:sp>
      <p:sp>
        <p:nvSpPr>
          <p:cNvPr id="17" name="TextBox 16"/>
          <p:cNvSpPr txBox="1"/>
          <p:nvPr/>
        </p:nvSpPr>
        <p:spPr>
          <a:xfrm>
            <a:off x="645465" y="1650000"/>
            <a:ext cx="11000000" cy="734432"/>
          </a:xfrm>
          <a:prstGeom prst="rect">
            <a:avLst/>
          </a:prstGeom>
          <a:noFill/>
        </p:spPr>
        <p:txBody>
          <a:bodyPr wrap="square">
            <a:spAutoFit/>
          </a:bodyPr>
          <a:lstStyle/>
          <a:p>
            <a:pPr marL="182880" indent="-182880">
              <a:lnSpc>
                <a:spcPct val="145000"/>
              </a:lnSpc>
              <a:spcBef>
                <a:spcPts val="0"/>
              </a:spcBef>
              <a:spcAft>
                <a:spcPts val="800"/>
              </a:spcAft>
              <a:buFont typeface="Arial"/>
              <a:buChar char="•"/>
            </a:pPr>
            <a:r>
              <a:rPr sz="1100" dirty="0">
                <a:solidFill>
                  <a:schemeClr val="tx1">
                    <a:lumMod val="92000"/>
                    <a:lumOff val="8000"/>
                  </a:schemeClr>
                </a:solidFill>
                <a:latin typeface="Aptos" panose="020B0004020202020204" pitchFamily="34" charset="0"/>
              </a:rPr>
              <a:t>QPLANT is expected to operate continuously — nominal and standby modes are both valid operating states.</a:t>
            </a:r>
          </a:p>
          <a:p>
            <a:pPr marL="182880" indent="-182880">
              <a:lnSpc>
                <a:spcPct val="145000"/>
              </a:lnSpc>
              <a:spcBef>
                <a:spcPts val="0"/>
              </a:spcBef>
              <a:spcAft>
                <a:spcPts val="800"/>
              </a:spcAft>
              <a:buFont typeface="Arial"/>
              <a:buChar char="•"/>
            </a:pPr>
            <a:r>
              <a:rPr sz="1100" dirty="0">
                <a:solidFill>
                  <a:schemeClr val="tx1">
                    <a:lumMod val="92000"/>
                    <a:lumOff val="8000"/>
                  </a:schemeClr>
                </a:solidFill>
                <a:latin typeface="Aptos" panose="020B0004020202020204" pitchFamily="34" charset="0"/>
              </a:rPr>
              <a:t>Standby ≠ unavailability. Warm Stop is the last resort, not a routine state.</a:t>
            </a:r>
          </a:p>
        </p:txBody>
      </p:sp>
      <p:sp>
        <p:nvSpPr>
          <p:cNvPr id="18" name="Pentagon 17"/>
          <p:cNvSpPr/>
          <p:nvPr/>
        </p:nvSpPr>
        <p:spPr>
          <a:xfrm>
            <a:off x="645566" y="2761488"/>
            <a:ext cx="2080260" cy="1737360"/>
          </a:xfrm>
          <a:prstGeom prst="homePlat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20000" rIns="20000" rtlCol="0" anchor="ctr"/>
          <a:lstStyle/>
          <a:p>
            <a:pPr algn="ctr">
              <a:lnSpc>
                <a:spcPct val="100000"/>
              </a:lnSpc>
            </a:pPr>
            <a:r>
              <a:rPr sz="1600" b="1">
                <a:solidFill>
                  <a:srgbClr val="FFFFFF"/>
                </a:solidFill>
                <a:latin typeface="Aptos" panose="020B0004020202020204" pitchFamily="34" charset="0"/>
              </a:rPr>
              <a:t>2K-OP</a:t>
            </a:r>
          </a:p>
          <a:p>
            <a:pPr algn="ctr">
              <a:lnSpc>
                <a:spcPct val="100000"/>
              </a:lnSpc>
            </a:pPr>
            <a:r>
              <a:rPr sz="1050">
                <a:solidFill>
                  <a:srgbClr val="FFFFFF"/>
                </a:solidFill>
                <a:latin typeface="Aptos" panose="020B0004020202020204" pitchFamily="34" charset="0"/>
              </a:rPr>
              <a:t>Nominal</a:t>
            </a:r>
          </a:p>
        </p:txBody>
      </p:sp>
      <p:sp>
        <p:nvSpPr>
          <p:cNvPr id="19" name="Chevron 18"/>
          <p:cNvSpPr/>
          <p:nvPr/>
        </p:nvSpPr>
        <p:spPr>
          <a:xfrm>
            <a:off x="2875826" y="2761488"/>
            <a:ext cx="2080260" cy="1737360"/>
          </a:xfrm>
          <a:prstGeom prst="chevron">
            <a:avLst>
              <a:gd name="adj" fmla="val 20000"/>
            </a:avLst>
          </a:prstGeom>
          <a:solidFill>
            <a:srgbClr val="7A4C82"/>
          </a:solidFill>
          <a:ln>
            <a:noFill/>
          </a:ln>
          <a:effectLst/>
        </p:spPr>
        <p:style>
          <a:lnRef idx="1">
            <a:schemeClr val="accent1"/>
          </a:lnRef>
          <a:fillRef idx="3">
            <a:schemeClr val="accent1"/>
          </a:fillRef>
          <a:effectRef idx="2">
            <a:schemeClr val="accent1"/>
          </a:effectRef>
          <a:fontRef idx="minor">
            <a:schemeClr val="lt1"/>
          </a:fontRef>
        </p:style>
        <p:txBody>
          <a:bodyPr wrap="square" lIns="20000" rIns="20000" rtlCol="0" anchor="ctr"/>
          <a:lstStyle/>
          <a:p>
            <a:pPr algn="ctr">
              <a:lnSpc>
                <a:spcPct val="100000"/>
              </a:lnSpc>
            </a:pPr>
            <a:r>
              <a:rPr sz="1600" b="1">
                <a:solidFill>
                  <a:srgbClr val="FFFFFF"/>
                </a:solidFill>
                <a:latin typeface="Aptos" panose="020B0004020202020204" pitchFamily="34" charset="0"/>
              </a:rPr>
              <a:t>2K-SB</a:t>
            </a:r>
          </a:p>
          <a:p>
            <a:pPr algn="ctr">
              <a:lnSpc>
                <a:spcPct val="100000"/>
              </a:lnSpc>
            </a:pPr>
            <a:r>
              <a:rPr sz="1050">
                <a:solidFill>
                  <a:srgbClr val="FFFFFF"/>
                </a:solidFill>
                <a:latin typeface="Aptos" panose="020B0004020202020204" pitchFamily="34" charset="0"/>
              </a:rPr>
              <a:t>Standby, valid</a:t>
            </a:r>
          </a:p>
        </p:txBody>
      </p:sp>
      <p:sp>
        <p:nvSpPr>
          <p:cNvPr id="20" name="Chevron 19"/>
          <p:cNvSpPr/>
          <p:nvPr/>
        </p:nvSpPr>
        <p:spPr>
          <a:xfrm>
            <a:off x="5106086" y="2761488"/>
            <a:ext cx="2080260" cy="1737360"/>
          </a:xfrm>
          <a:prstGeom prst="chevron">
            <a:avLst>
              <a:gd name="adj" fmla="val 20000"/>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wrap="square" lIns="20000" rIns="20000" rtlCol="0" anchor="ctr"/>
          <a:lstStyle/>
          <a:p>
            <a:pPr algn="ctr">
              <a:lnSpc>
                <a:spcPct val="100000"/>
              </a:lnSpc>
            </a:pPr>
            <a:r>
              <a:rPr sz="1600" b="1">
                <a:solidFill>
                  <a:srgbClr val="FFFFFF"/>
                </a:solidFill>
                <a:latin typeface="Aptos" panose="020B0004020202020204" pitchFamily="34" charset="0"/>
              </a:rPr>
              <a:t>4.5K-SB</a:t>
            </a:r>
          </a:p>
          <a:p>
            <a:pPr algn="ctr">
              <a:lnSpc>
                <a:spcPct val="100000"/>
              </a:lnSpc>
            </a:pPr>
            <a:r>
              <a:rPr sz="1050">
                <a:solidFill>
                  <a:srgbClr val="FFFFFF"/>
                </a:solidFill>
                <a:latin typeface="Aptos" panose="020B0004020202020204" pitchFamily="34" charset="0"/>
              </a:rPr>
              <a:t>Reduced avail.</a:t>
            </a:r>
          </a:p>
        </p:txBody>
      </p:sp>
      <p:sp>
        <p:nvSpPr>
          <p:cNvPr id="21" name="Chevron 20"/>
          <p:cNvSpPr/>
          <p:nvPr/>
        </p:nvSpPr>
        <p:spPr>
          <a:xfrm>
            <a:off x="7336346" y="2761488"/>
            <a:ext cx="2080260" cy="1737360"/>
          </a:xfrm>
          <a:prstGeom prst="chevron">
            <a:avLst>
              <a:gd name="adj" fmla="val 20000"/>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wrap="square" lIns="20000" rIns="20000" rtlCol="0" anchor="ctr"/>
          <a:lstStyle/>
          <a:p>
            <a:pPr algn="ctr">
              <a:lnSpc>
                <a:spcPct val="100000"/>
              </a:lnSpc>
            </a:pPr>
            <a:r>
              <a:rPr sz="1600" b="1">
                <a:solidFill>
                  <a:srgbClr val="FFFFFF"/>
                </a:solidFill>
                <a:latin typeface="Aptos" panose="020B0004020202020204" pitchFamily="34" charset="0"/>
              </a:rPr>
              <a:t>TS-SB</a:t>
            </a:r>
          </a:p>
          <a:p>
            <a:pPr algn="ctr">
              <a:lnSpc>
                <a:spcPct val="100000"/>
              </a:lnSpc>
            </a:pPr>
            <a:r>
              <a:rPr sz="1050">
                <a:solidFill>
                  <a:srgbClr val="FFFFFF"/>
                </a:solidFill>
                <a:latin typeface="Aptos" panose="020B0004020202020204" pitchFamily="34" charset="0"/>
              </a:rPr>
              <a:t>Warm standby</a:t>
            </a:r>
          </a:p>
        </p:txBody>
      </p:sp>
      <p:sp>
        <p:nvSpPr>
          <p:cNvPr id="22" name="Pentagon 21"/>
          <p:cNvSpPr/>
          <p:nvPr/>
        </p:nvSpPr>
        <p:spPr>
          <a:xfrm>
            <a:off x="9566606" y="2761488"/>
            <a:ext cx="2080260" cy="1737360"/>
          </a:xfrm>
          <a:prstGeom prst="homePlat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wrap="square" lIns="20000" rIns="20000" rtlCol="0" anchor="ctr"/>
          <a:lstStyle/>
          <a:p>
            <a:pPr algn="ctr">
              <a:lnSpc>
                <a:spcPct val="100000"/>
              </a:lnSpc>
            </a:pPr>
            <a:r>
              <a:rPr sz="1600" b="1">
                <a:solidFill>
                  <a:srgbClr val="FFFFFF"/>
                </a:solidFill>
                <a:latin typeface="Aptos" panose="020B0004020202020204" pitchFamily="34" charset="0"/>
              </a:rPr>
              <a:t>WS</a:t>
            </a:r>
          </a:p>
          <a:p>
            <a:pPr algn="ctr">
              <a:lnSpc>
                <a:spcPct val="100000"/>
              </a:lnSpc>
            </a:pPr>
            <a:r>
              <a:rPr sz="1050">
                <a:solidFill>
                  <a:srgbClr val="FFFFFF"/>
                </a:solidFill>
                <a:latin typeface="Aptos" panose="020B0004020202020204" pitchFamily="34" charset="0"/>
              </a:rPr>
              <a:t>Last resort</a:t>
            </a:r>
          </a:p>
        </p:txBody>
      </p:sp>
      <p:sp>
        <p:nvSpPr>
          <p:cNvPr id="23" name="Rounded Rectangle 22"/>
          <p:cNvSpPr/>
          <p:nvPr/>
        </p:nvSpPr>
        <p:spPr>
          <a:xfrm>
            <a:off x="645465" y="4626864"/>
            <a:ext cx="11000000" cy="650000"/>
          </a:xfrm>
          <a:prstGeom prst="roundRect">
            <a:avLst>
              <a:gd name="adj" fmla="val 6000"/>
            </a:avLst>
          </a:prstGeom>
          <a:solidFill>
            <a:srgbClr val="EFE5F5"/>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50" b="1">
                <a:solidFill>
                  <a:srgbClr val="441F63"/>
                </a:solidFill>
                <a:latin typeface="Aptos" panose="020B0004020202020204" pitchFamily="34" charset="0"/>
              </a:rPr>
              <a:t>READING THIS DIAGRAM  </a:t>
            </a:r>
            <a:r>
              <a:rPr sz="1150" b="0">
                <a:solidFill>
                  <a:srgbClr val="441F63"/>
                </a:solidFill>
                <a:latin typeface="Aptos" panose="020B0004020202020204" pitchFamily="34" charset="0"/>
              </a:rPr>
              <a:t>Preferred hierarchy runs left → right. Every step right of 2K-OP is a deliberate, monitored trade-down — not a failure — until Warm Stop, which is.</a:t>
            </a:r>
          </a:p>
        </p:txBody>
      </p:sp>
      <p:sp>
        <p:nvSpPr>
          <p:cNvPr id="24" name="Rounded Rectangle 23"/>
          <p:cNvSpPr/>
          <p:nvPr/>
        </p:nvSpPr>
        <p:spPr>
          <a:xfrm>
            <a:off x="10728000" y="227200"/>
            <a:ext cx="1404000" cy="460000"/>
          </a:xfrm>
          <a:prstGeom prst="roundRect">
            <a:avLst>
              <a:gd name="adj" fmla="val 50000"/>
            </a:avLst>
          </a:prstGeom>
          <a:solidFill>
            <a:srgbClr val="56287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DEFINE</a:t>
            </a:r>
          </a:p>
        </p:txBody>
      </p:sp>
    </p:spTree>
    <p:extLst>
      <p:ext uri="{BB962C8B-B14F-4D97-AF65-F5344CB8AC3E}">
        <p14:creationId xmlns:p14="http://schemas.microsoft.com/office/powerpoint/2010/main" val="1724584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900000"/>
          </a:xfrm>
        </p:spPr>
        <p:txBody>
          <a:bodyPr wrap="square"/>
          <a:lstStyle/>
          <a:p>
            <a:r>
              <a:rPr sz="2700">
                <a:solidFill>
                  <a:schemeClr val="accent4"/>
                </a:solidFill>
                <a:latin typeface="Segoe UI"/>
              </a:rPr>
              <a:t>Appendix D (1/2) — Poisson Reliability Model</a:t>
            </a:r>
          </a:p>
        </p:txBody>
      </p:sp>
      <p:sp>
        <p:nvSpPr>
          <p:cNvPr id="3" name="Text Placeholder 2"/>
          <p:cNvSpPr>
            <a:spLocks noGrp="1"/>
          </p:cNvSpPr>
          <p:nvPr>
            <p:ph type="body" sz="quarter" idx="14"/>
          </p:nvPr>
        </p:nvSpPr>
        <p:spPr>
          <a:xfrm>
            <a:off x="457200" y="1340000"/>
            <a:ext cx="10900000" cy="460000"/>
          </a:xfrm>
        </p:spPr>
        <p:txBody>
          <a:bodyPr/>
          <a:lstStyle/>
          <a:p>
            <a:r>
              <a:rPr sz="1400">
                <a:solidFill>
                  <a:schemeClr val="accent4"/>
                </a:solidFill>
                <a:latin typeface="Aptos"/>
              </a:rPr>
              <a:t>Methodology behind every campaign-success number in this compendium</a:t>
            </a:r>
          </a:p>
        </p:txBody>
      </p:sp>
      <p:sp>
        <p:nvSpPr>
          <p:cNvPr id="5" name="TextBox 4"/>
          <p:cNvSpPr txBox="1"/>
          <p:nvPr/>
        </p:nvSpPr>
        <p:spPr>
          <a:xfrm>
            <a:off x="645464" y="2260000"/>
            <a:ext cx="5604535" cy="2774221"/>
          </a:xfrm>
          <a:prstGeom prst="rect">
            <a:avLst/>
          </a:prstGeom>
          <a:noFill/>
        </p:spPr>
        <p:txBody>
          <a:bodyPr wrap="square">
            <a:spAutoFit/>
          </a:bodyPr>
          <a:lstStyle/>
          <a:p>
            <a:pPr>
              <a:lnSpc>
                <a:spcPct val="145000"/>
              </a:lnSpc>
              <a:spcBef>
                <a:spcPts val="0"/>
              </a:spcBef>
              <a:spcAft>
                <a:spcPts val="800"/>
              </a:spcAft>
            </a:pPr>
            <a:r>
              <a:rPr sz="1050" b="1" dirty="0">
                <a:solidFill>
                  <a:schemeClr val="accent2"/>
                </a:solidFill>
                <a:latin typeface="Aptos"/>
              </a:rPr>
              <a:t>The model</a:t>
            </a:r>
          </a:p>
          <a:p>
            <a:pPr>
              <a:lnSpc>
                <a:spcPct val="145000"/>
              </a:lnSpc>
              <a:spcBef>
                <a:spcPts val="0"/>
              </a:spcBef>
              <a:spcAft>
                <a:spcPts val="800"/>
              </a:spcAft>
            </a:pPr>
            <a:r>
              <a:rPr sz="1050" dirty="0">
                <a:solidFill>
                  <a:schemeClr val="tx1">
                    <a:lumMod val="88000"/>
                    <a:lumOff val="12000"/>
                  </a:schemeClr>
                </a:solidFill>
                <a:latin typeface="Aptos"/>
              </a:rPr>
              <a:t>Failures are modeled as a Poisson process with constant rate λ (events/year) — equivalent to assuming a constant hazard rate, </a:t>
            </a:r>
            <a:r>
              <a:rPr lang="en-US" sz="1050" dirty="0">
                <a:solidFill>
                  <a:schemeClr val="tx1">
                    <a:lumMod val="88000"/>
                    <a:lumOff val="12000"/>
                  </a:schemeClr>
                </a:solidFill>
                <a:latin typeface="Aptos"/>
              </a:rPr>
              <a:t>i.e.,</a:t>
            </a:r>
            <a:r>
              <a:rPr sz="1050" dirty="0">
                <a:solidFill>
                  <a:schemeClr val="tx1">
                    <a:lumMod val="88000"/>
                    <a:lumOff val="12000"/>
                  </a:schemeClr>
                </a:solidFill>
                <a:latin typeface="Aptos"/>
              </a:rPr>
              <a:t> MTBF = 1/λ.</a:t>
            </a:r>
          </a:p>
          <a:p>
            <a:pPr>
              <a:lnSpc>
                <a:spcPct val="145000"/>
              </a:lnSpc>
              <a:spcBef>
                <a:spcPts val="0"/>
              </a:spcBef>
              <a:spcAft>
                <a:spcPts val="800"/>
              </a:spcAft>
            </a:pPr>
            <a:r>
              <a:rPr sz="1050" b="1" dirty="0">
                <a:solidFill>
                  <a:schemeClr val="accent2"/>
                </a:solidFill>
                <a:latin typeface="Aptos"/>
              </a:rPr>
              <a:t>What the chart shows</a:t>
            </a:r>
          </a:p>
          <a:p>
            <a:pPr>
              <a:lnSpc>
                <a:spcPct val="145000"/>
              </a:lnSpc>
              <a:spcBef>
                <a:spcPts val="0"/>
              </a:spcBef>
              <a:spcAft>
                <a:spcPts val="800"/>
              </a:spcAft>
            </a:pPr>
            <a:r>
              <a:rPr sz="1050" dirty="0">
                <a:solidFill>
                  <a:schemeClr val="tx1">
                    <a:lumMod val="88000"/>
                    <a:lumOff val="12000"/>
                  </a:schemeClr>
                </a:solidFill>
                <a:latin typeface="Aptos"/>
              </a:rPr>
              <a:t>P₀ = probability of zero trips within a time window, as MTBF varies. Three windows are plotted: the 90-day campaign (the operational requirement), 1 year, and 5 years (long-term intuition check).</a:t>
            </a:r>
          </a:p>
          <a:p>
            <a:pPr>
              <a:lnSpc>
                <a:spcPct val="145000"/>
              </a:lnSpc>
              <a:spcBef>
                <a:spcPts val="0"/>
              </a:spcBef>
              <a:spcAft>
                <a:spcPts val="800"/>
              </a:spcAft>
            </a:pPr>
            <a:r>
              <a:rPr sz="1050" b="1" dirty="0">
                <a:solidFill>
                  <a:schemeClr val="accent2"/>
                </a:solidFill>
                <a:latin typeface="Aptos"/>
              </a:rPr>
              <a:t>Formula</a:t>
            </a:r>
          </a:p>
          <a:p>
            <a:pPr>
              <a:lnSpc>
                <a:spcPct val="145000"/>
              </a:lnSpc>
              <a:spcBef>
                <a:spcPts val="0"/>
              </a:spcBef>
              <a:spcAft>
                <a:spcPts val="800"/>
              </a:spcAft>
            </a:pPr>
            <a:r>
              <a:rPr sz="1050" dirty="0">
                <a:solidFill>
                  <a:schemeClr val="tx1">
                    <a:lumMod val="88000"/>
                    <a:lumOff val="12000"/>
                  </a:schemeClr>
                </a:solidFill>
                <a:latin typeface="Aptos"/>
              </a:rPr>
              <a:t>P(N=0) = e^(−</a:t>
            </a:r>
            <a:r>
              <a:rPr sz="1050" dirty="0" err="1">
                <a:solidFill>
                  <a:schemeClr val="tx1">
                    <a:lumMod val="88000"/>
                    <a:lumOff val="12000"/>
                  </a:schemeClr>
                </a:solidFill>
                <a:latin typeface="Aptos"/>
              </a:rPr>
              <a:t>λt</a:t>
            </a:r>
            <a:r>
              <a:rPr sz="1050" dirty="0">
                <a:solidFill>
                  <a:schemeClr val="tx1">
                    <a:lumMod val="88000"/>
                    <a:lumOff val="12000"/>
                  </a:schemeClr>
                </a:solidFill>
                <a:latin typeface="Aptos"/>
              </a:rPr>
              <a:t>),  with  t in years and  λ = 1 / MTBF.</a:t>
            </a:r>
          </a:p>
        </p:txBody>
      </p:sp>
      <p:sp>
        <p:nvSpPr>
          <p:cNvPr id="6" name="Rounded Rectangle 5"/>
          <p:cNvSpPr/>
          <p:nvPr/>
        </p:nvSpPr>
        <p:spPr>
          <a:xfrm>
            <a:off x="645465" y="5750000"/>
            <a:ext cx="11000000" cy="620000"/>
          </a:xfrm>
          <a:prstGeom prst="roundRect">
            <a:avLst>
              <a:gd name="adj" fmla="val 6000"/>
            </a:avLst>
          </a:prstGeom>
          <a:solidFill>
            <a:schemeClr val="accent4">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050" b="1">
                <a:solidFill>
                  <a:schemeClr val="accent4"/>
                </a:solidFill>
                <a:latin typeface="Aptos"/>
              </a:rPr>
              <a:t>WHERE THIS GETS USED  </a:t>
            </a:r>
            <a:r>
              <a:rPr sz="1050" b="0">
                <a:solidFill>
                  <a:schemeClr val="accent4"/>
                </a:solidFill>
                <a:latin typeface="Aptos"/>
              </a:rPr>
              <a:t>Appendix D (2/2) applies this to three specific cases; Appendix F uses it to derive a RTM-062-based 0.26 events/year limit; Appendix I applies the same logic with a Weibull (age-dependent) hazard instead of a constant one.</a:t>
            </a:r>
          </a:p>
        </p:txBody>
      </p:sp>
      <p:pic>
        <p:nvPicPr>
          <p:cNvPr id="7" name="Picture 6" descr="appendixD_poisson.png"/>
          <p:cNvPicPr>
            <a:picLocks noChangeAspect="1"/>
          </p:cNvPicPr>
          <p:nvPr/>
        </p:nvPicPr>
        <p:blipFill>
          <a:blip r:embed="rId3"/>
          <a:stretch>
            <a:fillRect/>
          </a:stretch>
        </p:blipFill>
        <p:spPr>
          <a:xfrm>
            <a:off x="6250000" y="2300872"/>
            <a:ext cx="5350000" cy="3048255"/>
          </a:xfrm>
          <a:prstGeom prst="rect">
            <a:avLst/>
          </a:prstGeom>
        </p:spPr>
      </p:pic>
      <p:sp>
        <p:nvSpPr>
          <p:cNvPr id="9" name="Slide Number Placeholder 8">
            <a:extLst>
              <a:ext uri="{FF2B5EF4-FFF2-40B4-BE49-F238E27FC236}">
                <a16:creationId xmlns:a16="http://schemas.microsoft.com/office/drawing/2014/main" id="{2E965E33-5876-10AA-E0CE-8E87308D90C4}"/>
              </a:ext>
            </a:extLst>
          </p:cNvPr>
          <p:cNvSpPr>
            <a:spLocks noGrp="1"/>
          </p:cNvSpPr>
          <p:nvPr>
            <p:ph type="sldNum" sz="quarter" idx="4"/>
          </p:nvPr>
        </p:nvSpPr>
        <p:spPr/>
        <p:txBody>
          <a:bodyPr/>
          <a:lstStyle/>
          <a:p>
            <a:fld id="{A814E660-BF25-4843-B2A0-93C6E2B6253B}" type="slidenum">
              <a:rPr lang="en-BE" smtClean="0"/>
              <a:pPr/>
              <a:t>22</a:t>
            </a:fld>
            <a:endParaRPr lang="en-BE" dirty="0"/>
          </a:p>
        </p:txBody>
      </p:sp>
      <p:sp>
        <p:nvSpPr>
          <p:cNvPr id="10" name="Rounded Rectangle 9"/>
          <p:cNvSpPr/>
          <p:nvPr/>
        </p:nvSpPr>
        <p:spPr>
          <a:xfrm>
            <a:off x="9546535" y="150000"/>
            <a:ext cx="2000000" cy="460000"/>
          </a:xfrm>
          <a:prstGeom prst="roundRect">
            <a:avLst>
              <a:gd name="adj" fmla="val 50000"/>
            </a:avLst>
          </a:prstGeom>
          <a:solidFill>
            <a:srgbClr val="0346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ANALYZE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900000"/>
          </a:xfrm>
        </p:spPr>
        <p:txBody>
          <a:bodyPr wrap="square"/>
          <a:lstStyle/>
          <a:p>
            <a:r>
              <a:rPr sz="2700">
                <a:solidFill>
                  <a:schemeClr val="accent4"/>
                </a:solidFill>
                <a:latin typeface="Segoe UI" panose="020B0004020202020204" pitchFamily="34" charset="0"/>
              </a:rPr>
              <a:t>Appendix D (2/2) — Worked Examples</a:t>
            </a:r>
          </a:p>
        </p:txBody>
      </p:sp>
      <p:sp>
        <p:nvSpPr>
          <p:cNvPr id="3" name="Text Placeholder 2"/>
          <p:cNvSpPr>
            <a:spLocks noGrp="1"/>
          </p:cNvSpPr>
          <p:nvPr>
            <p:ph type="body" sz="quarter" idx="14"/>
          </p:nvPr>
        </p:nvSpPr>
        <p:spPr>
          <a:xfrm>
            <a:off x="457200" y="1340000"/>
            <a:ext cx="10900000" cy="460000"/>
          </a:xfrm>
        </p:spPr>
        <p:txBody>
          <a:bodyPr/>
          <a:lstStyle/>
          <a:p>
            <a:r>
              <a:rPr sz="1400">
                <a:solidFill>
                  <a:schemeClr val="accent4"/>
                </a:solidFill>
                <a:latin typeface="Aptos" panose="020B0004020202020204" pitchFamily="34" charset="0"/>
              </a:rPr>
              <a:t>Three specific readings of the same P(N=0) = e^(−λt) relationship</a:t>
            </a:r>
          </a:p>
        </p:txBody>
      </p:sp>
      <p:sp>
        <p:nvSpPr>
          <p:cNvPr id="5" name="TextBox 4"/>
          <p:cNvSpPr txBox="1"/>
          <p:nvPr/>
        </p:nvSpPr>
        <p:spPr>
          <a:xfrm>
            <a:off x="645465" y="2260000"/>
            <a:ext cx="11000000" cy="819467"/>
          </a:xfrm>
          <a:prstGeom prst="rect">
            <a:avLst/>
          </a:prstGeom>
          <a:noFill/>
        </p:spPr>
        <p:txBody>
          <a:bodyPr wrap="square">
            <a:spAutoFit/>
          </a:bodyPr>
          <a:lstStyle/>
          <a:p>
            <a:pPr>
              <a:lnSpc>
                <a:spcPct val="145000"/>
              </a:lnSpc>
              <a:spcBef>
                <a:spcPts val="0"/>
              </a:spcBef>
              <a:spcAft>
                <a:spcPts val="800"/>
              </a:spcAft>
            </a:pPr>
            <a:r>
              <a:rPr sz="950" b="1" dirty="0">
                <a:solidFill>
                  <a:schemeClr val="accent2"/>
                </a:solidFill>
                <a:latin typeface="Aptos" panose="020B0004020202020204" pitchFamily="34" charset="0"/>
              </a:rPr>
              <a:t>Why three examples</a:t>
            </a:r>
          </a:p>
          <a:p>
            <a:pPr>
              <a:lnSpc>
                <a:spcPct val="145000"/>
              </a:lnSpc>
              <a:spcBef>
                <a:spcPts val="0"/>
              </a:spcBef>
              <a:spcAft>
                <a:spcPts val="800"/>
              </a:spcAft>
            </a:pPr>
            <a:r>
              <a:rPr sz="950" dirty="0">
                <a:solidFill>
                  <a:schemeClr val="tx1">
                    <a:lumMod val="88000"/>
                    <a:lumOff val="12000"/>
                  </a:schemeClr>
                </a:solidFill>
                <a:latin typeface="Aptos" panose="020B0004020202020204" pitchFamily="34" charset="0"/>
              </a:rPr>
              <a:t>The same curve answers three different questions this compendium </a:t>
            </a:r>
            <a:r>
              <a:rPr lang="en-US" sz="950" dirty="0">
                <a:solidFill>
                  <a:schemeClr val="tx1">
                    <a:lumMod val="88000"/>
                    <a:lumOff val="12000"/>
                  </a:schemeClr>
                </a:solidFill>
                <a:latin typeface="Aptos" panose="020B0004020202020204" pitchFamily="34" charset="0"/>
              </a:rPr>
              <a:t>must</a:t>
            </a:r>
            <a:r>
              <a:rPr sz="950" dirty="0">
                <a:solidFill>
                  <a:schemeClr val="tx1">
                    <a:lumMod val="88000"/>
                    <a:lumOff val="12000"/>
                  </a:schemeClr>
                </a:solidFill>
                <a:latin typeface="Aptos" panose="020B0004020202020204" pitchFamily="34" charset="0"/>
              </a:rPr>
              <a:t> settle: what does the fleet realistically deliver, what does the contract require, and where does a naive reading of the requirement break down.</a:t>
            </a:r>
          </a:p>
        </p:txBody>
      </p:sp>
      <p:sp>
        <p:nvSpPr>
          <p:cNvPr id="6" name="Rounded Rectangle 5"/>
          <p:cNvSpPr/>
          <p:nvPr/>
        </p:nvSpPr>
        <p:spPr>
          <a:xfrm>
            <a:off x="645465" y="3300000"/>
            <a:ext cx="11000000" cy="950000"/>
          </a:xfrm>
          <a:prstGeom prst="roundRect">
            <a:avLst>
              <a:gd name="adj" fmla="val 6000"/>
            </a:avLst>
          </a:prstGeom>
          <a:solidFill>
            <a:schemeClr val="accent4">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400" b="1" dirty="0">
                <a:solidFill>
                  <a:schemeClr val="accent4"/>
                </a:solidFill>
                <a:latin typeface="Aptos" panose="020B0004020202020204" pitchFamily="34" charset="0"/>
              </a:rPr>
              <a:t>1 — REALISTIC CASE  </a:t>
            </a:r>
            <a:br>
              <a:rPr lang="en-US" sz="1400" b="1" dirty="0">
                <a:solidFill>
                  <a:schemeClr val="accent4"/>
                </a:solidFill>
                <a:latin typeface="Aptos" panose="020B0004020202020204" pitchFamily="34" charset="0"/>
              </a:rPr>
            </a:br>
            <a:r>
              <a:rPr sz="1200" b="0" dirty="0">
                <a:solidFill>
                  <a:schemeClr val="accent4"/>
                </a:solidFill>
                <a:latin typeface="Aptos" panose="020B0004020202020204" pitchFamily="34" charset="0"/>
              </a:rPr>
              <a:t>CC + PVPS single-train, λ ≈ 0.25/yr (MTBF ≈ 4 y): 90-day P₀ ≈ 94%, 1-year ≈ 78%, 5-year ≈ 29%. Consistent with MTBF ≈ 4 y and “good but not magical” reliability — see Appendix I for where this number comes from.</a:t>
            </a:r>
            <a:endParaRPr sz="1400" b="0" dirty="0">
              <a:solidFill>
                <a:schemeClr val="accent4"/>
              </a:solidFill>
              <a:latin typeface="Aptos" panose="020B0004020202020204" pitchFamily="34" charset="0"/>
            </a:endParaRPr>
          </a:p>
        </p:txBody>
      </p:sp>
      <p:sp>
        <p:nvSpPr>
          <p:cNvPr id="7" name="Rounded Rectangle 6"/>
          <p:cNvSpPr/>
          <p:nvPr/>
        </p:nvSpPr>
        <p:spPr>
          <a:xfrm>
            <a:off x="645465" y="4350000"/>
            <a:ext cx="11000000" cy="95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400" b="1" dirty="0">
                <a:solidFill>
                  <a:schemeClr val="accent1"/>
                </a:solidFill>
                <a:latin typeface="Aptos" panose="020B0004020202020204" pitchFamily="34" charset="0"/>
              </a:rPr>
              <a:t>2 — CONTRACTUAL CASE  </a:t>
            </a:r>
            <a:br>
              <a:rPr lang="en-US" sz="1400" b="1" dirty="0">
                <a:solidFill>
                  <a:schemeClr val="accent1"/>
                </a:solidFill>
                <a:latin typeface="Aptos" panose="020B0004020202020204" pitchFamily="34" charset="0"/>
              </a:rPr>
            </a:br>
            <a:r>
              <a:rPr sz="1200" b="0" dirty="0">
                <a:solidFill>
                  <a:schemeClr val="accent1"/>
                </a:solidFill>
                <a:latin typeface="Aptos" panose="020B0004020202020204" pitchFamily="34" charset="0"/>
              </a:rPr>
              <a:t>Class-A target MTBF = 5 y (λ = 0.20/yr): 90-day P₀ ≈ 95% (RTM-062 compliant), 1-year ≈ 82%, 5-year ≈ 37%. This is the number RTM-</a:t>
            </a:r>
            <a:r>
              <a:rPr lang="en-US" sz="1200" b="0" dirty="0">
                <a:solidFill>
                  <a:schemeClr val="accent1"/>
                </a:solidFill>
                <a:latin typeface="Aptos" panose="020B0004020202020204" pitchFamily="34" charset="0"/>
              </a:rPr>
              <a:t/>
            </a:r>
            <a:r>
              <a:rPr sz="1200" b="0" dirty="0">
                <a:solidFill>
                  <a:schemeClr val="accent1"/>
                </a:solidFill>
                <a:latin typeface="Aptos" panose="020B0004020202020204" pitchFamily="34" charset="0"/>
              </a:rPr>
              <a:t>062 (Appendix F) is built on.</a:t>
            </a:r>
            <a:endParaRPr sz="1400" b="0" dirty="0">
              <a:solidFill>
                <a:schemeClr val="accent1"/>
              </a:solidFill>
              <a:latin typeface="Aptos" panose="020B0004020202020204" pitchFamily="34" charset="0"/>
            </a:endParaRPr>
          </a:p>
        </p:txBody>
      </p:sp>
      <p:sp>
        <p:nvSpPr>
          <p:cNvPr id="8" name="Rounded Rectangle 7"/>
          <p:cNvSpPr/>
          <p:nvPr/>
        </p:nvSpPr>
        <p:spPr>
          <a:xfrm>
            <a:off x="645465" y="5400000"/>
            <a:ext cx="11000000" cy="950000"/>
          </a:xfrm>
          <a:prstGeom prst="roundRect">
            <a:avLst>
              <a:gd name="adj" fmla="val 6000"/>
            </a:avLst>
          </a:prstGeom>
          <a:solidFill>
            <a:schemeClr val="accent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400" b="1" dirty="0">
                <a:solidFill>
                  <a:schemeClr val="accent2"/>
                </a:solidFill>
                <a:latin typeface="Aptos" panose="020B0004020202020204" pitchFamily="34" charset="0"/>
              </a:rPr>
              <a:t>3 — A COMMON MISREADING  </a:t>
            </a:r>
            <a:br>
              <a:rPr lang="en-US" sz="1400" b="1" dirty="0">
                <a:solidFill>
                  <a:schemeClr val="accent2"/>
                </a:solidFill>
                <a:latin typeface="Aptos" panose="020B0004020202020204" pitchFamily="34" charset="0"/>
              </a:rPr>
            </a:br>
            <a:r>
              <a:rPr sz="1200" b="0" dirty="0">
                <a:solidFill>
                  <a:schemeClr val="accent2"/>
                </a:solidFill>
                <a:latin typeface="Aptos" panose="020B0004020202020204" pitchFamily="34" charset="0"/>
              </a:rPr>
              <a:t>Reading “≥99% success” as a literal requirement over the full mission window (not per 90-day campaign) implies MTBF ≈ 387 years — impossible for a single-train cryoplant. This is why the RTM-062-derived cap is written as an annual event-rate limit, not a lifetime success probability.</a:t>
            </a:r>
            <a:endParaRPr sz="1400" b="0" dirty="0">
              <a:solidFill>
                <a:schemeClr val="accent2"/>
              </a:solidFill>
              <a:latin typeface="Aptos" panose="020B0004020202020204" pitchFamily="34" charset="0"/>
            </a:endParaRPr>
          </a:p>
        </p:txBody>
      </p:sp>
      <p:sp>
        <p:nvSpPr>
          <p:cNvPr id="10" name="Slide Number Placeholder 9">
            <a:extLst>
              <a:ext uri="{FF2B5EF4-FFF2-40B4-BE49-F238E27FC236}">
                <a16:creationId xmlns:a16="http://schemas.microsoft.com/office/drawing/2014/main" id="{03228730-AD56-8310-22A4-8FC292DA02E1}"/>
              </a:ext>
            </a:extLst>
          </p:cNvPr>
          <p:cNvSpPr>
            <a:spLocks noGrp="1"/>
          </p:cNvSpPr>
          <p:nvPr>
            <p:ph type="sldNum" sz="quarter" idx="4"/>
          </p:nvPr>
        </p:nvSpPr>
        <p:spPr/>
        <p:txBody>
          <a:bodyPr/>
          <a:lstStyle/>
          <a:p>
            <a:fld id="{A814E660-BF25-4843-B2A0-93C6E2B6253B}" type="slidenum">
              <a:rPr lang="en-BE" smtClean="0">
                <a:latin typeface="Aptos" panose="020B0004020202020204" pitchFamily="34" charset="0"/>
              </a:rPr>
              <a:pPr/>
              <a:t>23</a:t>
            </a:fld>
            <a:endParaRPr lang="en-BE" dirty="0">
              <a:latin typeface="Aptos" panose="020B0004020202020204" pitchFamily="34" charset="0"/>
            </a:endParaRPr>
          </a:p>
        </p:txBody>
      </p:sp>
      <p:sp>
        <p:nvSpPr>
          <p:cNvPr id="11" name="Rounded Rectangle 10"/>
          <p:cNvSpPr/>
          <p:nvPr/>
        </p:nvSpPr>
        <p:spPr>
          <a:xfrm>
            <a:off x="9546535" y="150000"/>
            <a:ext cx="2000000" cy="460000"/>
          </a:xfrm>
          <a:prstGeom prst="roundRect">
            <a:avLst>
              <a:gd name="adj" fmla="val 50000"/>
            </a:avLst>
          </a:prstGeom>
          <a:solidFill>
            <a:srgbClr val="0346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ANALYZE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900000"/>
          </a:xfrm>
        </p:spPr>
        <p:txBody>
          <a:bodyPr wrap="square"/>
          <a:lstStyle/>
          <a:p>
            <a:r>
              <a:rPr sz="2700">
                <a:solidFill>
                  <a:schemeClr val="accent4"/>
                </a:solidFill>
                <a:latin typeface="Segoe UI"/>
              </a:rPr>
              <a:t>Appendix E — Maintenance Activity Matrix</a:t>
            </a:r>
          </a:p>
        </p:txBody>
      </p:sp>
      <p:sp>
        <p:nvSpPr>
          <p:cNvPr id="3" name="Text Placeholder 2"/>
          <p:cNvSpPr>
            <a:spLocks noGrp="1"/>
          </p:cNvSpPr>
          <p:nvPr>
            <p:ph type="body" sz="quarter" idx="14"/>
          </p:nvPr>
        </p:nvSpPr>
        <p:spPr>
          <a:xfrm>
            <a:off x="457200" y="1340000"/>
            <a:ext cx="10900000" cy="460000"/>
          </a:xfrm>
        </p:spPr>
        <p:txBody>
          <a:bodyPr/>
          <a:lstStyle/>
          <a:p>
            <a:r>
              <a:rPr sz="1400" dirty="0">
                <a:solidFill>
                  <a:schemeClr val="accent4"/>
                </a:solidFill>
                <a:latin typeface="Aptos"/>
              </a:rPr>
              <a:t>What's permitted in each operating state (states defined on Slide 21)</a:t>
            </a:r>
          </a:p>
        </p:txBody>
      </p:sp>
      <p:sp>
        <p:nvSpPr>
          <p:cNvPr id="5" name="TextBox 4"/>
          <p:cNvSpPr txBox="1"/>
          <p:nvPr/>
        </p:nvSpPr>
        <p:spPr>
          <a:xfrm>
            <a:off x="645465" y="1948470"/>
            <a:ext cx="11000000" cy="542925"/>
          </a:xfrm>
          <a:prstGeom prst="rect">
            <a:avLst/>
          </a:prstGeom>
          <a:noFill/>
        </p:spPr>
        <p:txBody>
          <a:bodyPr wrap="square">
            <a:spAutoFit/>
          </a:bodyPr>
          <a:lstStyle/>
          <a:p>
            <a:pPr marL="182880" indent="-182880">
              <a:lnSpc>
                <a:spcPct val="145000"/>
              </a:lnSpc>
              <a:spcBef>
                <a:spcPts val="0"/>
              </a:spcBef>
              <a:spcAft>
                <a:spcPts val="800"/>
              </a:spcAft>
              <a:buFont typeface="Arial"/>
              <a:buChar char="•"/>
            </a:pPr>
            <a:r>
              <a:rPr sz="950" dirty="0">
                <a:solidFill>
                  <a:schemeClr val="tx1">
                    <a:lumMod val="90000"/>
                    <a:lumOff val="10000"/>
                  </a:schemeClr>
                </a:solidFill>
                <a:latin typeface="Aptos"/>
              </a:rPr>
              <a:t>Same five states as the Slide 21 chevron diagram and the </a:t>
            </a:r>
            <a:r>
              <a:rPr sz="950" b="1" dirty="0">
                <a:solidFill>
                  <a:schemeClr val="accent2"/>
                </a:solidFill>
                <a:latin typeface="Aptos"/>
              </a:rPr>
              <a:t>Slide 19 failure</a:t>
            </a:r>
            <a:r>
              <a:rPr sz="950" dirty="0">
                <a:solidFill>
                  <a:schemeClr val="tx1">
                    <a:lumMod val="90000"/>
                    <a:lumOff val="10000"/>
                  </a:schemeClr>
                </a:solidFill>
                <a:latin typeface="Aptos"/>
              </a:rPr>
              <a:t>-consequence classes — this table is what makes those states operationally concrete.</a:t>
            </a:r>
          </a:p>
        </p:txBody>
      </p:sp>
      <p:graphicFrame>
        <p:nvGraphicFramePr>
          <p:cNvPr id="6" name="Table 5"/>
          <p:cNvGraphicFramePr>
            <a:graphicFrameLocks noGrp="1"/>
          </p:cNvGraphicFramePr>
          <p:nvPr/>
        </p:nvGraphicFramePr>
        <p:xfrm>
          <a:off x="645465" y="2650000"/>
          <a:ext cx="10050000" cy="3350000"/>
        </p:xfrm>
        <a:graphic>
          <a:graphicData uri="http://schemas.openxmlformats.org/drawingml/2006/table">
            <a:tbl>
              <a:tblPr firstRow="1" bandRow="1">
                <a:tableStyleId>{5C22544A-7EE6-4342-B048-85BDC9FD1C3A}</a:tableStyleId>
              </a:tblPr>
              <a:tblGrid>
                <a:gridCol w="3050000">
                  <a:extLst>
                    <a:ext uri="{9D8B030D-6E8A-4147-A177-3AD203B41FA5}">
                      <a16:colId xmlns:a16="http://schemas.microsoft.com/office/drawing/2014/main" val="20000"/>
                    </a:ext>
                  </a:extLst>
                </a:gridCol>
                <a:gridCol w="950000">
                  <a:extLst>
                    <a:ext uri="{9D8B030D-6E8A-4147-A177-3AD203B41FA5}">
                      <a16:colId xmlns:a16="http://schemas.microsoft.com/office/drawing/2014/main" val="20001"/>
                    </a:ext>
                  </a:extLst>
                </a:gridCol>
                <a:gridCol w="950000">
                  <a:extLst>
                    <a:ext uri="{9D8B030D-6E8A-4147-A177-3AD203B41FA5}">
                      <a16:colId xmlns:a16="http://schemas.microsoft.com/office/drawing/2014/main" val="20002"/>
                    </a:ext>
                  </a:extLst>
                </a:gridCol>
                <a:gridCol w="950000">
                  <a:extLst>
                    <a:ext uri="{9D8B030D-6E8A-4147-A177-3AD203B41FA5}">
                      <a16:colId xmlns:a16="http://schemas.microsoft.com/office/drawing/2014/main" val="20003"/>
                    </a:ext>
                  </a:extLst>
                </a:gridCol>
                <a:gridCol w="950000">
                  <a:extLst>
                    <a:ext uri="{9D8B030D-6E8A-4147-A177-3AD203B41FA5}">
                      <a16:colId xmlns:a16="http://schemas.microsoft.com/office/drawing/2014/main" val="20004"/>
                    </a:ext>
                  </a:extLst>
                </a:gridCol>
                <a:gridCol w="950000">
                  <a:extLst>
                    <a:ext uri="{9D8B030D-6E8A-4147-A177-3AD203B41FA5}">
                      <a16:colId xmlns:a16="http://schemas.microsoft.com/office/drawing/2014/main" val="20005"/>
                    </a:ext>
                  </a:extLst>
                </a:gridCol>
                <a:gridCol w="2250000">
                  <a:extLst>
                    <a:ext uri="{9D8B030D-6E8A-4147-A177-3AD203B41FA5}">
                      <a16:colId xmlns:a16="http://schemas.microsoft.com/office/drawing/2014/main" val="20006"/>
                    </a:ext>
                  </a:extLst>
                </a:gridCol>
              </a:tblGrid>
              <a:tr h="304545">
                <a:tc>
                  <a:txBody>
                    <a:bodyPr/>
                    <a:lstStyle/>
                    <a:p>
                      <a:pPr algn="l"/>
                      <a:r>
                        <a:rPr sz="1050" b="1">
                          <a:solidFill>
                            <a:schemeClr val="bg1"/>
                          </a:solidFill>
                        </a:rPr>
                        <a:t>Maintenance activity</a:t>
                      </a:r>
                    </a:p>
                  </a:txBody>
                  <a:tcPr marT="20000" marB="20000" anchor="ctr">
                    <a:solidFill>
                      <a:schemeClr val="accent1"/>
                    </a:solidFill>
                  </a:tcPr>
                </a:tc>
                <a:tc>
                  <a:txBody>
                    <a:bodyPr/>
                    <a:lstStyle/>
                    <a:p>
                      <a:pPr algn="ctr"/>
                      <a:r>
                        <a:rPr sz="1050" b="1">
                          <a:solidFill>
                            <a:schemeClr val="bg1"/>
                          </a:solidFill>
                        </a:rPr>
                        <a:t>2K-OP</a:t>
                      </a:r>
                    </a:p>
                  </a:txBody>
                  <a:tcPr marT="20000" marB="20000" anchor="ctr">
                    <a:solidFill>
                      <a:schemeClr val="accent1"/>
                    </a:solidFill>
                  </a:tcPr>
                </a:tc>
                <a:tc>
                  <a:txBody>
                    <a:bodyPr/>
                    <a:lstStyle/>
                    <a:p>
                      <a:pPr algn="ctr"/>
                      <a:r>
                        <a:rPr sz="1050" b="1">
                          <a:solidFill>
                            <a:schemeClr val="bg1"/>
                          </a:solidFill>
                        </a:rPr>
                        <a:t>2K-SB</a:t>
                      </a:r>
                    </a:p>
                  </a:txBody>
                  <a:tcPr marT="20000" marB="20000" anchor="ctr">
                    <a:solidFill>
                      <a:schemeClr val="accent1"/>
                    </a:solidFill>
                  </a:tcPr>
                </a:tc>
                <a:tc>
                  <a:txBody>
                    <a:bodyPr/>
                    <a:lstStyle/>
                    <a:p>
                      <a:pPr algn="ctr"/>
                      <a:r>
                        <a:rPr sz="1050" b="1">
                          <a:solidFill>
                            <a:schemeClr val="bg1"/>
                          </a:solidFill>
                        </a:rPr>
                        <a:t>4.5K-SB</a:t>
                      </a:r>
                    </a:p>
                  </a:txBody>
                  <a:tcPr marT="20000" marB="20000" anchor="ctr">
                    <a:solidFill>
                      <a:schemeClr val="accent1"/>
                    </a:solidFill>
                  </a:tcPr>
                </a:tc>
                <a:tc>
                  <a:txBody>
                    <a:bodyPr/>
                    <a:lstStyle/>
                    <a:p>
                      <a:pPr algn="ctr"/>
                      <a:r>
                        <a:rPr sz="1050" b="1">
                          <a:solidFill>
                            <a:schemeClr val="bg1"/>
                          </a:solidFill>
                        </a:rPr>
                        <a:t>TS-SB</a:t>
                      </a:r>
                    </a:p>
                  </a:txBody>
                  <a:tcPr marT="20000" marB="20000" anchor="ctr">
                    <a:solidFill>
                      <a:schemeClr val="accent1"/>
                    </a:solidFill>
                  </a:tcPr>
                </a:tc>
                <a:tc>
                  <a:txBody>
                    <a:bodyPr/>
                    <a:lstStyle/>
                    <a:p>
                      <a:pPr algn="ctr"/>
                      <a:r>
                        <a:rPr sz="1050" b="1">
                          <a:solidFill>
                            <a:schemeClr val="bg1"/>
                          </a:solidFill>
                        </a:rPr>
                        <a:t>WS</a:t>
                      </a:r>
                    </a:p>
                  </a:txBody>
                  <a:tcPr marT="20000" marB="20000" anchor="ctr">
                    <a:solidFill>
                      <a:schemeClr val="accent1"/>
                    </a:solidFill>
                  </a:tcPr>
                </a:tc>
                <a:tc>
                  <a:txBody>
                    <a:bodyPr/>
                    <a:lstStyle/>
                    <a:p>
                      <a:pPr algn="ctr"/>
                      <a:r>
                        <a:rPr sz="1050" b="1">
                          <a:solidFill>
                            <a:schemeClr val="bg1"/>
                          </a:solidFill>
                        </a:rPr>
                        <a:t>Notes</a:t>
                      </a:r>
                    </a:p>
                  </a:txBody>
                  <a:tcPr marT="20000" marB="20000" anchor="ctr">
                    <a:solidFill>
                      <a:schemeClr val="accent1"/>
                    </a:solidFill>
                  </a:tcPr>
                </a:tc>
                <a:extLst>
                  <a:ext uri="{0D108BD9-81ED-4DB2-BD59-A6C34878D82A}">
                    <a16:rowId xmlns:a16="http://schemas.microsoft.com/office/drawing/2014/main" val="10000"/>
                  </a:ext>
                </a:extLst>
              </a:tr>
              <a:tr h="304545">
                <a:tc>
                  <a:txBody>
                    <a:bodyPr/>
                    <a:lstStyle/>
                    <a:p>
                      <a:r>
                        <a:rPr sz="950">
                          <a:solidFill>
                            <a:schemeClr val="tx1">
                              <a:lumMod val="90000"/>
                              <a:lumOff val="10000"/>
                            </a:schemeClr>
                          </a:solidFill>
                        </a:rPr>
                        <a:t>Monitoring / diagnostics</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r>
                        <a:rPr sz="950">
                          <a:solidFill>
                            <a:schemeClr val="tx1">
                              <a:lumMod val="90000"/>
                              <a:lumOff val="10000"/>
                            </a:schemeClr>
                          </a:solidFill>
                        </a:rPr>
                        <a:t>No operational impact</a:t>
                      </a:r>
                    </a:p>
                  </a:txBody>
                  <a:tcPr marT="12000" marB="12000" anchor="ctr">
                    <a:solidFill>
                      <a:schemeClr val="bg1"/>
                    </a:solidFill>
                  </a:tcPr>
                </a:tc>
                <a:extLst>
                  <a:ext uri="{0D108BD9-81ED-4DB2-BD59-A6C34878D82A}">
                    <a16:rowId xmlns:a16="http://schemas.microsoft.com/office/drawing/2014/main" val="10001"/>
                  </a:ext>
                </a:extLst>
              </a:tr>
              <a:tr h="304545">
                <a:tc>
                  <a:txBody>
                    <a:bodyPr/>
                    <a:lstStyle/>
                    <a:p>
                      <a:r>
                        <a:rPr sz="950">
                          <a:solidFill>
                            <a:schemeClr val="tx1">
                              <a:lumMod val="90000"/>
                              <a:lumOff val="10000"/>
                            </a:schemeClr>
                          </a:solidFill>
                        </a:rPr>
                        <a:t>Software / control updates (non-intrusive)</a:t>
                      </a:r>
                    </a:p>
                  </a:txBody>
                  <a:tcPr marT="12000" marB="12000" anchor="ctr">
                    <a:solidFill>
                      <a:schemeClr val="accent1">
                        <a:lumMod val="6000"/>
                        <a:lumOff val="94000"/>
                      </a:schemeClr>
                    </a:solidFill>
                  </a:tcPr>
                </a:tc>
                <a:tc>
                  <a:txBody>
                    <a:bodyPr/>
                    <a:lstStyle/>
                    <a:p>
                      <a:pPr algn="ctr"/>
                      <a:r>
                        <a:rPr sz="1200" b="1">
                          <a:solidFill>
                            <a:srgbClr val="C77700"/>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r>
                        <a:rPr sz="950">
                          <a:solidFill>
                            <a:schemeClr val="tx1">
                              <a:lumMod val="90000"/>
                              <a:lumOff val="10000"/>
                            </a:schemeClr>
                          </a:solidFill>
                        </a:rPr>
                        <a:t>With rollback + MOC</a:t>
                      </a:r>
                    </a:p>
                  </a:txBody>
                  <a:tcPr marT="12000" marB="12000" anchor="ctr">
                    <a:solidFill>
                      <a:schemeClr val="accent1">
                        <a:lumMod val="6000"/>
                        <a:lumOff val="94000"/>
                      </a:schemeClr>
                    </a:solidFill>
                  </a:tcPr>
                </a:tc>
                <a:extLst>
                  <a:ext uri="{0D108BD9-81ED-4DB2-BD59-A6C34878D82A}">
                    <a16:rowId xmlns:a16="http://schemas.microsoft.com/office/drawing/2014/main" val="10002"/>
                  </a:ext>
                </a:extLst>
              </a:tr>
              <a:tr h="304545">
                <a:tc>
                  <a:txBody>
                    <a:bodyPr/>
                    <a:lstStyle/>
                    <a:p>
                      <a:r>
                        <a:rPr sz="950">
                          <a:solidFill>
                            <a:schemeClr val="tx1">
                              <a:lumMod val="90000"/>
                              <a:lumOff val="10000"/>
                            </a:schemeClr>
                          </a:solidFill>
                        </a:rPr>
                        <a:t>Instrument checks (non-isolating)</a:t>
                      </a:r>
                    </a:p>
                  </a:txBody>
                  <a:tcPr marT="12000" marB="12000" anchor="ctr">
                    <a:solidFill>
                      <a:schemeClr val="bg1"/>
                    </a:solidFill>
                  </a:tcPr>
                </a:tc>
                <a:tc>
                  <a:txBody>
                    <a:bodyPr/>
                    <a:lstStyle/>
                    <a:p>
                      <a:pPr algn="ctr"/>
                      <a:r>
                        <a:rPr sz="1200" b="1">
                          <a:solidFill>
                            <a:srgbClr val="C77700"/>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r>
                        <a:rPr sz="950">
                          <a:solidFill>
                            <a:schemeClr val="tx1">
                              <a:lumMod val="90000"/>
                              <a:lumOff val="10000"/>
                            </a:schemeClr>
                          </a:solidFill>
                        </a:rPr>
                        <a:t>No venting or isolation</a:t>
                      </a:r>
                    </a:p>
                  </a:txBody>
                  <a:tcPr marT="12000" marB="12000" anchor="ctr">
                    <a:solidFill>
                      <a:schemeClr val="bg1"/>
                    </a:solidFill>
                  </a:tcPr>
                </a:tc>
                <a:extLst>
                  <a:ext uri="{0D108BD9-81ED-4DB2-BD59-A6C34878D82A}">
                    <a16:rowId xmlns:a16="http://schemas.microsoft.com/office/drawing/2014/main" val="10003"/>
                  </a:ext>
                </a:extLst>
              </a:tr>
              <a:tr h="304545">
                <a:tc>
                  <a:txBody>
                    <a:bodyPr/>
                    <a:lstStyle/>
                    <a:p>
                      <a:r>
                        <a:rPr sz="950">
                          <a:solidFill>
                            <a:schemeClr val="tx1">
                              <a:lumMod val="90000"/>
                              <a:lumOff val="10000"/>
                            </a:schemeClr>
                          </a:solidFill>
                        </a:rPr>
                        <a:t>Helium inventory adjustment</a:t>
                      </a:r>
                    </a:p>
                  </a:txBody>
                  <a:tcPr marT="12000" marB="12000" anchor="ctr">
                    <a:solidFill>
                      <a:schemeClr val="accent1">
                        <a:lumMod val="6000"/>
                        <a:lumOff val="94000"/>
                      </a:schemeClr>
                    </a:solidFill>
                  </a:tcPr>
                </a:tc>
                <a:tc>
                  <a:txBody>
                    <a:bodyPr/>
                    <a:lstStyle/>
                    <a:p>
                      <a:pPr algn="ctr"/>
                      <a:r>
                        <a:rPr sz="1200" b="1">
                          <a:solidFill>
                            <a:srgbClr val="C77700"/>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r>
                        <a:rPr sz="950">
                          <a:solidFill>
                            <a:schemeClr val="tx1">
                              <a:lumMod val="90000"/>
                              <a:lumOff val="10000"/>
                            </a:schemeClr>
                          </a:solidFill>
                        </a:rPr>
                        <a:t>No pressure excursion</a:t>
                      </a:r>
                    </a:p>
                  </a:txBody>
                  <a:tcPr marT="12000" marB="12000" anchor="ctr">
                    <a:solidFill>
                      <a:schemeClr val="accent1">
                        <a:lumMod val="6000"/>
                        <a:lumOff val="94000"/>
                      </a:schemeClr>
                    </a:solidFill>
                  </a:tcPr>
                </a:tc>
                <a:extLst>
                  <a:ext uri="{0D108BD9-81ED-4DB2-BD59-A6C34878D82A}">
                    <a16:rowId xmlns:a16="http://schemas.microsoft.com/office/drawing/2014/main" val="10004"/>
                  </a:ext>
                </a:extLst>
              </a:tr>
              <a:tr h="304545">
                <a:tc>
                  <a:txBody>
                    <a:bodyPr/>
                    <a:lstStyle/>
                    <a:p>
                      <a:r>
                        <a:rPr sz="950">
                          <a:solidFill>
                            <a:schemeClr val="tx1">
                              <a:lumMod val="90000"/>
                              <a:lumOff val="10000"/>
                            </a:schemeClr>
                          </a:solidFill>
                        </a:rPr>
                        <a:t>Partial valve tests</a:t>
                      </a:r>
                    </a:p>
                  </a:txBody>
                  <a:tcPr marT="12000" marB="12000" anchor="ctr">
                    <a:solidFill>
                      <a:schemeClr val="bg1"/>
                    </a:solidFill>
                  </a:tcPr>
                </a:tc>
                <a:tc>
                  <a:txBody>
                    <a:bodyPr/>
                    <a:lstStyle/>
                    <a:p>
                      <a:pPr algn="ctr"/>
                      <a:r>
                        <a:rPr sz="1200" b="1">
                          <a:solidFill>
                            <a:srgbClr val="C77700"/>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r>
                        <a:rPr sz="950">
                          <a:solidFill>
                            <a:schemeClr val="tx1">
                              <a:lumMod val="90000"/>
                              <a:lumOff val="10000"/>
                            </a:schemeClr>
                          </a:solidFill>
                        </a:rPr>
                        <a:t>Proven transient envelope</a:t>
                      </a:r>
                    </a:p>
                  </a:txBody>
                  <a:tcPr marT="12000" marB="12000" anchor="ctr">
                    <a:solidFill>
                      <a:schemeClr val="bg1"/>
                    </a:solidFill>
                  </a:tcPr>
                </a:tc>
                <a:extLst>
                  <a:ext uri="{0D108BD9-81ED-4DB2-BD59-A6C34878D82A}">
                    <a16:rowId xmlns:a16="http://schemas.microsoft.com/office/drawing/2014/main" val="10005"/>
                  </a:ext>
                </a:extLst>
              </a:tr>
              <a:tr h="304545">
                <a:tc>
                  <a:txBody>
                    <a:bodyPr/>
                    <a:lstStyle/>
                    <a:p>
                      <a:r>
                        <a:rPr sz="950">
                          <a:solidFill>
                            <a:schemeClr val="tx1">
                              <a:lumMod val="90000"/>
                              <a:lumOff val="10000"/>
                            </a:schemeClr>
                          </a:solidFill>
                        </a:rPr>
                        <a:t>Rotating machinery minor service</a:t>
                      </a:r>
                    </a:p>
                  </a:txBody>
                  <a:tcPr marT="12000" marB="12000" anchor="ctr">
                    <a:solidFill>
                      <a:schemeClr val="accent1">
                        <a:lumMod val="6000"/>
                        <a:lumOff val="94000"/>
                      </a:schemeClr>
                    </a:solidFill>
                  </a:tcPr>
                </a:tc>
                <a:tc>
                  <a:txBody>
                    <a:bodyPr/>
                    <a:lstStyle/>
                    <a:p>
                      <a:pPr algn="ctr"/>
                      <a:r>
                        <a:rPr sz="1200" b="1">
                          <a:solidFill>
                            <a:srgbClr val="C62828"/>
                          </a:solidFill>
                        </a:rPr>
                        <a:t>✕</a:t>
                      </a:r>
                    </a:p>
                  </a:txBody>
                  <a:tcPr marT="12000" marB="12000" anchor="ctr">
                    <a:solidFill>
                      <a:schemeClr val="accent1">
                        <a:lumMod val="6000"/>
                        <a:lumOff val="94000"/>
                      </a:schemeClr>
                    </a:solidFill>
                  </a:tcPr>
                </a:tc>
                <a:tc>
                  <a:txBody>
                    <a:bodyPr/>
                    <a:lstStyle/>
                    <a:p>
                      <a:pPr algn="ctr"/>
                      <a:r>
                        <a:rPr sz="1200" b="1">
                          <a:solidFill>
                            <a:srgbClr val="C77700"/>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r>
                        <a:rPr sz="950">
                          <a:solidFill>
                            <a:schemeClr val="tx1">
                              <a:lumMod val="90000"/>
                              <a:lumOff val="10000"/>
                            </a:schemeClr>
                          </a:solidFill>
                        </a:rPr>
                        <a:t>Depends on redundancy</a:t>
                      </a:r>
                    </a:p>
                  </a:txBody>
                  <a:tcPr marT="12000" marB="12000" anchor="ctr">
                    <a:solidFill>
                      <a:schemeClr val="accent1">
                        <a:lumMod val="6000"/>
                        <a:lumOff val="94000"/>
                      </a:schemeClr>
                    </a:solidFill>
                  </a:tcPr>
                </a:tc>
                <a:extLst>
                  <a:ext uri="{0D108BD9-81ED-4DB2-BD59-A6C34878D82A}">
                    <a16:rowId xmlns:a16="http://schemas.microsoft.com/office/drawing/2014/main" val="10006"/>
                  </a:ext>
                </a:extLst>
              </a:tr>
              <a:tr h="304545">
                <a:tc>
                  <a:txBody>
                    <a:bodyPr/>
                    <a:lstStyle/>
                    <a:p>
                      <a:r>
                        <a:rPr sz="950">
                          <a:solidFill>
                            <a:schemeClr val="tx1">
                              <a:lumMod val="90000"/>
                              <a:lumOff val="10000"/>
                            </a:schemeClr>
                          </a:solidFill>
                        </a:rPr>
                        <a:t>Cold compressor interventions</a:t>
                      </a:r>
                    </a:p>
                  </a:txBody>
                  <a:tcPr marT="12000" marB="12000" anchor="ctr">
                    <a:solidFill>
                      <a:schemeClr val="bg1"/>
                    </a:solidFill>
                  </a:tcPr>
                </a:tc>
                <a:tc>
                  <a:txBody>
                    <a:bodyPr/>
                    <a:lstStyle/>
                    <a:p>
                      <a:pPr algn="ctr"/>
                      <a:r>
                        <a:rPr sz="1200" b="1">
                          <a:solidFill>
                            <a:srgbClr val="C62828"/>
                          </a:solidFill>
                        </a:rPr>
                        <a:t>✕</a:t>
                      </a:r>
                    </a:p>
                  </a:txBody>
                  <a:tcPr marT="12000" marB="12000" anchor="ctr">
                    <a:solidFill>
                      <a:schemeClr val="bg1"/>
                    </a:solidFill>
                  </a:tcPr>
                </a:tc>
                <a:tc>
                  <a:txBody>
                    <a:bodyPr/>
                    <a:lstStyle/>
                    <a:p>
                      <a:pPr algn="ctr"/>
                      <a:r>
                        <a:rPr sz="1200" b="1">
                          <a:solidFill>
                            <a:srgbClr val="C62828"/>
                          </a:solidFill>
                        </a:rPr>
                        <a:t>✕</a:t>
                      </a:r>
                    </a:p>
                  </a:txBody>
                  <a:tcPr marT="12000" marB="12000" anchor="ctr">
                    <a:solidFill>
                      <a:schemeClr val="bg1"/>
                    </a:solidFill>
                  </a:tcPr>
                </a:tc>
                <a:tc>
                  <a:txBody>
                    <a:bodyPr/>
                    <a:lstStyle/>
                    <a:p>
                      <a:pPr algn="ctr"/>
                      <a:r>
                        <a:rPr sz="1200" b="1">
                          <a:solidFill>
                            <a:srgbClr val="C77700"/>
                          </a:solidFill>
                        </a:rPr>
                        <a:t>⚠</a:t>
                      </a:r>
                    </a:p>
                  </a:txBody>
                  <a:tcPr marT="12000" marB="12000" anchor="ctr">
                    <a:solidFill>
                      <a:schemeClr val="bg1"/>
                    </a:solidFill>
                  </a:tcPr>
                </a:tc>
                <a:tc>
                  <a:txBody>
                    <a:bodyPr/>
                    <a:lstStyle/>
                    <a:p>
                      <a:pPr algn="ctr"/>
                      <a:r>
                        <a:rPr sz="1200" b="1">
                          <a:solidFill>
                            <a:srgbClr val="C62828"/>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r>
                        <a:rPr sz="950">
                          <a:solidFill>
                            <a:schemeClr val="tx1">
                              <a:lumMod val="90000"/>
                              <a:lumOff val="10000"/>
                            </a:schemeClr>
                          </a:solidFill>
                        </a:rPr>
                        <a:t>Below TS temperature</a:t>
                      </a:r>
                    </a:p>
                  </a:txBody>
                  <a:tcPr marT="12000" marB="12000" anchor="ctr">
                    <a:solidFill>
                      <a:schemeClr val="bg1"/>
                    </a:solidFill>
                  </a:tcPr>
                </a:tc>
                <a:extLst>
                  <a:ext uri="{0D108BD9-81ED-4DB2-BD59-A6C34878D82A}">
                    <a16:rowId xmlns:a16="http://schemas.microsoft.com/office/drawing/2014/main" val="10007"/>
                  </a:ext>
                </a:extLst>
              </a:tr>
              <a:tr h="304545">
                <a:tc>
                  <a:txBody>
                    <a:bodyPr/>
                    <a:lstStyle/>
                    <a:p>
                      <a:r>
                        <a:rPr sz="950">
                          <a:solidFill>
                            <a:schemeClr val="tx1">
                              <a:lumMod val="90000"/>
                              <a:lumOff val="10000"/>
                            </a:schemeClr>
                          </a:solidFill>
                        </a:rPr>
                        <a:t>Cryogenic valve intrusive work</a:t>
                      </a:r>
                    </a:p>
                  </a:txBody>
                  <a:tcPr marT="12000" marB="12000" anchor="ctr">
                    <a:solidFill>
                      <a:schemeClr val="accent1">
                        <a:lumMod val="6000"/>
                        <a:lumOff val="94000"/>
                      </a:schemeClr>
                    </a:solidFill>
                  </a:tcPr>
                </a:tc>
                <a:tc>
                  <a:txBody>
                    <a:bodyPr/>
                    <a:lstStyle/>
                    <a:p>
                      <a:pPr algn="ctr"/>
                      <a:r>
                        <a:rPr sz="1200" b="1">
                          <a:solidFill>
                            <a:srgbClr val="C62828"/>
                          </a:solidFill>
                        </a:rPr>
                        <a:t>✕</a:t>
                      </a:r>
                    </a:p>
                  </a:txBody>
                  <a:tcPr marT="12000" marB="12000" anchor="ctr">
                    <a:solidFill>
                      <a:schemeClr val="accent1">
                        <a:lumMod val="6000"/>
                        <a:lumOff val="94000"/>
                      </a:schemeClr>
                    </a:solidFill>
                  </a:tcPr>
                </a:tc>
                <a:tc>
                  <a:txBody>
                    <a:bodyPr/>
                    <a:lstStyle/>
                    <a:p>
                      <a:pPr algn="ctr"/>
                      <a:r>
                        <a:rPr sz="1200" b="1">
                          <a:solidFill>
                            <a:srgbClr val="C62828"/>
                          </a:solidFill>
                        </a:rPr>
                        <a:t>✕</a:t>
                      </a:r>
                    </a:p>
                  </a:txBody>
                  <a:tcPr marT="12000" marB="12000" anchor="ctr">
                    <a:solidFill>
                      <a:schemeClr val="accent1">
                        <a:lumMod val="6000"/>
                        <a:lumOff val="94000"/>
                      </a:schemeClr>
                    </a:solidFill>
                  </a:tcPr>
                </a:tc>
                <a:tc>
                  <a:txBody>
                    <a:bodyPr/>
                    <a:lstStyle/>
                    <a:p>
                      <a:pPr algn="ctr"/>
                      <a:r>
                        <a:rPr sz="1200" b="1">
                          <a:solidFill>
                            <a:srgbClr val="C77700"/>
                          </a:solidFill>
                        </a:rPr>
                        <a:t>⚠</a:t>
                      </a:r>
                    </a:p>
                  </a:txBody>
                  <a:tcPr marT="12000" marB="12000" anchor="ctr">
                    <a:solidFill>
                      <a:schemeClr val="accent1">
                        <a:lumMod val="6000"/>
                        <a:lumOff val="94000"/>
                      </a:schemeClr>
                    </a:solidFill>
                  </a:tcPr>
                </a:tc>
                <a:tc>
                  <a:txBody>
                    <a:bodyPr/>
                    <a:lstStyle/>
                    <a:p>
                      <a:pPr algn="ctr"/>
                      <a:r>
                        <a:rPr sz="1200" b="1">
                          <a:solidFill>
                            <a:srgbClr val="C62828"/>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r>
                        <a:rPr sz="950">
                          <a:solidFill>
                            <a:schemeClr val="tx1">
                              <a:lumMod val="90000"/>
                              <a:lumOff val="10000"/>
                            </a:schemeClr>
                          </a:solidFill>
                        </a:rPr>
                        <a:t>Boundary opening</a:t>
                      </a:r>
                    </a:p>
                  </a:txBody>
                  <a:tcPr marT="12000" marB="12000" anchor="ctr">
                    <a:solidFill>
                      <a:schemeClr val="accent1">
                        <a:lumMod val="6000"/>
                        <a:lumOff val="94000"/>
                      </a:schemeClr>
                    </a:solidFill>
                  </a:tcPr>
                </a:tc>
                <a:extLst>
                  <a:ext uri="{0D108BD9-81ED-4DB2-BD59-A6C34878D82A}">
                    <a16:rowId xmlns:a16="http://schemas.microsoft.com/office/drawing/2014/main" val="10008"/>
                  </a:ext>
                </a:extLst>
              </a:tr>
              <a:tr h="304545">
                <a:tc>
                  <a:txBody>
                    <a:bodyPr/>
                    <a:lstStyle/>
                    <a:p>
                      <a:r>
                        <a:rPr sz="950">
                          <a:solidFill>
                            <a:schemeClr val="tx1">
                              <a:lumMod val="90000"/>
                              <a:lumOff val="10000"/>
                            </a:schemeClr>
                          </a:solidFill>
                        </a:rPr>
                        <a:t>Safety valve / pressure tests</a:t>
                      </a:r>
                    </a:p>
                  </a:txBody>
                  <a:tcPr marT="12000" marB="12000" anchor="ctr">
                    <a:solidFill>
                      <a:schemeClr val="bg1"/>
                    </a:solidFill>
                  </a:tcPr>
                </a:tc>
                <a:tc>
                  <a:txBody>
                    <a:bodyPr/>
                    <a:lstStyle/>
                    <a:p>
                      <a:pPr algn="ctr"/>
                      <a:r>
                        <a:rPr sz="1200" b="1">
                          <a:solidFill>
                            <a:srgbClr val="C62828"/>
                          </a:solidFill>
                        </a:rPr>
                        <a:t>✕</a:t>
                      </a:r>
                    </a:p>
                  </a:txBody>
                  <a:tcPr marT="12000" marB="12000" anchor="ctr">
                    <a:solidFill>
                      <a:schemeClr val="bg1"/>
                    </a:solidFill>
                  </a:tcPr>
                </a:tc>
                <a:tc>
                  <a:txBody>
                    <a:bodyPr/>
                    <a:lstStyle/>
                    <a:p>
                      <a:pPr algn="ctr"/>
                      <a:r>
                        <a:rPr sz="1200" b="1">
                          <a:solidFill>
                            <a:srgbClr val="C62828"/>
                          </a:solidFill>
                        </a:rPr>
                        <a:t>✕</a:t>
                      </a:r>
                    </a:p>
                  </a:txBody>
                  <a:tcPr marT="12000" marB="12000" anchor="ctr">
                    <a:solidFill>
                      <a:schemeClr val="bg1"/>
                    </a:solidFill>
                  </a:tcPr>
                </a:tc>
                <a:tc>
                  <a:txBody>
                    <a:bodyPr/>
                    <a:lstStyle/>
                    <a:p>
                      <a:pPr algn="ctr"/>
                      <a:r>
                        <a:rPr sz="1200" b="1">
                          <a:solidFill>
                            <a:srgbClr val="C62828"/>
                          </a:solidFill>
                        </a:rPr>
                        <a:t>✕</a:t>
                      </a:r>
                    </a:p>
                  </a:txBody>
                  <a:tcPr marT="12000" marB="12000" anchor="ctr">
                    <a:solidFill>
                      <a:schemeClr val="bg1"/>
                    </a:solidFill>
                  </a:tcPr>
                </a:tc>
                <a:tc>
                  <a:txBody>
                    <a:bodyPr/>
                    <a:lstStyle/>
                    <a:p>
                      <a:pPr algn="ctr"/>
                      <a:r>
                        <a:rPr sz="1200" b="1">
                          <a:solidFill>
                            <a:srgbClr val="C62828"/>
                          </a:solidFill>
                        </a:rPr>
                        <a:t>✕</a:t>
                      </a:r>
                    </a:p>
                  </a:txBody>
                  <a:tcPr marT="12000" marB="12000" anchor="ctr">
                    <a:solidFill>
                      <a:schemeClr val="bg1"/>
                    </a:solidFill>
                  </a:tcPr>
                </a:tc>
                <a:tc>
                  <a:txBody>
                    <a:bodyPr/>
                    <a:lstStyle/>
                    <a:p>
                      <a:pPr algn="ctr"/>
                      <a:r>
                        <a:rPr sz="1200" b="1">
                          <a:solidFill>
                            <a:srgbClr val="2E7D32"/>
                          </a:solidFill>
                        </a:rPr>
                        <a:t>✓</a:t>
                      </a:r>
                    </a:p>
                  </a:txBody>
                  <a:tcPr marT="12000" marB="12000" anchor="ctr">
                    <a:solidFill>
                      <a:schemeClr val="bg1"/>
                    </a:solidFill>
                  </a:tcPr>
                </a:tc>
                <a:tc>
                  <a:txBody>
                    <a:bodyPr/>
                    <a:lstStyle/>
                    <a:p>
                      <a:r>
                        <a:rPr sz="950">
                          <a:solidFill>
                            <a:schemeClr val="tx1">
                              <a:lumMod val="90000"/>
                              <a:lumOff val="10000"/>
                            </a:schemeClr>
                          </a:solidFill>
                        </a:rPr>
                        <a:t>Warm Stop only</a:t>
                      </a:r>
                    </a:p>
                  </a:txBody>
                  <a:tcPr marT="12000" marB="12000" anchor="ctr">
                    <a:solidFill>
                      <a:schemeClr val="bg1"/>
                    </a:solidFill>
                  </a:tcPr>
                </a:tc>
                <a:extLst>
                  <a:ext uri="{0D108BD9-81ED-4DB2-BD59-A6C34878D82A}">
                    <a16:rowId xmlns:a16="http://schemas.microsoft.com/office/drawing/2014/main" val="10009"/>
                  </a:ext>
                </a:extLst>
              </a:tr>
              <a:tr h="304550">
                <a:tc>
                  <a:txBody>
                    <a:bodyPr/>
                    <a:lstStyle/>
                    <a:p>
                      <a:r>
                        <a:rPr sz="950">
                          <a:solidFill>
                            <a:schemeClr val="tx1">
                              <a:lumMod val="90000"/>
                              <a:lumOff val="10000"/>
                            </a:schemeClr>
                          </a:solidFill>
                        </a:rPr>
                        <a:t>Cryostat / cold box opening</a:t>
                      </a:r>
                    </a:p>
                  </a:txBody>
                  <a:tcPr marT="12000" marB="12000" anchor="ctr">
                    <a:solidFill>
                      <a:schemeClr val="accent1">
                        <a:lumMod val="6000"/>
                        <a:lumOff val="94000"/>
                      </a:schemeClr>
                    </a:solidFill>
                  </a:tcPr>
                </a:tc>
                <a:tc>
                  <a:txBody>
                    <a:bodyPr/>
                    <a:lstStyle/>
                    <a:p>
                      <a:pPr algn="ctr"/>
                      <a:r>
                        <a:rPr sz="1200" b="1">
                          <a:solidFill>
                            <a:srgbClr val="C62828"/>
                          </a:solidFill>
                        </a:rPr>
                        <a:t>✕</a:t>
                      </a:r>
                    </a:p>
                  </a:txBody>
                  <a:tcPr marT="12000" marB="12000" anchor="ctr">
                    <a:solidFill>
                      <a:schemeClr val="accent1">
                        <a:lumMod val="6000"/>
                        <a:lumOff val="94000"/>
                      </a:schemeClr>
                    </a:solidFill>
                  </a:tcPr>
                </a:tc>
                <a:tc>
                  <a:txBody>
                    <a:bodyPr/>
                    <a:lstStyle/>
                    <a:p>
                      <a:pPr algn="ctr"/>
                      <a:r>
                        <a:rPr sz="1200" b="1">
                          <a:solidFill>
                            <a:srgbClr val="C62828"/>
                          </a:solidFill>
                        </a:rPr>
                        <a:t>✕</a:t>
                      </a:r>
                    </a:p>
                  </a:txBody>
                  <a:tcPr marT="12000" marB="12000" anchor="ctr">
                    <a:solidFill>
                      <a:schemeClr val="accent1">
                        <a:lumMod val="6000"/>
                        <a:lumOff val="94000"/>
                      </a:schemeClr>
                    </a:solidFill>
                  </a:tcPr>
                </a:tc>
                <a:tc>
                  <a:txBody>
                    <a:bodyPr/>
                    <a:lstStyle/>
                    <a:p>
                      <a:pPr algn="ctr"/>
                      <a:r>
                        <a:rPr sz="1200" b="1">
                          <a:solidFill>
                            <a:srgbClr val="C62828"/>
                          </a:solidFill>
                        </a:rPr>
                        <a:t>✕</a:t>
                      </a:r>
                    </a:p>
                  </a:txBody>
                  <a:tcPr marT="12000" marB="12000" anchor="ctr">
                    <a:solidFill>
                      <a:schemeClr val="accent1">
                        <a:lumMod val="6000"/>
                        <a:lumOff val="94000"/>
                      </a:schemeClr>
                    </a:solidFill>
                  </a:tcPr>
                </a:tc>
                <a:tc>
                  <a:txBody>
                    <a:bodyPr/>
                    <a:lstStyle/>
                    <a:p>
                      <a:pPr algn="ctr"/>
                      <a:r>
                        <a:rPr sz="1200" b="1">
                          <a:solidFill>
                            <a:srgbClr val="C62828"/>
                          </a:solidFill>
                        </a:rPr>
                        <a:t>✕</a:t>
                      </a:r>
                    </a:p>
                  </a:txBody>
                  <a:tcPr marT="12000" marB="12000" anchor="ctr">
                    <a:solidFill>
                      <a:schemeClr val="accent1">
                        <a:lumMod val="6000"/>
                        <a:lumOff val="94000"/>
                      </a:schemeClr>
                    </a:solidFill>
                  </a:tcPr>
                </a:tc>
                <a:tc>
                  <a:txBody>
                    <a:bodyPr/>
                    <a:lstStyle/>
                    <a:p>
                      <a:pPr algn="ctr"/>
                      <a:r>
                        <a:rPr sz="1200" b="1">
                          <a:solidFill>
                            <a:srgbClr val="2E7D32"/>
                          </a:solidFill>
                        </a:rPr>
                        <a:t>✓</a:t>
                      </a:r>
                    </a:p>
                  </a:txBody>
                  <a:tcPr marT="12000" marB="12000" anchor="ctr">
                    <a:solidFill>
                      <a:schemeClr val="accent1">
                        <a:lumMod val="6000"/>
                        <a:lumOff val="94000"/>
                      </a:schemeClr>
                    </a:solidFill>
                  </a:tcPr>
                </a:tc>
                <a:tc>
                  <a:txBody>
                    <a:bodyPr/>
                    <a:lstStyle/>
                    <a:p>
                      <a:r>
                        <a:rPr sz="950" dirty="0">
                          <a:solidFill>
                            <a:schemeClr val="tx1">
                              <a:lumMod val="90000"/>
                              <a:lumOff val="10000"/>
                            </a:schemeClr>
                          </a:solidFill>
                        </a:rPr>
                        <a:t>Warm Stop only</a:t>
                      </a:r>
                    </a:p>
                  </a:txBody>
                  <a:tcPr marT="12000" marB="12000" anchor="ctr">
                    <a:solidFill>
                      <a:schemeClr val="accent1">
                        <a:lumMod val="6000"/>
                        <a:lumOff val="94000"/>
                      </a:schemeClr>
                    </a:solidFill>
                  </a:tcPr>
                </a:tc>
                <a:extLst>
                  <a:ext uri="{0D108BD9-81ED-4DB2-BD59-A6C34878D82A}">
                    <a16:rowId xmlns:a16="http://schemas.microsoft.com/office/drawing/2014/main" val="10010"/>
                  </a:ext>
                </a:extLst>
              </a:tr>
            </a:tbl>
          </a:graphicData>
        </a:graphic>
      </p:graphicFrame>
      <p:sp>
        <p:nvSpPr>
          <p:cNvPr id="7" name="TextBox 6"/>
          <p:cNvSpPr txBox="1"/>
          <p:nvPr/>
        </p:nvSpPr>
        <p:spPr>
          <a:xfrm>
            <a:off x="645465" y="6120000"/>
            <a:ext cx="11000000" cy="300000"/>
          </a:xfrm>
          <a:prstGeom prst="rect">
            <a:avLst/>
          </a:prstGeom>
          <a:noFill/>
        </p:spPr>
        <p:txBody>
          <a:bodyPr wrap="square">
            <a:spAutoFit/>
          </a:bodyPr>
          <a:lstStyle/>
          <a:p>
            <a:pPr>
              <a:lnSpc>
                <a:spcPct val="145000"/>
              </a:lnSpc>
              <a:spcBef>
                <a:spcPts val="0"/>
              </a:spcBef>
              <a:spcAft>
                <a:spcPts val="800"/>
              </a:spcAft>
            </a:pPr>
            <a:r>
              <a:rPr sz="1000" b="1">
                <a:solidFill>
                  <a:srgbClr val="2E7D32"/>
                </a:solidFill>
                <a:latin typeface="Aptos"/>
              </a:rPr>
              <a:t>✓</a:t>
            </a:r>
            <a:r>
              <a:rPr sz="1000">
                <a:solidFill>
                  <a:schemeClr val="tx1">
                    <a:lumMod val="70000"/>
                    <a:lumOff val="30000"/>
                  </a:schemeClr>
                </a:solidFill>
                <a:latin typeface="Aptos"/>
              </a:rPr>
              <a:t> permitted    </a:t>
            </a:r>
            <a:r>
              <a:rPr sz="1000" b="1">
                <a:solidFill>
                  <a:srgbClr val="C77700"/>
                </a:solidFill>
                <a:latin typeface="Aptos"/>
              </a:rPr>
              <a:t>⚠</a:t>
            </a:r>
            <a:r>
              <a:rPr sz="1000">
                <a:solidFill>
                  <a:schemeClr val="tx1">
                    <a:lumMod val="70000"/>
                    <a:lumOff val="30000"/>
                  </a:schemeClr>
                </a:solidFill>
                <a:latin typeface="Aptos"/>
              </a:rPr>
              <a:t> conditional    </a:t>
            </a:r>
            <a:r>
              <a:rPr sz="1000" b="1">
                <a:solidFill>
                  <a:srgbClr val="C62828"/>
                </a:solidFill>
                <a:latin typeface="Aptos"/>
              </a:rPr>
              <a:t>✕</a:t>
            </a:r>
            <a:r>
              <a:rPr sz="1000">
                <a:solidFill>
                  <a:schemeClr val="tx1">
                    <a:lumMod val="70000"/>
                    <a:lumOff val="30000"/>
                  </a:schemeClr>
                </a:solidFill>
                <a:latin typeface="Aptos"/>
              </a:rPr>
              <a:t> not permitted</a:t>
            </a:r>
          </a:p>
        </p:txBody>
      </p:sp>
      <p:sp>
        <p:nvSpPr>
          <p:cNvPr id="9" name="Slide Number Placeholder 8">
            <a:extLst>
              <a:ext uri="{FF2B5EF4-FFF2-40B4-BE49-F238E27FC236}">
                <a16:creationId xmlns:a16="http://schemas.microsoft.com/office/drawing/2014/main" id="{2C9D1402-0930-8BEE-168F-6FAE83783210}"/>
              </a:ext>
            </a:extLst>
          </p:cNvPr>
          <p:cNvSpPr>
            <a:spLocks noGrp="1"/>
          </p:cNvSpPr>
          <p:nvPr>
            <p:ph type="sldNum" sz="quarter" idx="4"/>
          </p:nvPr>
        </p:nvSpPr>
        <p:spPr/>
        <p:txBody>
          <a:bodyPr/>
          <a:lstStyle/>
          <a:p>
            <a:fld id="{A814E660-BF25-4843-B2A0-93C6E2B6253B}" type="slidenum">
              <a:rPr lang="en-BE" smtClean="0"/>
              <a:pPr/>
              <a:t>24</a:t>
            </a:fld>
            <a:endParaRPr lang="en-BE" dirty="0"/>
          </a:p>
        </p:txBody>
      </p:sp>
      <p:sp>
        <p:nvSpPr>
          <p:cNvPr id="10" name="Rounded Rectangle 9"/>
          <p:cNvSpPr/>
          <p:nvPr/>
        </p:nvSpPr>
        <p:spPr>
          <a:xfrm>
            <a:off x="9546535" y="150000"/>
            <a:ext cx="2000000" cy="460000"/>
          </a:xfrm>
          <a:prstGeom prst="roundRect">
            <a:avLst>
              <a:gd name="adj" fmla="val 50000"/>
            </a:avLst>
          </a:prstGeom>
          <a:solidFill>
            <a:srgbClr val="0346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ANALYZE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900000"/>
          </a:xfrm>
        </p:spPr>
        <p:txBody>
          <a:bodyPr wrap="square"/>
          <a:lstStyle/>
          <a:p>
            <a:r>
              <a:rPr sz="2700">
                <a:solidFill>
                  <a:schemeClr val="accent4"/>
                </a:solidFill>
                <a:latin typeface="Segoe UI" panose="020B0004020202020204" pitchFamily="34" charset="0"/>
              </a:rPr>
              <a:t>Appendix F — Deriving the SAE Frequency Limit</a:t>
            </a:r>
          </a:p>
        </p:txBody>
      </p:sp>
      <p:sp>
        <p:nvSpPr>
          <p:cNvPr id="3" name="Text Placeholder 2"/>
          <p:cNvSpPr>
            <a:spLocks noGrp="1"/>
          </p:cNvSpPr>
          <p:nvPr>
            <p:ph type="body" sz="quarter" idx="14"/>
          </p:nvPr>
        </p:nvSpPr>
        <p:spPr>
          <a:xfrm>
            <a:off x="457200" y="1340000"/>
            <a:ext cx="10900000" cy="460000"/>
          </a:xfrm>
        </p:spPr>
        <p:txBody>
          <a:bodyPr/>
          <a:lstStyle/>
          <a:p>
            <a:r>
              <a:rPr sz="1400">
                <a:solidFill>
                  <a:schemeClr val="accent4"/>
                </a:solidFill>
                <a:latin typeface="Aptos" panose="020B0004020202020204" pitchFamily="34" charset="0"/>
              </a:rPr>
              <a:t>How the 90-day continuity requirement (RTM-062) becomes the annual SAE rate cap</a:t>
            </a:r>
          </a:p>
        </p:txBody>
      </p:sp>
      <p:sp>
        <p:nvSpPr>
          <p:cNvPr id="5" name="TextBox 4"/>
          <p:cNvSpPr txBox="1"/>
          <p:nvPr/>
        </p:nvSpPr>
        <p:spPr>
          <a:xfrm>
            <a:off x="645465" y="2260000"/>
            <a:ext cx="5350000" cy="3528377"/>
          </a:xfrm>
          <a:prstGeom prst="rect">
            <a:avLst/>
          </a:prstGeom>
          <a:noFill/>
        </p:spPr>
        <p:txBody>
          <a:bodyPr wrap="square">
            <a:spAutoFit/>
          </a:bodyPr>
          <a:lstStyle/>
          <a:p>
            <a:pPr>
              <a:lnSpc>
                <a:spcPct val="145000"/>
              </a:lnSpc>
              <a:spcBef>
                <a:spcPts val="0"/>
              </a:spcBef>
              <a:spcAft>
                <a:spcPts val="800"/>
              </a:spcAft>
            </a:pPr>
            <a:r>
              <a:rPr sz="950" b="1" dirty="0">
                <a:solidFill>
                  <a:schemeClr val="accent2"/>
                </a:solidFill>
                <a:latin typeface="Aptos" panose="020B0004020202020204" pitchFamily="34" charset="0"/>
              </a:rPr>
              <a:t>1. Continuity requirement</a:t>
            </a:r>
          </a:p>
          <a:p>
            <a:pPr>
              <a:lnSpc>
                <a:spcPct val="145000"/>
              </a:lnSpc>
              <a:spcBef>
                <a:spcPts val="0"/>
              </a:spcBef>
              <a:spcAft>
                <a:spcPts val="800"/>
              </a:spcAft>
            </a:pPr>
            <a:r>
              <a:rPr sz="950" dirty="0">
                <a:solidFill>
                  <a:schemeClr val="tx1">
                    <a:lumMod val="88000"/>
                    <a:lumOff val="12000"/>
                  </a:schemeClr>
                </a:solidFill>
                <a:latin typeface="Aptos" panose="020B0004020202020204" pitchFamily="34" charset="0"/>
              </a:rPr>
              <a:t>QPLANT shall support ≥ 90 consecutive days at 2 K, with no unplanned operational-state transition — the user-relevant continuity metric.</a:t>
            </a:r>
          </a:p>
          <a:p>
            <a:pPr>
              <a:lnSpc>
                <a:spcPct val="145000"/>
              </a:lnSpc>
              <a:spcBef>
                <a:spcPts val="0"/>
              </a:spcBef>
              <a:spcAft>
                <a:spcPts val="800"/>
              </a:spcAft>
            </a:pPr>
            <a:r>
              <a:rPr sz="950" b="1" dirty="0">
                <a:solidFill>
                  <a:schemeClr val="accent2"/>
                </a:solidFill>
                <a:latin typeface="Aptos" panose="020B0004020202020204" pitchFamily="34" charset="0"/>
              </a:rPr>
              <a:t>2. Model it as Poisson</a:t>
            </a:r>
          </a:p>
          <a:p>
            <a:pPr>
              <a:lnSpc>
                <a:spcPct val="145000"/>
              </a:lnSpc>
              <a:spcBef>
                <a:spcPts val="0"/>
              </a:spcBef>
              <a:spcAft>
                <a:spcPts val="800"/>
              </a:spcAft>
            </a:pPr>
            <a:r>
              <a:rPr sz="950" dirty="0">
                <a:solidFill>
                  <a:schemeClr val="tx1">
                    <a:lumMod val="88000"/>
                    <a:lumOff val="12000"/>
                  </a:schemeClr>
                </a:solidFill>
                <a:latin typeface="Aptos" panose="020B0004020202020204" pitchFamily="34" charset="0"/>
              </a:rPr>
              <a:t>Class-A Service-Affecting Events (SAE) are modeled as a Poisson process, constant rate λ. For a 90-day window, t = 90/365 = 0.2466 y, and P(zero SAE) = e^(−</a:t>
            </a:r>
            <a:r>
              <a:rPr sz="950" dirty="0" err="1">
                <a:solidFill>
                  <a:schemeClr val="tx1">
                    <a:lumMod val="88000"/>
                    <a:lumOff val="12000"/>
                  </a:schemeClr>
                </a:solidFill>
                <a:latin typeface="Aptos" panose="020B0004020202020204" pitchFamily="34" charset="0"/>
              </a:rPr>
              <a:t>λt</a:t>
            </a:r>
            <a:r>
              <a:rPr sz="950" dirty="0">
                <a:solidFill>
                  <a:schemeClr val="tx1">
                    <a:lumMod val="88000"/>
                    <a:lumOff val="12000"/>
                  </a:schemeClr>
                </a:solidFill>
                <a:latin typeface="Aptos" panose="020B0004020202020204" pitchFamily="34" charset="0"/>
              </a:rPr>
              <a:t>) (Appendix D).</a:t>
            </a:r>
          </a:p>
          <a:p>
            <a:pPr>
              <a:lnSpc>
                <a:spcPct val="145000"/>
              </a:lnSpc>
              <a:spcBef>
                <a:spcPts val="0"/>
              </a:spcBef>
              <a:spcAft>
                <a:spcPts val="800"/>
              </a:spcAft>
            </a:pPr>
            <a:r>
              <a:rPr sz="950" b="1" dirty="0">
                <a:solidFill>
                  <a:schemeClr val="accent2"/>
                </a:solidFill>
                <a:latin typeface="Aptos" panose="020B0004020202020204" pitchFamily="34" charset="0"/>
              </a:rPr>
              <a:t>3. Invert for the rate cap</a:t>
            </a:r>
          </a:p>
          <a:p>
            <a:pPr>
              <a:lnSpc>
                <a:spcPct val="145000"/>
              </a:lnSpc>
              <a:spcBef>
                <a:spcPts val="0"/>
              </a:spcBef>
              <a:spcAft>
                <a:spcPts val="800"/>
              </a:spcAft>
            </a:pPr>
            <a:r>
              <a:rPr sz="950" dirty="0">
                <a:solidFill>
                  <a:schemeClr val="tx1">
                    <a:lumMod val="88000"/>
                    <a:lumOff val="12000"/>
                  </a:schemeClr>
                </a:solidFill>
                <a:latin typeface="Aptos" panose="020B0004020202020204" pitchFamily="34" charset="0"/>
              </a:rPr>
              <a:t>Requiring P(zero SAE) ≥ 0.95 over 90 days gives λ ≤ −ln(0.95)/0.2466 ≈ 0.208 SAE/year, i.e. MTBF_A ≥ 4.8 years — not an unrealistic number, once read correctly.</a:t>
            </a:r>
          </a:p>
          <a:p>
            <a:pPr>
              <a:lnSpc>
                <a:spcPct val="145000"/>
              </a:lnSpc>
              <a:spcBef>
                <a:spcPts val="0"/>
              </a:spcBef>
              <a:spcAft>
                <a:spcPts val="800"/>
              </a:spcAft>
            </a:pPr>
            <a:r>
              <a:rPr sz="950" b="1" dirty="0">
                <a:solidFill>
                  <a:schemeClr val="accent2"/>
                </a:solidFill>
                <a:latin typeface="Aptos" panose="020B0004020202020204" pitchFamily="34" charset="0"/>
              </a:rPr>
              <a:t>4. Duty-factor conversion</a:t>
            </a:r>
          </a:p>
          <a:p>
            <a:pPr>
              <a:lnSpc>
                <a:spcPct val="145000"/>
              </a:lnSpc>
              <a:spcBef>
                <a:spcPts val="0"/>
              </a:spcBef>
              <a:spcAft>
                <a:spcPts val="800"/>
              </a:spcAft>
            </a:pPr>
            <a:r>
              <a:rPr sz="950" dirty="0">
                <a:solidFill>
                  <a:schemeClr val="tx1">
                    <a:lumMod val="88000"/>
                    <a:lumOff val="12000"/>
                  </a:schemeClr>
                </a:solidFill>
                <a:latin typeface="Aptos" panose="020B0004020202020204" pitchFamily="34" charset="0"/>
              </a:rPr>
              <a:t>SAE statistics are gathered during active 2 K time. For the nominal duty factor d = 9/14, calendar time = active 2 K time / d — this is how a per-active-time rate becomes a calendar-year rate.</a:t>
            </a:r>
          </a:p>
        </p:txBody>
      </p:sp>
      <p:sp>
        <p:nvSpPr>
          <p:cNvPr id="6" name="Rounded Rectangle 5"/>
          <p:cNvSpPr/>
          <p:nvPr/>
        </p:nvSpPr>
        <p:spPr>
          <a:xfrm>
            <a:off x="6250000" y="2260000"/>
            <a:ext cx="5350000" cy="1150000"/>
          </a:xfrm>
          <a:prstGeom prst="roundRect">
            <a:avLst>
              <a:gd name="adj" fmla="val 6000"/>
            </a:avLst>
          </a:prstGeom>
          <a:solidFill>
            <a:schemeClr val="accent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050" b="1">
                <a:solidFill>
                  <a:schemeClr val="accent2"/>
                </a:solidFill>
                <a:latin typeface="Aptos" panose="020B0004020202020204" pitchFamily="34" charset="0"/>
              </a:rPr>
              <a:t>A COMMON MISREADING  </a:t>
            </a:r>
            <a:r>
              <a:rPr sz="1050" b="0">
                <a:solidFill>
                  <a:schemeClr val="accent2"/>
                </a:solidFill>
                <a:latin typeface="Aptos" panose="020B0004020202020204" pitchFamily="34" charset="0"/>
              </a:rPr>
              <a:t>Reading the success target as ≤1% failure probability over the entire multi-year mission (not per 90-day campaign) implies MTBF ≈ 387 years — see Appendix D (2/2), example 3. This RTM-062-derived cap is deliberately written as an annual rate, not a lifetime probability.</a:t>
            </a:r>
          </a:p>
        </p:txBody>
      </p:sp>
      <p:sp>
        <p:nvSpPr>
          <p:cNvPr id="7" name="Rounded Rectangle 6"/>
          <p:cNvSpPr/>
          <p:nvPr/>
        </p:nvSpPr>
        <p:spPr>
          <a:xfrm>
            <a:off x="6250000" y="3540000"/>
            <a:ext cx="5350000" cy="1500000"/>
          </a:xfrm>
          <a:prstGeom prst="roundRect">
            <a:avLst>
              <a:gd name="adj" fmla="val 6000"/>
            </a:avLst>
          </a:prstGeom>
          <a:solidFill>
            <a:schemeClr val="accent4">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050" b="1">
                <a:solidFill>
                  <a:schemeClr val="accent4"/>
                </a:solidFill>
                <a:latin typeface="Aptos" panose="020B0004020202020204" pitchFamily="34" charset="0"/>
              </a:rPr>
              <a:t>DERIVED CAP (from RTM-062)  </a:t>
            </a:r>
            <a:r>
              <a:rPr sz="1050" b="0">
                <a:solidFill>
                  <a:schemeClr val="accent4"/>
                </a:solidFill>
                <a:latin typeface="Aptos" panose="020B0004020202020204" pitchFamily="34" charset="0"/>
              </a:rPr>
              <a:t>The QPLANT design shall limit the frequency of Service-Affecting Events (SAE) attributable to QPLANT — unplanned transitions out of 2 K Operation — to λ_SAE ≤ 0.26 events per calendar year, averaged over representative operating periods. ≈ one SAE every 46.7 calendar months.</a:t>
            </a:r>
          </a:p>
        </p:txBody>
      </p:sp>
      <p:sp>
        <p:nvSpPr>
          <p:cNvPr id="8" name="Rounded Rectangle 7"/>
          <p:cNvSpPr/>
          <p:nvPr/>
        </p:nvSpPr>
        <p:spPr>
          <a:xfrm>
            <a:off x="6250000" y="5170000"/>
            <a:ext cx="5350000" cy="115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050" b="1">
                <a:solidFill>
                  <a:schemeClr val="accent1"/>
                </a:solidFill>
                <a:latin typeface="Aptos" panose="020B0004020202020204" pitchFamily="34" charset="0"/>
              </a:rPr>
              <a:t>ANNEX X — METHOD  </a:t>
            </a:r>
            <a:r>
              <a:rPr sz="1050" b="0">
                <a:solidFill>
                  <a:schemeClr val="accent1"/>
                </a:solidFill>
                <a:latin typeface="Aptos" panose="020B0004020202020204" pitchFamily="34" charset="0"/>
              </a:rPr>
              <a:t>Compliance is assessed with the same Poisson event-rate model (Appendix D), applied to the declared operational duty cycle. Worked check: λ ≈ 12/46.7 ≈ 0.257 SAE/yr → P(N=0, 90 d) ≈ e^(−0.257×0.2466) ≈ 0.94 — satisfies the RTM-062-derived cap.</a:t>
            </a:r>
          </a:p>
        </p:txBody>
      </p:sp>
      <p:sp>
        <p:nvSpPr>
          <p:cNvPr id="10" name="Slide Number Placeholder 9">
            <a:extLst>
              <a:ext uri="{FF2B5EF4-FFF2-40B4-BE49-F238E27FC236}">
                <a16:creationId xmlns:a16="http://schemas.microsoft.com/office/drawing/2014/main" id="{28E20974-69FF-0AEF-9193-363D8347BD46}"/>
              </a:ext>
            </a:extLst>
          </p:cNvPr>
          <p:cNvSpPr>
            <a:spLocks noGrp="1"/>
          </p:cNvSpPr>
          <p:nvPr>
            <p:ph type="sldNum" sz="quarter" idx="4"/>
          </p:nvPr>
        </p:nvSpPr>
        <p:spPr/>
        <p:txBody>
          <a:bodyPr/>
          <a:lstStyle/>
          <a:p>
            <a:fld id="{A814E660-BF25-4843-B2A0-93C6E2B6253B}" type="slidenum">
              <a:rPr lang="en-BE" smtClean="0">
                <a:latin typeface="Aptos" panose="020B0004020202020204" pitchFamily="34" charset="0"/>
              </a:rPr>
              <a:pPr/>
              <a:t>25</a:t>
            </a:fld>
            <a:endParaRPr lang="en-BE" dirty="0">
              <a:latin typeface="Aptos" panose="020B0004020202020204" pitchFamily="34" charset="0"/>
            </a:endParaRPr>
          </a:p>
        </p:txBody>
      </p:sp>
      <p:sp>
        <p:nvSpPr>
          <p:cNvPr id="11" name="Rounded Rectangle 10"/>
          <p:cNvSpPr/>
          <p:nvPr/>
        </p:nvSpPr>
        <p:spPr>
          <a:xfrm>
            <a:off x="9546535" y="150000"/>
            <a:ext cx="2000000" cy="460000"/>
          </a:xfrm>
          <a:prstGeom prst="roundRect">
            <a:avLst>
              <a:gd name="adj" fmla="val 50000"/>
            </a:avLst>
          </a:prstGeom>
          <a:solidFill>
            <a:srgbClr val="0346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ANALYZE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900000"/>
          </a:xfrm>
        </p:spPr>
        <p:txBody>
          <a:bodyPr wrap="square"/>
          <a:lstStyle/>
          <a:p>
            <a:r>
              <a:rPr sz="2700">
                <a:solidFill>
                  <a:schemeClr val="accent4"/>
                </a:solidFill>
                <a:latin typeface="Segoe UI"/>
              </a:rPr>
              <a:t>Appendix G — Component Reliability Reference</a:t>
            </a:r>
          </a:p>
        </p:txBody>
      </p:sp>
      <p:sp>
        <p:nvSpPr>
          <p:cNvPr id="3" name="Text Placeholder 2"/>
          <p:cNvSpPr>
            <a:spLocks noGrp="1"/>
          </p:cNvSpPr>
          <p:nvPr>
            <p:ph type="body" sz="quarter" idx="14"/>
          </p:nvPr>
        </p:nvSpPr>
        <p:spPr>
          <a:xfrm>
            <a:off x="457200" y="1340000"/>
            <a:ext cx="10900000" cy="460000"/>
          </a:xfrm>
        </p:spPr>
        <p:txBody>
          <a:bodyPr/>
          <a:lstStyle/>
          <a:p>
            <a:r>
              <a:rPr sz="1400">
                <a:solidFill>
                  <a:schemeClr val="accent4"/>
                </a:solidFill>
                <a:latin typeface="Aptos"/>
              </a:rPr>
              <a:t>MTBF / MTTR by component, from CERN feedback and published literature</a:t>
            </a:r>
          </a:p>
        </p:txBody>
      </p:sp>
      <p:graphicFrame>
        <p:nvGraphicFramePr>
          <p:cNvPr id="5" name="Table 4"/>
          <p:cNvGraphicFramePr>
            <a:graphicFrameLocks noGrp="1"/>
          </p:cNvGraphicFramePr>
          <p:nvPr/>
        </p:nvGraphicFramePr>
        <p:xfrm>
          <a:off x="645465" y="2180000"/>
          <a:ext cx="10999997" cy="3350000"/>
        </p:xfrm>
        <a:graphic>
          <a:graphicData uri="http://schemas.openxmlformats.org/drawingml/2006/table">
            <a:tbl>
              <a:tblPr firstRow="1" bandRow="1">
                <a:tableStyleId>{5C22544A-7EE6-4342-B048-85BDC9FD1C3A}</a:tableStyleId>
              </a:tblPr>
              <a:tblGrid>
                <a:gridCol w="2402298">
                  <a:extLst>
                    <a:ext uri="{9D8B030D-6E8A-4147-A177-3AD203B41FA5}">
                      <a16:colId xmlns:a16="http://schemas.microsoft.com/office/drawing/2014/main" val="20000"/>
                    </a:ext>
                  </a:extLst>
                </a:gridCol>
                <a:gridCol w="1137931">
                  <a:extLst>
                    <a:ext uri="{9D8B030D-6E8A-4147-A177-3AD203B41FA5}">
                      <a16:colId xmlns:a16="http://schemas.microsoft.com/office/drawing/2014/main" val="20001"/>
                    </a:ext>
                  </a:extLst>
                </a:gridCol>
                <a:gridCol w="1643678">
                  <a:extLst>
                    <a:ext uri="{9D8B030D-6E8A-4147-A177-3AD203B41FA5}">
                      <a16:colId xmlns:a16="http://schemas.microsoft.com/office/drawing/2014/main" val="20002"/>
                    </a:ext>
                  </a:extLst>
                </a:gridCol>
                <a:gridCol w="1011494">
                  <a:extLst>
                    <a:ext uri="{9D8B030D-6E8A-4147-A177-3AD203B41FA5}">
                      <a16:colId xmlns:a16="http://schemas.microsoft.com/office/drawing/2014/main" val="20003"/>
                    </a:ext>
                  </a:extLst>
                </a:gridCol>
                <a:gridCol w="885057">
                  <a:extLst>
                    <a:ext uri="{9D8B030D-6E8A-4147-A177-3AD203B41FA5}">
                      <a16:colId xmlns:a16="http://schemas.microsoft.com/office/drawing/2014/main" val="20004"/>
                    </a:ext>
                  </a:extLst>
                </a:gridCol>
                <a:gridCol w="1011494">
                  <a:extLst>
                    <a:ext uri="{9D8B030D-6E8A-4147-A177-3AD203B41FA5}">
                      <a16:colId xmlns:a16="http://schemas.microsoft.com/office/drawing/2014/main" val="20005"/>
                    </a:ext>
                  </a:extLst>
                </a:gridCol>
                <a:gridCol w="885057">
                  <a:extLst>
                    <a:ext uri="{9D8B030D-6E8A-4147-A177-3AD203B41FA5}">
                      <a16:colId xmlns:a16="http://schemas.microsoft.com/office/drawing/2014/main" val="20006"/>
                    </a:ext>
                  </a:extLst>
                </a:gridCol>
                <a:gridCol w="2022988">
                  <a:extLst>
                    <a:ext uri="{9D8B030D-6E8A-4147-A177-3AD203B41FA5}">
                      <a16:colId xmlns:a16="http://schemas.microsoft.com/office/drawing/2014/main" val="20007"/>
                    </a:ext>
                  </a:extLst>
                </a:gridCol>
              </a:tblGrid>
              <a:tr h="372222">
                <a:tc>
                  <a:txBody>
                    <a:bodyPr/>
                    <a:lstStyle/>
                    <a:p>
                      <a:r>
                        <a:rPr sz="950" b="1">
                          <a:solidFill>
                            <a:schemeClr val="bg1"/>
                          </a:solidFill>
                        </a:rPr>
                        <a:t>Equipment</a:t>
                      </a:r>
                    </a:p>
                  </a:txBody>
                  <a:tcPr marL="45720" marR="45720" marT="20000" marB="20000" anchor="ctr">
                    <a:solidFill>
                      <a:schemeClr val="accent1"/>
                    </a:solidFill>
                  </a:tcPr>
                </a:tc>
                <a:tc>
                  <a:txBody>
                    <a:bodyPr/>
                    <a:lstStyle/>
                    <a:p>
                      <a:r>
                        <a:rPr sz="950" b="1">
                          <a:solidFill>
                            <a:schemeClr val="bg1"/>
                          </a:solidFill>
                        </a:rPr>
                        <a:t>MTBF (h)</a:t>
                      </a:r>
                    </a:p>
                  </a:txBody>
                  <a:tcPr marL="45720" marR="45720" marT="20000" marB="20000" anchor="ctr">
                    <a:solidFill>
                      <a:schemeClr val="accent1"/>
                    </a:solidFill>
                  </a:tcPr>
                </a:tc>
                <a:tc>
                  <a:txBody>
                    <a:bodyPr/>
                    <a:lstStyle/>
                    <a:p>
                      <a:r>
                        <a:rPr sz="950" b="1">
                          <a:solidFill>
                            <a:schemeClr val="bg1"/>
                          </a:solidFill>
                        </a:rPr>
                        <a:t>Source</a:t>
                      </a:r>
                    </a:p>
                  </a:txBody>
                  <a:tcPr marL="45720" marR="45720" marT="20000" marB="20000" anchor="ctr">
                    <a:solidFill>
                      <a:schemeClr val="accent1"/>
                    </a:solidFill>
                  </a:tcPr>
                </a:tc>
                <a:tc>
                  <a:txBody>
                    <a:bodyPr/>
                    <a:lstStyle/>
                    <a:p>
                      <a:r>
                        <a:rPr sz="950" b="1">
                          <a:solidFill>
                            <a:schemeClr val="bg1"/>
                          </a:solidFill>
                        </a:rPr>
                        <a:t>Warm-up (h)</a:t>
                      </a:r>
                    </a:p>
                  </a:txBody>
                  <a:tcPr marL="45720" marR="45720" marT="20000" marB="20000" anchor="ctr">
                    <a:solidFill>
                      <a:schemeClr val="accent1"/>
                    </a:solidFill>
                  </a:tcPr>
                </a:tc>
                <a:tc>
                  <a:txBody>
                    <a:bodyPr/>
                    <a:lstStyle/>
                    <a:p>
                      <a:r>
                        <a:rPr sz="950" b="1">
                          <a:solidFill>
                            <a:schemeClr val="bg1"/>
                          </a:solidFill>
                        </a:rPr>
                        <a:t>MTTR (h)</a:t>
                      </a:r>
                    </a:p>
                  </a:txBody>
                  <a:tcPr marL="45720" marR="45720" marT="20000" marB="20000" anchor="ctr">
                    <a:solidFill>
                      <a:schemeClr val="accent1"/>
                    </a:solidFill>
                  </a:tcPr>
                </a:tc>
                <a:tc>
                  <a:txBody>
                    <a:bodyPr/>
                    <a:lstStyle/>
                    <a:p>
                      <a:r>
                        <a:rPr sz="950" b="1">
                          <a:solidFill>
                            <a:schemeClr val="bg1"/>
                          </a:solidFill>
                        </a:rPr>
                        <a:t>Recover (h)</a:t>
                      </a:r>
                    </a:p>
                  </a:txBody>
                  <a:tcPr marL="45720" marR="45720" marT="20000" marB="20000" anchor="ctr">
                    <a:solidFill>
                      <a:schemeClr val="accent1"/>
                    </a:solidFill>
                  </a:tcPr>
                </a:tc>
                <a:tc>
                  <a:txBody>
                    <a:bodyPr/>
                    <a:lstStyle/>
                    <a:p>
                      <a:r>
                        <a:rPr sz="950" b="1">
                          <a:solidFill>
                            <a:schemeClr val="bg1"/>
                          </a:solidFill>
                        </a:rPr>
                        <a:t>MDT (h)</a:t>
                      </a:r>
                    </a:p>
                  </a:txBody>
                  <a:tcPr marL="45720" marR="45720" marT="20000" marB="20000" anchor="ctr">
                    <a:solidFill>
                      <a:schemeClr val="accent1"/>
                    </a:solidFill>
                  </a:tcPr>
                </a:tc>
                <a:tc>
                  <a:txBody>
                    <a:bodyPr/>
                    <a:lstStyle/>
                    <a:p>
                      <a:r>
                        <a:rPr sz="950" b="1">
                          <a:solidFill>
                            <a:schemeClr val="bg1"/>
                          </a:solidFill>
                        </a:rPr>
                        <a:t>MTTR comment</a:t>
                      </a:r>
                    </a:p>
                  </a:txBody>
                  <a:tcPr marL="45720" marR="45720" marT="20000" marB="20000" anchor="ctr">
                    <a:solidFill>
                      <a:schemeClr val="accent1"/>
                    </a:solidFill>
                  </a:tcPr>
                </a:tc>
                <a:extLst>
                  <a:ext uri="{0D108BD9-81ED-4DB2-BD59-A6C34878D82A}">
                    <a16:rowId xmlns:a16="http://schemas.microsoft.com/office/drawing/2014/main" val="10000"/>
                  </a:ext>
                </a:extLst>
              </a:tr>
              <a:tr h="372222">
                <a:tc>
                  <a:txBody>
                    <a:bodyPr/>
                    <a:lstStyle/>
                    <a:p>
                      <a:r>
                        <a:rPr sz="950">
                          <a:solidFill>
                            <a:schemeClr val="tx1">
                              <a:lumMod val="90000"/>
                              <a:lumOff val="10000"/>
                            </a:schemeClr>
                          </a:solidFill>
                        </a:rPr>
                        <a:t>Oil screw compressors</a:t>
                      </a:r>
                    </a:p>
                  </a:txBody>
                  <a:tcPr marL="45720" marR="45720" marT="15000" marB="15000" anchor="ctr">
                    <a:solidFill>
                      <a:schemeClr val="bg1"/>
                    </a:solidFill>
                  </a:tcPr>
                </a:tc>
                <a:tc>
                  <a:txBody>
                    <a:bodyPr/>
                    <a:lstStyle/>
                    <a:p>
                      <a:r>
                        <a:rPr sz="950">
                          <a:solidFill>
                            <a:schemeClr val="tx1">
                              <a:lumMod val="90000"/>
                              <a:lumOff val="10000"/>
                            </a:schemeClr>
                          </a:solidFill>
                        </a:rPr>
                        <a:t>333,450</a:t>
                      </a:r>
                    </a:p>
                  </a:txBody>
                  <a:tcPr marL="45720" marR="45720" marT="15000" marB="15000" anchor="ctr">
                    <a:solidFill>
                      <a:schemeClr val="bg1"/>
                    </a:solidFill>
                  </a:tcPr>
                </a:tc>
                <a:tc>
                  <a:txBody>
                    <a:bodyPr/>
                    <a:lstStyle/>
                    <a:p>
                      <a:r>
                        <a:rPr sz="950">
                          <a:solidFill>
                            <a:schemeClr val="tx1">
                              <a:lumMod val="90000"/>
                              <a:lumOff val="10000"/>
                            </a:schemeClr>
                          </a:solidFill>
                        </a:rPr>
                        <a:t>CERN + other projects</a:t>
                      </a:r>
                    </a:p>
                  </a:txBody>
                  <a:tcPr marL="45720" marR="45720" marT="15000" marB="15000" anchor="ctr">
                    <a:solidFill>
                      <a:schemeClr val="bg1"/>
                    </a:solidFill>
                  </a:tcPr>
                </a:tc>
                <a:tc>
                  <a:txBody>
                    <a:bodyPr/>
                    <a:lstStyle/>
                    <a:p>
                      <a:r>
                        <a:rPr sz="950">
                          <a:solidFill>
                            <a:schemeClr val="tx1">
                              <a:lumMod val="90000"/>
                              <a:lumOff val="10000"/>
                            </a:schemeClr>
                          </a:solidFill>
                        </a:rPr>
                        <a:t>0</a:t>
                      </a:r>
                    </a:p>
                  </a:txBody>
                  <a:tcPr marL="45720" marR="45720" marT="15000" marB="15000" anchor="ctr">
                    <a:solidFill>
                      <a:schemeClr val="bg1"/>
                    </a:solidFill>
                  </a:tcPr>
                </a:tc>
                <a:tc>
                  <a:txBody>
                    <a:bodyPr/>
                    <a:lstStyle/>
                    <a:p>
                      <a:r>
                        <a:rPr sz="950">
                          <a:solidFill>
                            <a:schemeClr val="tx1">
                              <a:lumMod val="90000"/>
                              <a:lumOff val="10000"/>
                            </a:schemeClr>
                          </a:solidFill>
                        </a:rPr>
                        <a:t>20</a:t>
                      </a:r>
                    </a:p>
                  </a:txBody>
                  <a:tcPr marL="45720" marR="45720" marT="15000" marB="15000" anchor="ctr">
                    <a:solidFill>
                      <a:schemeClr val="bg1"/>
                    </a:solidFill>
                  </a:tcPr>
                </a:tc>
                <a:tc>
                  <a:txBody>
                    <a:bodyPr/>
                    <a:lstStyle/>
                    <a:p>
                      <a:r>
                        <a:rPr sz="950">
                          <a:solidFill>
                            <a:schemeClr val="tx1">
                              <a:lumMod val="90000"/>
                              <a:lumOff val="10000"/>
                            </a:schemeClr>
                          </a:solidFill>
                        </a:rPr>
                        <a:t>6</a:t>
                      </a:r>
                    </a:p>
                  </a:txBody>
                  <a:tcPr marL="45720" marR="45720" marT="15000" marB="15000" anchor="ctr">
                    <a:solidFill>
                      <a:schemeClr val="bg1"/>
                    </a:solidFill>
                  </a:tcPr>
                </a:tc>
                <a:tc>
                  <a:txBody>
                    <a:bodyPr/>
                    <a:lstStyle/>
                    <a:p>
                      <a:r>
                        <a:rPr sz="950">
                          <a:solidFill>
                            <a:schemeClr val="tx1">
                              <a:lumMod val="90000"/>
                              <a:lumOff val="10000"/>
                            </a:schemeClr>
                          </a:solidFill>
                        </a:rPr>
                        <a:t>26</a:t>
                      </a:r>
                    </a:p>
                  </a:txBody>
                  <a:tcPr marL="45720" marR="45720" marT="15000" marB="15000" anchor="ctr">
                    <a:solidFill>
                      <a:schemeClr val="bg1"/>
                    </a:solidFill>
                  </a:tcPr>
                </a:tc>
                <a:tc>
                  <a:txBody>
                    <a:bodyPr/>
                    <a:lstStyle/>
                    <a:p>
                      <a:r>
                        <a:rPr sz="950">
                          <a:solidFill>
                            <a:schemeClr val="tx1">
                              <a:lumMod val="90000"/>
                              <a:lumOff val="10000"/>
                            </a:schemeClr>
                          </a:solidFill>
                        </a:rPr>
                        <a:t>Bare compressor available</a:t>
                      </a:r>
                    </a:p>
                  </a:txBody>
                  <a:tcPr marL="45720" marR="45720" marT="15000" marB="15000" anchor="ctr">
                    <a:solidFill>
                      <a:schemeClr val="bg1"/>
                    </a:solidFill>
                  </a:tcPr>
                </a:tc>
                <a:extLst>
                  <a:ext uri="{0D108BD9-81ED-4DB2-BD59-A6C34878D82A}">
                    <a16:rowId xmlns:a16="http://schemas.microsoft.com/office/drawing/2014/main" val="10001"/>
                  </a:ext>
                </a:extLst>
              </a:tr>
              <a:tr h="372222">
                <a:tc>
                  <a:txBody>
                    <a:bodyPr/>
                    <a:lstStyle/>
                    <a:p>
                      <a:r>
                        <a:rPr sz="950">
                          <a:solidFill>
                            <a:schemeClr val="tx1">
                              <a:lumMod val="90000"/>
                              <a:lumOff val="10000"/>
                            </a:schemeClr>
                          </a:solidFill>
                        </a:rPr>
                        <a:t>Turbines</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150,000</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REx AL-AT</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0</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8</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3</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11</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Spare cartridge available</a:t>
                      </a:r>
                    </a:p>
                  </a:txBody>
                  <a:tcPr marL="45720" marR="45720" marT="15000" marB="15000" anchor="ctr">
                    <a:solidFill>
                      <a:schemeClr val="accent1">
                        <a:lumMod val="8000"/>
                        <a:lumOff val="92000"/>
                      </a:schemeClr>
                    </a:solidFill>
                  </a:tcPr>
                </a:tc>
                <a:extLst>
                  <a:ext uri="{0D108BD9-81ED-4DB2-BD59-A6C34878D82A}">
                    <a16:rowId xmlns:a16="http://schemas.microsoft.com/office/drawing/2014/main" val="10002"/>
                  </a:ext>
                </a:extLst>
              </a:tr>
              <a:tr h="372222">
                <a:tc>
                  <a:txBody>
                    <a:bodyPr/>
                    <a:lstStyle/>
                    <a:p>
                      <a:r>
                        <a:rPr sz="950">
                          <a:solidFill>
                            <a:schemeClr val="tx1">
                              <a:lumMod val="90000"/>
                              <a:lumOff val="10000"/>
                            </a:schemeClr>
                          </a:solidFill>
                        </a:rPr>
                        <a:t>Cold compressors</a:t>
                      </a:r>
                    </a:p>
                  </a:txBody>
                  <a:tcPr marL="45720" marR="45720" marT="15000" marB="15000" anchor="ctr">
                    <a:solidFill>
                      <a:schemeClr val="bg1"/>
                    </a:solidFill>
                  </a:tcPr>
                </a:tc>
                <a:tc>
                  <a:txBody>
                    <a:bodyPr/>
                    <a:lstStyle/>
                    <a:p>
                      <a:r>
                        <a:rPr sz="950">
                          <a:solidFill>
                            <a:schemeClr val="tx1">
                              <a:lumMod val="90000"/>
                              <a:lumOff val="10000"/>
                            </a:schemeClr>
                          </a:solidFill>
                        </a:rPr>
                        <a:t>105,000</a:t>
                      </a:r>
                    </a:p>
                  </a:txBody>
                  <a:tcPr marL="45720" marR="45720" marT="15000" marB="15000" anchor="ctr">
                    <a:solidFill>
                      <a:schemeClr val="bg1"/>
                    </a:solidFill>
                  </a:tcPr>
                </a:tc>
                <a:tc>
                  <a:txBody>
                    <a:bodyPr/>
                    <a:lstStyle/>
                    <a:p>
                      <a:r>
                        <a:rPr sz="950">
                          <a:solidFill>
                            <a:schemeClr val="tx1">
                              <a:lumMod val="90000"/>
                              <a:lumOff val="10000"/>
                            </a:schemeClr>
                          </a:solidFill>
                        </a:rPr>
                        <a:t>REx AL-AT</a:t>
                      </a:r>
                    </a:p>
                  </a:txBody>
                  <a:tcPr marL="45720" marR="45720" marT="15000" marB="15000" anchor="ctr">
                    <a:solidFill>
                      <a:schemeClr val="bg1"/>
                    </a:solidFill>
                  </a:tcPr>
                </a:tc>
                <a:tc>
                  <a:txBody>
                    <a:bodyPr/>
                    <a:lstStyle/>
                    <a:p>
                      <a:r>
                        <a:rPr sz="950">
                          <a:solidFill>
                            <a:schemeClr val="tx1">
                              <a:lumMod val="90000"/>
                              <a:lumOff val="10000"/>
                            </a:schemeClr>
                          </a:solidFill>
                        </a:rPr>
                        <a:t>0</a:t>
                      </a:r>
                    </a:p>
                  </a:txBody>
                  <a:tcPr marL="45720" marR="45720" marT="15000" marB="15000" anchor="ctr">
                    <a:solidFill>
                      <a:schemeClr val="bg1"/>
                    </a:solidFill>
                  </a:tcPr>
                </a:tc>
                <a:tc>
                  <a:txBody>
                    <a:bodyPr/>
                    <a:lstStyle/>
                    <a:p>
                      <a:r>
                        <a:rPr sz="950">
                          <a:solidFill>
                            <a:schemeClr val="tx1">
                              <a:lumMod val="90000"/>
                              <a:lumOff val="10000"/>
                            </a:schemeClr>
                          </a:solidFill>
                        </a:rPr>
                        <a:t>8</a:t>
                      </a:r>
                    </a:p>
                  </a:txBody>
                  <a:tcPr marL="45720" marR="45720" marT="15000" marB="15000" anchor="ctr">
                    <a:solidFill>
                      <a:schemeClr val="bg1"/>
                    </a:solidFill>
                  </a:tcPr>
                </a:tc>
                <a:tc>
                  <a:txBody>
                    <a:bodyPr/>
                    <a:lstStyle/>
                    <a:p>
                      <a:r>
                        <a:rPr sz="950">
                          <a:solidFill>
                            <a:schemeClr val="tx1">
                              <a:lumMod val="90000"/>
                              <a:lumOff val="10000"/>
                            </a:schemeClr>
                          </a:solidFill>
                        </a:rPr>
                        <a:t>3</a:t>
                      </a:r>
                    </a:p>
                  </a:txBody>
                  <a:tcPr marL="45720" marR="45720" marT="15000" marB="15000" anchor="ctr">
                    <a:solidFill>
                      <a:schemeClr val="bg1"/>
                    </a:solidFill>
                  </a:tcPr>
                </a:tc>
                <a:tc>
                  <a:txBody>
                    <a:bodyPr/>
                    <a:lstStyle/>
                    <a:p>
                      <a:r>
                        <a:rPr sz="950">
                          <a:solidFill>
                            <a:schemeClr val="tx1">
                              <a:lumMod val="90000"/>
                              <a:lumOff val="10000"/>
                            </a:schemeClr>
                          </a:solidFill>
                        </a:rPr>
                        <a:t>11</a:t>
                      </a:r>
                    </a:p>
                  </a:txBody>
                  <a:tcPr marL="45720" marR="45720" marT="15000" marB="15000" anchor="ctr">
                    <a:solidFill>
                      <a:schemeClr val="bg1"/>
                    </a:solidFill>
                  </a:tcPr>
                </a:tc>
                <a:tc>
                  <a:txBody>
                    <a:bodyPr/>
                    <a:lstStyle/>
                    <a:p>
                      <a:r>
                        <a:rPr sz="950">
                          <a:solidFill>
                            <a:schemeClr val="tx1">
                              <a:lumMod val="90000"/>
                              <a:lumOff val="10000"/>
                            </a:schemeClr>
                          </a:solidFill>
                        </a:rPr>
                        <a:t>Spare cartridge available</a:t>
                      </a:r>
                    </a:p>
                  </a:txBody>
                  <a:tcPr marL="45720" marR="45720" marT="15000" marB="15000" anchor="ctr">
                    <a:solidFill>
                      <a:schemeClr val="bg1"/>
                    </a:solidFill>
                  </a:tcPr>
                </a:tc>
                <a:extLst>
                  <a:ext uri="{0D108BD9-81ED-4DB2-BD59-A6C34878D82A}">
                    <a16:rowId xmlns:a16="http://schemas.microsoft.com/office/drawing/2014/main" val="10003"/>
                  </a:ext>
                </a:extLst>
              </a:tr>
              <a:tr h="372222">
                <a:tc>
                  <a:txBody>
                    <a:bodyPr/>
                    <a:lstStyle/>
                    <a:p>
                      <a:r>
                        <a:rPr sz="950">
                          <a:solidFill>
                            <a:schemeClr val="tx1">
                              <a:lumMod val="90000"/>
                              <a:lumOff val="10000"/>
                            </a:schemeClr>
                          </a:solidFill>
                        </a:rPr>
                        <a:t>Control / on-off valves</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824,487</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[1] CERN</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0</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3</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3</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6</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Spare part kits available</a:t>
                      </a:r>
                    </a:p>
                  </a:txBody>
                  <a:tcPr marL="45720" marR="45720" marT="15000" marB="15000" anchor="ctr">
                    <a:solidFill>
                      <a:schemeClr val="accent1">
                        <a:lumMod val="8000"/>
                        <a:lumOff val="92000"/>
                      </a:schemeClr>
                    </a:solidFill>
                  </a:tcPr>
                </a:tc>
                <a:extLst>
                  <a:ext uri="{0D108BD9-81ED-4DB2-BD59-A6C34878D82A}">
                    <a16:rowId xmlns:a16="http://schemas.microsoft.com/office/drawing/2014/main" val="10004"/>
                  </a:ext>
                </a:extLst>
              </a:tr>
              <a:tr h="372222">
                <a:tc>
                  <a:txBody>
                    <a:bodyPr/>
                    <a:lstStyle/>
                    <a:p>
                      <a:r>
                        <a:rPr sz="950">
                          <a:solidFill>
                            <a:schemeClr val="tx1">
                              <a:lumMod val="90000"/>
                              <a:lumOff val="10000"/>
                            </a:schemeClr>
                          </a:solidFill>
                        </a:rPr>
                        <a:t>Cryovalves (positioner only)</a:t>
                      </a:r>
                    </a:p>
                  </a:txBody>
                  <a:tcPr marL="45720" marR="45720" marT="15000" marB="15000" anchor="ctr">
                    <a:solidFill>
                      <a:schemeClr val="bg1"/>
                    </a:solidFill>
                  </a:tcPr>
                </a:tc>
                <a:tc>
                  <a:txBody>
                    <a:bodyPr/>
                    <a:lstStyle/>
                    <a:p>
                      <a:r>
                        <a:rPr sz="950">
                          <a:solidFill>
                            <a:schemeClr val="tx1">
                              <a:lumMod val="90000"/>
                              <a:lumOff val="10000"/>
                            </a:schemeClr>
                          </a:solidFill>
                        </a:rPr>
                        <a:t>2,298,333</a:t>
                      </a:r>
                    </a:p>
                  </a:txBody>
                  <a:tcPr marL="45720" marR="45720" marT="15000" marB="15000" anchor="ctr">
                    <a:solidFill>
                      <a:schemeClr val="bg1"/>
                    </a:solidFill>
                  </a:tcPr>
                </a:tc>
                <a:tc>
                  <a:txBody>
                    <a:bodyPr/>
                    <a:lstStyle/>
                    <a:p>
                      <a:r>
                        <a:rPr sz="950">
                          <a:solidFill>
                            <a:schemeClr val="tx1">
                              <a:lumMod val="90000"/>
                              <a:lumOff val="10000"/>
                            </a:schemeClr>
                          </a:solidFill>
                        </a:rPr>
                        <a:t>[1] CERN</a:t>
                      </a:r>
                    </a:p>
                  </a:txBody>
                  <a:tcPr marL="45720" marR="45720" marT="15000" marB="15000" anchor="ctr">
                    <a:solidFill>
                      <a:schemeClr val="bg1"/>
                    </a:solidFill>
                  </a:tcPr>
                </a:tc>
                <a:tc>
                  <a:txBody>
                    <a:bodyPr/>
                    <a:lstStyle/>
                    <a:p>
                      <a:r>
                        <a:rPr sz="950">
                          <a:solidFill>
                            <a:schemeClr val="tx1">
                              <a:lumMod val="90000"/>
                              <a:lumOff val="10000"/>
                            </a:schemeClr>
                          </a:solidFill>
                        </a:rPr>
                        <a:t>0</a:t>
                      </a:r>
                    </a:p>
                  </a:txBody>
                  <a:tcPr marL="45720" marR="45720" marT="15000" marB="15000" anchor="ctr">
                    <a:solidFill>
                      <a:schemeClr val="bg1"/>
                    </a:solidFill>
                  </a:tcPr>
                </a:tc>
                <a:tc>
                  <a:txBody>
                    <a:bodyPr/>
                    <a:lstStyle/>
                    <a:p>
                      <a:r>
                        <a:rPr sz="950">
                          <a:solidFill>
                            <a:schemeClr val="tx1">
                              <a:lumMod val="90000"/>
                              <a:lumOff val="10000"/>
                            </a:schemeClr>
                          </a:solidFill>
                        </a:rPr>
                        <a:t>3</a:t>
                      </a:r>
                    </a:p>
                  </a:txBody>
                  <a:tcPr marL="45720" marR="45720" marT="15000" marB="15000" anchor="ctr">
                    <a:solidFill>
                      <a:schemeClr val="bg1"/>
                    </a:solidFill>
                  </a:tcPr>
                </a:tc>
                <a:tc>
                  <a:txBody>
                    <a:bodyPr/>
                    <a:lstStyle/>
                    <a:p>
                      <a:r>
                        <a:rPr sz="950">
                          <a:solidFill>
                            <a:schemeClr val="tx1">
                              <a:lumMod val="90000"/>
                              <a:lumOff val="10000"/>
                            </a:schemeClr>
                          </a:solidFill>
                        </a:rPr>
                        <a:t>3</a:t>
                      </a:r>
                    </a:p>
                  </a:txBody>
                  <a:tcPr marL="45720" marR="45720" marT="15000" marB="15000" anchor="ctr">
                    <a:solidFill>
                      <a:schemeClr val="bg1"/>
                    </a:solidFill>
                  </a:tcPr>
                </a:tc>
                <a:tc>
                  <a:txBody>
                    <a:bodyPr/>
                    <a:lstStyle/>
                    <a:p>
                      <a:r>
                        <a:rPr sz="950">
                          <a:solidFill>
                            <a:schemeClr val="tx1">
                              <a:lumMod val="90000"/>
                              <a:lumOff val="10000"/>
                            </a:schemeClr>
                          </a:solidFill>
                        </a:rPr>
                        <a:t>6</a:t>
                      </a:r>
                    </a:p>
                  </a:txBody>
                  <a:tcPr marL="45720" marR="45720" marT="15000" marB="15000" anchor="ctr">
                    <a:solidFill>
                      <a:schemeClr val="bg1"/>
                    </a:solidFill>
                  </a:tcPr>
                </a:tc>
                <a:tc>
                  <a:txBody>
                    <a:bodyPr/>
                    <a:lstStyle/>
                    <a:p>
                      <a:r>
                        <a:rPr sz="950">
                          <a:solidFill>
                            <a:schemeClr val="tx1">
                              <a:lumMod val="90000"/>
                              <a:lumOff val="10000"/>
                            </a:schemeClr>
                          </a:solidFill>
                        </a:rPr>
                        <a:t>Spare part kits available</a:t>
                      </a:r>
                    </a:p>
                  </a:txBody>
                  <a:tcPr marL="45720" marR="45720" marT="15000" marB="15000" anchor="ctr">
                    <a:solidFill>
                      <a:schemeClr val="bg1"/>
                    </a:solidFill>
                  </a:tcPr>
                </a:tc>
                <a:extLst>
                  <a:ext uri="{0D108BD9-81ED-4DB2-BD59-A6C34878D82A}">
                    <a16:rowId xmlns:a16="http://schemas.microsoft.com/office/drawing/2014/main" val="10005"/>
                  </a:ext>
                </a:extLst>
              </a:tr>
              <a:tr h="372222">
                <a:tc>
                  <a:txBody>
                    <a:bodyPr/>
                    <a:lstStyle/>
                    <a:p>
                      <a:r>
                        <a:rPr sz="950">
                          <a:solidFill>
                            <a:schemeClr val="tx1">
                              <a:lumMod val="90000"/>
                              <a:lumOff val="10000"/>
                            </a:schemeClr>
                          </a:solidFill>
                        </a:rPr>
                        <a:t>Cryovalves (tightness + positioner)</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482,927</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[1] CERN</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12</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3</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12</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27</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Spare part kits available</a:t>
                      </a:r>
                    </a:p>
                  </a:txBody>
                  <a:tcPr marL="45720" marR="45720" marT="15000" marB="15000" anchor="ctr">
                    <a:solidFill>
                      <a:schemeClr val="accent1">
                        <a:lumMod val="8000"/>
                        <a:lumOff val="92000"/>
                      </a:schemeClr>
                    </a:solidFill>
                  </a:tcPr>
                </a:tc>
                <a:extLst>
                  <a:ext uri="{0D108BD9-81ED-4DB2-BD59-A6C34878D82A}">
                    <a16:rowId xmlns:a16="http://schemas.microsoft.com/office/drawing/2014/main" val="10006"/>
                  </a:ext>
                </a:extLst>
              </a:tr>
              <a:tr h="372222">
                <a:tc>
                  <a:txBody>
                    <a:bodyPr/>
                    <a:lstStyle/>
                    <a:p>
                      <a:r>
                        <a:rPr sz="950">
                          <a:solidFill>
                            <a:schemeClr val="tx1">
                              <a:lumMod val="90000"/>
                              <a:lumOff val="10000"/>
                            </a:schemeClr>
                          </a:solidFill>
                        </a:rPr>
                        <a:t>Pressure sensors</a:t>
                      </a:r>
                    </a:p>
                  </a:txBody>
                  <a:tcPr marL="45720" marR="45720" marT="15000" marB="15000" anchor="ctr">
                    <a:solidFill>
                      <a:schemeClr val="bg1"/>
                    </a:solidFill>
                  </a:tcPr>
                </a:tc>
                <a:tc>
                  <a:txBody>
                    <a:bodyPr/>
                    <a:lstStyle/>
                    <a:p>
                      <a:r>
                        <a:rPr sz="950">
                          <a:solidFill>
                            <a:schemeClr val="tx1">
                              <a:lumMod val="90000"/>
                              <a:lumOff val="10000"/>
                            </a:schemeClr>
                          </a:solidFill>
                        </a:rPr>
                        <a:t>2,035,667</a:t>
                      </a:r>
                    </a:p>
                  </a:txBody>
                  <a:tcPr marL="45720" marR="45720" marT="15000" marB="15000" anchor="ctr">
                    <a:solidFill>
                      <a:schemeClr val="bg1"/>
                    </a:solidFill>
                  </a:tcPr>
                </a:tc>
                <a:tc>
                  <a:txBody>
                    <a:bodyPr/>
                    <a:lstStyle/>
                    <a:p>
                      <a:r>
                        <a:rPr sz="950">
                          <a:solidFill>
                            <a:schemeClr val="tx1">
                              <a:lumMod val="90000"/>
                              <a:lumOff val="10000"/>
                            </a:schemeClr>
                          </a:solidFill>
                        </a:rPr>
                        <a:t>[1] CERN</a:t>
                      </a:r>
                    </a:p>
                  </a:txBody>
                  <a:tcPr marL="45720" marR="45720" marT="15000" marB="15000" anchor="ctr">
                    <a:solidFill>
                      <a:schemeClr val="bg1"/>
                    </a:solidFill>
                  </a:tcPr>
                </a:tc>
                <a:tc>
                  <a:txBody>
                    <a:bodyPr/>
                    <a:lstStyle/>
                    <a:p>
                      <a:r>
                        <a:rPr sz="950">
                          <a:solidFill>
                            <a:schemeClr val="tx1">
                              <a:lumMod val="90000"/>
                              <a:lumOff val="10000"/>
                            </a:schemeClr>
                          </a:solidFill>
                        </a:rPr>
                        <a:t>0</a:t>
                      </a:r>
                    </a:p>
                  </a:txBody>
                  <a:tcPr marL="45720" marR="45720" marT="15000" marB="15000" anchor="ctr">
                    <a:solidFill>
                      <a:schemeClr val="bg1"/>
                    </a:solidFill>
                  </a:tcPr>
                </a:tc>
                <a:tc>
                  <a:txBody>
                    <a:bodyPr/>
                    <a:lstStyle/>
                    <a:p>
                      <a:r>
                        <a:rPr sz="950">
                          <a:solidFill>
                            <a:schemeClr val="tx1">
                              <a:lumMod val="90000"/>
                              <a:lumOff val="10000"/>
                            </a:schemeClr>
                          </a:solidFill>
                        </a:rPr>
                        <a:t>2</a:t>
                      </a:r>
                    </a:p>
                  </a:txBody>
                  <a:tcPr marL="45720" marR="45720" marT="15000" marB="15000" anchor="ctr">
                    <a:solidFill>
                      <a:schemeClr val="bg1"/>
                    </a:solidFill>
                  </a:tcPr>
                </a:tc>
                <a:tc>
                  <a:txBody>
                    <a:bodyPr/>
                    <a:lstStyle/>
                    <a:p>
                      <a:r>
                        <a:rPr sz="950">
                          <a:solidFill>
                            <a:schemeClr val="tx1">
                              <a:lumMod val="90000"/>
                              <a:lumOff val="10000"/>
                            </a:schemeClr>
                          </a:solidFill>
                        </a:rPr>
                        <a:t>2</a:t>
                      </a:r>
                    </a:p>
                  </a:txBody>
                  <a:tcPr marL="45720" marR="45720" marT="15000" marB="15000" anchor="ctr">
                    <a:solidFill>
                      <a:schemeClr val="bg1"/>
                    </a:solidFill>
                  </a:tcPr>
                </a:tc>
                <a:tc>
                  <a:txBody>
                    <a:bodyPr/>
                    <a:lstStyle/>
                    <a:p>
                      <a:r>
                        <a:rPr sz="950">
                          <a:solidFill>
                            <a:schemeClr val="tx1">
                              <a:lumMod val="90000"/>
                              <a:lumOff val="10000"/>
                            </a:schemeClr>
                          </a:solidFill>
                        </a:rPr>
                        <a:t>4</a:t>
                      </a:r>
                    </a:p>
                  </a:txBody>
                  <a:tcPr marL="45720" marR="45720" marT="15000" marB="15000" anchor="ctr">
                    <a:solidFill>
                      <a:schemeClr val="bg1"/>
                    </a:solidFill>
                  </a:tcPr>
                </a:tc>
                <a:tc>
                  <a:txBody>
                    <a:bodyPr/>
                    <a:lstStyle/>
                    <a:p>
                      <a:r>
                        <a:rPr sz="950">
                          <a:solidFill>
                            <a:schemeClr val="tx1">
                              <a:lumMod val="90000"/>
                              <a:lumOff val="10000"/>
                            </a:schemeClr>
                          </a:solidFill>
                        </a:rPr>
                        <a:t>Spare transmitters available</a:t>
                      </a:r>
                    </a:p>
                  </a:txBody>
                  <a:tcPr marL="45720" marR="45720" marT="15000" marB="15000" anchor="ctr">
                    <a:solidFill>
                      <a:schemeClr val="bg1"/>
                    </a:solidFill>
                  </a:tcPr>
                </a:tc>
                <a:extLst>
                  <a:ext uri="{0D108BD9-81ED-4DB2-BD59-A6C34878D82A}">
                    <a16:rowId xmlns:a16="http://schemas.microsoft.com/office/drawing/2014/main" val="10007"/>
                  </a:ext>
                </a:extLst>
              </a:tr>
              <a:tr h="372224">
                <a:tc>
                  <a:txBody>
                    <a:bodyPr/>
                    <a:lstStyle/>
                    <a:p>
                      <a:r>
                        <a:rPr sz="950">
                          <a:solidFill>
                            <a:schemeClr val="tx1">
                              <a:lumMod val="90000"/>
                              <a:lumOff val="10000"/>
                            </a:schemeClr>
                          </a:solidFill>
                        </a:rPr>
                        <a:t>Temperature sensors</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1,250,000</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EIReDA 98, p.239</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0</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2</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2</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4</a:t>
                      </a:r>
                    </a:p>
                  </a:txBody>
                  <a:tcPr marL="45720" marR="45720" marT="15000" marB="15000" anchor="ctr">
                    <a:solidFill>
                      <a:schemeClr val="accent1">
                        <a:lumMod val="8000"/>
                        <a:lumOff val="92000"/>
                      </a:schemeClr>
                    </a:solidFill>
                  </a:tcPr>
                </a:tc>
                <a:tc>
                  <a:txBody>
                    <a:bodyPr/>
                    <a:lstStyle/>
                    <a:p>
                      <a:r>
                        <a:rPr sz="950">
                          <a:solidFill>
                            <a:schemeClr val="tx1">
                              <a:lumMod val="90000"/>
                              <a:lumOff val="10000"/>
                            </a:schemeClr>
                          </a:solidFill>
                        </a:rPr>
                        <a:t>Spare transmitter available</a:t>
                      </a:r>
                    </a:p>
                  </a:txBody>
                  <a:tcPr marL="45720" marR="45720" marT="15000" marB="15000" anchor="ctr">
                    <a:solidFill>
                      <a:schemeClr val="accent1">
                        <a:lumMod val="8000"/>
                        <a:lumOff val="92000"/>
                      </a:schemeClr>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645465" y="5600000"/>
            <a:ext cx="11000000" cy="280000"/>
          </a:xfrm>
          <a:prstGeom prst="rect">
            <a:avLst/>
          </a:prstGeom>
          <a:noFill/>
        </p:spPr>
        <p:txBody>
          <a:bodyPr wrap="square">
            <a:spAutoFit/>
          </a:bodyPr>
          <a:lstStyle/>
          <a:p>
            <a:r>
              <a:rPr sz="950" i="1" dirty="0">
                <a:solidFill>
                  <a:schemeClr val="tx1">
                    <a:lumMod val="70000"/>
                    <a:lumOff val="30000"/>
                  </a:schemeClr>
                </a:solidFill>
                <a:latin typeface="Aptos"/>
              </a:rPr>
              <a:t>[1] CERN — "First assessment of reliability data for the LHC accelerator and detector cryogenic system components", </a:t>
            </a:r>
            <a:r>
              <a:rPr sz="950" i="1" dirty="0" err="1">
                <a:solidFill>
                  <a:schemeClr val="tx1">
                    <a:lumMod val="70000"/>
                    <a:lumOff val="30000"/>
                  </a:schemeClr>
                </a:solidFill>
                <a:latin typeface="Aptos"/>
              </a:rPr>
              <a:t>Perinić</a:t>
            </a:r>
            <a:r>
              <a:rPr sz="950" i="1" dirty="0">
                <a:solidFill>
                  <a:schemeClr val="tx1">
                    <a:lumMod val="70000"/>
                    <a:lumOff val="30000"/>
                  </a:schemeClr>
                </a:solidFill>
                <a:latin typeface="Aptos"/>
              </a:rPr>
              <a:t> et al. Impurities analyzers and the vacuum system are not listed: not impacting </a:t>
            </a:r>
            <a:r>
              <a:rPr sz="950" i="1" dirty="0" err="1">
                <a:solidFill>
                  <a:schemeClr val="tx1">
                    <a:lumMod val="70000"/>
                    <a:lumOff val="30000"/>
                  </a:schemeClr>
                </a:solidFill>
                <a:latin typeface="Aptos"/>
              </a:rPr>
              <a:t>cryo</a:t>
            </a:r>
            <a:r>
              <a:rPr sz="950" i="1" dirty="0">
                <a:solidFill>
                  <a:schemeClr val="tx1">
                    <a:lumMod val="70000"/>
                    <a:lumOff val="30000"/>
                  </a:schemeClr>
                </a:solidFill>
                <a:latin typeface="Aptos"/>
              </a:rPr>
              <a:t> availability.</a:t>
            </a:r>
          </a:p>
        </p:txBody>
      </p:sp>
      <p:sp>
        <p:nvSpPr>
          <p:cNvPr id="7" name="Rounded Rectangle 6"/>
          <p:cNvSpPr/>
          <p:nvPr/>
        </p:nvSpPr>
        <p:spPr>
          <a:xfrm>
            <a:off x="645465" y="5980000"/>
            <a:ext cx="11000000" cy="42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000" b="1">
                <a:solidFill>
                  <a:schemeClr val="accent1"/>
                </a:solidFill>
                <a:latin typeface="Aptos"/>
              </a:rPr>
              <a:t>WHERE THESE NUMBERS FEED IN  </a:t>
            </a:r>
            <a:r>
              <a:rPr sz="1000" b="0">
                <a:solidFill>
                  <a:schemeClr val="accent1"/>
                </a:solidFill>
                <a:latin typeface="Aptos"/>
              </a:rPr>
              <a:t>Oil screw compressor MTBF drives the Case File on Slide 32; cold compressor MTBF drives the cold-compressor-train calculation on Appendix I; turbine MTBF is cross-checked against OEM data on Appendix H.</a:t>
            </a:r>
          </a:p>
        </p:txBody>
      </p:sp>
      <p:sp>
        <p:nvSpPr>
          <p:cNvPr id="9" name="Slide Number Placeholder 8">
            <a:extLst>
              <a:ext uri="{FF2B5EF4-FFF2-40B4-BE49-F238E27FC236}">
                <a16:creationId xmlns:a16="http://schemas.microsoft.com/office/drawing/2014/main" id="{9755A4E3-9406-3C58-979F-56BF505D8663}"/>
              </a:ext>
            </a:extLst>
          </p:cNvPr>
          <p:cNvSpPr>
            <a:spLocks noGrp="1"/>
          </p:cNvSpPr>
          <p:nvPr>
            <p:ph type="sldNum" sz="quarter" idx="4"/>
          </p:nvPr>
        </p:nvSpPr>
        <p:spPr/>
        <p:txBody>
          <a:bodyPr/>
          <a:lstStyle/>
          <a:p>
            <a:fld id="{A814E660-BF25-4843-B2A0-93C6E2B6253B}" type="slidenum">
              <a:rPr lang="en-BE" smtClean="0"/>
              <a:pPr/>
              <a:t>26</a:t>
            </a:fld>
            <a:endParaRPr lang="en-BE" dirty="0"/>
          </a:p>
        </p:txBody>
      </p:sp>
      <p:sp>
        <p:nvSpPr>
          <p:cNvPr id="10" name="Rounded Rectangle 9"/>
          <p:cNvSpPr/>
          <p:nvPr/>
        </p:nvSpPr>
        <p:spPr>
          <a:xfrm>
            <a:off x="9546535" y="150000"/>
            <a:ext cx="2000000" cy="460000"/>
          </a:xfrm>
          <a:prstGeom prst="roundRect">
            <a:avLst>
              <a:gd name="adj" fmla="val 50000"/>
            </a:avLst>
          </a:prstGeom>
          <a:solidFill>
            <a:srgbClr val="0346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ANALYZE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900000"/>
          </a:xfrm>
        </p:spPr>
        <p:txBody>
          <a:bodyPr wrap="square"/>
          <a:lstStyle/>
          <a:p>
            <a:r>
              <a:rPr sz="2700">
                <a:solidFill>
                  <a:schemeClr val="accent4"/>
                </a:solidFill>
                <a:latin typeface="Segoe UI"/>
              </a:rPr>
              <a:t>Appendix H — Turbine OEM &amp; Contractor Data</a:t>
            </a:r>
          </a:p>
        </p:txBody>
      </p:sp>
      <p:sp>
        <p:nvSpPr>
          <p:cNvPr id="3" name="Text Placeholder 2"/>
          <p:cNvSpPr>
            <a:spLocks noGrp="1"/>
          </p:cNvSpPr>
          <p:nvPr>
            <p:ph type="body" sz="quarter" idx="14"/>
          </p:nvPr>
        </p:nvSpPr>
        <p:spPr>
          <a:xfrm>
            <a:off x="457200" y="1340000"/>
            <a:ext cx="10900000" cy="460000"/>
          </a:xfrm>
        </p:spPr>
        <p:txBody>
          <a:bodyPr/>
          <a:lstStyle/>
          <a:p>
            <a:r>
              <a:rPr sz="1400">
                <a:solidFill>
                  <a:schemeClr val="accent4"/>
                </a:solidFill>
                <a:latin typeface="Aptos"/>
              </a:rPr>
              <a:t>Linde Kryotechnik TED-series field data, and a check against Contractor A's claim</a:t>
            </a:r>
          </a:p>
        </p:txBody>
      </p:sp>
      <p:sp>
        <p:nvSpPr>
          <p:cNvPr id="5" name="TextBox 4"/>
          <p:cNvSpPr txBox="1"/>
          <p:nvPr/>
        </p:nvSpPr>
        <p:spPr>
          <a:xfrm>
            <a:off x="645465" y="2100000"/>
            <a:ext cx="6900000" cy="542925"/>
          </a:xfrm>
          <a:prstGeom prst="rect">
            <a:avLst/>
          </a:prstGeom>
          <a:noFill/>
        </p:spPr>
        <p:txBody>
          <a:bodyPr wrap="square">
            <a:spAutoFit/>
          </a:bodyPr>
          <a:lstStyle/>
          <a:p>
            <a:pPr marL="182880" indent="-182880">
              <a:lnSpc>
                <a:spcPct val="145000"/>
              </a:lnSpc>
              <a:spcBef>
                <a:spcPts val="0"/>
              </a:spcBef>
              <a:spcAft>
                <a:spcPts val="800"/>
              </a:spcAft>
              <a:buFont typeface="Arial"/>
              <a:buChar char="•"/>
            </a:pPr>
            <a:r>
              <a:rPr sz="950" dirty="0">
                <a:solidFill>
                  <a:schemeClr val="tx1">
                    <a:lumMod val="90000"/>
                    <a:lumOff val="10000"/>
                  </a:schemeClr>
                </a:solidFill>
                <a:latin typeface="Aptos"/>
              </a:rPr>
              <a:t>Linde Kryotechnik AG field data, TED-series turbines in operation 2009–2019 (improved-design cartridges only) — cross-checks the </a:t>
            </a:r>
            <a:r>
              <a:rPr lang="en-US" sz="950" dirty="0">
                <a:solidFill>
                  <a:schemeClr val="tx1">
                    <a:lumMod val="90000"/>
                    <a:lumOff val="10000"/>
                  </a:schemeClr>
                </a:solidFill>
                <a:latin typeface="Aptos"/>
              </a:rPr>
              <a:t>150,000-h</a:t>
            </a:r>
            <a:r>
              <a:rPr sz="950" dirty="0">
                <a:solidFill>
                  <a:schemeClr val="tx1">
                    <a:lumMod val="90000"/>
                    <a:lumOff val="10000"/>
                  </a:schemeClr>
                </a:solidFill>
                <a:latin typeface="Aptos"/>
              </a:rPr>
              <a:t> turbine planning figure used on Appendix G.</a:t>
            </a:r>
          </a:p>
        </p:txBody>
      </p:sp>
      <p:graphicFrame>
        <p:nvGraphicFramePr>
          <p:cNvPr id="6" name="Table 5"/>
          <p:cNvGraphicFramePr>
            <a:graphicFrameLocks noGrp="1"/>
          </p:cNvGraphicFramePr>
          <p:nvPr/>
        </p:nvGraphicFramePr>
        <p:xfrm>
          <a:off x="645465" y="2820000"/>
          <a:ext cx="6899997" cy="1664800"/>
        </p:xfrm>
        <a:graphic>
          <a:graphicData uri="http://schemas.openxmlformats.org/drawingml/2006/table">
            <a:tbl>
              <a:tblPr firstRow="1" bandRow="1">
                <a:tableStyleId>{5C22544A-7EE6-4342-B048-85BDC9FD1C3A}</a:tableStyleId>
              </a:tblPr>
              <a:tblGrid>
                <a:gridCol w="1187096">
                  <a:extLst>
                    <a:ext uri="{9D8B030D-6E8A-4147-A177-3AD203B41FA5}">
                      <a16:colId xmlns:a16="http://schemas.microsoft.com/office/drawing/2014/main" val="20000"/>
                    </a:ext>
                  </a:extLst>
                </a:gridCol>
                <a:gridCol w="1558064">
                  <a:extLst>
                    <a:ext uri="{9D8B030D-6E8A-4147-A177-3AD203B41FA5}">
                      <a16:colId xmlns:a16="http://schemas.microsoft.com/office/drawing/2014/main" val="20001"/>
                    </a:ext>
                  </a:extLst>
                </a:gridCol>
                <a:gridCol w="1558064">
                  <a:extLst>
                    <a:ext uri="{9D8B030D-6E8A-4147-A177-3AD203B41FA5}">
                      <a16:colId xmlns:a16="http://schemas.microsoft.com/office/drawing/2014/main" val="20002"/>
                    </a:ext>
                  </a:extLst>
                </a:gridCol>
                <a:gridCol w="1558064">
                  <a:extLst>
                    <a:ext uri="{9D8B030D-6E8A-4147-A177-3AD203B41FA5}">
                      <a16:colId xmlns:a16="http://schemas.microsoft.com/office/drawing/2014/main" val="20003"/>
                    </a:ext>
                  </a:extLst>
                </a:gridCol>
                <a:gridCol w="1038709">
                  <a:extLst>
                    <a:ext uri="{9D8B030D-6E8A-4147-A177-3AD203B41FA5}">
                      <a16:colId xmlns:a16="http://schemas.microsoft.com/office/drawing/2014/main" val="20004"/>
                    </a:ext>
                  </a:extLst>
                </a:gridCol>
              </a:tblGrid>
              <a:tr h="330000">
                <a:tc>
                  <a:txBody>
                    <a:bodyPr/>
                    <a:lstStyle/>
                    <a:p>
                      <a:r>
                        <a:rPr sz="1000" b="1">
                          <a:solidFill>
                            <a:schemeClr val="bg1"/>
                          </a:solidFill>
                        </a:rPr>
                        <a:t>Turbine type</a:t>
                      </a:r>
                    </a:p>
                  </a:txBody>
                  <a:tcPr marL="45720" marR="45720" marT="20000" marB="20000" anchor="ctr">
                    <a:solidFill>
                      <a:schemeClr val="accent4"/>
                    </a:solidFill>
                  </a:tcPr>
                </a:tc>
                <a:tc>
                  <a:txBody>
                    <a:bodyPr/>
                    <a:lstStyle/>
                    <a:p>
                      <a:r>
                        <a:rPr sz="1000" b="1">
                          <a:solidFill>
                            <a:schemeClr val="bg1"/>
                          </a:solidFill>
                        </a:rPr>
                        <a:t>In service since 2009</a:t>
                      </a:r>
                    </a:p>
                  </a:txBody>
                  <a:tcPr marL="45720" marR="45720" marT="20000" marB="20000" anchor="ctr">
                    <a:solidFill>
                      <a:schemeClr val="accent4"/>
                    </a:solidFill>
                  </a:tcPr>
                </a:tc>
                <a:tc>
                  <a:txBody>
                    <a:bodyPr/>
                    <a:lstStyle/>
                    <a:p>
                      <a:r>
                        <a:rPr sz="1000" b="1">
                          <a:solidFill>
                            <a:schemeClr val="bg1"/>
                          </a:solidFill>
                        </a:rPr>
                        <a:t>Operating hours</a:t>
                      </a:r>
                    </a:p>
                  </a:txBody>
                  <a:tcPr marL="45720" marR="45720" marT="20000" marB="20000" anchor="ctr">
                    <a:solidFill>
                      <a:schemeClr val="accent4"/>
                    </a:solidFill>
                  </a:tcPr>
                </a:tc>
                <a:tc>
                  <a:txBody>
                    <a:bodyPr/>
                    <a:lstStyle/>
                    <a:p>
                      <a:r>
                        <a:rPr sz="1000" b="1">
                          <a:solidFill>
                            <a:schemeClr val="bg1"/>
                          </a:solidFill>
                        </a:rPr>
                        <a:t>Damages (turbine-related)</a:t>
                      </a:r>
                    </a:p>
                  </a:txBody>
                  <a:tcPr marL="45720" marR="45720" marT="20000" marB="20000" anchor="ctr">
                    <a:solidFill>
                      <a:schemeClr val="accent4"/>
                    </a:solidFill>
                  </a:tcPr>
                </a:tc>
                <a:tc>
                  <a:txBody>
                    <a:bodyPr/>
                    <a:lstStyle/>
                    <a:p>
                      <a:r>
                        <a:rPr sz="1000" b="1">
                          <a:solidFill>
                            <a:schemeClr val="bg1"/>
                          </a:solidFill>
                        </a:rPr>
                        <a:t>MTBF (h)</a:t>
                      </a:r>
                    </a:p>
                  </a:txBody>
                  <a:tcPr marL="45720" marR="45720" marT="20000" marB="20000" anchor="ctr">
                    <a:solidFill>
                      <a:schemeClr val="accent4"/>
                    </a:solidFill>
                  </a:tcPr>
                </a:tc>
                <a:extLst>
                  <a:ext uri="{0D108BD9-81ED-4DB2-BD59-A6C34878D82A}">
                    <a16:rowId xmlns:a16="http://schemas.microsoft.com/office/drawing/2014/main" val="10000"/>
                  </a:ext>
                </a:extLst>
              </a:tr>
              <a:tr h="330000">
                <a:tc>
                  <a:txBody>
                    <a:bodyPr/>
                    <a:lstStyle/>
                    <a:p>
                      <a:r>
                        <a:rPr sz="1000">
                          <a:solidFill>
                            <a:schemeClr val="tx1">
                              <a:lumMod val="90000"/>
                              <a:lumOff val="10000"/>
                            </a:schemeClr>
                          </a:solidFill>
                        </a:rPr>
                        <a:t>TED16</a:t>
                      </a:r>
                    </a:p>
                  </a:txBody>
                  <a:tcPr marL="45720" marR="45720" marT="15000" marB="15000" anchor="ctr">
                    <a:solidFill>
                      <a:schemeClr val="bg1"/>
                    </a:solidFill>
                  </a:tcPr>
                </a:tc>
                <a:tc>
                  <a:txBody>
                    <a:bodyPr/>
                    <a:lstStyle/>
                    <a:p>
                      <a:r>
                        <a:rPr sz="1000">
                          <a:solidFill>
                            <a:schemeClr val="tx1">
                              <a:lumMod val="90000"/>
                              <a:lumOff val="10000"/>
                            </a:schemeClr>
                          </a:solidFill>
                        </a:rPr>
                        <a:t>182</a:t>
                      </a:r>
                    </a:p>
                  </a:txBody>
                  <a:tcPr marL="45720" marR="45720" marT="15000" marB="15000" anchor="ctr">
                    <a:solidFill>
                      <a:schemeClr val="bg1"/>
                    </a:solidFill>
                  </a:tcPr>
                </a:tc>
                <a:tc>
                  <a:txBody>
                    <a:bodyPr/>
                    <a:lstStyle/>
                    <a:p>
                      <a:r>
                        <a:rPr sz="1000">
                          <a:solidFill>
                            <a:schemeClr val="tx1">
                              <a:lumMod val="90000"/>
                              <a:lumOff val="10000"/>
                            </a:schemeClr>
                          </a:solidFill>
                        </a:rPr>
                        <a:t>3,876,000</a:t>
                      </a:r>
                    </a:p>
                  </a:txBody>
                  <a:tcPr marL="45720" marR="45720" marT="15000" marB="15000" anchor="ctr">
                    <a:solidFill>
                      <a:schemeClr val="bg1"/>
                    </a:solidFill>
                  </a:tcPr>
                </a:tc>
                <a:tc>
                  <a:txBody>
                    <a:bodyPr/>
                    <a:lstStyle/>
                    <a:p>
                      <a:r>
                        <a:rPr sz="1000">
                          <a:solidFill>
                            <a:schemeClr val="tx1">
                              <a:lumMod val="90000"/>
                              <a:lumOff val="10000"/>
                            </a:schemeClr>
                          </a:solidFill>
                        </a:rPr>
                        <a:t>11</a:t>
                      </a:r>
                    </a:p>
                  </a:txBody>
                  <a:tcPr marL="45720" marR="45720" marT="15000" marB="15000" anchor="ctr">
                    <a:solidFill>
                      <a:schemeClr val="bg1"/>
                    </a:solidFill>
                  </a:tcPr>
                </a:tc>
                <a:tc>
                  <a:txBody>
                    <a:bodyPr/>
                    <a:lstStyle/>
                    <a:p>
                      <a:r>
                        <a:rPr sz="1000">
                          <a:solidFill>
                            <a:schemeClr val="tx1">
                              <a:lumMod val="90000"/>
                              <a:lumOff val="10000"/>
                            </a:schemeClr>
                          </a:solidFill>
                        </a:rPr>
                        <a:t>352,364</a:t>
                      </a:r>
                    </a:p>
                  </a:txBody>
                  <a:tcPr marL="45720" marR="45720" marT="15000" marB="15000" anchor="ctr">
                    <a:solidFill>
                      <a:schemeClr val="bg1"/>
                    </a:solidFill>
                  </a:tcPr>
                </a:tc>
                <a:extLst>
                  <a:ext uri="{0D108BD9-81ED-4DB2-BD59-A6C34878D82A}">
                    <a16:rowId xmlns:a16="http://schemas.microsoft.com/office/drawing/2014/main" val="10001"/>
                  </a:ext>
                </a:extLst>
              </a:tr>
              <a:tr h="330000">
                <a:tc>
                  <a:txBody>
                    <a:bodyPr/>
                    <a:lstStyle/>
                    <a:p>
                      <a:r>
                        <a:rPr sz="1000">
                          <a:solidFill>
                            <a:schemeClr val="tx1">
                              <a:lumMod val="90000"/>
                              <a:lumOff val="10000"/>
                            </a:schemeClr>
                          </a:solidFill>
                        </a:rPr>
                        <a:t>TED22</a:t>
                      </a:r>
                    </a:p>
                  </a:txBody>
                  <a:tcPr marL="45720" marR="45720" marT="15000" marB="15000" anchor="ctr">
                    <a:solidFill>
                      <a:schemeClr val="accent4">
                        <a:lumMod val="8000"/>
                        <a:lumOff val="92000"/>
                      </a:schemeClr>
                    </a:solidFill>
                  </a:tcPr>
                </a:tc>
                <a:tc>
                  <a:txBody>
                    <a:bodyPr/>
                    <a:lstStyle/>
                    <a:p>
                      <a:r>
                        <a:rPr sz="1000">
                          <a:solidFill>
                            <a:schemeClr val="tx1">
                              <a:lumMod val="90000"/>
                              <a:lumOff val="10000"/>
                            </a:schemeClr>
                          </a:solidFill>
                        </a:rPr>
                        <a:t>94</a:t>
                      </a:r>
                    </a:p>
                  </a:txBody>
                  <a:tcPr marL="45720" marR="45720" marT="15000" marB="15000" anchor="ctr">
                    <a:solidFill>
                      <a:schemeClr val="accent4">
                        <a:lumMod val="8000"/>
                        <a:lumOff val="92000"/>
                      </a:schemeClr>
                    </a:solidFill>
                  </a:tcPr>
                </a:tc>
                <a:tc>
                  <a:txBody>
                    <a:bodyPr/>
                    <a:lstStyle/>
                    <a:p>
                      <a:r>
                        <a:rPr sz="1000">
                          <a:solidFill>
                            <a:schemeClr val="tx1">
                              <a:lumMod val="90000"/>
                              <a:lumOff val="10000"/>
                            </a:schemeClr>
                          </a:solidFill>
                        </a:rPr>
                        <a:t>1,797,000</a:t>
                      </a:r>
                    </a:p>
                  </a:txBody>
                  <a:tcPr marL="45720" marR="45720" marT="15000" marB="15000" anchor="ctr">
                    <a:solidFill>
                      <a:schemeClr val="accent4">
                        <a:lumMod val="8000"/>
                        <a:lumOff val="92000"/>
                      </a:schemeClr>
                    </a:solidFill>
                  </a:tcPr>
                </a:tc>
                <a:tc>
                  <a:txBody>
                    <a:bodyPr/>
                    <a:lstStyle/>
                    <a:p>
                      <a:r>
                        <a:rPr sz="1000">
                          <a:solidFill>
                            <a:schemeClr val="tx1">
                              <a:lumMod val="90000"/>
                              <a:lumOff val="10000"/>
                            </a:schemeClr>
                          </a:solidFill>
                        </a:rPr>
                        <a:t>6</a:t>
                      </a:r>
                    </a:p>
                  </a:txBody>
                  <a:tcPr marL="45720" marR="45720" marT="15000" marB="15000" anchor="ctr">
                    <a:solidFill>
                      <a:schemeClr val="accent4">
                        <a:lumMod val="8000"/>
                        <a:lumOff val="92000"/>
                      </a:schemeClr>
                    </a:solidFill>
                  </a:tcPr>
                </a:tc>
                <a:tc>
                  <a:txBody>
                    <a:bodyPr/>
                    <a:lstStyle/>
                    <a:p>
                      <a:r>
                        <a:rPr sz="1000">
                          <a:solidFill>
                            <a:schemeClr val="tx1">
                              <a:lumMod val="90000"/>
                              <a:lumOff val="10000"/>
                            </a:schemeClr>
                          </a:solidFill>
                        </a:rPr>
                        <a:t>299,500</a:t>
                      </a:r>
                    </a:p>
                  </a:txBody>
                  <a:tcPr marL="45720" marR="45720" marT="15000" marB="15000" anchor="ctr">
                    <a:solidFill>
                      <a:schemeClr val="accent4">
                        <a:lumMod val="8000"/>
                        <a:lumOff val="92000"/>
                      </a:schemeClr>
                    </a:solidFill>
                  </a:tcPr>
                </a:tc>
                <a:extLst>
                  <a:ext uri="{0D108BD9-81ED-4DB2-BD59-A6C34878D82A}">
                    <a16:rowId xmlns:a16="http://schemas.microsoft.com/office/drawing/2014/main" val="10002"/>
                  </a:ext>
                </a:extLst>
              </a:tr>
              <a:tr h="330000">
                <a:tc>
                  <a:txBody>
                    <a:bodyPr/>
                    <a:lstStyle/>
                    <a:p>
                      <a:r>
                        <a:rPr sz="1000">
                          <a:solidFill>
                            <a:schemeClr val="tx1">
                              <a:lumMod val="90000"/>
                              <a:lumOff val="10000"/>
                            </a:schemeClr>
                          </a:solidFill>
                        </a:rPr>
                        <a:t>TED32</a:t>
                      </a:r>
                    </a:p>
                  </a:txBody>
                  <a:tcPr marL="45720" marR="45720" marT="15000" marB="15000" anchor="ctr">
                    <a:solidFill>
                      <a:schemeClr val="bg1"/>
                    </a:solidFill>
                  </a:tcPr>
                </a:tc>
                <a:tc>
                  <a:txBody>
                    <a:bodyPr/>
                    <a:lstStyle/>
                    <a:p>
                      <a:r>
                        <a:rPr sz="1000">
                          <a:solidFill>
                            <a:schemeClr val="tx1">
                              <a:lumMod val="90000"/>
                              <a:lumOff val="10000"/>
                            </a:schemeClr>
                          </a:solidFill>
                        </a:rPr>
                        <a:t>23</a:t>
                      </a:r>
                    </a:p>
                  </a:txBody>
                  <a:tcPr marL="45720" marR="45720" marT="15000" marB="15000" anchor="ctr">
                    <a:solidFill>
                      <a:schemeClr val="bg1"/>
                    </a:solidFill>
                  </a:tcPr>
                </a:tc>
                <a:tc>
                  <a:txBody>
                    <a:bodyPr/>
                    <a:lstStyle/>
                    <a:p>
                      <a:r>
                        <a:rPr sz="1000">
                          <a:solidFill>
                            <a:schemeClr val="tx1">
                              <a:lumMod val="90000"/>
                              <a:lumOff val="10000"/>
                            </a:schemeClr>
                          </a:solidFill>
                        </a:rPr>
                        <a:t>1,050,000</a:t>
                      </a:r>
                    </a:p>
                  </a:txBody>
                  <a:tcPr marL="45720" marR="45720" marT="15000" marB="15000" anchor="ctr">
                    <a:solidFill>
                      <a:schemeClr val="bg1"/>
                    </a:solidFill>
                  </a:tcPr>
                </a:tc>
                <a:tc>
                  <a:txBody>
                    <a:bodyPr/>
                    <a:lstStyle/>
                    <a:p>
                      <a:r>
                        <a:rPr sz="1000">
                          <a:solidFill>
                            <a:schemeClr val="tx1">
                              <a:lumMod val="90000"/>
                              <a:lumOff val="10000"/>
                            </a:schemeClr>
                          </a:solidFill>
                        </a:rPr>
                        <a:t>2</a:t>
                      </a:r>
                    </a:p>
                  </a:txBody>
                  <a:tcPr marL="45720" marR="45720" marT="15000" marB="15000" anchor="ctr">
                    <a:solidFill>
                      <a:schemeClr val="bg1"/>
                    </a:solidFill>
                  </a:tcPr>
                </a:tc>
                <a:tc>
                  <a:txBody>
                    <a:bodyPr/>
                    <a:lstStyle/>
                    <a:p>
                      <a:r>
                        <a:rPr sz="1000">
                          <a:solidFill>
                            <a:schemeClr val="tx1">
                              <a:lumMod val="90000"/>
                              <a:lumOff val="10000"/>
                            </a:schemeClr>
                          </a:solidFill>
                        </a:rPr>
                        <a:t>525,000</a:t>
                      </a:r>
                    </a:p>
                  </a:txBody>
                  <a:tcPr marL="45720" marR="45720" marT="15000" marB="15000" anchor="ctr">
                    <a:solidFill>
                      <a:schemeClr val="bg1"/>
                    </a:solidFill>
                  </a:tcPr>
                </a:tc>
                <a:extLst>
                  <a:ext uri="{0D108BD9-81ED-4DB2-BD59-A6C34878D82A}">
                    <a16:rowId xmlns:a16="http://schemas.microsoft.com/office/drawing/2014/main" val="10003"/>
                  </a:ext>
                </a:extLst>
              </a:tr>
              <a:tr h="330000">
                <a:tc>
                  <a:txBody>
                    <a:bodyPr/>
                    <a:lstStyle/>
                    <a:p>
                      <a:r>
                        <a:rPr sz="1000">
                          <a:solidFill>
                            <a:schemeClr val="tx1">
                              <a:lumMod val="90000"/>
                              <a:lumOff val="10000"/>
                            </a:schemeClr>
                          </a:solidFill>
                        </a:rPr>
                        <a:t>TED45</a:t>
                      </a:r>
                    </a:p>
                  </a:txBody>
                  <a:tcPr marL="45720" marR="45720" marT="15000" marB="15000" anchor="ctr">
                    <a:solidFill>
                      <a:schemeClr val="accent4">
                        <a:lumMod val="8000"/>
                        <a:lumOff val="92000"/>
                      </a:schemeClr>
                    </a:solidFill>
                  </a:tcPr>
                </a:tc>
                <a:tc>
                  <a:txBody>
                    <a:bodyPr/>
                    <a:lstStyle/>
                    <a:p>
                      <a:r>
                        <a:rPr sz="1000">
                          <a:solidFill>
                            <a:schemeClr val="tx1">
                              <a:lumMod val="90000"/>
                              <a:lumOff val="10000"/>
                            </a:schemeClr>
                          </a:solidFill>
                        </a:rPr>
                        <a:t>21</a:t>
                      </a:r>
                    </a:p>
                  </a:txBody>
                  <a:tcPr marL="45720" marR="45720" marT="15000" marB="15000" anchor="ctr">
                    <a:solidFill>
                      <a:schemeClr val="accent4">
                        <a:lumMod val="8000"/>
                        <a:lumOff val="92000"/>
                      </a:schemeClr>
                    </a:solidFill>
                  </a:tcPr>
                </a:tc>
                <a:tc>
                  <a:txBody>
                    <a:bodyPr/>
                    <a:lstStyle/>
                    <a:p>
                      <a:r>
                        <a:rPr sz="1000">
                          <a:solidFill>
                            <a:schemeClr val="tx1">
                              <a:lumMod val="90000"/>
                              <a:lumOff val="10000"/>
                            </a:schemeClr>
                          </a:solidFill>
                        </a:rPr>
                        <a:t>833,000</a:t>
                      </a:r>
                    </a:p>
                  </a:txBody>
                  <a:tcPr marL="45720" marR="45720" marT="15000" marB="15000" anchor="ctr">
                    <a:solidFill>
                      <a:schemeClr val="accent4">
                        <a:lumMod val="8000"/>
                        <a:lumOff val="92000"/>
                      </a:schemeClr>
                    </a:solidFill>
                  </a:tcPr>
                </a:tc>
                <a:tc>
                  <a:txBody>
                    <a:bodyPr/>
                    <a:lstStyle/>
                    <a:p>
                      <a:r>
                        <a:rPr sz="1000">
                          <a:solidFill>
                            <a:schemeClr val="tx1">
                              <a:lumMod val="90000"/>
                              <a:lumOff val="10000"/>
                            </a:schemeClr>
                          </a:solidFill>
                        </a:rPr>
                        <a:t>1</a:t>
                      </a:r>
                    </a:p>
                  </a:txBody>
                  <a:tcPr marL="45720" marR="45720" marT="15000" marB="15000" anchor="ctr">
                    <a:solidFill>
                      <a:schemeClr val="accent4">
                        <a:lumMod val="8000"/>
                        <a:lumOff val="92000"/>
                      </a:schemeClr>
                    </a:solidFill>
                  </a:tcPr>
                </a:tc>
                <a:tc>
                  <a:txBody>
                    <a:bodyPr/>
                    <a:lstStyle/>
                    <a:p>
                      <a:r>
                        <a:rPr sz="1000">
                          <a:solidFill>
                            <a:schemeClr val="tx1">
                              <a:lumMod val="90000"/>
                              <a:lumOff val="10000"/>
                            </a:schemeClr>
                          </a:solidFill>
                        </a:rPr>
                        <a:t>833,000</a:t>
                      </a:r>
                    </a:p>
                  </a:txBody>
                  <a:tcPr marL="45720" marR="45720" marT="15000" marB="15000" anchor="ct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645465" y="4600000"/>
            <a:ext cx="6900000" cy="542925"/>
          </a:xfrm>
          <a:prstGeom prst="rect">
            <a:avLst/>
          </a:prstGeom>
          <a:noFill/>
        </p:spPr>
        <p:txBody>
          <a:bodyPr wrap="square">
            <a:spAutoFit/>
          </a:bodyPr>
          <a:lstStyle/>
          <a:p>
            <a:pPr marL="182880" indent="-182880">
              <a:lnSpc>
                <a:spcPct val="145000"/>
              </a:lnSpc>
              <a:spcBef>
                <a:spcPts val="0"/>
              </a:spcBef>
              <a:spcAft>
                <a:spcPts val="800"/>
              </a:spcAft>
              <a:buFont typeface="Arial"/>
              <a:buChar char="•"/>
            </a:pPr>
            <a:r>
              <a:rPr sz="950">
                <a:solidFill>
                  <a:schemeClr val="tx1">
                    <a:lumMod val="90000"/>
                    <a:lumOff val="10000"/>
                  </a:schemeClr>
                </a:solidFill>
                <a:latin typeface="Aptos"/>
              </a:rPr>
              <a:t>MTTR by spare-cartridge exchange: 2–3 h. By express repair at manufacturer site: 2 weeks. By standard repair at manufacturer site: 4 weeks (all four types).</a:t>
            </a:r>
          </a:p>
        </p:txBody>
      </p:sp>
      <p:sp>
        <p:nvSpPr>
          <p:cNvPr id="8" name="TextBox 7"/>
          <p:cNvSpPr txBox="1"/>
          <p:nvPr/>
        </p:nvSpPr>
        <p:spPr>
          <a:xfrm>
            <a:off x="7750000" y="2100000"/>
            <a:ext cx="3900000" cy="3200000"/>
          </a:xfrm>
          <a:prstGeom prst="rect">
            <a:avLst/>
          </a:prstGeom>
          <a:noFill/>
        </p:spPr>
        <p:txBody>
          <a:bodyPr wrap="square">
            <a:spAutoFit/>
          </a:bodyPr>
          <a:lstStyle/>
          <a:p>
            <a:pPr>
              <a:lnSpc>
                <a:spcPct val="145000"/>
              </a:lnSpc>
              <a:spcBef>
                <a:spcPts val="0"/>
              </a:spcBef>
              <a:spcAft>
                <a:spcPts val="800"/>
              </a:spcAft>
            </a:pPr>
            <a:r>
              <a:rPr sz="1100" b="1">
                <a:solidFill>
                  <a:schemeClr val="accent2"/>
                </a:solidFill>
                <a:latin typeface="Aptos"/>
              </a:rPr>
              <a:t>Contractor A's claim</a:t>
            </a:r>
          </a:p>
          <a:p>
            <a:pPr>
              <a:lnSpc>
                <a:spcPct val="145000"/>
              </a:lnSpc>
              <a:spcBef>
                <a:spcPts val="0"/>
              </a:spcBef>
              <a:spcAft>
                <a:spcPts val="800"/>
              </a:spcAft>
            </a:pPr>
            <a:r>
              <a:rPr sz="1100">
                <a:solidFill>
                  <a:schemeClr val="tx1">
                    <a:lumMod val="88000"/>
                    <a:lumOff val="12000"/>
                  </a:schemeClr>
                </a:solidFill>
                <a:latin typeface="Aptos"/>
              </a:rPr>
              <a:t>≥96% availability with maintenance intervals after 8,400 operating hours (1 year). Planned time 8,400 h/yr ⇒ allowed unavailability = 4% = 336 h/yr ≈ 14 days/yr.</a:t>
            </a:r>
          </a:p>
          <a:p>
            <a:pPr>
              <a:lnSpc>
                <a:spcPct val="145000"/>
              </a:lnSpc>
              <a:spcBef>
                <a:spcPts val="0"/>
              </a:spcBef>
              <a:spcAft>
                <a:spcPts val="800"/>
              </a:spcAft>
            </a:pPr>
            <a:r>
              <a:rPr sz="1100" b="1">
                <a:solidFill>
                  <a:schemeClr val="accent2"/>
                </a:solidFill>
                <a:latin typeface="Aptos"/>
              </a:rPr>
              <a:t>This deck's RTM-062-derived figure</a:t>
            </a:r>
          </a:p>
          <a:p>
            <a:pPr>
              <a:lnSpc>
                <a:spcPct val="145000"/>
              </a:lnSpc>
              <a:spcBef>
                <a:spcPts val="0"/>
              </a:spcBef>
              <a:spcAft>
                <a:spcPts val="800"/>
              </a:spcAft>
            </a:pPr>
            <a:r>
              <a:rPr sz="1100">
                <a:solidFill>
                  <a:schemeClr val="tx1">
                    <a:lumMod val="88000"/>
                    <a:lumOff val="12000"/>
                  </a:schemeClr>
                </a:solidFill>
                <a:latin typeface="Aptos"/>
              </a:rPr>
              <a:t>If read as 99% over 8,000 h: allowed unavailability = 1% = 80 h/yr ≈ 3.3 days/yr — about 4× stricter than Contractor A's figure, and stricter still against a full 8,760 h year.</a:t>
            </a:r>
          </a:p>
        </p:txBody>
      </p:sp>
      <p:sp>
        <p:nvSpPr>
          <p:cNvPr id="9" name="Rounded Rectangle 8"/>
          <p:cNvSpPr/>
          <p:nvPr/>
        </p:nvSpPr>
        <p:spPr>
          <a:xfrm>
            <a:off x="7750000" y="5450000"/>
            <a:ext cx="3900000" cy="1050000"/>
          </a:xfrm>
          <a:prstGeom prst="roundRect">
            <a:avLst>
              <a:gd name="adj" fmla="val 6000"/>
            </a:avLst>
          </a:prstGeom>
          <a:solidFill>
            <a:schemeClr val="accent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000" b="1" dirty="0">
                <a:solidFill>
                  <a:schemeClr val="accent2"/>
                </a:solidFill>
                <a:latin typeface="Aptos"/>
              </a:rPr>
              <a:t>READING THIS RIGHT  </a:t>
            </a:r>
            <a:r>
              <a:rPr sz="1000" b="0" dirty="0">
                <a:solidFill>
                  <a:schemeClr val="accent2"/>
                </a:solidFill>
                <a:latin typeface="Aptos"/>
              </a:rPr>
              <a:t>The gap isn't a contradiction — it means this RTM-062-derived figure should be read either with a lower annual % target, a reduced planned-time basis, or (the best fit with what users </a:t>
            </a:r>
            <a:r>
              <a:rPr lang="en-US" sz="1000" b="0" dirty="0">
                <a:solidFill>
                  <a:schemeClr val="accent2"/>
                </a:solidFill>
                <a:latin typeface="Aptos"/>
              </a:rPr>
              <a:t>feel</a:t>
            </a:r>
            <a:r>
              <a:rPr sz="1000" b="0" dirty="0">
                <a:solidFill>
                  <a:schemeClr val="accent2"/>
                </a:solidFill>
                <a:latin typeface="Aptos"/>
              </a:rPr>
              <a:t>) moderate annual availability paired with a stringent 2 K campaign-success requirement (Appendix F).</a:t>
            </a:r>
          </a:p>
        </p:txBody>
      </p:sp>
      <p:sp>
        <p:nvSpPr>
          <p:cNvPr id="11" name="Slide Number Placeholder 10">
            <a:extLst>
              <a:ext uri="{FF2B5EF4-FFF2-40B4-BE49-F238E27FC236}">
                <a16:creationId xmlns:a16="http://schemas.microsoft.com/office/drawing/2014/main" id="{49F9E60E-CB2A-2269-447A-A0C7D0B24870}"/>
              </a:ext>
            </a:extLst>
          </p:cNvPr>
          <p:cNvSpPr>
            <a:spLocks noGrp="1"/>
          </p:cNvSpPr>
          <p:nvPr>
            <p:ph type="sldNum" sz="quarter" idx="4"/>
          </p:nvPr>
        </p:nvSpPr>
        <p:spPr/>
        <p:txBody>
          <a:bodyPr/>
          <a:lstStyle/>
          <a:p>
            <a:fld id="{A814E660-BF25-4843-B2A0-93C6E2B6253B}" type="slidenum">
              <a:rPr lang="en-BE" smtClean="0"/>
              <a:pPr/>
              <a:t>27</a:t>
            </a:fld>
            <a:endParaRPr lang="en-BE" dirty="0"/>
          </a:p>
        </p:txBody>
      </p:sp>
      <p:sp>
        <p:nvSpPr>
          <p:cNvPr id="12" name="Rounded Rectangle 11"/>
          <p:cNvSpPr/>
          <p:nvPr/>
        </p:nvSpPr>
        <p:spPr>
          <a:xfrm>
            <a:off x="9546535" y="150000"/>
            <a:ext cx="2000000" cy="460000"/>
          </a:xfrm>
          <a:prstGeom prst="roundRect">
            <a:avLst>
              <a:gd name="adj" fmla="val 50000"/>
            </a:avLst>
          </a:prstGeom>
          <a:solidFill>
            <a:srgbClr val="0346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ANALYZE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0000"/>
            <a:ext cx="8889335" cy="900000"/>
          </a:xfrm>
        </p:spPr>
        <p:txBody>
          <a:bodyPr wrap="square"/>
          <a:lstStyle/>
          <a:p>
            <a:r>
              <a:rPr sz="2250">
                <a:solidFill>
                  <a:schemeClr val="accent4"/>
                </a:solidFill>
                <a:latin typeface="Segoe UI"/>
              </a:rPr>
              <a:t>Appendix I — RCM/Weibull Applied: Cold-Compressor Train</a:t>
            </a:r>
          </a:p>
        </p:txBody>
      </p:sp>
      <p:sp>
        <p:nvSpPr>
          <p:cNvPr id="3" name="Text Placeholder 2"/>
          <p:cNvSpPr>
            <a:spLocks noGrp="1"/>
          </p:cNvSpPr>
          <p:nvPr>
            <p:ph type="body" sz="quarter" idx="14"/>
          </p:nvPr>
        </p:nvSpPr>
        <p:spPr>
          <a:xfrm>
            <a:off x="457200" y="1340000"/>
            <a:ext cx="10900000" cy="460000"/>
          </a:xfrm>
        </p:spPr>
        <p:txBody>
          <a:bodyPr/>
          <a:lstStyle/>
          <a:p>
            <a:r>
              <a:rPr sz="1400">
                <a:solidFill>
                  <a:schemeClr val="accent4"/>
                </a:solidFill>
                <a:latin typeface="Aptos"/>
              </a:rPr>
              <a:t>The worked example behind Slide 31's wear-out argument and Roadmap 2/3's sample calc</a:t>
            </a:r>
          </a:p>
        </p:txBody>
      </p:sp>
      <p:sp>
        <p:nvSpPr>
          <p:cNvPr id="5" name="TextBox 4"/>
          <p:cNvSpPr txBox="1"/>
          <p:nvPr/>
        </p:nvSpPr>
        <p:spPr>
          <a:xfrm>
            <a:off x="645465" y="2260000"/>
            <a:ext cx="5350000" cy="2650000"/>
          </a:xfrm>
          <a:prstGeom prst="rect">
            <a:avLst/>
          </a:prstGeom>
          <a:noFill/>
        </p:spPr>
        <p:txBody>
          <a:bodyPr wrap="square">
            <a:spAutoFit/>
          </a:bodyPr>
          <a:lstStyle/>
          <a:p>
            <a:pPr>
              <a:lnSpc>
                <a:spcPct val="145000"/>
              </a:lnSpc>
              <a:spcBef>
                <a:spcPts val="0"/>
              </a:spcBef>
              <a:spcAft>
                <a:spcPts val="800"/>
              </a:spcAft>
            </a:pPr>
            <a:r>
              <a:rPr sz="950" b="1">
                <a:solidFill>
                  <a:schemeClr val="accent2"/>
                </a:solidFill>
                <a:latin typeface="Aptos"/>
              </a:rPr>
              <a:t>The system</a:t>
            </a:r>
          </a:p>
          <a:p>
            <a:pPr>
              <a:lnSpc>
                <a:spcPct val="145000"/>
              </a:lnSpc>
              <a:spcBef>
                <a:spcPts val="0"/>
              </a:spcBef>
              <a:spcAft>
                <a:spcPts val="800"/>
              </a:spcAft>
            </a:pPr>
            <a:r>
              <a:rPr sz="950">
                <a:solidFill>
                  <a:schemeClr val="tx1">
                    <a:lumMod val="88000"/>
                    <a:lumOff val="12000"/>
                  </a:schemeClr>
                </a:solidFill>
                <a:latin typeface="Aptos"/>
              </a:rPr>
              <a:t>3 cold compressors in series, no redundancy — losing one means the plant cannot maintain 27 mbar. A pure series system: λ_train = 3 × λ_stage.</a:t>
            </a:r>
          </a:p>
          <a:p>
            <a:pPr>
              <a:lnSpc>
                <a:spcPct val="145000"/>
              </a:lnSpc>
              <a:spcBef>
                <a:spcPts val="0"/>
              </a:spcBef>
              <a:spcAft>
                <a:spcPts val="800"/>
              </a:spcAft>
            </a:pPr>
            <a:r>
              <a:rPr sz="950" b="1">
                <a:solidFill>
                  <a:schemeClr val="accent2"/>
                </a:solidFill>
                <a:latin typeface="Aptos"/>
              </a:rPr>
              <a:t>Train MTBF</a:t>
            </a:r>
          </a:p>
          <a:p>
            <a:pPr>
              <a:lnSpc>
                <a:spcPct val="145000"/>
              </a:lnSpc>
              <a:spcBef>
                <a:spcPts val="0"/>
              </a:spcBef>
              <a:spcAft>
                <a:spcPts val="800"/>
              </a:spcAft>
            </a:pPr>
            <a:r>
              <a:rPr sz="950">
                <a:solidFill>
                  <a:schemeClr val="tx1">
                    <a:lumMod val="88000"/>
                    <a:lumOff val="12000"/>
                  </a:schemeClr>
                </a:solidFill>
                <a:latin typeface="Aptos"/>
              </a:rPr>
              <a:t>Single-stage MTBF = 105,000 h (Appendix G) ⇒ MTBF_train = 105,000 / 3 ≈ 35,000 h ≈ 4.0 years — the number used for Class A failure frequency and RTM-062 aggregation.</a:t>
            </a:r>
          </a:p>
          <a:p>
            <a:pPr>
              <a:lnSpc>
                <a:spcPct val="145000"/>
              </a:lnSpc>
              <a:spcBef>
                <a:spcPts val="0"/>
              </a:spcBef>
              <a:spcAft>
                <a:spcPts val="800"/>
              </a:spcAft>
            </a:pPr>
            <a:r>
              <a:rPr sz="950" b="1">
                <a:solidFill>
                  <a:schemeClr val="accent2"/>
                </a:solidFill>
                <a:latin typeface="Aptos"/>
              </a:rPr>
              <a:t>Why Weibull, not just MTBF</a:t>
            </a:r>
          </a:p>
          <a:p>
            <a:pPr>
              <a:lnSpc>
                <a:spcPct val="145000"/>
              </a:lnSpc>
              <a:spcBef>
                <a:spcPts val="0"/>
              </a:spcBef>
              <a:spcAft>
                <a:spcPts val="800"/>
              </a:spcAft>
            </a:pPr>
            <a:r>
              <a:rPr sz="950">
                <a:solidFill>
                  <a:schemeClr val="tx1">
                    <a:lumMod val="88000"/>
                    <a:lumOff val="12000"/>
                  </a:schemeClr>
                </a:solidFill>
                <a:latin typeface="Aptos"/>
              </a:rPr>
              <a:t>Slide 31 explains the general relation h(t) = (β/η)·(t/η)^(β−1): whenever β &gt; 1, hazard rises with age. The table (right) applies it to real components instead of restating the formula.</a:t>
            </a:r>
          </a:p>
        </p:txBody>
      </p:sp>
      <p:sp>
        <p:nvSpPr>
          <p:cNvPr id="6" name="Rounded Rectangle 5"/>
          <p:cNvSpPr/>
          <p:nvPr/>
        </p:nvSpPr>
        <p:spPr>
          <a:xfrm>
            <a:off x="645465" y="5150000"/>
            <a:ext cx="5350000" cy="950000"/>
          </a:xfrm>
          <a:prstGeom prst="roundRect">
            <a:avLst>
              <a:gd name="adj" fmla="val 6000"/>
            </a:avLst>
          </a:prstGeom>
          <a:solidFill>
            <a:schemeClr val="accent4">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00" b="1">
                <a:solidFill>
                  <a:schemeClr val="accent4"/>
                </a:solidFill>
                <a:latin typeface="Aptos"/>
              </a:rPr>
              <a:t>MTBF_CC-TRAIN ≈ 35,000 h ≈ 4.0 y  </a:t>
            </a:r>
            <a:r>
              <a:rPr sz="1100" b="0">
                <a:solidFill>
                  <a:schemeClr val="accent4"/>
                </a:solidFill>
                <a:latin typeface="Aptos"/>
              </a:rPr>
              <a:t>This is the correct number for Class A failure frequency and the RTM-062 90-day campaign probability — not the single-compressor 105,000 h figure.</a:t>
            </a:r>
          </a:p>
        </p:txBody>
      </p:sp>
      <p:graphicFrame>
        <p:nvGraphicFramePr>
          <p:cNvPr id="7" name="Table 6"/>
          <p:cNvGraphicFramePr>
            <a:graphicFrameLocks noGrp="1"/>
          </p:cNvGraphicFramePr>
          <p:nvPr/>
        </p:nvGraphicFramePr>
        <p:xfrm>
          <a:off x="6250000" y="2260000"/>
          <a:ext cx="5349998" cy="1450000"/>
        </p:xfrm>
        <a:graphic>
          <a:graphicData uri="http://schemas.openxmlformats.org/drawingml/2006/table">
            <a:tbl>
              <a:tblPr firstRow="1" bandRow="1">
                <a:tableStyleId>{5C22544A-7EE6-4342-B048-85BDC9FD1C3A}</a:tableStyleId>
              </a:tblPr>
              <a:tblGrid>
                <a:gridCol w="1106896">
                  <a:extLst>
                    <a:ext uri="{9D8B030D-6E8A-4147-A177-3AD203B41FA5}">
                      <a16:colId xmlns:a16="http://schemas.microsoft.com/office/drawing/2014/main" val="20000"/>
                    </a:ext>
                  </a:extLst>
                </a:gridCol>
                <a:gridCol w="922413">
                  <a:extLst>
                    <a:ext uri="{9D8B030D-6E8A-4147-A177-3AD203B41FA5}">
                      <a16:colId xmlns:a16="http://schemas.microsoft.com/office/drawing/2014/main" val="20001"/>
                    </a:ext>
                  </a:extLst>
                </a:gridCol>
                <a:gridCol w="1229885">
                  <a:extLst>
                    <a:ext uri="{9D8B030D-6E8A-4147-A177-3AD203B41FA5}">
                      <a16:colId xmlns:a16="http://schemas.microsoft.com/office/drawing/2014/main" val="20002"/>
                    </a:ext>
                  </a:extLst>
                </a:gridCol>
                <a:gridCol w="1229885">
                  <a:extLst>
                    <a:ext uri="{9D8B030D-6E8A-4147-A177-3AD203B41FA5}">
                      <a16:colId xmlns:a16="http://schemas.microsoft.com/office/drawing/2014/main" val="20003"/>
                    </a:ext>
                  </a:extLst>
                </a:gridCol>
                <a:gridCol w="860919">
                  <a:extLst>
                    <a:ext uri="{9D8B030D-6E8A-4147-A177-3AD203B41FA5}">
                      <a16:colId xmlns:a16="http://schemas.microsoft.com/office/drawing/2014/main" val="20004"/>
                    </a:ext>
                  </a:extLst>
                </a:gridCol>
              </a:tblGrid>
              <a:tr h="362500">
                <a:tc>
                  <a:txBody>
                    <a:bodyPr/>
                    <a:lstStyle/>
                    <a:p>
                      <a:r>
                        <a:rPr sz="850" b="1">
                          <a:solidFill>
                            <a:schemeClr val="bg1"/>
                          </a:solidFill>
                        </a:rPr>
                        <a:t>Equipment</a:t>
                      </a:r>
                    </a:p>
                  </a:txBody>
                  <a:tcPr marL="45720" marR="45720" marT="20000" marB="20000" anchor="ctr">
                    <a:solidFill>
                      <a:schemeClr val="accent4"/>
                    </a:solidFill>
                  </a:tcPr>
                </a:tc>
                <a:tc>
                  <a:txBody>
                    <a:bodyPr/>
                    <a:lstStyle/>
                    <a:p>
                      <a:r>
                        <a:rPr sz="850" b="1">
                          <a:solidFill>
                            <a:schemeClr val="bg1"/>
                          </a:solidFill>
                        </a:rPr>
                        <a:t>Weibull (β, η)</a:t>
                      </a:r>
                    </a:p>
                  </a:txBody>
                  <a:tcPr marL="45720" marR="45720" marT="20000" marB="20000" anchor="ctr">
                    <a:solidFill>
                      <a:schemeClr val="accent4"/>
                    </a:solidFill>
                  </a:tcPr>
                </a:tc>
                <a:tc>
                  <a:txBody>
                    <a:bodyPr/>
                    <a:lstStyle/>
                    <a:p>
                      <a:r>
                        <a:rPr sz="850" b="1">
                          <a:solidFill>
                            <a:schemeClr val="bg1"/>
                          </a:solidFill>
                        </a:rPr>
                        <a:t>P(fail 90d) good-as-new</a:t>
                      </a:r>
                    </a:p>
                  </a:txBody>
                  <a:tcPr marL="45720" marR="45720" marT="20000" marB="20000" anchor="ctr">
                    <a:solidFill>
                      <a:schemeClr val="accent4"/>
                    </a:solidFill>
                  </a:tcPr>
                </a:tc>
                <a:tc>
                  <a:txBody>
                    <a:bodyPr/>
                    <a:lstStyle/>
                    <a:p>
                      <a:r>
                        <a:rPr sz="850" b="1">
                          <a:solidFill>
                            <a:schemeClr val="bg1"/>
                          </a:solidFill>
                        </a:rPr>
                        <a:t>P(fail 90d) at age 5y</a:t>
                      </a:r>
                    </a:p>
                  </a:txBody>
                  <a:tcPr marL="45720" marR="45720" marT="20000" marB="20000" anchor="ctr">
                    <a:solidFill>
                      <a:schemeClr val="accent4"/>
                    </a:solidFill>
                  </a:tcPr>
                </a:tc>
                <a:tc>
                  <a:txBody>
                    <a:bodyPr/>
                    <a:lstStyle/>
                    <a:p>
                      <a:r>
                        <a:rPr sz="850" b="1">
                          <a:solidFill>
                            <a:schemeClr val="bg1"/>
                          </a:solidFill>
                        </a:rPr>
                        <a:t>Increase</a:t>
                      </a:r>
                    </a:p>
                  </a:txBody>
                  <a:tcPr marL="45720" marR="45720" marT="20000" marB="20000" anchor="ctr">
                    <a:solidFill>
                      <a:schemeClr val="accent4"/>
                    </a:solidFill>
                  </a:tcPr>
                </a:tc>
                <a:extLst>
                  <a:ext uri="{0D108BD9-81ED-4DB2-BD59-A6C34878D82A}">
                    <a16:rowId xmlns:a16="http://schemas.microsoft.com/office/drawing/2014/main" val="10000"/>
                  </a:ext>
                </a:extLst>
              </a:tr>
              <a:tr h="362500">
                <a:tc>
                  <a:txBody>
                    <a:bodyPr/>
                    <a:lstStyle/>
                    <a:p>
                      <a:r>
                        <a:rPr sz="850">
                          <a:solidFill>
                            <a:schemeClr val="tx1">
                              <a:lumMod val="90000"/>
                              <a:lumOff val="10000"/>
                            </a:schemeClr>
                          </a:solidFill>
                        </a:rPr>
                        <a:t>Oil screw compressor</a:t>
                      </a:r>
                    </a:p>
                  </a:txBody>
                  <a:tcPr marL="45720" marR="45720" marT="15000" marB="15000" anchor="ctr">
                    <a:solidFill>
                      <a:schemeClr val="bg1"/>
                    </a:solidFill>
                  </a:tcPr>
                </a:tc>
                <a:tc>
                  <a:txBody>
                    <a:bodyPr/>
                    <a:lstStyle/>
                    <a:p>
                      <a:r>
                        <a:rPr sz="850">
                          <a:solidFill>
                            <a:schemeClr val="tx1">
                              <a:lumMod val="90000"/>
                              <a:lumOff val="10000"/>
                            </a:schemeClr>
                          </a:solidFill>
                        </a:rPr>
                        <a:t>β=2.5, η≈363,300 h</a:t>
                      </a:r>
                    </a:p>
                  </a:txBody>
                  <a:tcPr marL="45720" marR="45720" marT="15000" marB="15000" anchor="ctr">
                    <a:solidFill>
                      <a:schemeClr val="bg1"/>
                    </a:solidFill>
                  </a:tcPr>
                </a:tc>
                <a:tc>
                  <a:txBody>
                    <a:bodyPr/>
                    <a:lstStyle/>
                    <a:p>
                      <a:r>
                        <a:rPr sz="850">
                          <a:solidFill>
                            <a:schemeClr val="tx1">
                              <a:lumMod val="90000"/>
                              <a:lumOff val="10000"/>
                            </a:schemeClr>
                          </a:solidFill>
                        </a:rPr>
                        <a:t>2.7×10⁻⁶ (0.00027%)</a:t>
                      </a:r>
                    </a:p>
                  </a:txBody>
                  <a:tcPr marL="45720" marR="45720" marT="15000" marB="15000" anchor="ctr">
                    <a:solidFill>
                      <a:schemeClr val="bg1"/>
                    </a:solidFill>
                  </a:tcPr>
                </a:tc>
                <a:tc>
                  <a:txBody>
                    <a:bodyPr/>
                    <a:lstStyle/>
                    <a:p>
                      <a:r>
                        <a:rPr sz="850">
                          <a:solidFill>
                            <a:schemeClr val="tx1">
                              <a:lumMod val="90000"/>
                              <a:lumOff val="10000"/>
                            </a:schemeClr>
                          </a:solidFill>
                        </a:rPr>
                        <a:t>6.45×10⁻⁴ (0.0645%)</a:t>
                      </a:r>
                    </a:p>
                  </a:txBody>
                  <a:tcPr marL="45720" marR="45720" marT="15000" marB="15000" anchor="ctr">
                    <a:solidFill>
                      <a:schemeClr val="bg1"/>
                    </a:solidFill>
                  </a:tcPr>
                </a:tc>
                <a:tc>
                  <a:txBody>
                    <a:bodyPr/>
                    <a:lstStyle/>
                    <a:p>
                      <a:r>
                        <a:rPr sz="850">
                          <a:solidFill>
                            <a:schemeClr val="tx1">
                              <a:lumMod val="90000"/>
                              <a:lumOff val="10000"/>
                            </a:schemeClr>
                          </a:solidFill>
                        </a:rPr>
                        <a:t>×237</a:t>
                      </a:r>
                    </a:p>
                  </a:txBody>
                  <a:tcPr marL="45720" marR="45720" marT="15000" marB="15000" anchor="ctr">
                    <a:solidFill>
                      <a:schemeClr val="bg1"/>
                    </a:solidFill>
                  </a:tcPr>
                </a:tc>
                <a:extLst>
                  <a:ext uri="{0D108BD9-81ED-4DB2-BD59-A6C34878D82A}">
                    <a16:rowId xmlns:a16="http://schemas.microsoft.com/office/drawing/2014/main" val="10001"/>
                  </a:ext>
                </a:extLst>
              </a:tr>
              <a:tr h="362500">
                <a:tc>
                  <a:txBody>
                    <a:bodyPr/>
                    <a:lstStyle/>
                    <a:p>
                      <a:r>
                        <a:rPr sz="850">
                          <a:solidFill>
                            <a:schemeClr val="tx1">
                              <a:lumMod val="90000"/>
                              <a:lumOff val="10000"/>
                            </a:schemeClr>
                          </a:solidFill>
                        </a:rPr>
                        <a:t>Turbine</a:t>
                      </a:r>
                    </a:p>
                  </a:txBody>
                  <a:tcPr marL="45720" marR="45720" marT="15000" marB="15000" anchor="ctr">
                    <a:solidFill>
                      <a:schemeClr val="accent4">
                        <a:lumMod val="8000"/>
                        <a:lumOff val="92000"/>
                      </a:schemeClr>
                    </a:solidFill>
                  </a:tcPr>
                </a:tc>
                <a:tc>
                  <a:txBody>
                    <a:bodyPr/>
                    <a:lstStyle/>
                    <a:p>
                      <a:r>
                        <a:rPr sz="850">
                          <a:solidFill>
                            <a:schemeClr val="tx1">
                              <a:lumMod val="90000"/>
                              <a:lumOff val="10000"/>
                            </a:schemeClr>
                          </a:solidFill>
                        </a:rPr>
                        <a:t>β=2.0, η≈169,300 h</a:t>
                      </a:r>
                    </a:p>
                  </a:txBody>
                  <a:tcPr marL="45720" marR="45720" marT="15000" marB="15000" anchor="ctr">
                    <a:solidFill>
                      <a:schemeClr val="accent4">
                        <a:lumMod val="8000"/>
                        <a:lumOff val="92000"/>
                      </a:schemeClr>
                    </a:solidFill>
                  </a:tcPr>
                </a:tc>
                <a:tc>
                  <a:txBody>
                    <a:bodyPr/>
                    <a:lstStyle/>
                    <a:p>
                      <a:r>
                        <a:rPr sz="850">
                          <a:solidFill>
                            <a:schemeClr val="tx1">
                              <a:lumMod val="90000"/>
                              <a:lumOff val="10000"/>
                            </a:schemeClr>
                          </a:solidFill>
                        </a:rPr>
                        <a:t>1.63×10⁻⁴ (0.0163%)</a:t>
                      </a:r>
                    </a:p>
                  </a:txBody>
                  <a:tcPr marL="45720" marR="45720" marT="15000" marB="15000" anchor="ctr">
                    <a:solidFill>
                      <a:schemeClr val="accent4">
                        <a:lumMod val="8000"/>
                        <a:lumOff val="92000"/>
                      </a:schemeClr>
                    </a:solidFill>
                  </a:tcPr>
                </a:tc>
                <a:tc>
                  <a:txBody>
                    <a:bodyPr/>
                    <a:lstStyle/>
                    <a:p>
                      <a:r>
                        <a:rPr sz="850">
                          <a:solidFill>
                            <a:schemeClr val="tx1">
                              <a:lumMod val="90000"/>
                              <a:lumOff val="10000"/>
                            </a:schemeClr>
                          </a:solidFill>
                        </a:rPr>
                        <a:t>6.74×10⁻³ (0.674%)</a:t>
                      </a:r>
                    </a:p>
                  </a:txBody>
                  <a:tcPr marL="45720" marR="45720" marT="15000" marB="15000" anchor="ctr">
                    <a:solidFill>
                      <a:schemeClr val="accent4">
                        <a:lumMod val="8000"/>
                        <a:lumOff val="92000"/>
                      </a:schemeClr>
                    </a:solidFill>
                  </a:tcPr>
                </a:tc>
                <a:tc>
                  <a:txBody>
                    <a:bodyPr/>
                    <a:lstStyle/>
                    <a:p>
                      <a:r>
                        <a:rPr sz="850">
                          <a:solidFill>
                            <a:schemeClr val="tx1">
                              <a:lumMod val="90000"/>
                              <a:lumOff val="10000"/>
                            </a:schemeClr>
                          </a:solidFill>
                        </a:rPr>
                        <a:t>×41</a:t>
                      </a:r>
                    </a:p>
                  </a:txBody>
                  <a:tcPr marL="45720" marR="45720" marT="15000" marB="15000" anchor="ctr">
                    <a:solidFill>
                      <a:schemeClr val="accent4">
                        <a:lumMod val="8000"/>
                        <a:lumOff val="92000"/>
                      </a:schemeClr>
                    </a:solidFill>
                  </a:tcPr>
                </a:tc>
                <a:extLst>
                  <a:ext uri="{0D108BD9-81ED-4DB2-BD59-A6C34878D82A}">
                    <a16:rowId xmlns:a16="http://schemas.microsoft.com/office/drawing/2014/main" val="10002"/>
                  </a:ext>
                </a:extLst>
              </a:tr>
              <a:tr h="362500">
                <a:tc>
                  <a:txBody>
                    <a:bodyPr/>
                    <a:lstStyle/>
                    <a:p>
                      <a:r>
                        <a:rPr sz="850">
                          <a:solidFill>
                            <a:schemeClr val="tx1">
                              <a:lumMod val="90000"/>
                              <a:lumOff val="10000"/>
                            </a:schemeClr>
                          </a:solidFill>
                        </a:rPr>
                        <a:t>Cold compressor</a:t>
                      </a:r>
                    </a:p>
                  </a:txBody>
                  <a:tcPr marL="45720" marR="45720" marT="15000" marB="15000" anchor="ctr">
                    <a:solidFill>
                      <a:schemeClr val="bg1"/>
                    </a:solidFill>
                  </a:tcPr>
                </a:tc>
                <a:tc>
                  <a:txBody>
                    <a:bodyPr/>
                    <a:lstStyle/>
                    <a:p>
                      <a:r>
                        <a:rPr sz="850">
                          <a:solidFill>
                            <a:schemeClr val="tx1">
                              <a:lumMod val="90000"/>
                              <a:lumOff val="10000"/>
                            </a:schemeClr>
                          </a:solidFill>
                        </a:rPr>
                        <a:t>β=2.5, η≈114,400 h</a:t>
                      </a:r>
                    </a:p>
                  </a:txBody>
                  <a:tcPr marL="45720" marR="45720" marT="15000" marB="15000" anchor="ctr">
                    <a:solidFill>
                      <a:schemeClr val="bg1"/>
                    </a:solidFill>
                  </a:tcPr>
                </a:tc>
                <a:tc>
                  <a:txBody>
                    <a:bodyPr/>
                    <a:lstStyle/>
                    <a:p>
                      <a:r>
                        <a:rPr sz="850">
                          <a:solidFill>
                            <a:schemeClr val="tx1">
                              <a:lumMod val="90000"/>
                              <a:lumOff val="10000"/>
                            </a:schemeClr>
                          </a:solidFill>
                        </a:rPr>
                        <a:t>4.90×10⁻⁵ (0.0049%)</a:t>
                      </a:r>
                    </a:p>
                  </a:txBody>
                  <a:tcPr marL="45720" marR="45720" marT="15000" marB="15000" anchor="ctr">
                    <a:solidFill>
                      <a:schemeClr val="bg1"/>
                    </a:solidFill>
                  </a:tcPr>
                </a:tc>
                <a:tc>
                  <a:txBody>
                    <a:bodyPr/>
                    <a:lstStyle/>
                    <a:p>
                      <a:r>
                        <a:rPr sz="850">
                          <a:solidFill>
                            <a:schemeClr val="tx1">
                              <a:lumMod val="90000"/>
                              <a:lumOff val="10000"/>
                            </a:schemeClr>
                          </a:solidFill>
                        </a:rPr>
                        <a:t>1.15×10⁻² (1.153%)</a:t>
                      </a:r>
                    </a:p>
                  </a:txBody>
                  <a:tcPr marL="45720" marR="45720" marT="15000" marB="15000" anchor="ctr">
                    <a:solidFill>
                      <a:schemeClr val="bg1"/>
                    </a:solidFill>
                  </a:tcPr>
                </a:tc>
                <a:tc>
                  <a:txBody>
                    <a:bodyPr/>
                    <a:lstStyle/>
                    <a:p>
                      <a:r>
                        <a:rPr sz="850">
                          <a:solidFill>
                            <a:schemeClr val="tx1">
                              <a:lumMod val="90000"/>
                              <a:lumOff val="10000"/>
                            </a:schemeClr>
                          </a:solidFill>
                        </a:rPr>
                        <a:t>×235</a:t>
                      </a:r>
                    </a:p>
                  </a:txBody>
                  <a:tcPr marL="45720" marR="45720" marT="15000" marB="15000" anchor="ctr">
                    <a:solidFill>
                      <a:schemeClr val="bg1"/>
                    </a:solidFill>
                  </a:tcPr>
                </a:tc>
                <a:extLst>
                  <a:ext uri="{0D108BD9-81ED-4DB2-BD59-A6C34878D82A}">
                    <a16:rowId xmlns:a16="http://schemas.microsoft.com/office/drawing/2014/main" val="10003"/>
                  </a:ext>
                </a:extLst>
              </a:tr>
            </a:tbl>
          </a:graphicData>
        </a:graphic>
      </p:graphicFrame>
      <p:pic>
        <p:nvPicPr>
          <p:cNvPr id="8" name="Picture 7" descr="appendixI_weibull_increase.png"/>
          <p:cNvPicPr>
            <a:picLocks noChangeAspect="1"/>
          </p:cNvPicPr>
          <p:nvPr/>
        </p:nvPicPr>
        <p:blipFill>
          <a:blip r:embed="rId3"/>
          <a:stretch>
            <a:fillRect/>
          </a:stretch>
        </p:blipFill>
        <p:spPr>
          <a:xfrm>
            <a:off x="7113427" y="3850000"/>
            <a:ext cx="3623145" cy="2250000"/>
          </a:xfrm>
          <a:prstGeom prst="rect">
            <a:avLst/>
          </a:prstGeom>
        </p:spPr>
      </p:pic>
      <p:sp>
        <p:nvSpPr>
          <p:cNvPr id="10" name="Slide Number Placeholder 9">
            <a:extLst>
              <a:ext uri="{FF2B5EF4-FFF2-40B4-BE49-F238E27FC236}">
                <a16:creationId xmlns:a16="http://schemas.microsoft.com/office/drawing/2014/main" id="{BF9495A2-F217-0DDC-F53C-98BD4AA8D605}"/>
              </a:ext>
            </a:extLst>
          </p:cNvPr>
          <p:cNvSpPr>
            <a:spLocks noGrp="1"/>
          </p:cNvSpPr>
          <p:nvPr>
            <p:ph type="sldNum" sz="quarter" idx="4"/>
          </p:nvPr>
        </p:nvSpPr>
        <p:spPr/>
        <p:txBody>
          <a:bodyPr/>
          <a:lstStyle/>
          <a:p>
            <a:fld id="{A814E660-BF25-4843-B2A0-93C6E2B6253B}" type="slidenum">
              <a:rPr lang="en-BE" smtClean="0"/>
              <a:pPr/>
              <a:t>28</a:t>
            </a:fld>
            <a:endParaRPr lang="en-BE" dirty="0"/>
          </a:p>
        </p:txBody>
      </p:sp>
      <p:sp>
        <p:nvSpPr>
          <p:cNvPr id="11" name="Rounded Rectangle 10"/>
          <p:cNvSpPr/>
          <p:nvPr/>
        </p:nvSpPr>
        <p:spPr>
          <a:xfrm>
            <a:off x="9546535" y="150000"/>
            <a:ext cx="2000000" cy="460000"/>
          </a:xfrm>
          <a:prstGeom prst="roundRect">
            <a:avLst>
              <a:gd name="adj" fmla="val 50000"/>
            </a:avLst>
          </a:prstGeom>
          <a:solidFill>
            <a:srgbClr val="03469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350" b="1" spc="80">
                <a:solidFill>
                  <a:srgbClr val="FFFFFF"/>
                </a:solidFill>
                <a:latin typeface="Aptos"/>
              </a:rPr>
              <a:t>ANALYZE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67B07-E1BC-431C-824D-E3F3C07CAD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C51721-74A9-C04B-8E2A-9C1585AE3FAB}"/>
              </a:ext>
            </a:extLst>
          </p:cNvPr>
          <p:cNvSpPr>
            <a:spLocks noGrp="1"/>
          </p:cNvSpPr>
          <p:nvPr>
            <p:ph type="sldNum" sz="quarter" idx="12"/>
          </p:nvPr>
        </p:nvSpPr>
        <p:spPr/>
        <p:txBody>
          <a:bodyPr/>
          <a:lstStyle/>
          <a:p>
            <a:fld id="{339267EE-5941-4723-AC0A-CBD0C7B97EE9}" type="slidenum">
              <a:rPr lang="en-GB" smtClean="0"/>
              <a:t>29</a:t>
            </a:fld>
            <a:endParaRPr lang="en-GB"/>
          </a:p>
        </p:txBody>
      </p:sp>
      <p:sp>
        <p:nvSpPr>
          <p:cNvPr id="3" name="Rectangle 2">
            <a:extLst>
              <a:ext uri="{FF2B5EF4-FFF2-40B4-BE49-F238E27FC236}">
                <a16:creationId xmlns:a16="http://schemas.microsoft.com/office/drawing/2014/main" id="{CE2A87FC-9AD4-65ED-3C24-608AEE7A4BEC}"/>
              </a:ext>
            </a:extLst>
          </p:cNvPr>
          <p:cNvSpPr/>
          <p:nvPr/>
        </p:nvSpPr>
        <p:spPr>
          <a:xfrm>
            <a:off x="1524000" y="0"/>
            <a:ext cx="9144000" cy="914400"/>
          </a:xfrm>
          <a:prstGeom prst="rect">
            <a:avLst/>
          </a:prstGeom>
          <a:solidFill>
            <a:schemeClr val="accent1"/>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a:rPr>
              <a:t>Why MTBF Matters</a:t>
            </a:r>
            <a:endParaRPr sz="2800" dirty="0"/>
          </a:p>
        </p:txBody>
      </p:sp>
      <p:pic>
        <p:nvPicPr>
          <p:cNvPr id="9" name="Picture 8">
            <a:extLst>
              <a:ext uri="{FF2B5EF4-FFF2-40B4-BE49-F238E27FC236}">
                <a16:creationId xmlns:a16="http://schemas.microsoft.com/office/drawing/2014/main" id="{6E60CC16-91C9-42CD-7AB1-47F007DD2349}"/>
              </a:ext>
            </a:extLst>
          </p:cNvPr>
          <p:cNvPicPr>
            <a:picLocks noChangeAspect="1"/>
          </p:cNvPicPr>
          <p:nvPr/>
        </p:nvPicPr>
        <p:blipFill>
          <a:blip r:embed="rId2"/>
          <a:stretch>
            <a:fillRect/>
          </a:stretch>
        </p:blipFill>
        <p:spPr>
          <a:xfrm>
            <a:off x="6551226" y="2592439"/>
            <a:ext cx="4630821" cy="2687095"/>
          </a:xfrm>
          <a:prstGeom prst="rect">
            <a:avLst/>
          </a:prstGeom>
        </p:spPr>
      </p:pic>
      <p:pic>
        <p:nvPicPr>
          <p:cNvPr id="11" name="Picture 10">
            <a:extLst>
              <a:ext uri="{FF2B5EF4-FFF2-40B4-BE49-F238E27FC236}">
                <a16:creationId xmlns:a16="http://schemas.microsoft.com/office/drawing/2014/main" id="{4FD5FF51-93D3-2EC1-4B3E-E239DDEAD565}"/>
              </a:ext>
            </a:extLst>
          </p:cNvPr>
          <p:cNvPicPr>
            <a:picLocks noChangeAspect="1"/>
          </p:cNvPicPr>
          <p:nvPr/>
        </p:nvPicPr>
        <p:blipFill>
          <a:blip r:embed="rId3"/>
          <a:stretch>
            <a:fillRect/>
          </a:stretch>
        </p:blipFill>
        <p:spPr>
          <a:xfrm>
            <a:off x="1009953" y="2592439"/>
            <a:ext cx="5117829" cy="3359305"/>
          </a:xfrm>
          <a:prstGeom prst="rect">
            <a:avLst/>
          </a:prstGeom>
        </p:spPr>
      </p:pic>
      <p:sp>
        <p:nvSpPr>
          <p:cNvPr id="14" name="Text Placeholder 2">
            <a:extLst>
              <a:ext uri="{FF2B5EF4-FFF2-40B4-BE49-F238E27FC236}">
                <a16:creationId xmlns:a16="http://schemas.microsoft.com/office/drawing/2014/main" id="{7CEB0E3C-3BA5-6FC1-CD6A-AD1714ADADF1}"/>
              </a:ext>
            </a:extLst>
          </p:cNvPr>
          <p:cNvSpPr txBox="1">
            <a:spLocks/>
          </p:cNvSpPr>
          <p:nvPr/>
        </p:nvSpPr>
        <p:spPr>
          <a:xfrm>
            <a:off x="645465" y="1233806"/>
            <a:ext cx="8939204" cy="725105"/>
          </a:xfrm>
          <a:prstGeom prst="rect">
            <a:avLst/>
          </a:prstGeom>
        </p:spPr>
        <p:txBody>
          <a:bodyPr wrap="square">
            <a:noAutofit/>
          </a:bodyPr>
          <a:lstStyle>
            <a:lvl1pPr marL="355600" indent="-266700" algn="l" defTabSz="914400" rtl="0" eaLnBrk="1" latinLnBrk="0" hangingPunct="1">
              <a:lnSpc>
                <a:spcPct val="100000"/>
              </a:lnSpc>
              <a:spcBef>
                <a:spcPts val="1000"/>
              </a:spcBef>
              <a:buClr>
                <a:schemeClr val="accent2"/>
              </a:buClr>
              <a:buFont typeface="Arial" panose="020B0604020202020204" pitchFamily="34" charset="0"/>
              <a:buChar char="•"/>
              <a:defRPr sz="2400" kern="1200">
                <a:solidFill>
                  <a:schemeClr val="tx1"/>
                </a:solidFill>
                <a:latin typeface="+mn-lt"/>
                <a:ea typeface="+mn-ea"/>
                <a:cs typeface="+mn-cs"/>
              </a:defRPr>
            </a:lvl1pPr>
            <a:lvl2pPr marL="622300" indent="-266700" algn="l" defTabSz="914400" rtl="0" eaLnBrk="1" latinLnBrk="0" hangingPunct="1">
              <a:lnSpc>
                <a:spcPct val="10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990600" indent="-266700" algn="l" defTabSz="914400" rtl="0" eaLnBrk="1" latinLnBrk="0" hangingPunct="1">
              <a:lnSpc>
                <a:spcPct val="100000"/>
              </a:lnSpc>
              <a:spcBef>
                <a:spcPts val="500"/>
              </a:spcBef>
              <a:buClr>
                <a:schemeClr val="accent4"/>
              </a:buClr>
              <a:buFont typeface="Arial" panose="020B0604020202020204" pitchFamily="34" charset="0"/>
              <a:buChar char="•"/>
              <a:defRPr sz="2000" kern="1200">
                <a:solidFill>
                  <a:schemeClr val="tx1"/>
                </a:solidFill>
                <a:latin typeface="+mn-lt"/>
                <a:ea typeface="+mn-ea"/>
                <a:cs typeface="+mn-cs"/>
              </a:defRPr>
            </a:lvl3pPr>
            <a:lvl4pPr marL="1257300" indent="-266700" algn="l" defTabSz="914400" rtl="0" eaLnBrk="1" latinLnBrk="0" hangingPunct="1">
              <a:lnSpc>
                <a:spcPct val="100000"/>
              </a:lnSpc>
              <a:spcBef>
                <a:spcPts val="5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1612900" indent="-266700" algn="l" defTabSz="914400" rtl="0" eaLnBrk="1" latinLnBrk="0" hangingPunct="1">
              <a:lnSpc>
                <a:spcPct val="100000"/>
              </a:lnSpc>
              <a:spcBef>
                <a:spcPts val="500"/>
              </a:spcBef>
              <a:buClr>
                <a:schemeClr val="bg1">
                  <a:lumMod val="50000"/>
                </a:schemeClr>
              </a:buClr>
              <a:buFont typeface="Arial" panose="020B0604020202020204" pitchFamily="34" charset="0"/>
              <a:buChar char="•"/>
              <a:defRPr lang="en-US" sz="18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8900" indent="0">
              <a:buNone/>
            </a:pPr>
            <a:r>
              <a:rPr lang="en-US" sz="1600" b="0" dirty="0">
                <a:solidFill>
                  <a:schemeClr val="accent2"/>
                </a:solidFill>
                <a:latin typeface="Aptos"/>
              </a:rPr>
              <a:t>Every number in this deck — the 5-year Class A target, the N−1 margins, the 94–95% campaign ceiling — reduces to one shared quantity: Mean Time Between Failures.</a:t>
            </a:r>
          </a:p>
          <a:p>
            <a:pPr marL="88900" indent="0">
              <a:buNone/>
            </a:pPr>
            <a:r>
              <a:rPr sz="1600" dirty="0">
                <a:solidFill>
                  <a:schemeClr val="accent2"/>
                </a:solidFill>
                <a:latin typeface="Aptos"/>
              </a:rPr>
              <a:t>The BCR013 derivation opposite shows that budget in its rawest form: the accelerator's own 250 h MTBF caps how much unreliability QCELL/QPS/NF may add.</a:t>
            </a:r>
          </a:p>
        </p:txBody>
      </p:sp>
      <p:sp>
        <p:nvSpPr>
          <p:cNvPr id="17" name="TextBox 16">
            <a:extLst>
              <a:ext uri="{FF2B5EF4-FFF2-40B4-BE49-F238E27FC236}">
                <a16:creationId xmlns:a16="http://schemas.microsoft.com/office/drawing/2014/main" id="{944FA8FA-63DF-866B-4B82-D1484C7D706F}"/>
              </a:ext>
            </a:extLst>
          </p:cNvPr>
          <p:cNvSpPr txBox="1"/>
          <p:nvPr/>
        </p:nvSpPr>
        <p:spPr>
          <a:xfrm>
            <a:off x="3094368" y="6089588"/>
            <a:ext cx="6913715" cy="461665"/>
          </a:xfrm>
          <a:prstGeom prst="rect">
            <a:avLst/>
          </a:prstGeom>
          <a:solidFill>
            <a:schemeClr val="accent1">
              <a:lumMod val="10000"/>
              <a:lumOff val="90000"/>
            </a:schemeClr>
          </a:solidFill>
          <a:ln>
            <a:noFill/>
          </a:ln>
          <a:effectLst/>
        </p:spPr>
        <p:txBody>
          <a:bodyPr wrap="square">
            <a:spAutoFit/>
          </a:bodyPr>
          <a:lstStyle/>
          <a:p>
            <a:pPr>
              <a:lnSpc>
                <a:spcPct val="145000"/>
              </a:lnSpc>
              <a:spcBef>
                <a:spcPts val="0"/>
              </a:spcBef>
              <a:spcAft>
                <a:spcPts val="800"/>
              </a:spcAft>
            </a:pPr>
            <a:r>
              <a:rPr lang="en-US" sz="950" b="1" dirty="0">
                <a:solidFill>
                  <a:schemeClr val="accent1"/>
                </a:solidFill>
                <a:latin typeface="Aptos"/>
              </a:rPr>
              <a:t>KEY TAKEAWAY  </a:t>
            </a:r>
            <a:r>
              <a:rPr sz="950" b="0" dirty="0">
                <a:solidFill>
                  <a:schemeClr val="accent1"/>
                </a:solidFill>
                <a:latin typeface="Aptos"/>
              </a:rPr>
              <a:t>MTBF is a shared 0.35-events/year budget, not a component property — every claim later in this deck draws on the same account.</a:t>
            </a:r>
          </a:p>
        </p:txBody>
      </p:sp>
      <p:sp>
        <p:nvSpPr>
          <p:cNvPr id="18" name="Rounded Rectangle 17"/>
          <p:cNvSpPr/>
          <p:nvPr/>
        </p:nvSpPr>
        <p:spPr>
          <a:xfrm>
            <a:off x="10728000" y="227200"/>
            <a:ext cx="1404000" cy="460000"/>
          </a:xfrm>
          <a:prstGeom prst="roundRect">
            <a:avLst>
              <a:gd name="adj" fmla="val 50000"/>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IMPROVE</a:t>
            </a:r>
          </a:p>
        </p:txBody>
      </p:sp>
    </p:spTree>
    <p:extLst>
      <p:ext uri="{BB962C8B-B14F-4D97-AF65-F5344CB8AC3E}">
        <p14:creationId xmlns:p14="http://schemas.microsoft.com/office/powerpoint/2010/main" val="16746777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02D359-2B2D-50C2-A92C-5DBD94269C93}"/>
              </a:ext>
            </a:extLst>
          </p:cNvPr>
          <p:cNvSpPr>
            <a:spLocks noGrp="1"/>
          </p:cNvSpPr>
          <p:nvPr>
            <p:ph type="sldNum" sz="quarter" idx="12"/>
          </p:nvPr>
        </p:nvSpPr>
        <p:spPr/>
        <p:txBody>
          <a:bodyPr/>
          <a:lstStyle/>
          <a:p>
            <a:fld id="{339267EE-5941-4723-AC0A-CBD0C7B97EE9}" type="slidenum">
              <a:rPr lang="en-GB" smtClean="0"/>
              <a:t>30</a:t>
            </a:fld>
            <a:endParaRPr lang="en-GB"/>
          </a:p>
        </p:txBody>
      </p:sp>
      <p:sp>
        <p:nvSpPr>
          <p:cNvPr id="3" name="Rectangle 2">
            <a:extLst>
              <a:ext uri="{FF2B5EF4-FFF2-40B4-BE49-F238E27FC236}">
                <a16:creationId xmlns:a16="http://schemas.microsoft.com/office/drawing/2014/main" id="{F89EE6DF-A8FE-8601-EF7F-455ACEB66EB1}"/>
              </a:ext>
            </a:extLst>
          </p:cNvPr>
          <p:cNvSpPr/>
          <p:nvPr/>
        </p:nvSpPr>
        <p:spPr>
          <a:xfrm>
            <a:off x="1524000" y="0"/>
            <a:ext cx="9144000" cy="914400"/>
          </a:xfrm>
          <a:prstGeom prst="rect">
            <a:avLst/>
          </a:prstGeom>
          <a:solidFill>
            <a:schemeClr val="accent1"/>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a:rPr>
              <a:t>The Hidden Assumption</a:t>
            </a:r>
            <a:endParaRPr sz="2800" dirty="0"/>
          </a:p>
        </p:txBody>
      </p:sp>
      <p:pic>
        <p:nvPicPr>
          <p:cNvPr id="5" name="Picture 4">
            <a:extLst>
              <a:ext uri="{FF2B5EF4-FFF2-40B4-BE49-F238E27FC236}">
                <a16:creationId xmlns:a16="http://schemas.microsoft.com/office/drawing/2014/main" id="{0236AD7A-D9E7-27C4-DEBA-CF2F69717B2D}"/>
              </a:ext>
            </a:extLst>
          </p:cNvPr>
          <p:cNvPicPr>
            <a:picLocks noChangeAspect="1"/>
          </p:cNvPicPr>
          <p:nvPr/>
        </p:nvPicPr>
        <p:blipFill>
          <a:blip r:embed="rId2"/>
          <a:stretch>
            <a:fillRect/>
          </a:stretch>
        </p:blipFill>
        <p:spPr>
          <a:xfrm>
            <a:off x="6450000" y="1944616"/>
            <a:ext cx="5300000" cy="3560766"/>
          </a:xfrm>
          <a:prstGeom prst="rect">
            <a:avLst/>
          </a:prstGeom>
        </p:spPr>
      </p:pic>
      <p:pic>
        <p:nvPicPr>
          <p:cNvPr id="7" name="Picture 6">
            <a:extLst>
              <a:ext uri="{FF2B5EF4-FFF2-40B4-BE49-F238E27FC236}">
                <a16:creationId xmlns:a16="http://schemas.microsoft.com/office/drawing/2014/main" id="{E4FAB5F1-EFF7-7FCE-967C-3033A1209442}"/>
              </a:ext>
            </a:extLst>
          </p:cNvPr>
          <p:cNvPicPr>
            <a:picLocks noChangeAspect="1"/>
          </p:cNvPicPr>
          <p:nvPr/>
        </p:nvPicPr>
        <p:blipFill>
          <a:blip r:embed="rId3"/>
          <a:stretch>
            <a:fillRect/>
          </a:stretch>
        </p:blipFill>
        <p:spPr>
          <a:xfrm>
            <a:off x="9479030" y="4261034"/>
            <a:ext cx="2217375" cy="867105"/>
          </a:xfrm>
          <a:prstGeom prst="rect">
            <a:avLst/>
          </a:prstGeom>
          <a:ln>
            <a:solidFill>
              <a:srgbClr val="FF0000"/>
            </a:solidFill>
          </a:ln>
        </p:spPr>
      </p:pic>
      <p:sp>
        <p:nvSpPr>
          <p:cNvPr id="8" name="TextBox 7"/>
          <p:cNvSpPr txBox="1"/>
          <p:nvPr/>
        </p:nvSpPr>
        <p:spPr>
          <a:xfrm>
            <a:off x="550000" y="1622655"/>
            <a:ext cx="5650000" cy="2850139"/>
          </a:xfrm>
          <a:prstGeom prst="rect">
            <a:avLst/>
          </a:prstGeom>
          <a:noFill/>
        </p:spPr>
        <p:txBody>
          <a:bodyPr wrap="square">
            <a:spAutoFit/>
          </a:bodyPr>
          <a:lstStyle/>
          <a:p>
            <a:pPr algn="l">
              <a:lnSpc>
                <a:spcPct val="145000"/>
              </a:lnSpc>
              <a:spcBef>
                <a:spcPts val="0"/>
              </a:spcBef>
              <a:spcAft>
                <a:spcPts val="800"/>
              </a:spcAft>
            </a:pPr>
            <a:r>
              <a:rPr sz="1100" b="0" dirty="0">
                <a:solidFill>
                  <a:schemeClr val="tx1">
                    <a:lumMod val="85000"/>
                    <a:lumOff val="15000"/>
                  </a:schemeClr>
                </a:solidFill>
                <a:latin typeface="Aptos" panose="020B0004020202020204" pitchFamily="34" charset="0"/>
              </a:rPr>
              <a:t>MTBF only means what we want it to mean if failures arrive at random, at a constant rate — the Poisson/exponential assumption used throughout the ANALYZE </a:t>
            </a:r>
            <a:r>
              <a:rPr sz="1100" b="0" dirty="0">
                <a:solidFill>
                  <a:schemeClr val="tx2"/>
                </a:solidFill>
                <a:latin typeface="Aptos" panose="020B0004020202020204" pitchFamily="34" charset="0"/>
              </a:rPr>
              <a:t>section (</a:t>
            </a:r>
            <a:r>
              <a:rPr sz="1100" b="0" dirty="0">
                <a:solidFill>
                  <a:schemeClr val="accent2"/>
                </a:solidFill>
                <a:latin typeface="Aptos" panose="020B0004020202020204" pitchFamily="34" charset="0"/>
              </a:rPr>
              <a:t>Slides 22–28</a:t>
            </a:r>
            <a:r>
              <a:rPr sz="1100" b="0" dirty="0">
                <a:latin typeface="Aptos" panose="020B0004020202020204" pitchFamily="34" charset="0"/>
              </a:rPr>
              <a:t>). </a:t>
            </a:r>
            <a:r>
              <a:rPr sz="1100" b="0" dirty="0">
                <a:solidFill>
                  <a:schemeClr val="tx1">
                    <a:lumMod val="85000"/>
                    <a:lumOff val="15000"/>
                  </a:schemeClr>
                </a:solidFill>
                <a:latin typeface="Aptos" panose="020B0004020202020204" pitchFamily="34" charset="0"/>
              </a:rPr>
              <a:t>Under that assumption, a component with MTBF = 5 years is exactly as likely to fail in month one as in month fifty.</a:t>
            </a:r>
          </a:p>
          <a:p>
            <a:pPr lvl="1">
              <a:lnSpc>
                <a:spcPct val="145000"/>
              </a:lnSpc>
              <a:spcBef>
                <a:spcPts val="0"/>
              </a:spcBef>
              <a:spcAft>
                <a:spcPts val="800"/>
              </a:spcAft>
            </a:pPr>
            <a:r>
              <a:rPr sz="1100" b="0" dirty="0">
                <a:solidFill>
                  <a:schemeClr val="tx1">
                    <a:lumMod val="85000"/>
                    <a:lumOff val="15000"/>
                  </a:schemeClr>
                </a:solidFill>
                <a:latin typeface="Aptos" panose="020B0004020202020204" pitchFamily="34" charset="0"/>
              </a:rPr>
              <a:t>That is a convenient mathematical fiction, not a description of real machinery. It holds well for random, external trips — it says nothing about wear. The chart opposite is the same Poisson relationship, one more time, as a reminder that everything to its left was built on a flat hazard rate.</a:t>
            </a:r>
          </a:p>
        </p:txBody>
      </p:sp>
      <p:sp>
        <p:nvSpPr>
          <p:cNvPr id="9" name="Rounded Rectangle 8"/>
          <p:cNvSpPr/>
          <p:nvPr/>
        </p:nvSpPr>
        <p:spPr>
          <a:xfrm>
            <a:off x="550000" y="4700000"/>
            <a:ext cx="5650000" cy="150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600" b="1" dirty="0">
                <a:solidFill>
                  <a:schemeClr val="accent1"/>
                </a:solidFill>
                <a:latin typeface="Aptos" panose="020B0004020202020204" pitchFamily="34" charset="0"/>
              </a:rPr>
              <a:t>KEY TAKEAWAY  </a:t>
            </a:r>
            <a:r>
              <a:rPr sz="1600" b="0" dirty="0">
                <a:solidFill>
                  <a:schemeClr val="accent1"/>
                </a:solidFill>
                <a:latin typeface="Aptos" panose="020B0004020202020204" pitchFamily="34" charset="0"/>
              </a:rPr>
              <a:t>A single MTBF number silently assumes “no aging.” The next slides show why that assumption has an expiry date.</a:t>
            </a:r>
          </a:p>
        </p:txBody>
      </p:sp>
      <p:sp>
        <p:nvSpPr>
          <p:cNvPr id="10" name="Rounded Rectangle 9"/>
          <p:cNvSpPr/>
          <p:nvPr/>
        </p:nvSpPr>
        <p:spPr>
          <a:xfrm>
            <a:off x="10728000" y="227200"/>
            <a:ext cx="1404000" cy="460000"/>
          </a:xfrm>
          <a:prstGeom prst="roundRect">
            <a:avLst>
              <a:gd name="adj" fmla="val 50000"/>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IMPROVE</a:t>
            </a:r>
          </a:p>
        </p:txBody>
      </p:sp>
    </p:spTree>
    <p:extLst>
      <p:ext uri="{BB962C8B-B14F-4D97-AF65-F5344CB8AC3E}">
        <p14:creationId xmlns:p14="http://schemas.microsoft.com/office/powerpoint/2010/main" val="3645026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E330E-AC15-38C1-E12C-26ACB4D41EF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98A409-3098-5995-4424-CFB17F59BDA0}"/>
              </a:ext>
            </a:extLst>
          </p:cNvPr>
          <p:cNvSpPr>
            <a:spLocks noGrp="1"/>
          </p:cNvSpPr>
          <p:nvPr>
            <p:ph type="sldNum" sz="quarter" idx="12"/>
          </p:nvPr>
        </p:nvSpPr>
        <p:spPr/>
        <p:txBody>
          <a:bodyPr/>
          <a:lstStyle/>
          <a:p>
            <a:fld id="{339267EE-5941-4723-AC0A-CBD0C7B97EE9}" type="slidenum">
              <a:rPr lang="en-GB" smtClean="0"/>
              <a:t>31</a:t>
            </a:fld>
            <a:endParaRPr lang="en-GB"/>
          </a:p>
        </p:txBody>
      </p:sp>
      <p:sp>
        <p:nvSpPr>
          <p:cNvPr id="3" name="Rectangle 2">
            <a:extLst>
              <a:ext uri="{FF2B5EF4-FFF2-40B4-BE49-F238E27FC236}">
                <a16:creationId xmlns:a16="http://schemas.microsoft.com/office/drawing/2014/main" id="{C43DBFB2-F945-A082-9613-16F21678BAA3}"/>
              </a:ext>
            </a:extLst>
          </p:cNvPr>
          <p:cNvSpPr/>
          <p:nvPr/>
        </p:nvSpPr>
        <p:spPr>
          <a:xfrm>
            <a:off x="1524000" y="0"/>
            <a:ext cx="9144000" cy="914400"/>
          </a:xfrm>
          <a:prstGeom prst="rect">
            <a:avLst/>
          </a:prstGeom>
          <a:solidFill>
            <a:schemeClr val="accent1"/>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a:rPr>
              <a:t>When MTBF Lies — the Wear-Out Boundary</a:t>
            </a:r>
            <a:endParaRPr sz="2800" dirty="0"/>
          </a:p>
        </p:txBody>
      </p:sp>
      <p:pic>
        <p:nvPicPr>
          <p:cNvPr id="9" name="Picture 8">
            <a:extLst>
              <a:ext uri="{FF2B5EF4-FFF2-40B4-BE49-F238E27FC236}">
                <a16:creationId xmlns:a16="http://schemas.microsoft.com/office/drawing/2014/main" id="{5A9924AC-1D85-2298-C85B-CD69FAF10129}"/>
              </a:ext>
            </a:extLst>
          </p:cNvPr>
          <p:cNvPicPr>
            <a:picLocks noChangeAspect="1"/>
          </p:cNvPicPr>
          <p:nvPr/>
        </p:nvPicPr>
        <p:blipFill>
          <a:blip r:embed="rId2"/>
          <a:stretch>
            <a:fillRect/>
          </a:stretch>
        </p:blipFill>
        <p:spPr>
          <a:xfrm>
            <a:off x="424784" y="1652170"/>
            <a:ext cx="7354326" cy="2143424"/>
          </a:xfrm>
          <a:prstGeom prst="rect">
            <a:avLst/>
          </a:prstGeom>
        </p:spPr>
      </p:pic>
      <p:sp>
        <p:nvSpPr>
          <p:cNvPr id="10" name="Text Placeholder 2">
            <a:extLst>
              <a:ext uri="{FF2B5EF4-FFF2-40B4-BE49-F238E27FC236}">
                <a16:creationId xmlns:a16="http://schemas.microsoft.com/office/drawing/2014/main" id="{DE36200E-D2B9-D4D2-D354-CA2B008A1344}"/>
              </a:ext>
            </a:extLst>
          </p:cNvPr>
          <p:cNvSpPr txBox="1">
            <a:spLocks/>
          </p:cNvSpPr>
          <p:nvPr/>
        </p:nvSpPr>
        <p:spPr>
          <a:xfrm>
            <a:off x="579796" y="1100010"/>
            <a:ext cx="8939204" cy="725105"/>
          </a:xfrm>
          <a:prstGeom prst="rect">
            <a:avLst/>
          </a:prstGeom>
        </p:spPr>
        <p:txBody>
          <a:bodyPr>
            <a:normAutofit/>
          </a:bodyPr>
          <a:lstStyle>
            <a:lvl1pPr marL="355600" indent="-266700" algn="l" defTabSz="914400" rtl="0" eaLnBrk="1" latinLnBrk="0" hangingPunct="1">
              <a:lnSpc>
                <a:spcPct val="100000"/>
              </a:lnSpc>
              <a:spcBef>
                <a:spcPts val="1000"/>
              </a:spcBef>
              <a:buClr>
                <a:schemeClr val="accent2"/>
              </a:buClr>
              <a:buFont typeface="Arial" panose="020B0604020202020204" pitchFamily="34" charset="0"/>
              <a:buChar char="•"/>
              <a:defRPr sz="2400" kern="1200">
                <a:solidFill>
                  <a:schemeClr val="tx1"/>
                </a:solidFill>
                <a:latin typeface="+mn-lt"/>
                <a:ea typeface="+mn-ea"/>
                <a:cs typeface="+mn-cs"/>
              </a:defRPr>
            </a:lvl1pPr>
            <a:lvl2pPr marL="622300" indent="-266700" algn="l" defTabSz="914400" rtl="0" eaLnBrk="1" latinLnBrk="0" hangingPunct="1">
              <a:lnSpc>
                <a:spcPct val="10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990600" indent="-266700" algn="l" defTabSz="914400" rtl="0" eaLnBrk="1" latinLnBrk="0" hangingPunct="1">
              <a:lnSpc>
                <a:spcPct val="100000"/>
              </a:lnSpc>
              <a:spcBef>
                <a:spcPts val="500"/>
              </a:spcBef>
              <a:buClr>
                <a:schemeClr val="accent4"/>
              </a:buClr>
              <a:buFont typeface="Arial" panose="020B0604020202020204" pitchFamily="34" charset="0"/>
              <a:buChar char="•"/>
              <a:defRPr sz="2000" kern="1200">
                <a:solidFill>
                  <a:schemeClr val="tx1"/>
                </a:solidFill>
                <a:latin typeface="+mn-lt"/>
                <a:ea typeface="+mn-ea"/>
                <a:cs typeface="+mn-cs"/>
              </a:defRPr>
            </a:lvl3pPr>
            <a:lvl4pPr marL="1257300" indent="-266700" algn="l" defTabSz="914400" rtl="0" eaLnBrk="1" latinLnBrk="0" hangingPunct="1">
              <a:lnSpc>
                <a:spcPct val="100000"/>
              </a:lnSpc>
              <a:spcBef>
                <a:spcPts val="5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1612900" indent="-266700" algn="l" defTabSz="914400" rtl="0" eaLnBrk="1" latinLnBrk="0" hangingPunct="1">
              <a:lnSpc>
                <a:spcPct val="100000"/>
              </a:lnSpc>
              <a:spcBef>
                <a:spcPts val="500"/>
              </a:spcBef>
              <a:buClr>
                <a:schemeClr val="bg1">
                  <a:lumMod val="50000"/>
                </a:schemeClr>
              </a:buClr>
              <a:buFont typeface="Arial" panose="020B0604020202020204" pitchFamily="34" charset="0"/>
              <a:buChar char="•"/>
              <a:defRPr lang="en-US" sz="18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8900" indent="0">
              <a:buNone/>
            </a:pPr>
            <a:r>
              <a:rPr lang="en-US" sz="2000" dirty="0">
                <a:solidFill>
                  <a:schemeClr val="accent2"/>
                </a:solidFill>
                <a:latin typeface="Aptos"/>
              </a:rPr>
              <a:t>Assumptions</a:t>
            </a:r>
          </a:p>
        </p:txBody>
      </p:sp>
      <p:sp>
        <p:nvSpPr>
          <p:cNvPr id="11" name="TextBox 10"/>
          <p:cNvSpPr txBox="1"/>
          <p:nvPr/>
        </p:nvSpPr>
        <p:spPr>
          <a:xfrm>
            <a:off x="580000" y="4000000"/>
            <a:ext cx="11000000" cy="892810"/>
          </a:xfrm>
          <a:prstGeom prst="rect">
            <a:avLst/>
          </a:prstGeom>
          <a:noFill/>
        </p:spPr>
        <p:txBody>
          <a:bodyPr wrap="square">
            <a:spAutoFit/>
          </a:bodyPr>
          <a:lstStyle/>
          <a:p>
            <a:pPr algn="l">
              <a:lnSpc>
                <a:spcPct val="145000"/>
              </a:lnSpc>
              <a:spcBef>
                <a:spcPts val="0"/>
              </a:spcBef>
              <a:spcAft>
                <a:spcPts val="800"/>
              </a:spcAft>
            </a:pPr>
            <a:r>
              <a:rPr sz="950" b="0" dirty="0">
                <a:solidFill>
                  <a:schemeClr val="accent2"/>
                </a:solidFill>
                <a:highlight>
                  <a:srgbClr val="FF9999"/>
                </a:highlight>
                <a:latin typeface="Aptos"/>
              </a:rPr>
              <a:t>Appendix I's (Slide 28) </a:t>
            </a:r>
            <a:r>
              <a:rPr sz="950" b="0" dirty="0">
                <a:solidFill>
                  <a:schemeClr val="tx1">
                    <a:lumMod val="85000"/>
                    <a:lumOff val="15000"/>
                  </a:schemeClr>
                </a:solidFill>
                <a:latin typeface="Aptos"/>
              </a:rPr>
              <a:t>RCM/Weibull relation, h(t) = (β/η)·(t/η)^(β−1), makes the limit explicit: whenever β &gt; 1, hazard rate rises with age, and a single constant MTBF understates real short-term risk near end-of-life. Appendix I's worked example shows the effect is not small: for a β = 2.5 asset (oil screw / cold compressor), the chance of failing in the next 90 days after 5 years in service is 200–240× higher than the same 90 days right after a good-as-new overhaul.</a:t>
            </a:r>
          </a:p>
        </p:txBody>
      </p:sp>
      <p:sp>
        <p:nvSpPr>
          <p:cNvPr id="12" name="Rounded Rectangle 11"/>
          <p:cNvSpPr/>
          <p:nvPr/>
        </p:nvSpPr>
        <p:spPr>
          <a:xfrm>
            <a:off x="580000" y="5480000"/>
            <a:ext cx="11000000" cy="76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200" b="1">
                <a:solidFill>
                  <a:schemeClr val="accent1"/>
                </a:solidFill>
                <a:latin typeface="Aptos"/>
              </a:rPr>
              <a:t>KEY TAKEAWAY  </a:t>
            </a:r>
            <a:r>
              <a:rPr sz="1200" b="0">
                <a:solidFill>
                  <a:schemeClr val="accent1"/>
                </a:solidFill>
                <a:latin typeface="Aptos"/>
              </a:rPr>
              <a:t>MTBF governs the plant's average reliability budget. Weibull shape (β) governs whether any one unit is quietly approaching a cliff.</a:t>
            </a:r>
          </a:p>
        </p:txBody>
      </p:sp>
      <p:sp>
        <p:nvSpPr>
          <p:cNvPr id="13" name="Rounded Rectangle 12"/>
          <p:cNvSpPr/>
          <p:nvPr/>
        </p:nvSpPr>
        <p:spPr>
          <a:xfrm>
            <a:off x="10728000" y="227200"/>
            <a:ext cx="1404000" cy="460000"/>
          </a:xfrm>
          <a:prstGeom prst="roundRect">
            <a:avLst>
              <a:gd name="adj" fmla="val 50000"/>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IMPROVE</a:t>
            </a:r>
          </a:p>
        </p:txBody>
      </p:sp>
    </p:spTree>
    <p:extLst>
      <p:ext uri="{BB962C8B-B14F-4D97-AF65-F5344CB8AC3E}">
        <p14:creationId xmlns:p14="http://schemas.microsoft.com/office/powerpoint/2010/main" val="15555843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29C81-5570-2609-9A4C-8E1A4E4CE8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8729AD-02B3-8F7E-334E-B69923151676}"/>
              </a:ext>
            </a:extLst>
          </p:cNvPr>
          <p:cNvSpPr>
            <a:spLocks noGrp="1"/>
          </p:cNvSpPr>
          <p:nvPr>
            <p:ph type="sldNum" sz="quarter" idx="12"/>
          </p:nvPr>
        </p:nvSpPr>
        <p:spPr/>
        <p:txBody>
          <a:bodyPr/>
          <a:lstStyle/>
          <a:p>
            <a:fld id="{339267EE-5941-4723-AC0A-CBD0C7B97EE9}" type="slidenum">
              <a:rPr lang="en-GB" smtClean="0"/>
              <a:t>32</a:t>
            </a:fld>
            <a:endParaRPr lang="en-GB"/>
          </a:p>
        </p:txBody>
      </p:sp>
      <p:sp>
        <p:nvSpPr>
          <p:cNvPr id="3" name="Rectangle 2">
            <a:extLst>
              <a:ext uri="{FF2B5EF4-FFF2-40B4-BE49-F238E27FC236}">
                <a16:creationId xmlns:a16="http://schemas.microsoft.com/office/drawing/2014/main" id="{B2642767-D8BD-0FEA-681A-C415A1A9CF68}"/>
              </a:ext>
            </a:extLst>
          </p:cNvPr>
          <p:cNvSpPr/>
          <p:nvPr/>
        </p:nvSpPr>
        <p:spPr>
          <a:xfrm>
            <a:off x="1524000" y="0"/>
            <a:ext cx="9144000" cy="914400"/>
          </a:xfrm>
          <a:prstGeom prst="rect">
            <a:avLst/>
          </a:prstGeom>
          <a:solidFill>
            <a:schemeClr val="accent1"/>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err="1">
                <a:latin typeface="Segoe UI"/>
              </a:rPr>
              <a:t>Case File: HP Compressors</a:t>
            </a:r>
            <a:endParaRPr sz="2800" dirty="0"/>
          </a:p>
        </p:txBody>
      </p:sp>
      <p:pic>
        <p:nvPicPr>
          <p:cNvPr id="5" name="Picture 4">
            <a:extLst>
              <a:ext uri="{FF2B5EF4-FFF2-40B4-BE49-F238E27FC236}">
                <a16:creationId xmlns:a16="http://schemas.microsoft.com/office/drawing/2014/main" id="{16FCE4B3-F721-CD79-ED07-82A339380156}"/>
              </a:ext>
            </a:extLst>
          </p:cNvPr>
          <p:cNvPicPr>
            <a:picLocks noChangeAspect="1"/>
          </p:cNvPicPr>
          <p:nvPr/>
        </p:nvPicPr>
        <p:blipFill>
          <a:blip r:embed="rId2"/>
          <a:stretch>
            <a:fillRect/>
          </a:stretch>
        </p:blipFill>
        <p:spPr>
          <a:xfrm>
            <a:off x="6450000" y="2172650"/>
            <a:ext cx="5300000" cy="3104699"/>
          </a:xfrm>
          <a:prstGeom prst="rect">
            <a:avLst/>
          </a:prstGeom>
        </p:spPr>
      </p:pic>
      <p:sp>
        <p:nvSpPr>
          <p:cNvPr id="6" name="TextBox 5"/>
          <p:cNvSpPr txBox="1"/>
          <p:nvPr/>
        </p:nvSpPr>
        <p:spPr>
          <a:xfrm>
            <a:off x="550000" y="1050000"/>
            <a:ext cx="5650000" cy="3680944"/>
          </a:xfrm>
          <a:prstGeom prst="rect">
            <a:avLst/>
          </a:prstGeom>
          <a:noFill/>
        </p:spPr>
        <p:txBody>
          <a:bodyPr wrap="square">
            <a:spAutoFit/>
          </a:bodyPr>
          <a:lstStyle/>
          <a:p>
            <a:pPr>
              <a:lnSpc>
                <a:spcPct val="145000"/>
              </a:lnSpc>
              <a:spcBef>
                <a:spcPts val="0"/>
              </a:spcBef>
              <a:spcAft>
                <a:spcPts val="800"/>
              </a:spcAft>
            </a:pPr>
            <a:r>
              <a:rPr sz="1100" b="0" dirty="0">
                <a:solidFill>
                  <a:schemeClr val="tx1">
                    <a:lumMod val="85000"/>
                    <a:lumOff val="15000"/>
                  </a:schemeClr>
                </a:solidFill>
                <a:latin typeface="Aptos" panose="020B0004020202020204" pitchFamily="34" charset="0"/>
              </a:rPr>
              <a:t>The HP screw compressors carry an assumed 350,000 h MTBF</a:t>
            </a:r>
            <a:endParaRPr lang="en-US" sz="1600" b="0" dirty="0">
              <a:solidFill>
                <a:schemeClr val="tx1">
                  <a:lumMod val="85000"/>
                  <a:lumOff val="15000"/>
                </a:schemeClr>
              </a:solidFill>
              <a:latin typeface="Aptos" panose="020B0004020202020204" pitchFamily="34" charset="0"/>
            </a:endParaRPr>
          </a:p>
          <a:p>
            <a:pPr lvl="1">
              <a:lnSpc>
                <a:spcPct val="145000"/>
              </a:lnSpc>
              <a:spcBef>
                <a:spcPts val="0"/>
              </a:spcBef>
              <a:spcAft>
                <a:spcPts val="800"/>
              </a:spcAft>
            </a:pPr>
            <a:r>
              <a:rPr sz="1100" b="0" dirty="0">
                <a:solidFill>
                  <a:schemeClr val="tx1">
                    <a:lumMod val="85000"/>
                    <a:lumOff val="15000"/>
                  </a:schemeClr>
                </a:solidFill>
                <a:latin typeface="Aptos" panose="020B0004020202020204" pitchFamily="34" charset="0"/>
              </a:rPr>
              <a:t>— long enough that, under the Poisson model, a bare </a:t>
            </a:r>
            <a:r>
              <a:rPr sz="1100" b="1" dirty="0">
                <a:solidFill>
                  <a:schemeClr val="tx1">
                    <a:lumMod val="85000"/>
                    <a:lumOff val="15000"/>
                  </a:schemeClr>
                </a:solidFill>
                <a:latin typeface="Aptos" panose="020B0004020202020204" pitchFamily="34" charset="0"/>
              </a:rPr>
              <a:t>3-of-3</a:t>
            </a:r>
            <a:r>
              <a:rPr sz="1100" b="0" dirty="0">
                <a:solidFill>
                  <a:schemeClr val="tx1">
                    <a:lumMod val="85000"/>
                    <a:lumOff val="15000"/>
                  </a:schemeClr>
                </a:solidFill>
                <a:latin typeface="Aptos" panose="020B0004020202020204" pitchFamily="34" charset="0"/>
              </a:rPr>
              <a:t> no-redundancy train still clears </a:t>
            </a:r>
            <a:r>
              <a:rPr sz="1100" b="1" dirty="0">
                <a:solidFill>
                  <a:schemeClr val="tx1">
                    <a:lumMod val="85000"/>
                    <a:lumOff val="15000"/>
                  </a:schemeClr>
                </a:solidFill>
                <a:latin typeface="Aptos" panose="020B0004020202020204" pitchFamily="34" charset="0"/>
              </a:rPr>
              <a:t>90 days </a:t>
            </a:r>
            <a:r>
              <a:rPr sz="1100" b="0" dirty="0">
                <a:solidFill>
                  <a:schemeClr val="tx1">
                    <a:lumMod val="85000"/>
                    <a:lumOff val="15000"/>
                  </a:schemeClr>
                </a:solidFill>
                <a:latin typeface="Aptos" panose="020B0004020202020204" pitchFamily="34" charset="0"/>
              </a:rPr>
              <a:t>with </a:t>
            </a:r>
            <a:r>
              <a:rPr sz="1100" b="1" dirty="0">
                <a:solidFill>
                  <a:schemeClr val="tx1">
                    <a:lumMod val="85000"/>
                    <a:lumOff val="15000"/>
                  </a:schemeClr>
                </a:solidFill>
                <a:latin typeface="Aptos" panose="020B0004020202020204" pitchFamily="34" charset="0"/>
              </a:rPr>
              <a:t>98.2% probability</a:t>
            </a:r>
            <a:r>
              <a:rPr sz="1100" b="0" dirty="0">
                <a:solidFill>
                  <a:schemeClr val="tx1">
                    <a:lumMod val="85000"/>
                    <a:lumOff val="15000"/>
                  </a:schemeClr>
                </a:solidFill>
                <a:latin typeface="Aptos" panose="020B0004020202020204" pitchFamily="34" charset="0"/>
              </a:rPr>
              <a:t>. That number is comforting only while the compressors stay inside </a:t>
            </a:r>
            <a:r>
              <a:rPr sz="1100" b="0" dirty="0">
                <a:solidFill>
                  <a:schemeClr val="tx1">
                    <a:lumMod val="85000"/>
                    <a:lumOff val="15000"/>
                  </a:schemeClr>
                </a:solidFill>
                <a:highlight>
                  <a:srgbClr val="FF9999"/>
                </a:highlight>
                <a:latin typeface="Aptos" panose="020B0004020202020204" pitchFamily="34" charset="0"/>
              </a:rPr>
              <a:t>their flat-hazard useful-life window.</a:t>
            </a:r>
          </a:p>
          <a:p>
            <a:pPr algn="l">
              <a:lnSpc>
                <a:spcPct val="145000"/>
              </a:lnSpc>
              <a:spcBef>
                <a:spcPts val="0"/>
              </a:spcBef>
              <a:spcAft>
                <a:spcPts val="800"/>
              </a:spcAft>
            </a:pPr>
            <a:r>
              <a:rPr sz="1100" b="0" dirty="0">
                <a:solidFill>
                  <a:schemeClr val="tx1">
                    <a:lumMod val="85000"/>
                    <a:lumOff val="15000"/>
                  </a:schemeClr>
                </a:solidFill>
                <a:latin typeface="Aptos" panose="020B0004020202020204" pitchFamily="34" charset="0"/>
              </a:rPr>
              <a:t>Screw compressors wear through bearings, seals and rotor packages on a calendar/duty-cycle clock that the Poisson model on the page knows nothing about. </a:t>
            </a:r>
            <a:endParaRPr lang="en-US" sz="1600" b="0" dirty="0">
              <a:solidFill>
                <a:schemeClr val="tx1">
                  <a:lumMod val="85000"/>
                  <a:lumOff val="15000"/>
                </a:schemeClr>
              </a:solidFill>
              <a:latin typeface="Aptos" panose="020B0004020202020204" pitchFamily="34" charset="0"/>
            </a:endParaRPr>
          </a:p>
          <a:p>
            <a:pPr lvl="1">
              <a:lnSpc>
                <a:spcPct val="145000"/>
              </a:lnSpc>
              <a:spcBef>
                <a:spcPts val="0"/>
              </a:spcBef>
              <a:spcAft>
                <a:spcPts val="800"/>
              </a:spcAft>
            </a:pPr>
            <a:r>
              <a:rPr sz="1100" b="1" dirty="0">
                <a:solidFill>
                  <a:schemeClr val="tx1">
                    <a:lumMod val="85000"/>
                    <a:lumOff val="15000"/>
                  </a:schemeClr>
                </a:solidFill>
                <a:latin typeface="Aptos" panose="020B0004020202020204" pitchFamily="34" charset="0"/>
              </a:rPr>
              <a:t>The 3+1 redundancy case (right) </a:t>
            </a:r>
            <a:r>
              <a:rPr sz="1100" b="0" dirty="0">
                <a:solidFill>
                  <a:schemeClr val="tx1">
                    <a:lumMod val="85000"/>
                    <a:lumOff val="15000"/>
                  </a:schemeClr>
                </a:solidFill>
                <a:latin typeface="Aptos" panose="020B0004020202020204" pitchFamily="34" charset="0"/>
              </a:rPr>
              <a:t>does not just buy short-window margin — it buys the time needed to pull a unit for scheduled service before it enters its own wear-out region.</a:t>
            </a:r>
          </a:p>
        </p:txBody>
      </p:sp>
      <p:sp>
        <p:nvSpPr>
          <p:cNvPr id="7" name="Rounded Rectangle 6"/>
          <p:cNvSpPr/>
          <p:nvPr/>
        </p:nvSpPr>
        <p:spPr>
          <a:xfrm>
            <a:off x="550000" y="4700000"/>
            <a:ext cx="5650000" cy="150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200" b="1">
                <a:solidFill>
                  <a:schemeClr val="accent1"/>
                </a:solidFill>
                <a:latin typeface="Aptos"/>
              </a:rPr>
              <a:t>KEY TAKEAWAY  </a:t>
            </a:r>
            <a:r>
              <a:rPr sz="1200" b="0">
                <a:solidFill>
                  <a:schemeClr val="accent1"/>
                </a:solidFill>
                <a:latin typeface="Aptos"/>
              </a:rPr>
              <a:t>Redundancy here is not only insurance against random failure — it is the maintenance window that makes predictable replacement possible.</a:t>
            </a:r>
          </a:p>
        </p:txBody>
      </p:sp>
      <p:sp>
        <p:nvSpPr>
          <p:cNvPr id="8" name="Rounded Rectangle 7"/>
          <p:cNvSpPr/>
          <p:nvPr/>
        </p:nvSpPr>
        <p:spPr>
          <a:xfrm>
            <a:off x="10728000" y="227200"/>
            <a:ext cx="1404000" cy="460000"/>
          </a:xfrm>
          <a:prstGeom prst="roundRect">
            <a:avLst>
              <a:gd name="adj" fmla="val 50000"/>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IMPROVE</a:t>
            </a:r>
          </a:p>
        </p:txBody>
      </p:sp>
    </p:spTree>
    <p:extLst>
      <p:ext uri="{BB962C8B-B14F-4D97-AF65-F5344CB8AC3E}">
        <p14:creationId xmlns:p14="http://schemas.microsoft.com/office/powerpoint/2010/main" val="36774900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E04A2-240F-2CEF-F70B-8E5023BF6FE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079F24-125F-C288-B35A-234BE2BD4795}"/>
              </a:ext>
            </a:extLst>
          </p:cNvPr>
          <p:cNvSpPr>
            <a:spLocks noGrp="1"/>
          </p:cNvSpPr>
          <p:nvPr>
            <p:ph type="sldNum" sz="quarter" idx="12"/>
          </p:nvPr>
        </p:nvSpPr>
        <p:spPr/>
        <p:txBody>
          <a:bodyPr/>
          <a:lstStyle/>
          <a:p>
            <a:fld id="{339267EE-5941-4723-AC0A-CBD0C7B97EE9}" type="slidenum">
              <a:rPr lang="en-GB" smtClean="0"/>
              <a:t>33</a:t>
            </a:fld>
            <a:endParaRPr lang="en-GB"/>
          </a:p>
        </p:txBody>
      </p:sp>
      <p:sp>
        <p:nvSpPr>
          <p:cNvPr id="3" name="Rectangle 2">
            <a:extLst>
              <a:ext uri="{FF2B5EF4-FFF2-40B4-BE49-F238E27FC236}">
                <a16:creationId xmlns:a16="http://schemas.microsoft.com/office/drawing/2014/main" id="{9CE768C4-B125-1D31-11E6-4BF75F788168}"/>
              </a:ext>
            </a:extLst>
          </p:cNvPr>
          <p:cNvSpPr/>
          <p:nvPr/>
        </p:nvSpPr>
        <p:spPr>
          <a:xfrm>
            <a:off x="1524000" y="0"/>
            <a:ext cx="9144000" cy="914400"/>
          </a:xfrm>
          <a:prstGeom prst="rect">
            <a:avLst/>
          </a:prstGeom>
          <a:solidFill>
            <a:schemeClr val="accent1"/>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a:rPr>
              <a:t>Case File: PVPS</a:t>
            </a:r>
            <a:endParaRPr sz="2800" dirty="0"/>
          </a:p>
        </p:txBody>
      </p:sp>
      <p:pic>
        <p:nvPicPr>
          <p:cNvPr id="6" name="Picture 5">
            <a:extLst>
              <a:ext uri="{FF2B5EF4-FFF2-40B4-BE49-F238E27FC236}">
                <a16:creationId xmlns:a16="http://schemas.microsoft.com/office/drawing/2014/main" id="{C9B46B18-79D6-CABE-9D9D-70DEA9543DF1}"/>
              </a:ext>
            </a:extLst>
          </p:cNvPr>
          <p:cNvPicPr>
            <a:picLocks noChangeAspect="1"/>
          </p:cNvPicPr>
          <p:nvPr/>
        </p:nvPicPr>
        <p:blipFill>
          <a:blip r:embed="rId2"/>
          <a:stretch>
            <a:fillRect/>
          </a:stretch>
        </p:blipFill>
        <p:spPr>
          <a:xfrm>
            <a:off x="6450000" y="2121128"/>
            <a:ext cx="5300000" cy="3207743"/>
          </a:xfrm>
          <a:prstGeom prst="rect">
            <a:avLst/>
          </a:prstGeom>
        </p:spPr>
      </p:pic>
      <p:sp>
        <p:nvSpPr>
          <p:cNvPr id="7" name="TextBox 6"/>
          <p:cNvSpPr txBox="1"/>
          <p:nvPr/>
        </p:nvSpPr>
        <p:spPr>
          <a:xfrm>
            <a:off x="550000" y="1050000"/>
            <a:ext cx="5650000" cy="3822521"/>
          </a:xfrm>
          <a:prstGeom prst="rect">
            <a:avLst/>
          </a:prstGeom>
          <a:noFill/>
        </p:spPr>
        <p:txBody>
          <a:bodyPr wrap="square">
            <a:spAutoFit/>
          </a:bodyPr>
          <a:lstStyle/>
          <a:p>
            <a:pPr algn="l">
              <a:lnSpc>
                <a:spcPct val="145000"/>
              </a:lnSpc>
              <a:spcBef>
                <a:spcPts val="0"/>
              </a:spcBef>
              <a:spcAft>
                <a:spcPts val="800"/>
              </a:spcAft>
            </a:pPr>
            <a:r>
              <a:rPr sz="1150" b="0" dirty="0">
                <a:solidFill>
                  <a:schemeClr val="tx1">
                    <a:lumMod val="85000"/>
                    <a:lumOff val="15000"/>
                  </a:schemeClr>
                </a:solidFill>
                <a:latin typeface="Aptos" panose="020B0004020202020204" pitchFamily="34" charset="0"/>
              </a:rPr>
              <a:t>PVPS multiplies the same logic across </a:t>
            </a:r>
            <a:r>
              <a:rPr lang="en-US" sz="1150" b="0" dirty="0">
                <a:solidFill>
                  <a:schemeClr val="tx1">
                    <a:lumMod val="85000"/>
                    <a:lumOff val="15000"/>
                  </a:schemeClr>
                </a:solidFill>
                <a:latin typeface="Aptos" panose="020B0004020202020204" pitchFamily="34" charset="0"/>
              </a:rPr>
              <a:t>(up to) </a:t>
            </a:r>
            <a:r>
              <a:rPr sz="1150" b="0" dirty="0">
                <a:solidFill>
                  <a:schemeClr val="tx1">
                    <a:lumMod val="85000"/>
                    <a:lumOff val="15000"/>
                  </a:schemeClr>
                </a:solidFill>
                <a:latin typeface="Aptos" panose="020B0004020202020204" pitchFamily="34" charset="0"/>
              </a:rPr>
              <a:t>nine parallel units. At 9-of-9 with no spare, the 5-year probability of at least one trip is 67.6% </a:t>
            </a:r>
            <a:endParaRPr lang="en-US" sz="1600" dirty="0">
              <a:solidFill>
                <a:schemeClr val="tx1">
                  <a:lumMod val="85000"/>
                  <a:lumOff val="15000"/>
                </a:schemeClr>
              </a:solidFill>
              <a:latin typeface="Aptos" panose="020B0004020202020204" pitchFamily="34" charset="0"/>
            </a:endParaRPr>
          </a:p>
          <a:p>
            <a:pPr lvl="1">
              <a:lnSpc>
                <a:spcPct val="145000"/>
              </a:lnSpc>
              <a:spcBef>
                <a:spcPts val="0"/>
              </a:spcBef>
              <a:spcAft>
                <a:spcPts val="800"/>
              </a:spcAft>
            </a:pPr>
            <a:r>
              <a:rPr sz="1150" b="0" dirty="0">
                <a:solidFill>
                  <a:schemeClr val="tx1">
                    <a:lumMod val="85000"/>
                    <a:lumOff val="15000"/>
                  </a:schemeClr>
                </a:solidFill>
                <a:latin typeface="Aptos" panose="020B0004020202020204" pitchFamily="34" charset="0"/>
              </a:rPr>
              <a:t>— not because any single pump is unreliable, but because unreliability compounds as fleet size grows.</a:t>
            </a:r>
          </a:p>
          <a:p>
            <a:pPr algn="l">
              <a:lnSpc>
                <a:spcPct val="145000"/>
              </a:lnSpc>
              <a:spcBef>
                <a:spcPts val="0"/>
              </a:spcBef>
              <a:spcAft>
                <a:spcPts val="800"/>
              </a:spcAft>
            </a:pPr>
            <a:r>
              <a:rPr sz="1150" b="1" dirty="0">
                <a:solidFill>
                  <a:schemeClr val="tx1">
                    <a:lumMod val="85000"/>
                    <a:lumOff val="15000"/>
                  </a:schemeClr>
                </a:solidFill>
                <a:latin typeface="Aptos" panose="020B0004020202020204" pitchFamily="34" charset="0"/>
              </a:rPr>
              <a:t>N+1 and N+2 sparing claw back the 90-day and 1-year numbers dramatically, but the 5-year figure stays stubborn (13–33%): </a:t>
            </a:r>
            <a:endParaRPr lang="en-US" sz="1600" b="1" dirty="0">
              <a:solidFill>
                <a:schemeClr val="tx1">
                  <a:lumMod val="85000"/>
                  <a:lumOff val="15000"/>
                </a:schemeClr>
              </a:solidFill>
              <a:latin typeface="Aptos" panose="020B0004020202020204" pitchFamily="34" charset="0"/>
            </a:endParaRPr>
          </a:p>
          <a:p>
            <a:pPr lvl="1">
              <a:lnSpc>
                <a:spcPct val="145000"/>
              </a:lnSpc>
              <a:spcBef>
                <a:spcPts val="0"/>
              </a:spcBef>
              <a:spcAft>
                <a:spcPts val="800"/>
              </a:spcAft>
            </a:pPr>
            <a:r>
              <a:rPr sz="1150" b="0" dirty="0">
                <a:solidFill>
                  <a:schemeClr val="tx1">
                    <a:lumMod val="85000"/>
                    <a:lumOff val="15000"/>
                  </a:schemeClr>
                </a:solidFill>
                <a:latin typeface="Aptos" panose="020B0004020202020204" pitchFamily="34" charset="0"/>
              </a:rPr>
              <a:t>over long horizons, “more components” re-introduces the wear-out problem this section is about. Sparing buys statistical margin against random failure — it does not buy the fleet time out of its wear-out clock.</a:t>
            </a:r>
          </a:p>
        </p:txBody>
      </p:sp>
      <p:sp>
        <p:nvSpPr>
          <p:cNvPr id="8" name="Rounded Rectangle 7"/>
          <p:cNvSpPr/>
          <p:nvPr/>
        </p:nvSpPr>
        <p:spPr>
          <a:xfrm>
            <a:off x="550000" y="5200072"/>
            <a:ext cx="5650000" cy="999927"/>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200" b="1" dirty="0">
                <a:solidFill>
                  <a:schemeClr val="accent1"/>
                </a:solidFill>
                <a:latin typeface="Aptos"/>
              </a:rPr>
              <a:t>KEY TAKEAWAY  </a:t>
            </a:r>
            <a:r>
              <a:rPr sz="1200" b="0" dirty="0">
                <a:solidFill>
                  <a:schemeClr val="accent1"/>
                </a:solidFill>
                <a:latin typeface="Aptos"/>
              </a:rPr>
              <a:t>For a 9-unit fleet, the honest 5-year reliability number is a scheduling problem, not just a redundancy problem.</a:t>
            </a:r>
          </a:p>
        </p:txBody>
      </p:sp>
      <p:sp>
        <p:nvSpPr>
          <p:cNvPr id="9" name="Rounded Rectangle 8"/>
          <p:cNvSpPr/>
          <p:nvPr/>
        </p:nvSpPr>
        <p:spPr>
          <a:xfrm>
            <a:off x="10728000" y="227200"/>
            <a:ext cx="1404000" cy="460000"/>
          </a:xfrm>
          <a:prstGeom prst="roundRect">
            <a:avLst>
              <a:gd name="adj" fmla="val 50000"/>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IMPROVE</a:t>
            </a:r>
          </a:p>
        </p:txBody>
      </p:sp>
    </p:spTree>
    <p:extLst>
      <p:ext uri="{BB962C8B-B14F-4D97-AF65-F5344CB8AC3E}">
        <p14:creationId xmlns:p14="http://schemas.microsoft.com/office/powerpoint/2010/main" val="1759179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6BCCD-E70C-9176-3D55-9CFA8DF429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56D40-0695-1432-39E5-3525C81CADAD}"/>
              </a:ext>
            </a:extLst>
          </p:cNvPr>
          <p:cNvSpPr>
            <a:spLocks noGrp="1"/>
          </p:cNvSpPr>
          <p:nvPr>
            <p:ph type="sldNum" sz="quarter" idx="12"/>
          </p:nvPr>
        </p:nvSpPr>
        <p:spPr/>
        <p:txBody>
          <a:bodyPr/>
          <a:lstStyle/>
          <a:p>
            <a:fld id="{339267EE-5941-4723-AC0A-CBD0C7B97EE9}" type="slidenum">
              <a:rPr lang="en-GB" smtClean="0"/>
              <a:t>34</a:t>
            </a:fld>
            <a:endParaRPr lang="en-GB"/>
          </a:p>
        </p:txBody>
      </p:sp>
      <p:sp>
        <p:nvSpPr>
          <p:cNvPr id="3" name="Rectangle 2">
            <a:extLst>
              <a:ext uri="{FF2B5EF4-FFF2-40B4-BE49-F238E27FC236}">
                <a16:creationId xmlns:a16="http://schemas.microsoft.com/office/drawing/2014/main" id="{C54E049A-E843-CEC3-07E9-5ECA374A6DD1}"/>
              </a:ext>
            </a:extLst>
          </p:cNvPr>
          <p:cNvSpPr/>
          <p:nvPr/>
        </p:nvSpPr>
        <p:spPr>
          <a:xfrm>
            <a:off x="1524000" y="0"/>
            <a:ext cx="9144000" cy="914400"/>
          </a:xfrm>
          <a:prstGeom prst="rect">
            <a:avLst/>
          </a:prstGeom>
          <a:solidFill>
            <a:schemeClr val="accent1"/>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a:rPr>
              <a:t>Case File: Turbines — Nowhere to Hide</a:t>
            </a:r>
            <a:endParaRPr sz="2800" dirty="0"/>
          </a:p>
        </p:txBody>
      </p:sp>
      <p:pic>
        <p:nvPicPr>
          <p:cNvPr id="6" name="Picture 5">
            <a:extLst>
              <a:ext uri="{FF2B5EF4-FFF2-40B4-BE49-F238E27FC236}">
                <a16:creationId xmlns:a16="http://schemas.microsoft.com/office/drawing/2014/main" id="{85DA9754-A38B-F67E-1E21-3FF9F7109FE7}"/>
              </a:ext>
            </a:extLst>
          </p:cNvPr>
          <p:cNvPicPr>
            <a:picLocks noChangeAspect="1"/>
          </p:cNvPicPr>
          <p:nvPr/>
        </p:nvPicPr>
        <p:blipFill>
          <a:blip r:embed="rId2"/>
          <a:stretch>
            <a:fillRect/>
          </a:stretch>
        </p:blipFill>
        <p:spPr>
          <a:xfrm>
            <a:off x="6874873" y="3566452"/>
            <a:ext cx="3646634" cy="2338647"/>
          </a:xfrm>
          <a:prstGeom prst="rect">
            <a:avLst/>
          </a:prstGeom>
        </p:spPr>
      </p:pic>
      <p:sp>
        <p:nvSpPr>
          <p:cNvPr id="7" name="TextBox 6">
            <a:extLst>
              <a:ext uri="{FF2B5EF4-FFF2-40B4-BE49-F238E27FC236}">
                <a16:creationId xmlns:a16="http://schemas.microsoft.com/office/drawing/2014/main" id="{D434917F-2CB1-D47B-4465-32C914828465}"/>
              </a:ext>
            </a:extLst>
          </p:cNvPr>
          <p:cNvSpPr txBox="1"/>
          <p:nvPr/>
        </p:nvSpPr>
        <p:spPr>
          <a:xfrm>
            <a:off x="6345383" y="1087326"/>
            <a:ext cx="4472724" cy="1904560"/>
          </a:xfrm>
          <a:prstGeom prst="rect">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defPPr>
              <a:defRPr lang="en-US"/>
            </a:defPPr>
            <a:lvl1pPr algn="ctr">
              <a:lnSpc>
                <a:spcPct val="110000"/>
              </a:lnSpc>
              <a:defRPr sz="12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latin typeface="Aptos"/>
              </a:rPr>
              <a:t>MTBF values indicative – since different values for type </a:t>
            </a:r>
            <a:r>
              <a:rPr lang="en-US">
                <a:latin typeface="Aptos"/>
              </a:rPr>
              <a:t>of turbine</a:t>
            </a:r>
            <a:br>
              <a:rPr lang="en-US" dirty="0"/>
            </a:br>
            <a:br>
              <a:rPr lang="en-US"/>
            </a:br>
            <a:r>
              <a:rPr lang="en-US" dirty="0">
                <a:latin typeface="Aptos"/>
              </a:rPr>
              <a:t>Spare, redundant </a:t>
            </a:r>
            <a:r>
              <a:rPr lang="en-US">
                <a:latin typeface="Aptos"/>
              </a:rPr>
              <a:t>NOT possible </a:t>
            </a:r>
            <a:r>
              <a:rPr lang="en-US" dirty="0">
                <a:latin typeface="Aptos"/>
              </a:rPr>
              <a:t>– since position of trips dictates the cooling – where would the spare </a:t>
            </a:r>
            <a:r>
              <a:rPr lang="en-US">
                <a:latin typeface="Aptos"/>
              </a:rPr>
              <a:t>be?</a:t>
            </a:r>
            <a:br>
              <a:rPr lang="en-US" dirty="0"/>
            </a:br>
            <a:br>
              <a:rPr lang="en-US"/>
            </a:br>
            <a:r>
              <a:rPr lang="en-US" dirty="0">
                <a:latin typeface="Aptos"/>
              </a:rPr>
              <a:t>&gt;80 K stage – 2 to </a:t>
            </a:r>
            <a:r>
              <a:rPr lang="en-US">
                <a:latin typeface="Aptos"/>
              </a:rPr>
              <a:t>3 turbines</a:t>
            </a:r>
            <a:br>
              <a:rPr lang="en-US"/>
            </a:br>
            <a:r>
              <a:rPr lang="en-US" dirty="0">
                <a:latin typeface="Aptos"/>
              </a:rPr>
              <a:t>&lt; 80 K stage – 4-5 turbines</a:t>
            </a:r>
          </a:p>
        </p:txBody>
      </p:sp>
      <p:sp>
        <p:nvSpPr>
          <p:cNvPr id="8" name="TextBox 7"/>
          <p:cNvSpPr txBox="1"/>
          <p:nvPr/>
        </p:nvSpPr>
        <p:spPr>
          <a:xfrm>
            <a:off x="550000" y="1050000"/>
            <a:ext cx="5650000" cy="3550000"/>
          </a:xfrm>
          <a:prstGeom prst="rect">
            <a:avLst/>
          </a:prstGeom>
          <a:noFill/>
        </p:spPr>
        <p:txBody>
          <a:bodyPr wrap="square">
            <a:spAutoFit/>
          </a:bodyPr>
          <a:lstStyle/>
          <a:p>
            <a:pPr algn="l">
              <a:lnSpc>
                <a:spcPct val="145000"/>
              </a:lnSpc>
              <a:spcBef>
                <a:spcPts val="0"/>
              </a:spcBef>
              <a:spcAft>
                <a:spcPts val="800"/>
              </a:spcAft>
            </a:pPr>
            <a:r>
              <a:rPr sz="1150" b="0">
                <a:solidFill>
                  <a:schemeClr val="tx1">
                    <a:lumMod val="85000"/>
                    <a:lumOff val="15000"/>
                  </a:schemeClr>
                </a:solidFill>
                <a:latin typeface="Aptos"/>
              </a:rPr>
              <a:t>Turbines are the clearest case in this compendium for why MTBF-only thinking runs out. There is no credible spare position: cooling topology fixes each turbine's location in the cold-box train, so a “redundant” unit is not interchangeable the way a compressor is.</a:t>
            </a:r>
          </a:p>
          <a:p>
            <a:pPr algn="l">
              <a:lnSpc>
                <a:spcPct val="145000"/>
              </a:lnSpc>
              <a:spcBef>
                <a:spcPts val="0"/>
              </a:spcBef>
              <a:spcAft>
                <a:spcPts val="800"/>
              </a:spcAft>
            </a:pPr>
            <a:r>
              <a:rPr sz="1150" b="0">
                <a:solidFill>
                  <a:schemeClr val="tx1">
                    <a:lumMod val="85000"/>
                    <a:lumOff val="15000"/>
                  </a:schemeClr>
                </a:solidFill>
                <a:latin typeface="Aptos"/>
              </a:rPr>
              <a:t>With 7-of-7 required and a 105,000 h assumed MTBF, the 5-year no-trip probability is already down to 94.6%; adding an 8th unit barely moves it. A fleet this exposed cannot be managed by waiting for an MTBF-driven alarm — it has to be managed by knowing, ahead of time, which unit is closest to end of usable life.</a:t>
            </a:r>
          </a:p>
        </p:txBody>
      </p:sp>
      <p:sp>
        <p:nvSpPr>
          <p:cNvPr id="9" name="Rounded Rectangle 8"/>
          <p:cNvSpPr/>
          <p:nvPr/>
        </p:nvSpPr>
        <p:spPr>
          <a:xfrm>
            <a:off x="550000" y="4700000"/>
            <a:ext cx="5650000" cy="150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200" b="1">
                <a:solidFill>
                  <a:schemeClr val="accent1"/>
                </a:solidFill>
                <a:latin typeface="Aptos"/>
              </a:rPr>
              <a:t>KEY TAKEAWAY  </a:t>
            </a:r>
            <a:r>
              <a:rPr sz="1200" b="0">
                <a:solidFill>
                  <a:schemeClr val="accent1"/>
                </a:solidFill>
                <a:latin typeface="Aptos"/>
              </a:rPr>
              <a:t>No spare position + no redundancy = the fleet where predictable, age-based replacement matters most, not least.</a:t>
            </a:r>
          </a:p>
        </p:txBody>
      </p:sp>
      <p:sp>
        <p:nvSpPr>
          <p:cNvPr id="10" name="Rounded Rectangle 9"/>
          <p:cNvSpPr/>
          <p:nvPr/>
        </p:nvSpPr>
        <p:spPr>
          <a:xfrm>
            <a:off x="10728000" y="227200"/>
            <a:ext cx="1404000" cy="460000"/>
          </a:xfrm>
          <a:prstGeom prst="roundRect">
            <a:avLst>
              <a:gd name="adj" fmla="val 50000"/>
            </a:avLst>
          </a:prstGeom>
          <a:solidFill>
            <a:srgbClr val="B562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IMPROVE</a:t>
            </a:r>
          </a:p>
        </p:txBody>
      </p:sp>
    </p:spTree>
    <p:extLst>
      <p:ext uri="{BB962C8B-B14F-4D97-AF65-F5344CB8AC3E}">
        <p14:creationId xmlns:p14="http://schemas.microsoft.com/office/powerpoint/2010/main" val="37424327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3DDDA-5943-1C52-F478-20CF6C616C1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9C5F89-B025-3868-BEB2-25B9FDACDDAB}"/>
              </a:ext>
            </a:extLst>
          </p:cNvPr>
          <p:cNvSpPr>
            <a:spLocks noGrp="1"/>
          </p:cNvSpPr>
          <p:nvPr>
            <p:ph type="sldNum" sz="quarter" idx="12"/>
          </p:nvPr>
        </p:nvSpPr>
        <p:spPr/>
        <p:txBody>
          <a:bodyPr/>
          <a:lstStyle/>
          <a:p>
            <a:fld id="{339267EE-5941-4723-AC0A-CBD0C7B97EE9}" type="slidenum">
              <a:rPr lang="en-GB" smtClean="0"/>
              <a:t>35</a:t>
            </a:fld>
            <a:endParaRPr lang="en-GB"/>
          </a:p>
        </p:txBody>
      </p:sp>
      <p:sp>
        <p:nvSpPr>
          <p:cNvPr id="3" name="Rectangle 2">
            <a:extLst>
              <a:ext uri="{FF2B5EF4-FFF2-40B4-BE49-F238E27FC236}">
                <a16:creationId xmlns:a16="http://schemas.microsoft.com/office/drawing/2014/main" id="{5486DDA2-D9BA-6648-75F1-4931AB8A3192}"/>
              </a:ext>
            </a:extLst>
          </p:cNvPr>
          <p:cNvSpPr/>
          <p:nvPr/>
        </p:nvSpPr>
        <p:spPr>
          <a:xfrm>
            <a:off x="1524000" y="0"/>
            <a:ext cx="9144000" cy="914400"/>
          </a:xfrm>
          <a:prstGeom prst="rect">
            <a:avLst/>
          </a:prstGeom>
          <a:solidFill>
            <a:schemeClr val="accent1"/>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a:rPr>
              <a:t>The Turn: From Predicting Failure to Preventing It</a:t>
            </a:r>
            <a:endParaRPr sz="2800" dirty="0"/>
          </a:p>
        </p:txBody>
      </p:sp>
      <p:pic>
        <p:nvPicPr>
          <p:cNvPr id="6" name="Picture 5">
            <a:extLst>
              <a:ext uri="{FF2B5EF4-FFF2-40B4-BE49-F238E27FC236}">
                <a16:creationId xmlns:a16="http://schemas.microsoft.com/office/drawing/2014/main" id="{F0E860A6-C54D-FB78-507C-2925F2FE00E7}"/>
              </a:ext>
            </a:extLst>
          </p:cNvPr>
          <p:cNvPicPr>
            <a:picLocks noChangeAspect="1"/>
          </p:cNvPicPr>
          <p:nvPr/>
        </p:nvPicPr>
        <p:blipFill>
          <a:blip r:embed="rId2"/>
          <a:stretch>
            <a:fillRect/>
          </a:stretch>
        </p:blipFill>
        <p:spPr>
          <a:xfrm>
            <a:off x="6450000" y="2587369"/>
            <a:ext cx="2869608" cy="1840327"/>
          </a:xfrm>
          <a:prstGeom prst="rect">
            <a:avLst/>
          </a:prstGeom>
        </p:spPr>
      </p:pic>
      <p:pic>
        <p:nvPicPr>
          <p:cNvPr id="5" name="Picture 4">
            <a:extLst>
              <a:ext uri="{FF2B5EF4-FFF2-40B4-BE49-F238E27FC236}">
                <a16:creationId xmlns:a16="http://schemas.microsoft.com/office/drawing/2014/main" id="{6DF4D3B5-AD27-391D-1D5B-3B1A4151EFD3}"/>
              </a:ext>
            </a:extLst>
          </p:cNvPr>
          <p:cNvPicPr>
            <a:picLocks noChangeAspect="1"/>
          </p:cNvPicPr>
          <p:nvPr/>
        </p:nvPicPr>
        <p:blipFill>
          <a:blip r:embed="rId3"/>
          <a:stretch>
            <a:fillRect/>
          </a:stretch>
        </p:blipFill>
        <p:spPr>
          <a:xfrm>
            <a:off x="9319608" y="4135426"/>
            <a:ext cx="2430391" cy="727203"/>
          </a:xfrm>
          <a:prstGeom prst="rect">
            <a:avLst/>
          </a:prstGeom>
          <a:solidFill>
            <a:schemeClr val="bg1"/>
          </a:solidFill>
          <a:ln>
            <a:solidFill>
              <a:srgbClr val="FF0000"/>
            </a:solidFill>
          </a:ln>
        </p:spPr>
      </p:pic>
      <p:cxnSp>
        <p:nvCxnSpPr>
          <p:cNvPr id="9" name="Straight Arrow Connector 8">
            <a:extLst>
              <a:ext uri="{FF2B5EF4-FFF2-40B4-BE49-F238E27FC236}">
                <a16:creationId xmlns:a16="http://schemas.microsoft.com/office/drawing/2014/main" id="{978BCF3E-167B-3D16-73DB-BD60CC1B557A}"/>
              </a:ext>
            </a:extLst>
          </p:cNvPr>
          <p:cNvCxnSpPr>
            <a:cxnSpLocks/>
          </p:cNvCxnSpPr>
          <p:nvPr/>
        </p:nvCxnSpPr>
        <p:spPr>
          <a:xfrm flipH="1" flipV="1">
            <a:off x="7055613" y="2963824"/>
            <a:ext cx="2263995" cy="1773581"/>
          </a:xfrm>
          <a:prstGeom prst="straightConnector1">
            <a:avLst/>
          </a:prstGeom>
          <a:ln>
            <a:solidFill>
              <a:srgbClr val="FF0000"/>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50000" y="1050000"/>
            <a:ext cx="5650000" cy="3550000"/>
          </a:xfrm>
          <a:prstGeom prst="rect">
            <a:avLst/>
          </a:prstGeom>
          <a:noFill/>
        </p:spPr>
        <p:txBody>
          <a:bodyPr wrap="square">
            <a:spAutoFit/>
          </a:bodyPr>
          <a:lstStyle/>
          <a:p>
            <a:pPr algn="l">
              <a:lnSpc>
                <a:spcPct val="145000"/>
              </a:lnSpc>
              <a:spcBef>
                <a:spcPts val="0"/>
              </a:spcBef>
              <a:spcAft>
                <a:spcPts val="800"/>
              </a:spcAft>
            </a:pPr>
            <a:r>
              <a:rPr sz="1150" b="0">
                <a:solidFill>
                  <a:schemeClr val="tx1">
                    <a:lumMod val="85000"/>
                    <a:lumOff val="15000"/>
                  </a:schemeClr>
                </a:solidFill>
                <a:latin typeface="Aptos"/>
              </a:rPr>
              <a:t>Every slide so far has used MTBF exactly as designed: to predict how often a well-behaved, randomly-failing fleet will trip. That is the right tool for budget-setting, architecture trade-offs, and acceptance testing.</a:t>
            </a:r>
          </a:p>
          <a:p>
            <a:pPr algn="l">
              <a:lnSpc>
                <a:spcPct val="145000"/>
              </a:lnSpc>
              <a:spcBef>
                <a:spcPts val="0"/>
              </a:spcBef>
              <a:spcAft>
                <a:spcPts val="800"/>
              </a:spcAft>
            </a:pPr>
            <a:r>
              <a:rPr sz="1150" b="0">
                <a:solidFill>
                  <a:schemeClr val="tx1">
                    <a:lumMod val="85000"/>
                    <a:lumOff val="15000"/>
                  </a:schemeClr>
                </a:solidFill>
                <a:latin typeface="Aptos"/>
              </a:rPr>
              <a:t>It is the wrong tool for one aging turbine, compressor or PVPS unit that has quietly moved from the flat part of the bathtub curve onto the rising one. Once wear-out dominates — as the three case files above all confirm it eventually does — the right question stops being “what's the MTBF” and becomes “how much usable life is left, and when do we act.” That is the shift from reliability prediction to reliability control.</a:t>
            </a:r>
          </a:p>
        </p:txBody>
      </p:sp>
      <p:sp>
        <p:nvSpPr>
          <p:cNvPr id="11" name="Rounded Rectangle 10"/>
          <p:cNvSpPr/>
          <p:nvPr/>
        </p:nvSpPr>
        <p:spPr>
          <a:xfrm>
            <a:off x="550000" y="4700000"/>
            <a:ext cx="5650000" cy="150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200" b="1">
                <a:solidFill>
                  <a:schemeClr val="accent1"/>
                </a:solidFill>
                <a:latin typeface="Aptos"/>
              </a:rPr>
              <a:t>KEY TAKEAWAY  </a:t>
            </a:r>
            <a:r>
              <a:rPr sz="1200" b="0">
                <a:solidFill>
                  <a:schemeClr val="accent1"/>
                </a:solidFill>
                <a:latin typeface="Aptos"/>
              </a:rPr>
              <a:t>MTBF tells you the odds. It does not tell you when to intervene — the remaining slides answer that question.</a:t>
            </a:r>
          </a:p>
        </p:txBody>
      </p:sp>
      <p:sp>
        <p:nvSpPr>
          <p:cNvPr id="7" name="TextBox 6">
            <a:extLst>
              <a:ext uri="{FF2B5EF4-FFF2-40B4-BE49-F238E27FC236}">
                <a16:creationId xmlns:a16="http://schemas.microsoft.com/office/drawing/2014/main" id="{061F7695-A0A0-406C-725E-AEDE9A932982}"/>
              </a:ext>
            </a:extLst>
          </p:cNvPr>
          <p:cNvSpPr txBox="1"/>
          <p:nvPr/>
        </p:nvSpPr>
        <p:spPr>
          <a:xfrm>
            <a:off x="9389845" y="2587369"/>
            <a:ext cx="2275768" cy="1468057"/>
          </a:xfrm>
          <a:prstGeom prst="rect">
            <a:avLst/>
          </a:prstGeom>
          <a:solidFill>
            <a:schemeClr val="accent1">
              <a:lumMod val="10000"/>
              <a:lumOff val="90000"/>
            </a:schemeClr>
          </a:solidFill>
          <a:ln>
            <a:noFill/>
          </a:ln>
          <a:effectLst/>
        </p:spPr>
        <p:txBody>
          <a:bodyPr wrap="square">
            <a:spAutoFit/>
          </a:bodyPr>
          <a:lstStyle/>
          <a:p>
            <a:pPr>
              <a:lnSpc>
                <a:spcPct val="145000"/>
              </a:lnSpc>
              <a:spcBef>
                <a:spcPts val="0"/>
              </a:spcBef>
              <a:spcAft>
                <a:spcPts val="800"/>
              </a:spcAft>
            </a:pPr>
            <a:r>
              <a:rPr lang="en-US" sz="950" b="0" dirty="0">
                <a:solidFill>
                  <a:schemeClr val="accent1"/>
                </a:solidFill>
                <a:latin typeface="Aptos"/>
              </a:rPr>
              <a:t>MTBF values indicative – since different values for type of turbine</a:t>
            </a:r>
            <a:br>
              <a:rPr lang="en-US" dirty="0">
                <a:solidFill>
                  <a:srgbClr val="FF0000"/>
                </a:solidFill>
              </a:rPr>
            </a:br>
            <a:br>
              <a:rPr lang="en-US" dirty="0">
                <a:solidFill>
                  <a:srgbClr val="FF0000"/>
                </a:solidFill>
              </a:rPr>
            </a:br>
            <a:r>
              <a:rPr lang="en-US" sz="950" b="0" dirty="0">
                <a:solidFill>
                  <a:schemeClr val="accent1"/>
                </a:solidFill>
                <a:latin typeface="Aptos"/>
              </a:rPr>
              <a:t>Spare, redundant NOT really possible – since position of trips dictates the cooling – where would the spare be?</a:t>
            </a:r>
            <a:br>
              <a:rPr lang="en-US" dirty="0">
                <a:solidFill>
                  <a:srgbClr val="FF0000"/>
                </a:solidFill>
              </a:rPr>
            </a:br>
            <a:br>
              <a:rPr lang="en-US" dirty="0">
                <a:solidFill>
                  <a:srgbClr val="FF0000"/>
                </a:solidFill>
              </a:rPr>
            </a:br>
            <a:r>
              <a:rPr lang="en-US" sz="950" b="0" dirty="0">
                <a:solidFill>
                  <a:schemeClr val="accent1"/>
                </a:solidFill>
                <a:latin typeface="Aptos"/>
              </a:rPr>
              <a:t>&gt;80 K stage – 2 to 3 turbines</a:t>
            </a:r>
            <a:br>
              <a:rPr lang="en-US" dirty="0">
                <a:solidFill>
                  <a:srgbClr val="FF0000"/>
                </a:solidFill>
              </a:rPr>
            </a:br>
            <a:r>
              <a:rPr lang="en-US" sz="950" b="0" dirty="0">
                <a:solidFill>
                  <a:schemeClr val="accent1"/>
                </a:solidFill>
                <a:latin typeface="Aptos"/>
              </a:rPr>
              <a:t>&lt; 80 K stage – 4-5 turbines</a:t>
            </a:r>
          </a:p>
        </p:txBody>
      </p:sp>
      <p:sp>
        <p:nvSpPr>
          <p:cNvPr id="12" name="Rounded Rectangle 11"/>
          <p:cNvSpPr/>
          <p:nvPr/>
        </p:nvSpPr>
        <p:spPr>
          <a:xfrm>
            <a:off x="10728000" y="227200"/>
            <a:ext cx="1404000" cy="460000"/>
          </a:xfrm>
          <a:prstGeom prst="roundRect">
            <a:avLst>
              <a:gd name="adj" fmla="val 50000"/>
            </a:avLst>
          </a:prstGeom>
          <a:solidFill>
            <a:srgbClr val="1D7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CONTROL</a:t>
            </a:r>
          </a:p>
        </p:txBody>
      </p:sp>
    </p:spTree>
    <p:extLst>
      <p:ext uri="{BB962C8B-B14F-4D97-AF65-F5344CB8AC3E}">
        <p14:creationId xmlns:p14="http://schemas.microsoft.com/office/powerpoint/2010/main" val="4267066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0DC30-FCC1-293F-FEDE-7B16E6E9478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E0A2C2-CF97-9483-F62E-5D1D8932D706}"/>
              </a:ext>
            </a:extLst>
          </p:cNvPr>
          <p:cNvSpPr>
            <a:spLocks noGrp="1"/>
          </p:cNvSpPr>
          <p:nvPr>
            <p:ph type="sldNum" sz="quarter" idx="12"/>
          </p:nvPr>
        </p:nvSpPr>
        <p:spPr/>
        <p:txBody>
          <a:bodyPr/>
          <a:lstStyle/>
          <a:p>
            <a:fld id="{339267EE-5941-4723-AC0A-CBD0C7B97EE9}" type="slidenum">
              <a:rPr lang="en-GB" smtClean="0">
                <a:latin typeface="Aptos" panose="020B0004020202020204" pitchFamily="34" charset="0"/>
              </a:rPr>
              <a:t>36</a:t>
            </a:fld>
            <a:endParaRPr lang="en-GB">
              <a:latin typeface="Aptos" panose="020B0004020202020204" pitchFamily="34" charset="0"/>
            </a:endParaRPr>
          </a:p>
        </p:txBody>
      </p:sp>
      <p:sp>
        <p:nvSpPr>
          <p:cNvPr id="3" name="Rectangle 2">
            <a:extLst>
              <a:ext uri="{FF2B5EF4-FFF2-40B4-BE49-F238E27FC236}">
                <a16:creationId xmlns:a16="http://schemas.microsoft.com/office/drawing/2014/main" id="{A76704C0-3295-C91E-9A76-D1B24FD58146}"/>
              </a:ext>
            </a:extLst>
          </p:cNvPr>
          <p:cNvSpPr/>
          <p:nvPr/>
        </p:nvSpPr>
        <p:spPr>
          <a:xfrm>
            <a:off x="1524000" y="0"/>
            <a:ext cx="9144000" cy="914400"/>
          </a:xfrm>
          <a:prstGeom prst="rect">
            <a:avLst/>
          </a:prstGeom>
          <a:solidFill>
            <a:schemeClr val="accent1"/>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panose="020B0004020202020204" pitchFamily="34" charset="0"/>
              </a:rPr>
              <a:t>Predictable Service Replacement</a:t>
            </a:r>
            <a:endParaRPr sz="2800" dirty="0">
              <a:latin typeface="Aptos" panose="020B0004020202020204" pitchFamily="34" charset="0"/>
            </a:endParaRPr>
          </a:p>
        </p:txBody>
      </p:sp>
      <p:pic>
        <p:nvPicPr>
          <p:cNvPr id="7" name="Picture 6">
            <a:extLst>
              <a:ext uri="{FF2B5EF4-FFF2-40B4-BE49-F238E27FC236}">
                <a16:creationId xmlns:a16="http://schemas.microsoft.com/office/drawing/2014/main" id="{F8F104EA-F519-BFF6-E3F5-1CDC784E47B1}"/>
              </a:ext>
            </a:extLst>
          </p:cNvPr>
          <p:cNvPicPr>
            <a:picLocks noChangeAspect="1"/>
          </p:cNvPicPr>
          <p:nvPr/>
        </p:nvPicPr>
        <p:blipFill>
          <a:blip r:embed="rId2"/>
          <a:stretch>
            <a:fillRect/>
          </a:stretch>
        </p:blipFill>
        <p:spPr>
          <a:xfrm>
            <a:off x="9562453" y="4149455"/>
            <a:ext cx="2187546" cy="855441"/>
          </a:xfrm>
          <a:prstGeom prst="rect">
            <a:avLst/>
          </a:prstGeom>
          <a:ln>
            <a:solidFill>
              <a:srgbClr val="FF0000"/>
            </a:solidFill>
          </a:ln>
        </p:spPr>
      </p:pic>
      <p:pic>
        <p:nvPicPr>
          <p:cNvPr id="6" name="Picture 5">
            <a:extLst>
              <a:ext uri="{FF2B5EF4-FFF2-40B4-BE49-F238E27FC236}">
                <a16:creationId xmlns:a16="http://schemas.microsoft.com/office/drawing/2014/main" id="{F955A198-DF82-4D18-837F-6A15414EBB7D}"/>
              </a:ext>
            </a:extLst>
          </p:cNvPr>
          <p:cNvPicPr>
            <a:picLocks noChangeAspect="1"/>
          </p:cNvPicPr>
          <p:nvPr/>
        </p:nvPicPr>
        <p:blipFill>
          <a:blip r:embed="rId3"/>
          <a:stretch>
            <a:fillRect/>
          </a:stretch>
        </p:blipFill>
        <p:spPr>
          <a:xfrm>
            <a:off x="6450000" y="1960381"/>
            <a:ext cx="5255611" cy="3529236"/>
          </a:xfrm>
          <a:prstGeom prst="rect">
            <a:avLst/>
          </a:prstGeom>
        </p:spPr>
      </p:pic>
      <p:sp>
        <p:nvSpPr>
          <p:cNvPr id="8" name="TextBox 7"/>
          <p:cNvSpPr txBox="1"/>
          <p:nvPr/>
        </p:nvSpPr>
        <p:spPr>
          <a:xfrm>
            <a:off x="550000" y="1050000"/>
            <a:ext cx="5650000" cy="2267031"/>
          </a:xfrm>
          <a:prstGeom prst="rect">
            <a:avLst/>
          </a:prstGeom>
          <a:noFill/>
        </p:spPr>
        <p:txBody>
          <a:bodyPr wrap="square">
            <a:spAutoFit/>
          </a:bodyPr>
          <a:lstStyle/>
          <a:p>
            <a:pPr algn="l">
              <a:lnSpc>
                <a:spcPct val="145000"/>
              </a:lnSpc>
              <a:spcBef>
                <a:spcPts val="0"/>
              </a:spcBef>
              <a:spcAft>
                <a:spcPts val="800"/>
              </a:spcAft>
            </a:pPr>
            <a:r>
              <a:rPr sz="1100" b="0" dirty="0">
                <a:solidFill>
                  <a:schemeClr val="tx1">
                    <a:lumMod val="85000"/>
                    <a:lumOff val="15000"/>
                  </a:schemeClr>
                </a:solidFill>
                <a:latin typeface="Aptos" panose="020B0004020202020204" pitchFamily="34" charset="0"/>
              </a:rPr>
              <a:t>The control response to a rising hazard rate is not a better MTBF estimate — it is a scheduled intervention set before the wear-out region is reached, sized from each component's Weibull characteristic life (η) rather than its long-run MTBF.</a:t>
            </a:r>
          </a:p>
          <a:p>
            <a:pPr lvl="1">
              <a:lnSpc>
                <a:spcPct val="145000"/>
              </a:lnSpc>
              <a:spcBef>
                <a:spcPts val="0"/>
              </a:spcBef>
              <a:spcAft>
                <a:spcPts val="800"/>
              </a:spcAft>
            </a:pPr>
            <a:r>
              <a:rPr sz="1100" b="1" dirty="0">
                <a:solidFill>
                  <a:schemeClr val="tx1">
                    <a:lumMod val="85000"/>
                    <a:lumOff val="15000"/>
                  </a:schemeClr>
                </a:solidFill>
                <a:latin typeface="Aptos" panose="020B0004020202020204" pitchFamily="34" charset="0"/>
              </a:rPr>
              <a:t>In practice: </a:t>
            </a:r>
            <a:r>
              <a:rPr sz="1100" b="0" dirty="0">
                <a:solidFill>
                  <a:schemeClr val="tx1">
                    <a:lumMod val="85000"/>
                    <a:lumOff val="15000"/>
                  </a:schemeClr>
                </a:solidFill>
                <a:latin typeface="Aptos" panose="020B0004020202020204" pitchFamily="34" charset="0"/>
              </a:rPr>
              <a:t>set overhaul/replacement intervals at a fraction of η (tightened further for Class B/C consequence items); track operating hours and Hz-band exposure per unit — data this deck already mandates the Applicant to log; and treat “still running at 340,000 hours” as a maintenance trigger, not a reliability success story.</a:t>
            </a:r>
          </a:p>
        </p:txBody>
      </p:sp>
      <p:sp>
        <p:nvSpPr>
          <p:cNvPr id="9" name="Rounded Rectangle 8"/>
          <p:cNvSpPr/>
          <p:nvPr/>
        </p:nvSpPr>
        <p:spPr>
          <a:xfrm>
            <a:off x="550000" y="4700000"/>
            <a:ext cx="5650000" cy="150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200" b="1">
                <a:solidFill>
                  <a:schemeClr val="accent1"/>
                </a:solidFill>
                <a:latin typeface="Aptos" panose="020B0004020202020204" pitchFamily="34" charset="0"/>
              </a:rPr>
              <a:t>KEY TAKEAWAY  </a:t>
            </a:r>
            <a:r>
              <a:rPr sz="1200" b="0">
                <a:solidFill>
                  <a:schemeClr val="accent1"/>
                </a:solidFill>
                <a:latin typeface="Aptos" panose="020B0004020202020204" pitchFamily="34" charset="0"/>
              </a:rPr>
              <a:t>A predictable replacement interval is a Weibull-based deadline set before the hazard curve turns upward — not a reaction to it.</a:t>
            </a:r>
          </a:p>
        </p:txBody>
      </p:sp>
      <p:sp>
        <p:nvSpPr>
          <p:cNvPr id="10" name="Rounded Rectangle 9"/>
          <p:cNvSpPr/>
          <p:nvPr/>
        </p:nvSpPr>
        <p:spPr>
          <a:xfrm>
            <a:off x="10728000" y="227200"/>
            <a:ext cx="1404000" cy="460000"/>
          </a:xfrm>
          <a:prstGeom prst="roundRect">
            <a:avLst>
              <a:gd name="adj" fmla="val 50000"/>
            </a:avLst>
          </a:prstGeom>
          <a:solidFill>
            <a:srgbClr val="1D7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CONTROL</a:t>
            </a:r>
          </a:p>
        </p:txBody>
      </p:sp>
    </p:spTree>
    <p:extLst>
      <p:ext uri="{BB962C8B-B14F-4D97-AF65-F5344CB8AC3E}">
        <p14:creationId xmlns:p14="http://schemas.microsoft.com/office/powerpoint/2010/main" val="3085273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DDFD9-AB1D-04DF-814E-4C21BAE7735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56FA5E-ED31-229A-2F50-8DF33D152CD4}"/>
              </a:ext>
            </a:extLst>
          </p:cNvPr>
          <p:cNvSpPr>
            <a:spLocks noGrp="1"/>
          </p:cNvSpPr>
          <p:nvPr>
            <p:ph type="sldNum" sz="quarter" idx="12"/>
          </p:nvPr>
        </p:nvSpPr>
        <p:spPr/>
        <p:txBody>
          <a:bodyPr/>
          <a:lstStyle/>
          <a:p>
            <a:fld id="{339267EE-5941-4723-AC0A-CBD0C7B97EE9}" type="slidenum">
              <a:rPr lang="en-GB" smtClean="0"/>
              <a:t>37</a:t>
            </a:fld>
            <a:endParaRPr lang="en-GB"/>
          </a:p>
        </p:txBody>
      </p:sp>
      <p:sp>
        <p:nvSpPr>
          <p:cNvPr id="3" name="Rectangle 2">
            <a:extLst>
              <a:ext uri="{FF2B5EF4-FFF2-40B4-BE49-F238E27FC236}">
                <a16:creationId xmlns:a16="http://schemas.microsoft.com/office/drawing/2014/main" id="{6E1E838F-AFFB-5D89-AF84-BD4306F32489}"/>
              </a:ext>
            </a:extLst>
          </p:cNvPr>
          <p:cNvSpPr/>
          <p:nvPr/>
        </p:nvSpPr>
        <p:spPr>
          <a:xfrm>
            <a:off x="1524000" y="0"/>
            <a:ext cx="9144000" cy="914400"/>
          </a:xfrm>
          <a:prstGeom prst="rect">
            <a:avLst/>
          </a:prstGeom>
          <a:solidFill>
            <a:schemeClr val="accent1"/>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a:rPr>
              <a:t>Reset to New</a:t>
            </a:r>
            <a:endParaRPr sz="2800" dirty="0"/>
          </a:p>
        </p:txBody>
      </p:sp>
      <p:pic>
        <p:nvPicPr>
          <p:cNvPr id="5" name="Picture 4">
            <a:extLst>
              <a:ext uri="{FF2B5EF4-FFF2-40B4-BE49-F238E27FC236}">
                <a16:creationId xmlns:a16="http://schemas.microsoft.com/office/drawing/2014/main" id="{22933B33-64AE-2201-5640-B415268B9861}"/>
              </a:ext>
            </a:extLst>
          </p:cNvPr>
          <p:cNvPicPr>
            <a:picLocks noChangeAspect="1"/>
          </p:cNvPicPr>
          <p:nvPr/>
        </p:nvPicPr>
        <p:blipFill>
          <a:blip r:embed="rId2"/>
          <a:stretch>
            <a:fillRect/>
          </a:stretch>
        </p:blipFill>
        <p:spPr>
          <a:xfrm>
            <a:off x="374573" y="1805600"/>
            <a:ext cx="5600296" cy="3782864"/>
          </a:xfrm>
          <a:prstGeom prst="rect">
            <a:avLst/>
          </a:prstGeom>
        </p:spPr>
      </p:pic>
      <p:pic>
        <p:nvPicPr>
          <p:cNvPr id="9" name="Picture 8">
            <a:extLst>
              <a:ext uri="{FF2B5EF4-FFF2-40B4-BE49-F238E27FC236}">
                <a16:creationId xmlns:a16="http://schemas.microsoft.com/office/drawing/2014/main" id="{6EA5A63D-93BD-4224-36AE-3F5F2095BAD2}"/>
              </a:ext>
            </a:extLst>
          </p:cNvPr>
          <p:cNvPicPr>
            <a:picLocks noChangeAspect="1"/>
          </p:cNvPicPr>
          <p:nvPr/>
        </p:nvPicPr>
        <p:blipFill>
          <a:blip r:embed="rId3"/>
          <a:stretch>
            <a:fillRect/>
          </a:stretch>
        </p:blipFill>
        <p:spPr>
          <a:xfrm>
            <a:off x="6096000" y="1961002"/>
            <a:ext cx="5340943" cy="3649267"/>
          </a:xfrm>
          <a:prstGeom prst="rect">
            <a:avLst/>
          </a:prstGeom>
        </p:spPr>
      </p:pic>
      <p:sp>
        <p:nvSpPr>
          <p:cNvPr id="10" name="TextBox 9"/>
          <p:cNvSpPr txBox="1"/>
          <p:nvPr/>
        </p:nvSpPr>
        <p:spPr>
          <a:xfrm>
            <a:off x="580000" y="970000"/>
            <a:ext cx="11000000" cy="780000"/>
          </a:xfrm>
          <a:prstGeom prst="rect">
            <a:avLst/>
          </a:prstGeom>
          <a:noFill/>
        </p:spPr>
        <p:txBody>
          <a:bodyPr wrap="square">
            <a:spAutoFit/>
          </a:bodyPr>
          <a:lstStyle/>
          <a:p>
            <a:pPr algn="l">
              <a:lnSpc>
                <a:spcPct val="145000"/>
              </a:lnSpc>
              <a:spcBef>
                <a:spcPts val="0"/>
              </a:spcBef>
              <a:spcAft>
                <a:spcPts val="800"/>
              </a:spcAft>
            </a:pPr>
            <a:r>
              <a:rPr sz="1000" b="0">
                <a:solidFill>
                  <a:schemeClr val="tx1">
                    <a:lumMod val="85000"/>
                    <a:lumOff val="15000"/>
                  </a:schemeClr>
                </a:solidFill>
                <a:latin typeface="Aptos"/>
              </a:rPr>
              <a:t>A full overhaul or unit exchange does more than avoid one failure — it resets the clock. A good-as-new replacement returns the component to t = 0 on its Weibull curve, restoring the low, flat hazard rate that every Poisson/MTBF probability in this compendium (Slides 22–28) depends on.</a:t>
            </a:r>
          </a:p>
        </p:txBody>
      </p:sp>
      <p:sp>
        <p:nvSpPr>
          <p:cNvPr id="11" name="Rounded Rectangle 10"/>
          <p:cNvSpPr/>
          <p:nvPr/>
        </p:nvSpPr>
        <p:spPr>
          <a:xfrm>
            <a:off x="580000" y="5680000"/>
            <a:ext cx="11000000" cy="70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50" b="1">
                <a:solidFill>
                  <a:schemeClr val="accent1"/>
                </a:solidFill>
                <a:latin typeface="Aptos"/>
              </a:rPr>
              <a:t>KEY TAKEAWAY  </a:t>
            </a:r>
            <a:r>
              <a:rPr sz="1150" b="0">
                <a:solidFill>
                  <a:schemeClr val="accent1"/>
                </a:solidFill>
                <a:latin typeface="Aptos"/>
              </a:rPr>
              <a:t>“Reset to new” is what keeps the rest of this deck's mathematics honest — skip it, and every MTBF-based probability quoted earlier quietly becomes optimistic.</a:t>
            </a:r>
          </a:p>
        </p:txBody>
      </p:sp>
      <p:sp>
        <p:nvSpPr>
          <p:cNvPr id="12" name="Rounded Rectangle 11"/>
          <p:cNvSpPr/>
          <p:nvPr/>
        </p:nvSpPr>
        <p:spPr>
          <a:xfrm>
            <a:off x="10728000" y="227200"/>
            <a:ext cx="1404000" cy="460000"/>
          </a:xfrm>
          <a:prstGeom prst="roundRect">
            <a:avLst>
              <a:gd name="adj" fmla="val 50000"/>
            </a:avLst>
          </a:prstGeom>
          <a:solidFill>
            <a:srgbClr val="1D7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CONTROL</a:t>
            </a:r>
          </a:p>
        </p:txBody>
      </p:sp>
    </p:spTree>
    <p:extLst>
      <p:ext uri="{BB962C8B-B14F-4D97-AF65-F5344CB8AC3E}">
        <p14:creationId xmlns:p14="http://schemas.microsoft.com/office/powerpoint/2010/main" val="38169380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1A684-0DFD-077A-9EFD-F501062DF5D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D0E6FA-9B80-B89A-78DB-303247979B73}"/>
              </a:ext>
            </a:extLst>
          </p:cNvPr>
          <p:cNvSpPr>
            <a:spLocks noGrp="1"/>
          </p:cNvSpPr>
          <p:nvPr>
            <p:ph type="sldNum" sz="quarter" idx="12"/>
          </p:nvPr>
        </p:nvSpPr>
        <p:spPr/>
        <p:txBody>
          <a:bodyPr/>
          <a:lstStyle/>
          <a:p>
            <a:fld id="{339267EE-5941-4723-AC0A-CBD0C7B97EE9}" type="slidenum">
              <a:rPr lang="en-GB" smtClean="0"/>
              <a:t>38</a:t>
            </a:fld>
            <a:endParaRPr lang="en-GB"/>
          </a:p>
        </p:txBody>
      </p:sp>
      <p:sp>
        <p:nvSpPr>
          <p:cNvPr id="3" name="Rectangle 2">
            <a:extLst>
              <a:ext uri="{FF2B5EF4-FFF2-40B4-BE49-F238E27FC236}">
                <a16:creationId xmlns:a16="http://schemas.microsoft.com/office/drawing/2014/main" id="{5BF2EA16-5FE3-ECDB-AA1D-53C092AEE978}"/>
              </a:ext>
            </a:extLst>
          </p:cNvPr>
          <p:cNvSpPr/>
          <p:nvPr/>
        </p:nvSpPr>
        <p:spPr>
          <a:xfrm>
            <a:off x="1524000" y="0"/>
            <a:ext cx="9144000" cy="914400"/>
          </a:xfrm>
          <a:prstGeom prst="rect">
            <a:avLst/>
          </a:prstGeom>
          <a:solidFill>
            <a:schemeClr val="accent1"/>
          </a:solidFill>
          <a:ln>
            <a:solidFill>
              <a:srgbClr val="003366"/>
            </a:solidFill>
          </a:ln>
          <a:scene3d>
            <a:camera prst="orthographicFront"/>
            <a:lightRig rig="threePt" dir="t"/>
          </a:scene3d>
          <a:sp3d>
            <a:bevelT prst="angle"/>
          </a:sp3d>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latin typeface="Arial"/>
              </a:defRPr>
            </a:pPr>
            <a:r>
              <a:rPr lang="en-US" sz="2800" b="1" dirty="0">
                <a:latin typeface="Segoe UI"/>
              </a:rPr>
              <a:t>Reliability Governance — Closing the Loop</a:t>
            </a:r>
            <a:endParaRPr sz="2800" dirty="0"/>
          </a:p>
        </p:txBody>
      </p:sp>
      <p:pic>
        <p:nvPicPr>
          <p:cNvPr id="5" name="Picture 4">
            <a:extLst>
              <a:ext uri="{FF2B5EF4-FFF2-40B4-BE49-F238E27FC236}">
                <a16:creationId xmlns:a16="http://schemas.microsoft.com/office/drawing/2014/main" id="{6B49D528-3F94-1E1D-396C-0B18A19F871D}"/>
              </a:ext>
            </a:extLst>
          </p:cNvPr>
          <p:cNvPicPr>
            <a:picLocks noChangeAspect="1"/>
          </p:cNvPicPr>
          <p:nvPr/>
        </p:nvPicPr>
        <p:blipFill>
          <a:blip r:embed="rId2"/>
          <a:stretch>
            <a:fillRect/>
          </a:stretch>
        </p:blipFill>
        <p:spPr>
          <a:xfrm>
            <a:off x="580000" y="2234989"/>
            <a:ext cx="5300000" cy="3580021"/>
          </a:xfrm>
          <a:prstGeom prst="rect">
            <a:avLst/>
          </a:prstGeom>
        </p:spPr>
      </p:pic>
      <p:sp>
        <p:nvSpPr>
          <p:cNvPr id="6" name="TextBox 5"/>
          <p:cNvSpPr txBox="1"/>
          <p:nvPr/>
        </p:nvSpPr>
        <p:spPr>
          <a:xfrm>
            <a:off x="580000" y="970000"/>
            <a:ext cx="11000000" cy="680000"/>
          </a:xfrm>
          <a:prstGeom prst="rect">
            <a:avLst/>
          </a:prstGeom>
          <a:noFill/>
        </p:spPr>
        <p:txBody>
          <a:bodyPr wrap="square">
            <a:spAutoFit/>
          </a:bodyPr>
          <a:lstStyle/>
          <a:p>
            <a:pPr algn="l">
              <a:lnSpc>
                <a:spcPct val="145000"/>
              </a:lnSpc>
              <a:spcBef>
                <a:spcPts val="0"/>
              </a:spcBef>
              <a:spcAft>
                <a:spcPts val="800"/>
              </a:spcAft>
            </a:pPr>
            <a:r>
              <a:rPr sz="1100" b="0">
                <a:solidFill>
                  <a:schemeClr val="tx1">
                    <a:lumMod val="85000"/>
                    <a:lumOff val="15000"/>
                  </a:schemeClr>
                </a:solidFill>
                <a:latin typeface="Aptos"/>
              </a:rPr>
              <a:t>This compendium opened with a budget (Slide 29: 0.35 events/year) and closes with the mechanism that keeps the plant inside it: a continuous RAMI governance loop.</a:t>
            </a:r>
          </a:p>
        </p:txBody>
      </p:sp>
      <p:sp>
        <p:nvSpPr>
          <p:cNvPr id="7" name="Oval 6"/>
          <p:cNvSpPr/>
          <p:nvPr/>
        </p:nvSpPr>
        <p:spPr>
          <a:xfrm>
            <a:off x="6250000" y="1830000"/>
            <a:ext cx="360000" cy="36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latin typeface="Aptos"/>
              </a:rPr>
              <a:t>1</a:t>
            </a:r>
          </a:p>
        </p:txBody>
      </p:sp>
      <p:sp>
        <p:nvSpPr>
          <p:cNvPr id="8" name="TextBox 7"/>
          <p:cNvSpPr txBox="1"/>
          <p:nvPr/>
        </p:nvSpPr>
        <p:spPr>
          <a:xfrm>
            <a:off x="6710000" y="1790000"/>
            <a:ext cx="4840000" cy="850000"/>
          </a:xfrm>
          <a:prstGeom prst="rect">
            <a:avLst/>
          </a:prstGeom>
          <a:noFill/>
        </p:spPr>
        <p:txBody>
          <a:bodyPr wrap="square">
            <a:spAutoFit/>
          </a:bodyPr>
          <a:lstStyle/>
          <a:p>
            <a:pPr>
              <a:lnSpc>
                <a:spcPct val="145000"/>
              </a:lnSpc>
              <a:spcBef>
                <a:spcPts val="0"/>
              </a:spcBef>
              <a:spcAft>
                <a:spcPts val="800"/>
              </a:spcAft>
            </a:pPr>
            <a:r>
              <a:rPr sz="950" b="1">
                <a:solidFill>
                  <a:schemeClr val="accent1"/>
                </a:solidFill>
                <a:latin typeface="Aptos"/>
              </a:rPr>
              <a:t>MEASURE exposure</a:t>
            </a:r>
          </a:p>
          <a:p>
            <a:pPr>
              <a:lnSpc>
                <a:spcPct val="145000"/>
              </a:lnSpc>
              <a:spcBef>
                <a:spcPts val="0"/>
              </a:spcBef>
              <a:spcAft>
                <a:spcPts val="800"/>
              </a:spcAft>
            </a:pPr>
            <a:r>
              <a:rPr sz="950">
                <a:solidFill>
                  <a:schemeClr val="tx1">
                    <a:lumMod val="85000"/>
                    <a:lumOff val="15000"/>
                  </a:schemeClr>
                </a:solidFill>
                <a:latin typeface="Aptos"/>
              </a:rPr>
              <a:t>Log operating hours and Hz-band time per unit (already mandated, Slide 7).</a:t>
            </a:r>
          </a:p>
        </p:txBody>
      </p:sp>
      <p:sp>
        <p:nvSpPr>
          <p:cNvPr id="9" name="Oval 8"/>
          <p:cNvSpPr/>
          <p:nvPr/>
        </p:nvSpPr>
        <p:spPr>
          <a:xfrm>
            <a:off x="6250000" y="2740000"/>
            <a:ext cx="360000" cy="36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latin typeface="Aptos"/>
              </a:rPr>
              <a:t>2</a:t>
            </a:r>
          </a:p>
        </p:txBody>
      </p:sp>
      <p:sp>
        <p:nvSpPr>
          <p:cNvPr id="10" name="TextBox 9"/>
          <p:cNvSpPr txBox="1"/>
          <p:nvPr/>
        </p:nvSpPr>
        <p:spPr>
          <a:xfrm>
            <a:off x="6710000" y="2700000"/>
            <a:ext cx="4840000" cy="850000"/>
          </a:xfrm>
          <a:prstGeom prst="rect">
            <a:avLst/>
          </a:prstGeom>
          <a:noFill/>
        </p:spPr>
        <p:txBody>
          <a:bodyPr wrap="square">
            <a:spAutoFit/>
          </a:bodyPr>
          <a:lstStyle/>
          <a:p>
            <a:pPr>
              <a:lnSpc>
                <a:spcPct val="145000"/>
              </a:lnSpc>
              <a:spcBef>
                <a:spcPts val="0"/>
              </a:spcBef>
              <a:spcAft>
                <a:spcPts val="800"/>
              </a:spcAft>
            </a:pPr>
            <a:r>
              <a:rPr sz="950" b="1">
                <a:solidFill>
                  <a:schemeClr val="accent1"/>
                </a:solidFill>
                <a:latin typeface="Aptos"/>
              </a:rPr>
              <a:t>TRACK age vs. η</a:t>
            </a:r>
          </a:p>
          <a:p>
            <a:pPr>
              <a:lnSpc>
                <a:spcPct val="145000"/>
              </a:lnSpc>
              <a:spcBef>
                <a:spcPts val="0"/>
              </a:spcBef>
              <a:spcAft>
                <a:spcPts val="800"/>
              </a:spcAft>
            </a:pPr>
            <a:r>
              <a:rPr sz="950">
                <a:solidFill>
                  <a:schemeClr val="tx1">
                    <a:lumMod val="85000"/>
                    <a:lumOff val="15000"/>
                  </a:schemeClr>
                </a:solidFill>
                <a:latin typeface="Aptos"/>
              </a:rPr>
              <a:t>Compare accumulated life to each component's Weibull characteristic life.</a:t>
            </a:r>
          </a:p>
        </p:txBody>
      </p:sp>
      <p:sp>
        <p:nvSpPr>
          <p:cNvPr id="11" name="Oval 10"/>
          <p:cNvSpPr/>
          <p:nvPr/>
        </p:nvSpPr>
        <p:spPr>
          <a:xfrm>
            <a:off x="6250000" y="3650000"/>
            <a:ext cx="360000" cy="36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latin typeface="Aptos"/>
              </a:rPr>
              <a:t>3</a:t>
            </a:r>
          </a:p>
        </p:txBody>
      </p:sp>
      <p:sp>
        <p:nvSpPr>
          <p:cNvPr id="12" name="TextBox 11"/>
          <p:cNvSpPr txBox="1"/>
          <p:nvPr/>
        </p:nvSpPr>
        <p:spPr>
          <a:xfrm>
            <a:off x="6710000" y="3610000"/>
            <a:ext cx="4840000" cy="850000"/>
          </a:xfrm>
          <a:prstGeom prst="rect">
            <a:avLst/>
          </a:prstGeom>
          <a:noFill/>
        </p:spPr>
        <p:txBody>
          <a:bodyPr wrap="square">
            <a:spAutoFit/>
          </a:bodyPr>
          <a:lstStyle/>
          <a:p>
            <a:pPr>
              <a:lnSpc>
                <a:spcPct val="145000"/>
              </a:lnSpc>
              <a:spcBef>
                <a:spcPts val="0"/>
              </a:spcBef>
              <a:spcAft>
                <a:spcPts val="800"/>
              </a:spcAft>
            </a:pPr>
            <a:r>
              <a:rPr sz="950" b="1">
                <a:solidFill>
                  <a:schemeClr val="accent1"/>
                </a:solidFill>
                <a:latin typeface="Aptos"/>
              </a:rPr>
              <a:t>REPLACE before wear-out</a:t>
            </a:r>
          </a:p>
          <a:p>
            <a:pPr>
              <a:lnSpc>
                <a:spcPct val="145000"/>
              </a:lnSpc>
              <a:spcBef>
                <a:spcPts val="0"/>
              </a:spcBef>
              <a:spcAft>
                <a:spcPts val="800"/>
              </a:spcAft>
            </a:pPr>
            <a:r>
              <a:rPr sz="950">
                <a:solidFill>
                  <a:schemeClr val="tx1">
                    <a:lumMod val="85000"/>
                    <a:lumOff val="15000"/>
                  </a:schemeClr>
                </a:solidFill>
                <a:latin typeface="Aptos"/>
              </a:rPr>
              <a:t>Trigger overhaul/exchange at a fraction of η — not at first symptom.</a:t>
            </a:r>
          </a:p>
        </p:txBody>
      </p:sp>
      <p:sp>
        <p:nvSpPr>
          <p:cNvPr id="13" name="Oval 12"/>
          <p:cNvSpPr/>
          <p:nvPr/>
        </p:nvSpPr>
        <p:spPr>
          <a:xfrm>
            <a:off x="6250000" y="4560000"/>
            <a:ext cx="360000" cy="36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latin typeface="Aptos"/>
              </a:rPr>
              <a:t>4</a:t>
            </a:r>
          </a:p>
        </p:txBody>
      </p:sp>
      <p:sp>
        <p:nvSpPr>
          <p:cNvPr id="14" name="TextBox 13"/>
          <p:cNvSpPr txBox="1"/>
          <p:nvPr/>
        </p:nvSpPr>
        <p:spPr>
          <a:xfrm>
            <a:off x="6710000" y="4520000"/>
            <a:ext cx="4840000" cy="850000"/>
          </a:xfrm>
          <a:prstGeom prst="rect">
            <a:avLst/>
          </a:prstGeom>
          <a:noFill/>
        </p:spPr>
        <p:txBody>
          <a:bodyPr wrap="square">
            <a:spAutoFit/>
          </a:bodyPr>
          <a:lstStyle/>
          <a:p>
            <a:pPr>
              <a:lnSpc>
                <a:spcPct val="145000"/>
              </a:lnSpc>
              <a:spcBef>
                <a:spcPts val="0"/>
              </a:spcBef>
              <a:spcAft>
                <a:spcPts val="800"/>
              </a:spcAft>
            </a:pPr>
            <a:r>
              <a:rPr sz="950" b="1">
                <a:solidFill>
                  <a:schemeClr val="accent1"/>
                </a:solidFill>
                <a:latin typeface="Aptos"/>
              </a:rPr>
              <a:t>RESET &amp; feed back</a:t>
            </a:r>
          </a:p>
          <a:p>
            <a:pPr>
              <a:lnSpc>
                <a:spcPct val="145000"/>
              </a:lnSpc>
              <a:spcBef>
                <a:spcPts val="0"/>
              </a:spcBef>
              <a:spcAft>
                <a:spcPts val="800"/>
              </a:spcAft>
            </a:pPr>
            <a:r>
              <a:rPr sz="950">
                <a:solidFill>
                  <a:schemeClr val="tx1">
                    <a:lumMod val="85000"/>
                    <a:lumOff val="15000"/>
                  </a:schemeClr>
                </a:solidFill>
                <a:latin typeface="Aptos"/>
              </a:rPr>
              <a:t>Log the renewal and roll it into next year's RAMI dossier (Slide 13).</a:t>
            </a:r>
          </a:p>
        </p:txBody>
      </p:sp>
      <p:sp>
        <p:nvSpPr>
          <p:cNvPr id="15" name="Rounded Rectangle 14"/>
          <p:cNvSpPr/>
          <p:nvPr/>
        </p:nvSpPr>
        <p:spPr>
          <a:xfrm>
            <a:off x="580000" y="5760000"/>
            <a:ext cx="11000000" cy="560000"/>
          </a:xfrm>
          <a:prstGeom prst="roundRect">
            <a:avLst>
              <a:gd name="adj" fmla="val 6000"/>
            </a:avLst>
          </a:prstGeom>
          <a:solidFill>
            <a:schemeClr val="accent1">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80000" rIns="137160" bIns="80000" rtlCol="0" anchor="ctr"/>
          <a:lstStyle/>
          <a:p>
            <a:pPr algn="ctr">
              <a:lnSpc>
                <a:spcPct val="110000"/>
              </a:lnSpc>
            </a:pPr>
            <a:r>
              <a:rPr sz="1150" b="1">
                <a:solidFill>
                  <a:schemeClr val="accent1"/>
                </a:solidFill>
                <a:latin typeface="Aptos"/>
              </a:rPr>
              <a:t>KEY TAKEAWAY  </a:t>
            </a:r>
            <a:r>
              <a:rPr sz="1150" b="0">
                <a:solidFill>
                  <a:schemeClr val="accent1"/>
                </a:solidFill>
                <a:latin typeface="Aptos"/>
              </a:rPr>
              <a:t>MTBF opened the story; predictable, logged, reset-to-new replacement is how the plant keeps living up to it.</a:t>
            </a:r>
          </a:p>
        </p:txBody>
      </p:sp>
      <p:sp>
        <p:nvSpPr>
          <p:cNvPr id="16" name="Rounded Rectangle 15"/>
          <p:cNvSpPr/>
          <p:nvPr/>
        </p:nvSpPr>
        <p:spPr>
          <a:xfrm>
            <a:off x="10728000" y="227200"/>
            <a:ext cx="1404000" cy="460000"/>
          </a:xfrm>
          <a:prstGeom prst="roundRect">
            <a:avLst>
              <a:gd name="adj" fmla="val 50000"/>
            </a:avLst>
          </a:prstGeom>
          <a:solidFill>
            <a:srgbClr val="1D7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60000" rIns="60000" tIns="20000" bIns="20000"/>
          <a:lstStyle/>
          <a:p>
            <a:pPr algn="ctr"/>
            <a:r>
              <a:rPr sz="1250" b="1" spc="80">
                <a:solidFill>
                  <a:srgbClr val="FFFFFF"/>
                </a:solidFill>
                <a:latin typeface="Aptos"/>
              </a:rPr>
              <a:t>CONTROL</a:t>
            </a:r>
          </a:p>
        </p:txBody>
      </p:sp>
    </p:spTree>
    <p:extLst>
      <p:ext uri="{BB962C8B-B14F-4D97-AF65-F5344CB8AC3E}">
        <p14:creationId xmlns:p14="http://schemas.microsoft.com/office/powerpoint/2010/main" val="2592707485"/>
      </p:ext>
    </p:extLst>
  </p:cSld>
  <p:clrMapOvr>
    <a:masterClrMapping/>
  </p:clrMapOvr>
</p:sld>
</file>

<file path=ppt/theme/theme1.xml><?xml version="1.0" encoding="utf-8"?>
<a:theme xmlns:a="http://schemas.openxmlformats.org/drawingml/2006/main" name="Office Theme">
  <a:themeElements>
    <a:clrScheme name="SCK•CEN 2020">
      <a:dk1>
        <a:sysClr val="windowText" lastClr="000000"/>
      </a:dk1>
      <a:lt1>
        <a:sysClr val="window" lastClr="FFFFFF"/>
      </a:lt1>
      <a:dk2>
        <a:srgbClr val="515151"/>
      </a:dk2>
      <a:lt2>
        <a:srgbClr val="E7E6E6"/>
      </a:lt2>
      <a:accent1>
        <a:srgbClr val="562873"/>
      </a:accent1>
      <a:accent2>
        <a:srgbClr val="984A9C"/>
      </a:accent2>
      <a:accent3>
        <a:srgbClr val="8ED8F8"/>
      </a:accent3>
      <a:accent4>
        <a:srgbClr val="034694"/>
      </a:accent4>
      <a:accent5>
        <a:srgbClr val="CACCD0"/>
      </a:accent5>
      <a:accent6>
        <a:srgbClr val="DFE0E2"/>
      </a:accent6>
      <a:hlink>
        <a:srgbClr val="BC58AE"/>
      </a:hlink>
      <a:folHlink>
        <a:srgbClr val="501D53"/>
      </a:folHlink>
    </a:clrScheme>
    <a:fontScheme name="sckcen">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lexandria Master">
  <a:themeElements>
    <a:clrScheme name="SCK•CEN 2020">
      <a:dk1>
        <a:sysClr val="windowText" lastClr="000000"/>
      </a:dk1>
      <a:lt1>
        <a:sysClr val="window" lastClr="FFFFFF"/>
      </a:lt1>
      <a:dk2>
        <a:srgbClr val="515151"/>
      </a:dk2>
      <a:lt2>
        <a:srgbClr val="E7E6E6"/>
      </a:lt2>
      <a:accent1>
        <a:srgbClr val="562873"/>
      </a:accent1>
      <a:accent2>
        <a:srgbClr val="984A9C"/>
      </a:accent2>
      <a:accent3>
        <a:srgbClr val="8ED8F8"/>
      </a:accent3>
      <a:accent4>
        <a:srgbClr val="034694"/>
      </a:accent4>
      <a:accent5>
        <a:srgbClr val="CACCD0"/>
      </a:accent5>
      <a:accent6>
        <a:srgbClr val="DFE0E2"/>
      </a:accent6>
      <a:hlink>
        <a:srgbClr val="BC58AE"/>
      </a:hlink>
      <a:folHlink>
        <a:srgbClr val="501D53"/>
      </a:folHlink>
    </a:clrScheme>
    <a:fontScheme name="sckcen">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ckcen">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owerpoint presentation - non Alx.pptx" id="{234A7805-6BAA-4206-969E-51965EB19825}" vid="{3C093591-5CD8-4757-A439-9AFAF4D652C7}"/>
    </a:ext>
  </a:extLst>
</a:theme>
</file>

<file path=ppt/theme/theme4.xml><?xml version="1.0" encoding="utf-8"?>
<a:theme xmlns:a="http://schemas.openxmlformats.org/drawingml/2006/main" name="1_Office Theme">
  <a:themeElements>
    <a:clrScheme name="SCK•CEN 2020">
      <a:dk1>
        <a:sysClr val="windowText" lastClr="000000"/>
      </a:dk1>
      <a:lt1>
        <a:sysClr val="window" lastClr="FFFFFF"/>
      </a:lt1>
      <a:dk2>
        <a:srgbClr val="515151"/>
      </a:dk2>
      <a:lt2>
        <a:srgbClr val="E7E6E6"/>
      </a:lt2>
      <a:accent1>
        <a:srgbClr val="562873"/>
      </a:accent1>
      <a:accent2>
        <a:srgbClr val="984A9C"/>
      </a:accent2>
      <a:accent3>
        <a:srgbClr val="8ED8F8"/>
      </a:accent3>
      <a:accent4>
        <a:srgbClr val="034694"/>
      </a:accent4>
      <a:accent5>
        <a:srgbClr val="CACCD0"/>
      </a:accent5>
      <a:accent6>
        <a:srgbClr val="DFE0E2"/>
      </a:accent6>
      <a:hlink>
        <a:srgbClr val="BC58AE"/>
      </a:hlink>
      <a:folHlink>
        <a:srgbClr val="501D53"/>
      </a:folHlink>
    </a:clrScheme>
    <a:fontScheme name="sckcen">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SCK•CEN 2020">
      <a:dk1>
        <a:sysClr val="windowText" lastClr="000000"/>
      </a:dk1>
      <a:lt1>
        <a:sysClr val="window" lastClr="FFFFFF"/>
      </a:lt1>
      <a:dk2>
        <a:srgbClr val="515151"/>
      </a:dk2>
      <a:lt2>
        <a:srgbClr val="E7E6E6"/>
      </a:lt2>
      <a:accent1>
        <a:srgbClr val="562873"/>
      </a:accent1>
      <a:accent2>
        <a:srgbClr val="984A9C"/>
      </a:accent2>
      <a:accent3>
        <a:srgbClr val="8ED8F8"/>
      </a:accent3>
      <a:accent4>
        <a:srgbClr val="034694"/>
      </a:accent4>
      <a:accent5>
        <a:srgbClr val="CACCD0"/>
      </a:accent5>
      <a:accent6>
        <a:srgbClr val="DFE0E2"/>
      </a:accent6>
      <a:hlink>
        <a:srgbClr val="BC58AE"/>
      </a:hlink>
      <a:folHlink>
        <a:srgbClr val="501D53"/>
      </a:folHlink>
    </a:clrScheme>
    <a:fontScheme name="sckcen">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SCK•CEN 2020">
      <a:dk1>
        <a:sysClr val="windowText" lastClr="000000"/>
      </a:dk1>
      <a:lt1>
        <a:sysClr val="window" lastClr="FFFFFF"/>
      </a:lt1>
      <a:dk2>
        <a:srgbClr val="515151"/>
      </a:dk2>
      <a:lt2>
        <a:srgbClr val="E7E6E6"/>
      </a:lt2>
      <a:accent1>
        <a:srgbClr val="562873"/>
      </a:accent1>
      <a:accent2>
        <a:srgbClr val="984A9C"/>
      </a:accent2>
      <a:accent3>
        <a:srgbClr val="8ED8F8"/>
      </a:accent3>
      <a:accent4>
        <a:srgbClr val="034694"/>
      </a:accent4>
      <a:accent5>
        <a:srgbClr val="CACCD0"/>
      </a:accent5>
      <a:accent6>
        <a:srgbClr val="DFE0E2"/>
      </a:accent6>
      <a:hlink>
        <a:srgbClr val="BC58AE"/>
      </a:hlink>
      <a:folHlink>
        <a:srgbClr val="501D53"/>
      </a:folHlink>
    </a:clrScheme>
    <a:fontScheme name="sckcen">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28898</TotalTime>
  <Words>8491</Words>
  <Application>Microsoft Office PowerPoint</Application>
  <PresentationFormat>Widescreen</PresentationFormat>
  <Paragraphs>721</Paragraphs>
  <Slides>38</Slides>
  <Notes>23</Notes>
  <HiddenSlides>1</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38</vt:i4>
      </vt:variant>
    </vt:vector>
  </HeadingPairs>
  <TitlesOfParts>
    <vt:vector size="49" baseType="lpstr">
      <vt:lpstr>Aptos</vt:lpstr>
      <vt:lpstr>Arial</vt:lpstr>
      <vt:lpstr>Calibri</vt:lpstr>
      <vt:lpstr>Courier New</vt:lpstr>
      <vt:lpstr>Georgia</vt:lpstr>
      <vt:lpstr>Segoe UI</vt:lpstr>
      <vt:lpstr>Segoe UI Semibold</vt:lpstr>
      <vt:lpstr>Office Theme</vt:lpstr>
      <vt:lpstr>Alexandria Master</vt:lpstr>
      <vt:lpstr>2_Office Theme</vt:lpstr>
      <vt:lpstr>1_Office Theme</vt:lpstr>
      <vt:lpstr>Cryoplant MTBF and System Design</vt:lpstr>
      <vt:lpstr>DMAIC Roadmap (1/3) — Define &amp; Measure</vt:lpstr>
      <vt:lpstr>DMAIC Roadmap (2/3) — Analyze</vt:lpstr>
      <vt:lpstr>DMAIC Roadmap (3/3) — Improve &amp; Control</vt:lpstr>
      <vt:lpstr>Objectives &amp; Scope</vt:lpstr>
      <vt:lpstr>Configuration Baseline (Option A – 4× HSD Combi)</vt:lpstr>
      <vt:lpstr>Frequency and Upset Policy</vt:lpstr>
      <vt:lpstr>Compressor Flow Capability</vt:lpstr>
      <vt:lpstr>Total Flow and N−1 Snapshots</vt:lpstr>
      <vt:lpstr>Unit Economics — Single HP Compressor</vt:lpstr>
      <vt:lpstr>3-Only Envelope (Service / MTTR)</vt:lpstr>
      <vt:lpstr>Acceptance &amp; Test System</vt:lpstr>
      <vt:lpstr>Reliability Targets and RAMI</vt:lpstr>
      <vt:lpstr>CIS Autonomy &amp; MCS Exchange</vt:lpstr>
      <vt:lpstr>Utilities &amp; Interfaces</vt:lpstr>
      <vt:lpstr>Appendix A — Canonical Scenarios</vt:lpstr>
      <vt:lpstr>Appendix B — N−1 Hz Requirement</vt:lpstr>
      <vt:lpstr>Appendix C — Liquid Buffer Coverage</vt:lpstr>
      <vt:lpstr>PowerPoint Presentation</vt:lpstr>
      <vt:lpstr>PowerPoint Presentation</vt:lpstr>
      <vt:lpstr>PowerPoint Presentation</vt:lpstr>
      <vt:lpstr>Appendix D (1/2) — Poisson Reliability Model</vt:lpstr>
      <vt:lpstr>Appendix D (2/2) — Worked Examples</vt:lpstr>
      <vt:lpstr>Appendix E — Maintenance Activity Matrix</vt:lpstr>
      <vt:lpstr>Appendix F — Deriving the SAE Frequency Limit</vt:lpstr>
      <vt:lpstr>Appendix G — Component Reliability Reference</vt:lpstr>
      <vt:lpstr>Appendix H — Turbine OEM &amp; Contractor Data</vt:lpstr>
      <vt:lpstr>Appendix I — RCM/Weibull Applied: Cold-Compressor Train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SCK CEN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Fabich Adrian</dc:creator>
  <cp:lastModifiedBy>Bonthuys Gerkotze</cp:lastModifiedBy>
  <cp:revision>558</cp:revision>
  <cp:lastPrinted>2025-07-16T08:56:54Z</cp:lastPrinted>
  <dcterms:created xsi:type="dcterms:W3CDTF">2019-10-21T09:10:33Z</dcterms:created>
  <dcterms:modified xsi:type="dcterms:W3CDTF">2026-08-13T16:04:42Z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exandriaPath">
    <vt:lpwstr/>
  </property>
  <property fmtid="{D5CDD505-2E9C-101B-9397-08002B2CF9AE}" pid="3" name="ID">
    <vt:lpwstr>46467661</vt:lpwstr>
  </property>
  <property fmtid="{D5CDD505-2E9C-101B-9397-08002B2CF9AE}" pid="4" name="Name">
    <vt:lpwstr>QSYS Buildings Overview</vt:lpwstr>
  </property>
  <property fmtid="{D5CDD505-2E9C-101B-9397-08002B2CF9AE}" pid="5" name="SuppMarkings">
    <vt:lpwstr> </vt:lpwstr>
  </property>
  <property fmtid="{D5CDD505-2E9C-101B-9397-08002B2CF9AE}" pid="6" name="Security Clearance">
    <vt:lpwstr> </vt:lpwstr>
  </property>
  <property fmtid="{D5CDD505-2E9C-101B-9397-08002B2CF9AE}" pid="7" name="HyperLink">
    <vt:lpwstr>https://ecm.sckcen.be/OTCS/llisapi.dll/open/46467661</vt:lpwstr>
  </property>
  <property fmtid="{D5CDD505-2E9C-101B-9397-08002B2CF9AE}" pid="8" name="Common Attributes_Reference Number">
    <vt:lpwstr>SCK CEN/46467661</vt:lpwstr>
  </property>
  <property fmtid="{D5CDD505-2E9C-101B-9397-08002B2CF9AE}" pid="9" name="Common Attributes_Short Reference">
    <vt:lpwstr>SCK CEN/46467661</vt:lpwstr>
  </property>
  <property fmtid="{D5CDD505-2E9C-101B-9397-08002B2CF9AE}" pid="10" name="Common Attributes_Alternative Reference">
    <vt:lpwstr> </vt:lpwstr>
  </property>
  <property fmtid="{D5CDD505-2E9C-101B-9397-08002B2CF9AE}" pid="11" name="Common Attributes_Document Type">
    <vt:lpwstr> </vt:lpwstr>
  </property>
  <property fmtid="{D5CDD505-2E9C-101B-9397-08002B2CF9AE}" pid="12" name="Common Attributes_Author_Author Name">
    <vt:lpwstr>Daniel Berkowitz Zamora</vt:lpwstr>
  </property>
  <property fmtid="{D5CDD505-2E9C-101B-9397-08002B2CF9AE}" pid="13" name="Common Attributes_Author_Author Affiliation">
    <vt:lpwstr>SCK CEN</vt:lpwstr>
  </property>
  <property fmtid="{D5CDD505-2E9C-101B-9397-08002B2CF9AE}" pid="14" name="Common Attributes_Information Security Classification">
    <vt:lpwstr>Restricted</vt:lpwstr>
  </property>
  <property fmtid="{D5CDD505-2E9C-101B-9397-08002B2CF9AE}" pid="15" name="Common Attributes_ISC Motivation">
    <vt:lpwstr>ISC was automatically assigned.</vt:lpwstr>
  </property>
  <property fmtid="{D5CDD505-2E9C-101B-9397-08002B2CF9AE}" pid="16" name="Event Attributes_Event_Event Type">
    <vt:lpwstr/>
  </property>
  <property fmtid="{D5CDD505-2E9C-101B-9397-08002B2CF9AE}" pid="17" name="Event Attributes_Event_Event Name">
    <vt:lpwstr/>
  </property>
  <property fmtid="{D5CDD505-2E9C-101B-9397-08002B2CF9AE}" pid="18" name="Event Attributes_Event_Event Start Date">
    <vt:lpwstr/>
  </property>
  <property fmtid="{D5CDD505-2E9C-101B-9397-08002B2CF9AE}" pid="19" name="Event Attributes_Event_Event End Date">
    <vt:lpwstr/>
  </property>
  <property fmtid="{D5CDD505-2E9C-101B-9397-08002B2CF9AE}" pid="20" name="Event Attributes_Event_Event Location">
    <vt:lpwstr/>
  </property>
  <property fmtid="{D5CDD505-2E9C-101B-9397-08002B2CF9AE}" pid="21" name="IDPBW Attributes_Keyword_Keyword">
    <vt:lpwstr/>
  </property>
  <property fmtid="{D5CDD505-2E9C-101B-9397-08002B2CF9AE}" pid="22" name="Infrastructure Attributes_Infrastructure_Installation">
    <vt:lpwstr/>
  </property>
  <property fmtid="{D5CDD505-2E9C-101B-9397-08002B2CF9AE}" pid="23" name="Infrastructure Attributes_Infrastructure_System">
    <vt:lpwstr/>
  </property>
  <property fmtid="{D5CDD505-2E9C-101B-9397-08002B2CF9AE}" pid="24" name="Infrastructure Attributes_Infrastructure_SubSystem">
    <vt:lpwstr/>
  </property>
  <property fmtid="{D5CDD505-2E9C-101B-9397-08002B2CF9AE}" pid="25" name="Infrastructure Attributes_Infrastructure_Component">
    <vt:lpwstr/>
  </property>
  <property fmtid="{D5CDD505-2E9C-101B-9397-08002B2CF9AE}" pid="26" name="Infrastructure Attributes_Infrastructure_SubComponent">
    <vt:lpwstr/>
  </property>
  <property fmtid="{D5CDD505-2E9C-101B-9397-08002B2CF9AE}" pid="27" name="Infrastructure Attributes_Infrastructure_Tag1">
    <vt:lpwstr/>
  </property>
  <property fmtid="{D5CDD505-2E9C-101B-9397-08002B2CF9AE}" pid="28" name="Infrastructure Attributes_Infrastructure_Tag2">
    <vt:lpwstr/>
  </property>
  <property fmtid="{D5CDD505-2E9C-101B-9397-08002B2CF9AE}" pid="29" name="CreateDate">
    <vt:filetime>2021-11-30T19:34:52Z</vt:filetime>
  </property>
</Properties>
</file>