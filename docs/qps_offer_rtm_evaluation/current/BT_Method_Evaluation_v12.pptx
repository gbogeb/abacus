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69"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168" autoAdjust="0"/>
    <p:restoredTop sz="94660"/>
  </p:normalViewPr>
  <p:slideViewPr>
    <p:cSldViewPr snapToGrid="0" snapToObjects="1">
      <p:cViewPr varScale="1">
        <p:scale>
          <a:sx n="105" d="100"/>
          <a:sy n="105" d="100"/>
        </p:scale>
        <p:origin x="1170"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84148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whole point of the sequencing: agree what matters (Layer A) and set up how evidence will be captured (Layer B) BEFORE any bidder is compared (Layer C). This prevents the ranking criteria from being unconsciously reverse-engineered from a preferred bidder. Layer C box is deliberately greyed out — there is nothing to show yet, and that is the point.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exists specifically to prevent confusion with the old v7 decks that reviewers may still have open. The headline correction is 722 vs the old 735 — RTM-723 through 735 were a mis-extraction and must not be cited. Everything downstream in this deck uses 722/50.</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Anchor the reliability&gt;performance ordering rationale clearly if challenged: every bidder in this procurement class can deliver performance on paper; the differentiator that determines whether the plant stays at 2K for 40 years is reliability and recovery behaviour. Cost weight of 0.03 is deliberate — this evaluation is technical-only, price is scored on a separate track.</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chart is real, computed from the current 50 OFFER items — not illustrative. λ was fit here with a standard </a:t>
            </a:r>
            <a:r>
              <a:rPr dirty="0" err="1"/>
              <a:t>regularised</a:t>
            </a:r>
            <a:r>
              <a:rPr dirty="0"/>
              <a:t> </a:t>
            </a:r>
            <a:r>
              <a:rPr dirty="0" err="1"/>
              <a:t>Zermelo</a:t>
            </a:r>
            <a:r>
              <a:rPr dirty="0"/>
              <a:t>/MM iteration on the deterministic win matrix implied by S. If someone asks 'why do we need three numbers', the answer is audience: S is auditable, win% is a briefing sentence, λ is the only one that gives you an actual probability for a single pairwise question.</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these three examples if anyone asks 'how do I know this ranking isn't arbitrary'. Each is fully reconstructable from BT_Config + STATIC_BT with a calculator. The gate example is the one that most often gets pushback — clarify explicitly that low S at T0 does not mean low priority, it means the item is evaluated on a separate pass/fail axis untouched by the weighted sum.</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gate list is short and specific on purpose — six items, all directly tied to legal/compliance text in the tender. If a bidder fails one of these on STATUS, that is a red flag regardless of how well they score everywhere else; it is not something the weighted ranking can offset.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Full 50-item bar chart on the left, tier-coloured (red=T0 gate, green=T1, blue=T2, grey=T3). Walk the top six on the right if time is short — everything below rank ~16 is background context, not a negotiation priority.</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'is the ranking just an artefact of the weights we happened to pick' slide. Band chart is computed from the actual STATIC_BT sensitivity columns (P–R), not redrawn — every band is a real rank-min/rank-max pair from the 528-scenario run. The five named items are exactly where a weight challenge would land, so name them before someone else finds them.</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Same method, same weights as the OFFER ranking — this is what the CONTRACT thinks matters, independent of what any bidder wrote. The P1 cutoff line on the histogram is the rank-36 threshold. The keyword-verify caveat is real and open — flag it every time this chart is shown, don't let P1 keyword rows get quoted as settled.</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Section-level MEAN importance, restricted to sections with ≥5 requirements so single-item outlier sections don't distort the picture. §4.6.8 (control system architecture/obsolescence) and §4.4.5.2 (warm storage heater) are the two heaviest by a clear margin.</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a real mock-up of BT_Input's columns and the actual STATUS legend text, not a screenshot — screenshots go stale, this is regenerated from the workbook. Every row currently reads TBD; that is correct and expected. Do not let anyone read example numbers into the sample rows shown — they carry real OFFER titles/tiers/ranks but zero evaluation data.</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Sample rows are real crosswalk data (OFFER-21 and OFFER-01 links), shown to demonstrate the relation_type taxonomy, not as an exhaustive list. Close on the open items — this is a working baseline, not a finished audit; naming what's still open here is what makes the 'canonical' claim credible.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wmf"/></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8DC5A856-8EFF-4C66-820C-0F167B9BCDFC}" type="datetime1">
              <a:rPr lang="en-US" smtClean="0"/>
              <a:t>8/13/2026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5E4B3BB-FB85-445E-BE70-34E03B5B5C28}" type="datetime1">
              <a:rPr lang="en-US" smtClean="0"/>
              <a:t>8/13/2026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3BA3BD3-03D9-40C0-BDEB-69EF5D0177C4}" type="datetime1">
              <a:rPr lang="en-US" smtClean="0"/>
              <a:t>8/13/2026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276DD50-2EE3-4D4E-8ADA-4BE652410FBA}" type="datetime1">
              <a:rPr lang="en-US" smtClean="0"/>
              <a:t>8/13/2026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1AAD184-4B61-41AC-AA71-86C0AA71CDD7}" type="datetime1">
              <a:rPr lang="en-US" smtClean="0"/>
              <a:t>8/13/2026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EBFF42F-0594-46AE-A8FC-BFD7B02D886C}" type="datetime1">
              <a:rPr lang="en-US" smtClean="0"/>
              <a:t>8/13/2026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B09E36E-895C-4CCF-83C6-DE93551E1BB1}" type="datetime1">
              <a:rPr lang="en-US" smtClean="0"/>
              <a:t>8/13/2026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C0806BE-810A-4D73-B07F-4A1E4D5DE9B9}" type="datetime1">
              <a:rPr lang="en-US" smtClean="0"/>
              <a:t>8/13/2026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7A0F31A-5D2F-4F87-8455-3A4A01216659}" type="datetime1">
              <a:rPr lang="en-US" smtClean="0"/>
              <a:t>8/13/2026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B2A335-4CAC-4737-923E-593335CBCC4F}" type="datetime1">
              <a:rPr lang="en-US" smtClean="0"/>
              <a:t>8/13/2026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A526B97-BA94-46FC-9F9D-A58998C80EE3}" type="datetime1">
              <a:rPr lang="en-US" smtClean="0"/>
              <a:t>8/13/2026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Titel Slide 1">
    <p:spTree>
      <p:nvGrpSpPr>
        <p:cNvPr id="1" name=""/>
        <p:cNvGrpSpPr/>
        <p:nvPr/>
      </p:nvGrpSpPr>
      <p:grpSpPr>
        <a:xfrm>
          <a:off x="0" y="0"/>
          <a:ext cx="0" cy="0"/>
          <a:chOff x="0" y="0"/>
          <a:chExt cx="0" cy="0"/>
        </a:xfrm>
      </p:grpSpPr>
      <p:pic>
        <p:nvPicPr>
          <p:cNvPr id="2686" name="Afbeelding 8">
            <a:extLst>
              <a:ext uri="{FF2B5EF4-FFF2-40B4-BE49-F238E27FC236}">
                <a16:creationId xmlns:a16="http://schemas.microsoft.com/office/drawing/2014/main" id="{647C93FD-69BD-4ECC-920A-2E0DC2577288}"/>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6860" t="46262" r="6836" b="16827"/>
          <a:stretch/>
        </p:blipFill>
        <p:spPr>
          <a:xfrm>
            <a:off x="742950" y="762000"/>
            <a:ext cx="10725150" cy="4476750"/>
          </a:xfrm>
          <a:prstGeom prst="rect">
            <a:avLst/>
          </a:prstGeom>
        </p:spPr>
      </p:pic>
      <p:sp>
        <p:nvSpPr>
          <p:cNvPr id="17" name="Tijdelijke aanduiding voor tekst 16">
            <a:extLst>
              <a:ext uri="{FF2B5EF4-FFF2-40B4-BE49-F238E27FC236}">
                <a16:creationId xmlns:a16="http://schemas.microsoft.com/office/drawing/2014/main" id="{84146CB0-6BC6-4934-BF0B-44A468D39617}"/>
              </a:ext>
            </a:extLst>
          </p:cNvPr>
          <p:cNvSpPr>
            <a:spLocks noGrp="1"/>
          </p:cNvSpPr>
          <p:nvPr>
            <p:ph type="body" sz="quarter" idx="12"/>
          </p:nvPr>
        </p:nvSpPr>
        <p:spPr>
          <a:xfrm>
            <a:off x="3181350" y="5321300"/>
            <a:ext cx="8270421" cy="285787"/>
          </a:xfrm>
          <a:prstGeom prst="rect">
            <a:avLst/>
          </a:prstGeom>
        </p:spPr>
        <p:txBody>
          <a:bodyPr lIns="0" tIns="0" rIns="0" bIns="0" anchor="b" anchorCtr="0"/>
          <a:lstStyle>
            <a:lvl1pPr marL="0" indent="0" algn="r">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endParaRPr lang="en-BE" dirty="0"/>
          </a:p>
        </p:txBody>
      </p:sp>
      <p:sp>
        <p:nvSpPr>
          <p:cNvPr id="2687" name="Title Placeholder 1"/>
          <p:cNvSpPr>
            <a:spLocks noGrp="1"/>
          </p:cNvSpPr>
          <p:nvPr>
            <p:ph type="title"/>
          </p:nvPr>
        </p:nvSpPr>
        <p:spPr>
          <a:xfrm>
            <a:off x="3181350" y="5635663"/>
            <a:ext cx="8362949" cy="602040"/>
          </a:xfrm>
          <a:prstGeom prst="rect">
            <a:avLst/>
          </a:prstGeom>
        </p:spPr>
        <p:txBody>
          <a:bodyPr vert="horz" lIns="91440" tIns="45720" rIns="91440" bIns="45720" rtlCol="0" anchor="t">
            <a:normAutofit/>
          </a:bodyPr>
          <a:lstStyle>
            <a:lvl1pPr algn="r">
              <a:defRPr>
                <a:solidFill>
                  <a:schemeClr val="tx1"/>
                </a:solidFill>
              </a:defRPr>
            </a:lvl1pPr>
          </a:lstStyle>
          <a:p>
            <a:r>
              <a:rPr lang="en-US"/>
              <a:t>Click to edit Master title style</a:t>
            </a:r>
          </a:p>
        </p:txBody>
      </p:sp>
      <p:pic>
        <p:nvPicPr>
          <p:cNvPr id="7" name="Picture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61999" y="5300662"/>
            <a:ext cx="2193393" cy="794165"/>
          </a:xfrm>
          <a:prstGeom prst="rect">
            <a:avLst/>
          </a:prstGeom>
        </p:spPr>
      </p:pic>
    </p:spTree>
    <p:extLst>
      <p:ext uri="{BB962C8B-B14F-4D97-AF65-F5344CB8AC3E}">
        <p14:creationId xmlns:p14="http://schemas.microsoft.com/office/powerpoint/2010/main" val="281492344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EA0000C-EF13-4E9B-81A9-B4B5627947B5}" type="datetime1">
              <a:rPr lang="en-US" smtClean="0"/>
              <a:t>8/13/2026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5264674" y="5514679"/>
            <a:ext cx="5397041" cy="615759"/>
          </a:xfrm>
        </p:spPr>
        <p:txBody>
          <a:bodyPr>
            <a:normAutofit fontScale="77500" lnSpcReduction="20000"/>
          </a:bodyPr>
          <a:lstStyle/>
          <a:p>
            <a:pPr algn="l">
              <a:lnSpc>
                <a:spcPct val="120000"/>
              </a:lnSpc>
            </a:pPr>
            <a:r>
              <a:rPr lang="en-US" sz="1600" b="1" dirty="0">
                <a:solidFill>
                  <a:schemeClr val="tx2"/>
                </a:solidFill>
                <a:latin typeface="Aptos" panose="020B0004020202020204" pitchFamily="34" charset="0"/>
              </a:rPr>
              <a:t>Technical evaluation methodology and cold/static importance ranking</a:t>
            </a:r>
          </a:p>
          <a:p>
            <a:pPr algn="l">
              <a:lnSpc>
                <a:spcPct val="120000"/>
              </a:lnSpc>
            </a:pPr>
            <a:r>
              <a:rPr lang="en-US" sz="1600" b="1" dirty="0">
                <a:solidFill>
                  <a:schemeClr val="tx2"/>
                </a:solidFill>
                <a:latin typeface="Aptos" panose="020B0004020202020204" pitchFamily="34" charset="0"/>
              </a:rPr>
              <a:t>for tender 2024-106-IVE (MYRRHA QPS). Price evaluated separately.</a:t>
            </a:r>
          </a:p>
        </p:txBody>
      </p:sp>
      <p:sp>
        <p:nvSpPr>
          <p:cNvPr id="5" name="TextBox 4">
            <a:extLst>
              <a:ext uri="{FF2B5EF4-FFF2-40B4-BE49-F238E27FC236}">
                <a16:creationId xmlns:a16="http://schemas.microsoft.com/office/drawing/2014/main" id="{9AA139E0-5816-BDC7-63CB-F70A39463A46}"/>
              </a:ext>
            </a:extLst>
          </p:cNvPr>
          <p:cNvSpPr txBox="1"/>
          <p:nvPr/>
        </p:nvSpPr>
        <p:spPr>
          <a:xfrm>
            <a:off x="4197096" y="6237703"/>
            <a:ext cx="7897494" cy="523220"/>
          </a:xfrm>
          <a:prstGeom prst="rect">
            <a:avLst/>
          </a:prstGeom>
          <a:noFill/>
        </p:spPr>
        <p:txBody>
          <a:bodyPr wrap="square" lIns="0" tIns="0" rIns="0" bIns="0" anchor="t">
            <a:spAutoFit/>
          </a:bodyPr>
          <a:lstStyle/>
          <a:p>
            <a:pPr algn="l">
              <a:lnSpc>
                <a:spcPct val="100000"/>
              </a:lnSpc>
            </a:pPr>
            <a:r>
              <a:rPr sz="3400" b="1" i="0" dirty="0">
                <a:solidFill>
                  <a:schemeClr val="tx2"/>
                </a:solidFill>
                <a:latin typeface="Aptos" panose="020B0004020202020204" pitchFamily="34" charset="0"/>
              </a:rPr>
              <a:t>OFFER BT Method &amp; Evaluation Package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45D253D7-C20F-580C-792B-E70E0C9269EF}"/>
              </a:ext>
            </a:extLst>
          </p:cNvPr>
          <p:cNvSpPr/>
          <p:nvPr/>
        </p:nvSpPr>
        <p:spPr>
          <a:xfrm>
            <a:off x="4334256" y="1298448"/>
            <a:ext cx="7187184" cy="3099816"/>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latin typeface="Aptos" panose="020B0004020202020204" pitchFamily="34" charset="0"/>
            </a:endParaRPr>
          </a:p>
        </p:txBody>
      </p:sp>
      <p:sp>
        <p:nvSpPr>
          <p:cNvPr id="14" name="Rectangle 13">
            <a:extLst>
              <a:ext uri="{FF2B5EF4-FFF2-40B4-BE49-F238E27FC236}">
                <a16:creationId xmlns:a16="http://schemas.microsoft.com/office/drawing/2014/main" id="{897F0C6F-0B9D-06CF-1442-6D1E1E7ED512}"/>
              </a:ext>
            </a:extLst>
          </p:cNvPr>
          <p:cNvSpPr/>
          <p:nvPr/>
        </p:nvSpPr>
        <p:spPr>
          <a:xfrm>
            <a:off x="283464" y="1316736"/>
            <a:ext cx="3986784" cy="3099816"/>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US">
              <a:latin typeface="Aptos" panose="020B0004020202020204" pitchFamily="34" charset="0"/>
            </a:endParaRPr>
          </a:p>
        </p:txBody>
      </p:sp>
      <p:sp>
        <p:nvSpPr>
          <p:cNvPr id="2" name="Rectangle 1"/>
          <p:cNvSpPr/>
          <p:nvPr/>
        </p:nvSpPr>
        <p:spPr>
          <a:xfrm>
            <a:off x="0" y="0"/>
            <a:ext cx="12191695" cy="868680"/>
          </a:xfrm>
          <a:prstGeom prst="rect">
            <a:avLst/>
          </a:prstGeom>
          <a:solidFill>
            <a:srgbClr val="441F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ptos" panose="020B0004020202020204" pitchFamily="34" charset="0"/>
            </a:endParaRPr>
          </a:p>
        </p:txBody>
      </p:sp>
      <p:sp>
        <p:nvSpPr>
          <p:cNvPr id="3" name="TextBox 2"/>
          <p:cNvSpPr txBox="1"/>
          <p:nvPr/>
        </p:nvSpPr>
        <p:spPr>
          <a:xfrm>
            <a:off x="411480" y="260267"/>
            <a:ext cx="9875520" cy="384721"/>
          </a:xfrm>
          <a:prstGeom prst="rect">
            <a:avLst/>
          </a:prstGeom>
          <a:noFill/>
        </p:spPr>
        <p:txBody>
          <a:bodyPr wrap="square" lIns="0" tIns="0" rIns="0" bIns="0" anchor="ctr">
            <a:spAutoFit/>
          </a:bodyPr>
          <a:lstStyle/>
          <a:p>
            <a:pPr algn="l">
              <a:lnSpc>
                <a:spcPct val="100000"/>
              </a:lnSpc>
            </a:pPr>
            <a:r>
              <a:rPr sz="2500" b="1" i="0">
                <a:solidFill>
                  <a:srgbClr val="FFFFFF"/>
                </a:solidFill>
                <a:latin typeface="Aptos" panose="020B0004020202020204" pitchFamily="34" charset="0"/>
              </a:rPr>
              <a:t>Method locked: cold/static ranking before bidder comparison</a:t>
            </a:r>
          </a:p>
        </p:txBody>
      </p:sp>
      <p:sp>
        <p:nvSpPr>
          <p:cNvPr id="4" name="TextBox 3"/>
          <p:cNvSpPr txBox="1"/>
          <p:nvPr/>
        </p:nvSpPr>
        <p:spPr>
          <a:xfrm>
            <a:off x="10607040" y="292608"/>
            <a:ext cx="1371600" cy="169277"/>
          </a:xfrm>
          <a:prstGeom prst="rect">
            <a:avLst/>
          </a:prstGeom>
          <a:noFill/>
        </p:spPr>
        <p:txBody>
          <a:bodyPr wrap="square" lIns="0" tIns="0" rIns="0" bIns="0" anchor="t">
            <a:spAutoFit/>
          </a:bodyPr>
          <a:lstStyle/>
          <a:p>
            <a:pPr algn="r">
              <a:lnSpc>
                <a:spcPct val="100000"/>
              </a:lnSpc>
            </a:pPr>
            <a:r>
              <a:rPr sz="1100" b="1" i="0">
                <a:solidFill>
                  <a:srgbClr val="BFD6E6"/>
                </a:solidFill>
                <a:latin typeface="Aptos" panose="020B0004020202020204" pitchFamily="34" charset="0"/>
              </a:rPr>
              <a:t>METHOD-S01</a:t>
            </a:r>
          </a:p>
        </p:txBody>
      </p:sp>
      <p:sp>
        <p:nvSpPr>
          <p:cNvPr id="5" name="Rectangle 4"/>
          <p:cNvSpPr/>
          <p:nvPr/>
        </p:nvSpPr>
        <p:spPr>
          <a:xfrm>
            <a:off x="0" y="6547104"/>
            <a:ext cx="12191695" cy="310896"/>
          </a:xfrm>
          <a:prstGeom prst="rect">
            <a:avLst/>
          </a:prstGeom>
          <a:solidFill>
            <a:srgbClr val="F3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ptos" panose="020B0004020202020204" pitchFamily="34" charset="0"/>
            </a:endParaRPr>
          </a:p>
        </p:txBody>
      </p:sp>
      <p:sp>
        <p:nvSpPr>
          <p:cNvPr id="6" name="TextBox 5"/>
          <p:cNvSpPr txBox="1"/>
          <p:nvPr/>
        </p:nvSpPr>
        <p:spPr>
          <a:xfrm>
            <a:off x="411480" y="6637149"/>
            <a:ext cx="10515600" cy="130805"/>
          </a:xfrm>
          <a:prstGeom prst="rect">
            <a:avLst/>
          </a:prstGeom>
          <a:noFill/>
        </p:spPr>
        <p:txBody>
          <a:bodyPr wrap="square" lIns="0" tIns="0" rIns="0" bIns="0" anchor="ctr">
            <a:spAutoFit/>
          </a:bodyPr>
          <a:lstStyle/>
          <a:p>
            <a:pPr algn="l">
              <a:lnSpc>
                <a:spcPct val="100000"/>
              </a:lnSpc>
            </a:pPr>
            <a:r>
              <a:rPr sz="850" b="0" i="0">
                <a:solidFill>
                  <a:srgbClr val="555555"/>
                </a:solidFill>
                <a:latin typeface="Aptos" panose="020B0004020202020204" pitchFamily="34" charset="0"/>
              </a:rPr>
              <a:t>BT METHOD — Engineering Baseline (canonical RTM-722) · METHOD-S01 | v3.6</a:t>
            </a:r>
          </a:p>
        </p:txBody>
      </p:sp>
      <p:sp>
        <p:nvSpPr>
          <p:cNvPr id="7" name="Rounded Rectangle 6"/>
          <p:cNvSpPr/>
          <p:nvPr/>
        </p:nvSpPr>
        <p:spPr>
          <a:xfrm>
            <a:off x="640080" y="1737360"/>
            <a:ext cx="3246120" cy="2286000"/>
          </a:xfrm>
          <a:prstGeom prst="roundRect">
            <a:avLst/>
          </a:prstGeom>
          <a:solidFill>
            <a:srgbClr val="441F63"/>
          </a:solidFill>
          <a:ln w="15875">
            <a:solidFill>
              <a:srgbClr val="0B3D5C"/>
            </a:solidFill>
          </a:ln>
          <a:effectLst/>
        </p:spPr>
        <p:style>
          <a:lnRef idx="1">
            <a:schemeClr val="accent1"/>
          </a:lnRef>
          <a:fillRef idx="3">
            <a:schemeClr val="accent1"/>
          </a:fillRef>
          <a:effectRef idx="2">
            <a:schemeClr val="accent1"/>
          </a:effectRef>
          <a:fontRef idx="minor">
            <a:schemeClr val="lt1"/>
          </a:fontRef>
        </p:style>
        <p:txBody>
          <a:bodyPr wrap="square" lIns="201168" tIns="182880" rIns="201168" rtlCol="0" anchor="ctr"/>
          <a:lstStyle/>
          <a:p>
            <a:pPr algn="ctr"/>
            <a:r>
              <a:rPr sz="1100" b="1">
                <a:solidFill>
                  <a:srgbClr val="FFFFFF"/>
                </a:solidFill>
                <a:latin typeface="Aptos" panose="020B0004020202020204" pitchFamily="34" charset="0"/>
              </a:rPr>
              <a:t>LAYER A</a:t>
            </a:r>
          </a:p>
          <a:p>
            <a:pPr>
              <a:spcAft>
                <a:spcPts val="1000"/>
              </a:spcAft>
            </a:pPr>
            <a:r>
              <a:rPr sz="1900" b="1">
                <a:solidFill>
                  <a:srgbClr val="FFFFFF"/>
                </a:solidFill>
                <a:latin typeface="Aptos" panose="020B0004020202020204" pitchFamily="34" charset="0"/>
              </a:rPr>
              <a:t>Static Ranking</a:t>
            </a:r>
          </a:p>
          <a:p>
            <a:pPr>
              <a:lnSpc>
                <a:spcPct val="115000"/>
              </a:lnSpc>
            </a:pPr>
            <a:r>
              <a:rPr sz="1200">
                <a:solidFill>
                  <a:srgbClr val="FFFFFF"/>
                </a:solidFill>
                <a:latin typeface="Aptos" panose="020B0004020202020204" pitchFamily="34" charset="0"/>
              </a:rPr>
              <a:t>Rank what matters — OFFER items and RTM</a:t>
            </a:r>
            <a:br>
              <a:rPr>
                <a:latin typeface="Aptos" panose="020B0004020202020204" pitchFamily="34" charset="0"/>
              </a:rPr>
            </a:br>
            <a:r>
              <a:rPr sz="1200">
                <a:solidFill>
                  <a:srgbClr val="FFFFFF"/>
                </a:solidFill>
                <a:latin typeface="Aptos" panose="020B0004020202020204" pitchFamily="34" charset="0"/>
              </a:rPr>
              <a:t>requirements scored 0–3 on 7 dimensions,</a:t>
            </a:r>
            <a:br>
              <a:rPr>
                <a:latin typeface="Aptos" panose="020B0004020202020204" pitchFamily="34" charset="0"/>
              </a:rPr>
            </a:br>
            <a:r>
              <a:rPr sz="1200">
                <a:solidFill>
                  <a:srgbClr val="FFFFFF"/>
                </a:solidFill>
                <a:latin typeface="Aptos" panose="020B0004020202020204" pitchFamily="34" charset="0"/>
              </a:rPr>
              <a:t>before any bidder is read.</a:t>
            </a:r>
          </a:p>
        </p:txBody>
      </p:sp>
      <p:sp>
        <p:nvSpPr>
          <p:cNvPr id="8" name="Right Arrow 7"/>
          <p:cNvSpPr/>
          <p:nvPr/>
        </p:nvSpPr>
        <p:spPr>
          <a:xfrm>
            <a:off x="3941064" y="2715768"/>
            <a:ext cx="393192" cy="329184"/>
          </a:xfrm>
          <a:prstGeom prst="rightArrow">
            <a:avLst/>
          </a:prstGeom>
          <a:solidFill>
            <a:srgbClr val="441F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ptos" panose="020B0004020202020204" pitchFamily="34" charset="0"/>
            </a:endParaRPr>
          </a:p>
        </p:txBody>
      </p:sp>
      <p:sp>
        <p:nvSpPr>
          <p:cNvPr id="9" name="Rounded Rectangle 8"/>
          <p:cNvSpPr/>
          <p:nvPr/>
        </p:nvSpPr>
        <p:spPr>
          <a:xfrm>
            <a:off x="4389120" y="1737360"/>
            <a:ext cx="3246120" cy="2286000"/>
          </a:xfrm>
          <a:prstGeom prst="roundRect">
            <a:avLst/>
          </a:prstGeom>
          <a:solidFill>
            <a:srgbClr val="2B6CB0"/>
          </a:solidFill>
          <a:ln w="15875">
            <a:solidFill>
              <a:srgbClr val="0B3D5C"/>
            </a:solidFill>
          </a:ln>
          <a:effectLst/>
        </p:spPr>
        <p:style>
          <a:lnRef idx="1">
            <a:schemeClr val="accent1"/>
          </a:lnRef>
          <a:fillRef idx="3">
            <a:schemeClr val="accent1"/>
          </a:fillRef>
          <a:effectRef idx="2">
            <a:schemeClr val="accent1"/>
          </a:effectRef>
          <a:fontRef idx="minor">
            <a:schemeClr val="lt1"/>
          </a:fontRef>
        </p:style>
        <p:txBody>
          <a:bodyPr wrap="square" lIns="201168" tIns="182880" rIns="201168" rtlCol="0" anchor="ctr"/>
          <a:lstStyle/>
          <a:p>
            <a:pPr algn="ctr"/>
            <a:r>
              <a:rPr sz="1100" b="1">
                <a:solidFill>
                  <a:srgbClr val="FFFFFF"/>
                </a:solidFill>
                <a:latin typeface="Aptos" panose="020B0004020202020204" pitchFamily="34" charset="0"/>
              </a:rPr>
              <a:t>LAYER B</a:t>
            </a:r>
          </a:p>
          <a:p>
            <a:pPr>
              <a:spcAft>
                <a:spcPts val="1000"/>
              </a:spcAft>
            </a:pPr>
            <a:r>
              <a:rPr sz="1900" b="1">
                <a:solidFill>
                  <a:srgbClr val="FFFFFF"/>
                </a:solidFill>
                <a:latin typeface="Aptos" panose="020B0004020202020204" pitchFamily="34" charset="0"/>
              </a:rPr>
              <a:t>Evidence Capture</a:t>
            </a:r>
          </a:p>
          <a:p>
            <a:pPr>
              <a:lnSpc>
                <a:spcPct val="115000"/>
              </a:lnSpc>
            </a:pPr>
            <a:r>
              <a:rPr sz="1200">
                <a:solidFill>
                  <a:srgbClr val="FFFFFF"/>
                </a:solidFill>
                <a:latin typeface="Aptos" panose="020B0004020202020204" pitchFamily="34" charset="0"/>
              </a:rPr>
              <a:t>Per-bidder STATUS / Technical Depth /</a:t>
            </a:r>
            <a:br>
              <a:rPr>
                <a:latin typeface="Aptos" panose="020B0004020202020204" pitchFamily="34" charset="0"/>
              </a:rPr>
            </a:br>
            <a:r>
              <a:rPr sz="1200">
                <a:solidFill>
                  <a:srgbClr val="FFFFFF"/>
                </a:solidFill>
                <a:latin typeface="Aptos" panose="020B0004020202020204" pitchFamily="34" charset="0"/>
              </a:rPr>
              <a:t>Source-Location / Negotiation flags,</a:t>
            </a:r>
            <a:br>
              <a:rPr>
                <a:latin typeface="Aptos" panose="020B0004020202020204" pitchFamily="34" charset="0"/>
              </a:rPr>
            </a:br>
            <a:r>
              <a:rPr sz="1200">
                <a:solidFill>
                  <a:srgbClr val="FFFFFF"/>
                </a:solidFill>
                <a:latin typeface="Aptos" panose="020B0004020202020204" pitchFamily="34" charset="0"/>
              </a:rPr>
              <a:t>captured in BT_Input.</a:t>
            </a:r>
          </a:p>
        </p:txBody>
      </p:sp>
      <p:sp>
        <p:nvSpPr>
          <p:cNvPr id="10" name="Right Arrow 9"/>
          <p:cNvSpPr/>
          <p:nvPr/>
        </p:nvSpPr>
        <p:spPr>
          <a:xfrm>
            <a:off x="7690104" y="2715768"/>
            <a:ext cx="393192" cy="329184"/>
          </a:xfrm>
          <a:prstGeom prst="rightArrow">
            <a:avLst/>
          </a:prstGeom>
          <a:solidFill>
            <a:srgbClr val="441F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ptos" panose="020B0004020202020204" pitchFamily="34" charset="0"/>
            </a:endParaRPr>
          </a:p>
        </p:txBody>
      </p:sp>
      <p:sp>
        <p:nvSpPr>
          <p:cNvPr id="11" name="Rounded Rectangle 10"/>
          <p:cNvSpPr/>
          <p:nvPr/>
        </p:nvSpPr>
        <p:spPr>
          <a:xfrm>
            <a:off x="8138160" y="1737360"/>
            <a:ext cx="3246120" cy="2286000"/>
          </a:xfrm>
          <a:prstGeom prst="roundRect">
            <a:avLst/>
          </a:prstGeom>
          <a:solidFill>
            <a:srgbClr val="C7CED4"/>
          </a:solidFill>
          <a:ln w="15875">
            <a:solidFill>
              <a:srgbClr val="999999"/>
            </a:solidFill>
          </a:ln>
          <a:effectLst/>
        </p:spPr>
        <p:style>
          <a:lnRef idx="1">
            <a:schemeClr val="accent1"/>
          </a:lnRef>
          <a:fillRef idx="3">
            <a:schemeClr val="accent1"/>
          </a:fillRef>
          <a:effectRef idx="2">
            <a:schemeClr val="accent1"/>
          </a:effectRef>
          <a:fontRef idx="minor">
            <a:schemeClr val="lt1"/>
          </a:fontRef>
        </p:style>
        <p:txBody>
          <a:bodyPr wrap="square" lIns="201168" tIns="182880" rIns="201168" rtlCol="0" anchor="ctr"/>
          <a:lstStyle/>
          <a:p>
            <a:pPr algn="ctr"/>
            <a:r>
              <a:rPr sz="1100" b="1">
                <a:solidFill>
                  <a:srgbClr val="555555"/>
                </a:solidFill>
                <a:latin typeface="Aptos" panose="020B0004020202020204" pitchFamily="34" charset="0"/>
              </a:rPr>
              <a:t>LAYER C</a:t>
            </a:r>
          </a:p>
          <a:p>
            <a:pPr>
              <a:spcAft>
                <a:spcPts val="1000"/>
              </a:spcAft>
            </a:pPr>
            <a:r>
              <a:rPr sz="1900" b="1">
                <a:solidFill>
                  <a:srgbClr val="555555"/>
                </a:solidFill>
                <a:latin typeface="Aptos" panose="020B0004020202020204" pitchFamily="34" charset="0"/>
              </a:rPr>
              <a:t>Bidder Comparison</a:t>
            </a:r>
          </a:p>
          <a:p>
            <a:pPr>
              <a:lnSpc>
                <a:spcPct val="115000"/>
              </a:lnSpc>
            </a:pPr>
            <a:r>
              <a:rPr sz="1200">
                <a:solidFill>
                  <a:srgbClr val="555555"/>
                </a:solidFill>
                <a:latin typeface="Aptos" panose="020B0004020202020204" pitchFamily="34" charset="0"/>
              </a:rPr>
              <a:t>Not started. Shown here as an empty</a:t>
            </a:r>
            <a:br>
              <a:rPr>
                <a:latin typeface="Aptos" panose="020B0004020202020204" pitchFamily="34" charset="0"/>
              </a:rPr>
            </a:br>
            <a:r>
              <a:rPr sz="1200">
                <a:solidFill>
                  <a:srgbClr val="555555"/>
                </a:solidFill>
                <a:latin typeface="Aptos" panose="020B0004020202020204" pitchFamily="34" charset="0"/>
              </a:rPr>
              <a:t>shell only — no seeded numbers.</a:t>
            </a:r>
            <a:br>
              <a:rPr>
                <a:latin typeface="Aptos" panose="020B0004020202020204" pitchFamily="34" charset="0"/>
              </a:rPr>
            </a:br>
            <a:r>
              <a:rPr sz="1200">
                <a:solidFill>
                  <a:srgbClr val="555555"/>
                </a:solidFill>
                <a:latin typeface="Aptos" panose="020B0004020202020204" pitchFamily="34" charset="0"/>
              </a:rPr>
              <a:t>STATUS = TBD throughout.</a:t>
            </a:r>
          </a:p>
        </p:txBody>
      </p:sp>
      <p:sp>
        <p:nvSpPr>
          <p:cNvPr id="12" name="Rectangle 11"/>
          <p:cNvSpPr/>
          <p:nvPr/>
        </p:nvSpPr>
        <p:spPr>
          <a:xfrm>
            <a:off x="655167" y="4517136"/>
            <a:ext cx="10881360" cy="868680"/>
          </a:xfrm>
          <a:prstGeom prst="rect">
            <a:avLst/>
          </a:prstGeom>
          <a:solidFill>
            <a:srgbClr val="EFE5F5"/>
          </a:solidFill>
          <a:ln w="12700">
            <a:solidFill>
              <a:srgbClr val="0B3D5C"/>
            </a:solidFill>
          </a:ln>
          <a:effectLst/>
        </p:spPr>
        <p:style>
          <a:lnRef idx="1">
            <a:schemeClr val="accent1"/>
          </a:lnRef>
          <a:fillRef idx="3">
            <a:schemeClr val="accent1"/>
          </a:fillRef>
          <a:effectRef idx="2">
            <a:schemeClr val="accent1"/>
          </a:effectRef>
          <a:fontRef idx="minor">
            <a:schemeClr val="lt1"/>
          </a:fontRef>
        </p:style>
        <p:txBody>
          <a:bodyPr wrap="square" lIns="146304" tIns="91440" rIns="146304" bIns="91440" rtlCol="0" anchor="ctr"/>
          <a:lstStyle/>
          <a:p>
            <a:pPr algn="ctr">
              <a:lnSpc>
                <a:spcPct val="110000"/>
              </a:lnSpc>
            </a:pPr>
            <a:r>
              <a:rPr sz="1600" b="1" dirty="0">
                <a:solidFill>
                  <a:srgbClr val="0B3D5C"/>
                </a:solidFill>
                <a:latin typeface="Aptos" panose="020B0004020202020204" pitchFamily="34" charset="0"/>
              </a:rPr>
              <a:t>Board position:  </a:t>
            </a:r>
            <a:r>
              <a:rPr sz="1600" dirty="0">
                <a:solidFill>
                  <a:srgbClr val="222222"/>
                </a:solidFill>
                <a:latin typeface="Aptos" panose="020B0004020202020204" pitchFamily="34" charset="0"/>
              </a:rPr>
              <a:t>stabilize what matters before scoring anyone. Layers A and B are frozen and populated with real canonical data; Layer C (bidder comparison) has not been touched.</a:t>
            </a:r>
          </a:p>
        </p:txBody>
      </p:sp>
      <p:sp>
        <p:nvSpPr>
          <p:cNvPr id="13" name="TextBox 12"/>
          <p:cNvSpPr txBox="1"/>
          <p:nvPr/>
        </p:nvSpPr>
        <p:spPr>
          <a:xfrm>
            <a:off x="640080" y="5486400"/>
            <a:ext cx="10881360" cy="369332"/>
          </a:xfrm>
          <a:prstGeom prst="rect">
            <a:avLst/>
          </a:prstGeom>
          <a:noFill/>
        </p:spPr>
        <p:txBody>
          <a:bodyPr wrap="square" lIns="0" tIns="0" rIns="0" bIns="0" anchor="t">
            <a:spAutoFit/>
          </a:bodyPr>
          <a:lstStyle/>
          <a:p>
            <a:pPr algn="l">
              <a:lnSpc>
                <a:spcPct val="100000"/>
              </a:lnSpc>
            </a:pPr>
            <a:r>
              <a:rPr sz="1200" b="0" i="1">
                <a:solidFill>
                  <a:srgbClr val="555555"/>
                </a:solidFill>
                <a:latin typeface="Aptos" panose="020B0004020202020204" pitchFamily="34" charset="0"/>
              </a:rPr>
              <a:t>This deck covers Layer A in full (slides METHOD-S02…S06, EVAL-S01…S04) and the Layer B mechanics (EVAL-S05), plus traceability proof (EVAL-S06). Layer C begins only once this baseline is approved.</a:t>
            </a:r>
          </a:p>
        </p:txBody>
      </p:sp>
      <p:sp>
        <p:nvSpPr>
          <p:cNvPr id="17" name="Slide Number Placeholder 16">
            <a:extLst>
              <a:ext uri="{FF2B5EF4-FFF2-40B4-BE49-F238E27FC236}">
                <a16:creationId xmlns:a16="http://schemas.microsoft.com/office/drawing/2014/main" id="{05817C1A-10A8-7B72-5DD5-38B94DCA4972}"/>
              </a:ext>
            </a:extLst>
          </p:cNvPr>
          <p:cNvSpPr>
            <a:spLocks noGrp="1"/>
          </p:cNvSpPr>
          <p:nvPr>
            <p:ph type="sldNum" sz="quarter" idx="12"/>
          </p:nvPr>
        </p:nvSpPr>
        <p:spPr/>
        <p:txBody>
          <a:bodyPr/>
          <a:lstStyle/>
          <a:p>
            <a:fld id="{C1FF6DA9-008F-8B48-92A6-B652298478BF}" type="slidenum">
              <a:rPr lang="en-US" smtClean="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441F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09728"/>
            <a:ext cx="9875520" cy="685800"/>
          </a:xfrm>
          <a:prstGeom prst="rect">
            <a:avLst/>
          </a:prstGeom>
          <a:noFill/>
        </p:spPr>
        <p:txBody>
          <a:bodyPr wrap="square" lIns="0" tIns="0" rIns="0" bIns="0" anchor="ctr">
            <a:spAutoFit/>
          </a:bodyPr>
          <a:lstStyle/>
          <a:p>
            <a:pPr algn="l">
              <a:lnSpc>
                <a:spcPct val="100000"/>
              </a:lnSpc>
            </a:pPr>
            <a:r>
              <a:rPr sz="2500" b="1" i="0">
                <a:solidFill>
                  <a:srgbClr val="FFFFFF"/>
                </a:solidFill>
                <a:latin typeface="Aptos"/>
              </a:rPr>
              <a:t>Canonical baseline &amp; what changed</a:t>
            </a:r>
          </a:p>
        </p:txBody>
      </p:sp>
      <p:sp>
        <p:nvSpPr>
          <p:cNvPr id="4" name="TextBox 3"/>
          <p:cNvSpPr txBox="1"/>
          <p:nvPr/>
        </p:nvSpPr>
        <p:spPr>
          <a:xfrm>
            <a:off x="10607040" y="292608"/>
            <a:ext cx="1371600" cy="320040"/>
          </a:xfrm>
          <a:prstGeom prst="rect">
            <a:avLst/>
          </a:prstGeom>
          <a:noFill/>
        </p:spPr>
        <p:txBody>
          <a:bodyPr wrap="square" lIns="0" tIns="0" rIns="0" bIns="0" anchor="t">
            <a:spAutoFit/>
          </a:bodyPr>
          <a:lstStyle/>
          <a:p>
            <a:pPr algn="r">
              <a:lnSpc>
                <a:spcPct val="100000"/>
              </a:lnSpc>
            </a:pPr>
            <a:r>
              <a:rPr sz="1100" b="1" i="0">
                <a:solidFill>
                  <a:srgbClr val="BFD6E6"/>
                </a:solidFill>
                <a:latin typeface="Aptos"/>
              </a:rPr>
              <a:t>METHOD-S02</a:t>
            </a:r>
          </a:p>
        </p:txBody>
      </p:sp>
      <p:sp>
        <p:nvSpPr>
          <p:cNvPr id="5" name="Rectangle 4"/>
          <p:cNvSpPr/>
          <p:nvPr/>
        </p:nvSpPr>
        <p:spPr>
          <a:xfrm>
            <a:off x="0" y="6547104"/>
            <a:ext cx="12191695" cy="310896"/>
          </a:xfrm>
          <a:prstGeom prst="rect">
            <a:avLst/>
          </a:prstGeom>
          <a:solidFill>
            <a:srgbClr val="F3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11480" y="6565392"/>
            <a:ext cx="10515600" cy="274320"/>
          </a:xfrm>
          <a:prstGeom prst="rect">
            <a:avLst/>
          </a:prstGeom>
          <a:noFill/>
        </p:spPr>
        <p:txBody>
          <a:bodyPr wrap="square" lIns="0" tIns="0" rIns="0" bIns="0" anchor="ctr">
            <a:spAutoFit/>
          </a:bodyPr>
          <a:lstStyle/>
          <a:p>
            <a:pPr algn="l">
              <a:lnSpc>
                <a:spcPct val="100000"/>
              </a:lnSpc>
            </a:pPr>
            <a:r>
              <a:rPr sz="850" b="0" i="0">
                <a:solidFill>
                  <a:srgbClr val="555555"/>
                </a:solidFill>
                <a:latin typeface="Aptos"/>
              </a:rPr>
              <a:t>BT METHOD — Engineering Baseline (canonical RTM-722) · METHOD-S02 | v3.6</a:t>
            </a:r>
          </a:p>
        </p:txBody>
      </p:sp>
      <p:sp>
        <p:nvSpPr>
          <p:cNvPr id="7" name="TextBox 6"/>
          <p:cNvSpPr txBox="1"/>
          <p:nvPr/>
        </p:nvSpPr>
        <p:spPr>
          <a:xfrm>
            <a:off x="640080" y="1143000"/>
            <a:ext cx="5212080" cy="365760"/>
          </a:xfrm>
          <a:prstGeom prst="rect">
            <a:avLst/>
          </a:prstGeom>
          <a:noFill/>
        </p:spPr>
        <p:txBody>
          <a:bodyPr wrap="square" lIns="0" tIns="0" rIns="0" bIns="0" anchor="t">
            <a:spAutoFit/>
          </a:bodyPr>
          <a:lstStyle/>
          <a:p>
            <a:pPr algn="l">
              <a:lnSpc>
                <a:spcPct val="100000"/>
              </a:lnSpc>
            </a:pPr>
            <a:r>
              <a:rPr sz="1500" b="1" i="0">
                <a:solidFill>
                  <a:srgbClr val="0B3D5C"/>
                </a:solidFill>
                <a:latin typeface="Aptos"/>
              </a:rPr>
              <a:t>Canonical inputs (single source of truth)</a:t>
            </a:r>
          </a:p>
        </p:txBody>
      </p:sp>
      <p:graphicFrame>
        <p:nvGraphicFramePr>
          <p:cNvPr id="8" name="Table 7"/>
          <p:cNvGraphicFramePr>
            <a:graphicFrameLocks noGrp="1"/>
          </p:cNvGraphicFramePr>
          <p:nvPr/>
        </p:nvGraphicFramePr>
        <p:xfrm>
          <a:off x="640080" y="1554480"/>
          <a:ext cx="5394960" cy="2468880"/>
        </p:xfrm>
        <a:graphic>
          <a:graphicData uri="http://schemas.openxmlformats.org/drawingml/2006/table">
            <a:tbl>
              <a:tblPr firstRow="1" bandRow="1">
                <a:tableStyleId>{5C22544A-7EE6-4342-B048-85BDC9FD1C3A}</a:tableStyleId>
              </a:tblPr>
              <a:tblGrid>
                <a:gridCol w="173736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tblGrid>
              <a:tr h="493776">
                <a:tc>
                  <a:txBody>
                    <a:bodyPr/>
                    <a:lstStyle/>
                    <a:p>
                      <a:r>
                        <a:rPr sz="1100" b="1">
                          <a:solidFill>
                            <a:srgbClr val="0B3D5C"/>
                          </a:solidFill>
                          <a:latin typeface="Aptos"/>
                        </a:rPr>
                        <a:t>Source document</a:t>
                      </a:r>
                    </a:p>
                  </a:txBody>
                  <a:tcPr marL="73152" marT="36576" marB="36576" anchor="ctr">
                    <a:solidFill>
                      <a:srgbClr val="FFFFFF"/>
                    </a:solidFill>
                  </a:tcPr>
                </a:tc>
                <a:tc>
                  <a:txBody>
                    <a:bodyPr/>
                    <a:lstStyle/>
                    <a:p>
                      <a:r>
                        <a:rPr sz="1100" b="0">
                          <a:solidFill>
                            <a:srgbClr val="222222"/>
                          </a:solidFill>
                          <a:latin typeface="Aptos"/>
                        </a:rPr>
                        <a:t>Addendum II Technical Requirements, SCK CEN/90508872</a:t>
                      </a:r>
                    </a:p>
                  </a:txBody>
                  <a:tcPr marL="73152" marT="36576" marB="36576" anchor="ctr">
                    <a:solidFill>
                      <a:srgbClr val="FFFFFF"/>
                    </a:solidFill>
                  </a:tcPr>
                </a:tc>
                <a:extLst>
                  <a:ext uri="{0D108BD9-81ED-4DB2-BD59-A6C34878D82A}">
                    <a16:rowId xmlns:a16="http://schemas.microsoft.com/office/drawing/2014/main" val="10000"/>
                  </a:ext>
                </a:extLst>
              </a:tr>
              <a:tr h="493776">
                <a:tc>
                  <a:txBody>
                    <a:bodyPr/>
                    <a:lstStyle/>
                    <a:p>
                      <a:r>
                        <a:rPr sz="1100" b="1">
                          <a:solidFill>
                            <a:srgbClr val="0B3D5C"/>
                          </a:solidFill>
                          <a:latin typeface="Aptos"/>
                        </a:rPr>
                        <a:t>PDF copy</a:t>
                      </a:r>
                    </a:p>
                  </a:txBody>
                  <a:tcPr marL="73152" marT="36576" marB="36576" anchor="ctr">
                    <a:solidFill>
                      <a:srgbClr val="F4F7F9"/>
                    </a:solidFill>
                  </a:tcPr>
                </a:tc>
                <a:tc>
                  <a:txBody>
                    <a:bodyPr/>
                    <a:lstStyle/>
                    <a:p>
                      <a:r>
                        <a:rPr sz="1100" b="0">
                          <a:solidFill>
                            <a:srgbClr val="222222"/>
                          </a:solidFill>
                          <a:latin typeface="Aptos"/>
                        </a:rPr>
                        <a:t>controls RTM / OFFER numbering &amp; page anchors</a:t>
                      </a:r>
                    </a:p>
                  </a:txBody>
                  <a:tcPr marL="73152" marT="36576" marB="36576" anchor="ctr">
                    <a:solidFill>
                      <a:srgbClr val="F4F7F9"/>
                    </a:solidFill>
                  </a:tcPr>
                </a:tc>
                <a:extLst>
                  <a:ext uri="{0D108BD9-81ED-4DB2-BD59-A6C34878D82A}">
                    <a16:rowId xmlns:a16="http://schemas.microsoft.com/office/drawing/2014/main" val="10001"/>
                  </a:ext>
                </a:extLst>
              </a:tr>
              <a:tr h="493776">
                <a:tc>
                  <a:txBody>
                    <a:bodyPr/>
                    <a:lstStyle/>
                    <a:p>
                      <a:r>
                        <a:rPr sz="1100" b="1">
                          <a:solidFill>
                            <a:srgbClr val="0B3D5C"/>
                          </a:solidFill>
                          <a:latin typeface="Aptos"/>
                        </a:rPr>
                        <a:t>DOCX copy</a:t>
                      </a:r>
                    </a:p>
                  </a:txBody>
                  <a:tcPr marL="73152" marT="36576" marB="36576" anchor="ctr">
                    <a:solidFill>
                      <a:srgbClr val="FFFFFF"/>
                    </a:solidFill>
                  </a:tcPr>
                </a:tc>
                <a:tc>
                  <a:txBody>
                    <a:bodyPr/>
                    <a:lstStyle/>
                    <a:p>
                      <a:r>
                        <a:rPr sz="1100" b="0">
                          <a:solidFill>
                            <a:srgbClr val="222222"/>
                          </a:solidFill>
                          <a:latin typeface="Aptos"/>
                        </a:rPr>
                        <a:t>controls clean verbatim text</a:t>
                      </a:r>
                    </a:p>
                  </a:txBody>
                  <a:tcPr marL="73152" marT="36576" marB="36576" anchor="ctr">
                    <a:solidFill>
                      <a:srgbClr val="FFFFFF"/>
                    </a:solidFill>
                  </a:tcPr>
                </a:tc>
                <a:extLst>
                  <a:ext uri="{0D108BD9-81ED-4DB2-BD59-A6C34878D82A}">
                    <a16:rowId xmlns:a16="http://schemas.microsoft.com/office/drawing/2014/main" val="10002"/>
                  </a:ext>
                </a:extLst>
              </a:tr>
              <a:tr h="493776">
                <a:tc>
                  <a:txBody>
                    <a:bodyPr/>
                    <a:lstStyle/>
                    <a:p>
                      <a:r>
                        <a:rPr sz="1100" b="1">
                          <a:solidFill>
                            <a:srgbClr val="0B3D5C"/>
                          </a:solidFill>
                          <a:latin typeface="Aptos"/>
                        </a:rPr>
                        <a:t>RTM requirements</a:t>
                      </a:r>
                    </a:p>
                  </a:txBody>
                  <a:tcPr marL="73152" marT="36576" marB="36576" anchor="ctr">
                    <a:solidFill>
                      <a:srgbClr val="F4F7F9"/>
                    </a:solidFill>
                  </a:tcPr>
                </a:tc>
                <a:tc>
                  <a:txBody>
                    <a:bodyPr/>
                    <a:lstStyle/>
                    <a:p>
                      <a:r>
                        <a:rPr sz="1100" b="0">
                          <a:solidFill>
                            <a:srgbClr val="222222"/>
                          </a:solidFill>
                          <a:latin typeface="Aptos"/>
                        </a:rPr>
                        <a:t>RTM-001 … RTM-722  (last: §10.3, PDF p.133)</a:t>
                      </a:r>
                    </a:p>
                  </a:txBody>
                  <a:tcPr marL="73152" marT="36576" marB="36576" anchor="ctr">
                    <a:solidFill>
                      <a:srgbClr val="F4F7F9"/>
                    </a:solidFill>
                  </a:tcPr>
                </a:tc>
                <a:extLst>
                  <a:ext uri="{0D108BD9-81ED-4DB2-BD59-A6C34878D82A}">
                    <a16:rowId xmlns:a16="http://schemas.microsoft.com/office/drawing/2014/main" val="10003"/>
                  </a:ext>
                </a:extLst>
              </a:tr>
              <a:tr h="493776">
                <a:tc>
                  <a:txBody>
                    <a:bodyPr/>
                    <a:lstStyle/>
                    <a:p>
                      <a:r>
                        <a:rPr sz="1100" b="1">
                          <a:solidFill>
                            <a:srgbClr val="0B3D5C"/>
                          </a:solidFill>
                          <a:latin typeface="Aptos"/>
                        </a:rPr>
                        <a:t>OFFER items</a:t>
                      </a:r>
                    </a:p>
                  </a:txBody>
                  <a:tcPr marL="73152" marT="36576" marB="36576" anchor="ctr">
                    <a:solidFill>
                      <a:srgbClr val="FFFFFF"/>
                    </a:solidFill>
                  </a:tcPr>
                </a:tc>
                <a:tc>
                  <a:txBody>
                    <a:bodyPr/>
                    <a:lstStyle/>
                    <a:p>
                      <a:r>
                        <a:rPr sz="1100" b="0">
                          <a:solidFill>
                            <a:srgbClr val="222222"/>
                          </a:solidFill>
                          <a:latin typeface="Aptos"/>
                        </a:rPr>
                        <a:t>OFFER-01 … OFFER-50  (§4.1 → §10.2)</a:t>
                      </a:r>
                    </a:p>
                  </a:txBody>
                  <a:tcPr marL="73152" marT="36576" marB="36576" anchor="ctr">
                    <a:solidFill>
                      <a:srgbClr val="FFFFFF"/>
                    </a:solidFill>
                  </a:tcPr>
                </a:tc>
                <a:extLst>
                  <a:ext uri="{0D108BD9-81ED-4DB2-BD59-A6C34878D82A}">
                    <a16:rowId xmlns:a16="http://schemas.microsoft.com/office/drawing/2014/main" val="10004"/>
                  </a:ext>
                </a:extLst>
              </a:tr>
            </a:tbl>
          </a:graphicData>
        </a:graphic>
      </p:graphicFrame>
      <p:sp>
        <p:nvSpPr>
          <p:cNvPr id="9" name="TextBox 8"/>
          <p:cNvSpPr txBox="1"/>
          <p:nvPr/>
        </p:nvSpPr>
        <p:spPr>
          <a:xfrm>
            <a:off x="6309360" y="1143000"/>
            <a:ext cx="5212080" cy="365760"/>
          </a:xfrm>
          <a:prstGeom prst="rect">
            <a:avLst/>
          </a:prstGeom>
          <a:noFill/>
        </p:spPr>
        <p:txBody>
          <a:bodyPr wrap="square" lIns="0" tIns="0" rIns="0" bIns="0" anchor="t">
            <a:spAutoFit/>
          </a:bodyPr>
          <a:lstStyle/>
          <a:p>
            <a:pPr algn="l">
              <a:lnSpc>
                <a:spcPct val="100000"/>
              </a:lnSpc>
            </a:pPr>
            <a:r>
              <a:rPr sz="1500" b="1" i="0">
                <a:solidFill>
                  <a:srgbClr val="0B3D5C"/>
                </a:solidFill>
                <a:latin typeface="Aptos"/>
              </a:rPr>
              <a:t>What changed vs. the old decks</a:t>
            </a:r>
          </a:p>
        </p:txBody>
      </p:sp>
      <p:sp>
        <p:nvSpPr>
          <p:cNvPr id="10" name="TextBox 9"/>
          <p:cNvSpPr txBox="1"/>
          <p:nvPr/>
        </p:nvSpPr>
        <p:spPr>
          <a:xfrm>
            <a:off x="6309360" y="1554480"/>
            <a:ext cx="5212080" cy="2033249"/>
          </a:xfrm>
          <a:prstGeom prst="rect">
            <a:avLst/>
          </a:prstGeom>
          <a:noFill/>
        </p:spPr>
        <p:txBody>
          <a:bodyPr wrap="square" lIns="0" tIns="0" rIns="0" bIns="0">
            <a:spAutoFit/>
          </a:bodyPr>
          <a:lstStyle/>
          <a:p>
            <a:pPr>
              <a:lnSpc>
                <a:spcPct val="108000"/>
              </a:lnSpc>
              <a:spcAft>
                <a:spcPts val="1000"/>
              </a:spcAft>
            </a:pPr>
            <a:r>
              <a:rPr sz="1150" b="1" dirty="0">
                <a:solidFill>
                  <a:srgbClr val="0B3D5C"/>
                </a:solidFill>
                <a:latin typeface="Aptos"/>
              </a:rPr>
              <a:t>•  </a:t>
            </a:r>
            <a:r>
              <a:rPr sz="1150" b="1" dirty="0">
                <a:solidFill>
                  <a:srgbClr val="222222"/>
                </a:solidFill>
                <a:latin typeface="Aptos"/>
              </a:rPr>
              <a:t>1. Canonical set corrected — </a:t>
            </a:r>
            <a:r>
              <a:rPr sz="1150" dirty="0">
                <a:solidFill>
                  <a:srgbClr val="222222"/>
                </a:solidFill>
                <a:latin typeface="Aptos"/>
              </a:rPr>
              <a:t>722 RTMs</a:t>
            </a:r>
            <a:r>
              <a:rPr lang="en-US" sz="1150" dirty="0">
                <a:solidFill>
                  <a:srgbClr val="222222"/>
                </a:solidFill>
                <a:latin typeface="Aptos"/>
              </a:rPr>
              <a:t>;</a:t>
            </a:r>
            <a:r>
              <a:rPr sz="1150" dirty="0">
                <a:solidFill>
                  <a:srgbClr val="222222"/>
                </a:solidFill>
                <a:latin typeface="Aptos"/>
              </a:rPr>
              <a:t> 50 OFFER items.</a:t>
            </a:r>
          </a:p>
          <a:p>
            <a:pPr>
              <a:lnSpc>
                <a:spcPct val="108000"/>
              </a:lnSpc>
              <a:spcAft>
                <a:spcPts val="1000"/>
              </a:spcAft>
            </a:pPr>
            <a:r>
              <a:rPr sz="1150" b="1" dirty="0">
                <a:solidFill>
                  <a:srgbClr val="0B3D5C"/>
                </a:solidFill>
                <a:latin typeface="Aptos"/>
              </a:rPr>
              <a:t>•  </a:t>
            </a:r>
            <a:r>
              <a:rPr sz="1150" b="1" dirty="0">
                <a:solidFill>
                  <a:srgbClr val="222222"/>
                </a:solidFill>
                <a:latin typeface="Aptos"/>
              </a:rPr>
              <a:t>2. Dimension-weighted ranking — </a:t>
            </a:r>
            <a:r>
              <a:rPr sz="1150" dirty="0">
                <a:solidFill>
                  <a:srgbClr val="222222"/>
                </a:solidFill>
                <a:latin typeface="Aptos"/>
              </a:rPr>
              <a:t>7 dimensions with on-slide weights, not the frozen BT-weight column; gates are lexicographic (T0).</a:t>
            </a:r>
          </a:p>
          <a:p>
            <a:pPr>
              <a:lnSpc>
                <a:spcPct val="108000"/>
              </a:lnSpc>
              <a:spcAft>
                <a:spcPts val="1000"/>
              </a:spcAft>
            </a:pPr>
            <a:r>
              <a:rPr sz="1150" b="1" dirty="0">
                <a:solidFill>
                  <a:srgbClr val="0B3D5C"/>
                </a:solidFill>
                <a:latin typeface="Aptos"/>
              </a:rPr>
              <a:t>•  </a:t>
            </a:r>
            <a:r>
              <a:rPr sz="1150" b="1" dirty="0">
                <a:solidFill>
                  <a:srgbClr val="222222"/>
                </a:solidFill>
                <a:latin typeface="Aptos"/>
              </a:rPr>
              <a:t>3. Cluster-weight ranking dropped — </a:t>
            </a:r>
            <a:r>
              <a:rPr sz="1150" dirty="0">
                <a:solidFill>
                  <a:srgbClr val="222222"/>
                </a:solidFill>
                <a:latin typeface="Aptos"/>
              </a:rPr>
              <a:t>clusters group items for filtering; they do not rank them.</a:t>
            </a:r>
          </a:p>
          <a:p>
            <a:pPr>
              <a:lnSpc>
                <a:spcPct val="108000"/>
              </a:lnSpc>
              <a:spcAft>
                <a:spcPts val="1000"/>
              </a:spcAft>
            </a:pPr>
            <a:r>
              <a:rPr sz="1150" b="1" dirty="0">
                <a:solidFill>
                  <a:srgbClr val="0B3D5C"/>
                </a:solidFill>
                <a:latin typeface="Aptos"/>
              </a:rPr>
              <a:t>•  </a:t>
            </a:r>
            <a:r>
              <a:rPr sz="1150" b="1" dirty="0">
                <a:solidFill>
                  <a:srgbClr val="222222"/>
                </a:solidFill>
                <a:latin typeface="Aptos"/>
              </a:rPr>
              <a:t>4. Numeric 1–3 bidder scoring replaced — </a:t>
            </a:r>
            <a:r>
              <a:rPr sz="1150" dirty="0">
                <a:solidFill>
                  <a:srgbClr val="222222"/>
                </a:solidFill>
                <a:latin typeface="Aptos"/>
              </a:rPr>
              <a:t>with STATUS compliance semantics + Technical Depth.</a:t>
            </a:r>
          </a:p>
          <a:p>
            <a:pPr>
              <a:lnSpc>
                <a:spcPct val="108000"/>
              </a:lnSpc>
              <a:spcAft>
                <a:spcPts val="1000"/>
              </a:spcAft>
            </a:pPr>
            <a:r>
              <a:rPr sz="1150" b="1" dirty="0">
                <a:solidFill>
                  <a:srgbClr val="0B3D5C"/>
                </a:solidFill>
                <a:latin typeface="Aptos"/>
              </a:rPr>
              <a:t>•  </a:t>
            </a:r>
            <a:r>
              <a:rPr sz="1150" b="1" dirty="0">
                <a:solidFill>
                  <a:srgbClr val="222222"/>
                </a:solidFill>
                <a:latin typeface="Aptos"/>
              </a:rPr>
              <a:t>5. RTM requirements now ranked too — </a:t>
            </a:r>
            <a:r>
              <a:rPr sz="1150" dirty="0">
                <a:solidFill>
                  <a:srgbClr val="222222"/>
                </a:solidFill>
                <a:latin typeface="Aptos"/>
              </a:rPr>
              <a:t>on identical weights, with P1–P4 priorities.</a:t>
            </a:r>
          </a:p>
        </p:txBody>
      </p:sp>
      <p:sp>
        <p:nvSpPr>
          <p:cNvPr id="11" name="Rectangle 10"/>
          <p:cNvSpPr/>
          <p:nvPr/>
        </p:nvSpPr>
        <p:spPr>
          <a:xfrm>
            <a:off x="640080" y="4251960"/>
            <a:ext cx="5394960" cy="1600200"/>
          </a:xfrm>
          <a:prstGeom prst="rect">
            <a:avLst/>
          </a:prstGeom>
          <a:solidFill>
            <a:srgbClr val="EFE5F5"/>
          </a:solidFill>
          <a:ln w="12700">
            <a:solidFill>
              <a:srgbClr val="0B3D5C"/>
            </a:solidFill>
          </a:ln>
          <a:effectLst/>
        </p:spPr>
        <p:style>
          <a:lnRef idx="1">
            <a:schemeClr val="accent1"/>
          </a:lnRef>
          <a:fillRef idx="3">
            <a:schemeClr val="accent1"/>
          </a:fillRef>
          <a:effectRef idx="2">
            <a:schemeClr val="accent1"/>
          </a:effectRef>
          <a:fontRef idx="minor">
            <a:schemeClr val="lt1"/>
          </a:fontRef>
        </p:style>
        <p:txBody>
          <a:bodyPr wrap="square" lIns="146304" tIns="91440" rIns="146304" bIns="91440" rtlCol="0" anchor="ctr"/>
          <a:lstStyle/>
          <a:p>
            <a:pPr algn="ctr">
              <a:lnSpc>
                <a:spcPct val="110000"/>
              </a:lnSpc>
            </a:pPr>
            <a:r>
              <a:rPr sz="1600" b="1" dirty="0">
                <a:solidFill>
                  <a:srgbClr val="0B3D5C"/>
                </a:solidFill>
                <a:latin typeface="Aptos"/>
              </a:rPr>
              <a:t>Board read:  </a:t>
            </a:r>
            <a:r>
              <a:rPr sz="1600" dirty="0">
                <a:solidFill>
                  <a:srgbClr val="222222"/>
                </a:solidFill>
                <a:latin typeface="Aptos"/>
              </a:rPr>
              <a:t>invariants (</a:t>
            </a:r>
            <a:r>
              <a:rPr sz="1600" b="1" dirty="0">
                <a:solidFill>
                  <a:srgbClr val="222222"/>
                </a:solidFill>
                <a:latin typeface="Aptos"/>
              </a:rPr>
              <a:t>722/50</a:t>
            </a:r>
            <a:r>
              <a:rPr sz="1600" dirty="0">
                <a:solidFill>
                  <a:srgbClr val="222222"/>
                </a:solidFill>
                <a:latin typeface="Aptos"/>
              </a:rPr>
              <a:t>, no gaps or duplicates, weight sum = 1.00) are asserted on every rebuild — the baseline is not hand-edited, it is regenerated and checked.</a:t>
            </a:r>
          </a:p>
        </p:txBody>
      </p:sp>
      <p:sp>
        <p:nvSpPr>
          <p:cNvPr id="12" name="Slide Number Placeholder 11">
            <a:extLst>
              <a:ext uri="{FF2B5EF4-FFF2-40B4-BE49-F238E27FC236}">
                <a16:creationId xmlns:a16="http://schemas.microsoft.com/office/drawing/2014/main" id="{4ED9AD08-546F-B8CE-D2CF-D19EDFC0F190}"/>
              </a:ext>
            </a:extLst>
          </p:cNvPr>
          <p:cNvSpPr>
            <a:spLocks noGrp="1"/>
          </p:cNvSpPr>
          <p:nvPr>
            <p:ph type="sldNum" sz="quarter" idx="12"/>
          </p:nvPr>
        </p:nvSpPr>
        <p:spPr/>
        <p:txBody>
          <a:bodyPr/>
          <a:lstStyle/>
          <a:p>
            <a:fld id="{C1FF6DA9-008F-8B48-92A6-B652298478BF}" type="slidenum">
              <a:rPr lang="en-US" smtClean="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441F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ptos" panose="020B0004020202020204" pitchFamily="34" charset="0"/>
            </a:endParaRPr>
          </a:p>
        </p:txBody>
      </p:sp>
      <p:sp>
        <p:nvSpPr>
          <p:cNvPr id="3" name="TextBox 2"/>
          <p:cNvSpPr txBox="1"/>
          <p:nvPr/>
        </p:nvSpPr>
        <p:spPr>
          <a:xfrm>
            <a:off x="411480" y="237184"/>
            <a:ext cx="9875520" cy="430887"/>
          </a:xfrm>
          <a:prstGeom prst="rect">
            <a:avLst/>
          </a:prstGeom>
          <a:noFill/>
        </p:spPr>
        <p:txBody>
          <a:bodyPr wrap="square" lIns="0" tIns="0" rIns="0" bIns="0" anchor="ctr">
            <a:spAutoFit/>
          </a:bodyPr>
          <a:lstStyle/>
          <a:p>
            <a:pPr algn="l">
              <a:lnSpc>
                <a:spcPct val="100000"/>
              </a:lnSpc>
            </a:pPr>
            <a:r>
              <a:rPr sz="2800" b="1" i="0">
                <a:solidFill>
                  <a:srgbClr val="FFFFFF"/>
                </a:solidFill>
                <a:latin typeface="Aptos" panose="020B0004020202020204" pitchFamily="34" charset="0"/>
              </a:rPr>
              <a:t>Seven dimensions &amp; weights</a:t>
            </a:r>
          </a:p>
        </p:txBody>
      </p:sp>
      <p:sp>
        <p:nvSpPr>
          <p:cNvPr id="4" name="TextBox 3"/>
          <p:cNvSpPr txBox="1"/>
          <p:nvPr/>
        </p:nvSpPr>
        <p:spPr>
          <a:xfrm>
            <a:off x="10607040" y="292608"/>
            <a:ext cx="1371600" cy="184666"/>
          </a:xfrm>
          <a:prstGeom prst="rect">
            <a:avLst/>
          </a:prstGeom>
          <a:noFill/>
        </p:spPr>
        <p:txBody>
          <a:bodyPr wrap="square" lIns="0" tIns="0" rIns="0" bIns="0" anchor="t">
            <a:spAutoFit/>
          </a:bodyPr>
          <a:lstStyle/>
          <a:p>
            <a:pPr algn="r">
              <a:lnSpc>
                <a:spcPct val="100000"/>
              </a:lnSpc>
            </a:pPr>
            <a:r>
              <a:rPr sz="1200" b="1" i="0">
                <a:solidFill>
                  <a:srgbClr val="BFD6E6"/>
                </a:solidFill>
                <a:latin typeface="Aptos" panose="020B0004020202020204" pitchFamily="34" charset="0"/>
              </a:rPr>
              <a:t>METHOD-S03</a:t>
            </a:r>
          </a:p>
        </p:txBody>
      </p:sp>
      <p:sp>
        <p:nvSpPr>
          <p:cNvPr id="5" name="Rectangle 4"/>
          <p:cNvSpPr/>
          <p:nvPr/>
        </p:nvSpPr>
        <p:spPr>
          <a:xfrm>
            <a:off x="0" y="6547104"/>
            <a:ext cx="12191695" cy="310896"/>
          </a:xfrm>
          <a:prstGeom prst="rect">
            <a:avLst/>
          </a:prstGeom>
          <a:solidFill>
            <a:srgbClr val="F3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ptos" panose="020B0004020202020204" pitchFamily="34" charset="0"/>
            </a:endParaRPr>
          </a:p>
        </p:txBody>
      </p:sp>
      <p:sp>
        <p:nvSpPr>
          <p:cNvPr id="6" name="TextBox 5"/>
          <p:cNvSpPr txBox="1"/>
          <p:nvPr/>
        </p:nvSpPr>
        <p:spPr>
          <a:xfrm>
            <a:off x="411480" y="6633302"/>
            <a:ext cx="10515600" cy="138499"/>
          </a:xfrm>
          <a:prstGeom prst="rect">
            <a:avLst/>
          </a:prstGeom>
          <a:noFill/>
        </p:spPr>
        <p:txBody>
          <a:bodyPr wrap="square" lIns="0" tIns="0" rIns="0" bIns="0" anchor="ctr">
            <a:spAutoFit/>
          </a:bodyPr>
          <a:lstStyle/>
          <a:p>
            <a:pPr algn="l">
              <a:lnSpc>
                <a:spcPct val="100000"/>
              </a:lnSpc>
            </a:pPr>
            <a:r>
              <a:rPr sz="900" b="0" i="0">
                <a:solidFill>
                  <a:srgbClr val="555555"/>
                </a:solidFill>
                <a:latin typeface="Aptos" panose="020B0004020202020204" pitchFamily="34" charset="0"/>
              </a:rPr>
              <a:t>BT METHOD — Engineering Baseline (canonical RTM-722) · METHOD-S03 | v3.6</a:t>
            </a:r>
          </a:p>
        </p:txBody>
      </p:sp>
      <p:sp>
        <p:nvSpPr>
          <p:cNvPr id="7" name="TextBox 6"/>
          <p:cNvSpPr txBox="1"/>
          <p:nvPr/>
        </p:nvSpPr>
        <p:spPr>
          <a:xfrm>
            <a:off x="640080" y="960120"/>
            <a:ext cx="9144000" cy="215444"/>
          </a:xfrm>
          <a:prstGeom prst="rect">
            <a:avLst/>
          </a:prstGeom>
          <a:noFill/>
        </p:spPr>
        <p:txBody>
          <a:bodyPr wrap="square" lIns="0" tIns="0" rIns="0" bIns="0" anchor="t">
            <a:spAutoFit/>
          </a:bodyPr>
          <a:lstStyle/>
          <a:p>
            <a:pPr algn="l">
              <a:lnSpc>
                <a:spcPct val="100000"/>
              </a:lnSpc>
            </a:pPr>
            <a:r>
              <a:rPr sz="1400" b="1" i="0">
                <a:solidFill>
                  <a:srgbClr val="0B3D5C"/>
                </a:solidFill>
                <a:latin typeface="Aptos" panose="020B0004020202020204" pitchFamily="34" charset="0"/>
              </a:rPr>
              <a:t>Weights (BT_Config!B8:B14 — must sum to 1.00)</a:t>
            </a:r>
          </a:p>
        </p:txBody>
      </p:sp>
      <p:sp>
        <p:nvSpPr>
          <p:cNvPr id="8" name="TextBox 7"/>
          <p:cNvSpPr txBox="1"/>
          <p:nvPr/>
        </p:nvSpPr>
        <p:spPr>
          <a:xfrm>
            <a:off x="640080" y="1364462"/>
            <a:ext cx="2514600" cy="215444"/>
          </a:xfrm>
          <a:prstGeom prst="rect">
            <a:avLst/>
          </a:prstGeom>
          <a:noFill/>
        </p:spPr>
        <p:txBody>
          <a:bodyPr wrap="square" lIns="0" tIns="0" rIns="0" bIns="0" anchor="ctr">
            <a:spAutoFit/>
          </a:bodyPr>
          <a:lstStyle/>
          <a:p>
            <a:pPr algn="l">
              <a:lnSpc>
                <a:spcPct val="100000"/>
              </a:lnSpc>
            </a:pPr>
            <a:r>
              <a:rPr sz="1400" b="1" i="0">
                <a:solidFill>
                  <a:srgbClr val="222222"/>
                </a:solidFill>
                <a:latin typeface="Aptos" panose="020B0004020202020204" pitchFamily="34" charset="0"/>
              </a:rPr>
              <a:t>Safety/Legal</a:t>
            </a:r>
          </a:p>
        </p:txBody>
      </p:sp>
      <p:sp>
        <p:nvSpPr>
          <p:cNvPr id="9" name="Rectangle 8"/>
          <p:cNvSpPr/>
          <p:nvPr/>
        </p:nvSpPr>
        <p:spPr>
          <a:xfrm>
            <a:off x="3291840" y="1316736"/>
            <a:ext cx="4904509" cy="292608"/>
          </a:xfrm>
          <a:prstGeom prst="rect">
            <a:avLst/>
          </a:prstGeom>
          <a:solidFill>
            <a:srgbClr val="441F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ptos" panose="020B0004020202020204" pitchFamily="34" charset="0"/>
            </a:endParaRPr>
          </a:p>
        </p:txBody>
      </p:sp>
      <p:sp>
        <p:nvSpPr>
          <p:cNvPr id="10" name="TextBox 9"/>
          <p:cNvSpPr txBox="1"/>
          <p:nvPr/>
        </p:nvSpPr>
        <p:spPr>
          <a:xfrm>
            <a:off x="8287789" y="1364462"/>
            <a:ext cx="731520" cy="215444"/>
          </a:xfrm>
          <a:prstGeom prst="rect">
            <a:avLst/>
          </a:prstGeom>
          <a:noFill/>
        </p:spPr>
        <p:txBody>
          <a:bodyPr wrap="square" lIns="0" tIns="0" rIns="0" bIns="0" anchor="ctr">
            <a:spAutoFit/>
          </a:bodyPr>
          <a:lstStyle/>
          <a:p>
            <a:pPr algn="l">
              <a:lnSpc>
                <a:spcPct val="100000"/>
              </a:lnSpc>
            </a:pPr>
            <a:r>
              <a:rPr sz="1400" b="1" i="0">
                <a:solidFill>
                  <a:srgbClr val="0B3D5C"/>
                </a:solidFill>
                <a:latin typeface="Aptos" panose="020B0004020202020204" pitchFamily="34" charset="0"/>
              </a:rPr>
              <a:t>0.20</a:t>
            </a:r>
          </a:p>
        </p:txBody>
      </p:sp>
      <p:sp>
        <p:nvSpPr>
          <p:cNvPr id="11" name="TextBox 10"/>
          <p:cNvSpPr txBox="1"/>
          <p:nvPr/>
        </p:nvSpPr>
        <p:spPr>
          <a:xfrm>
            <a:off x="9692640" y="1395240"/>
            <a:ext cx="2103120" cy="153888"/>
          </a:xfrm>
          <a:prstGeom prst="rect">
            <a:avLst/>
          </a:prstGeom>
          <a:noFill/>
        </p:spPr>
        <p:txBody>
          <a:bodyPr wrap="square" lIns="0" tIns="0" rIns="0" bIns="0" anchor="ctr">
            <a:spAutoFit/>
          </a:bodyPr>
          <a:lstStyle/>
          <a:p>
            <a:pPr algn="l">
              <a:lnSpc>
                <a:spcPct val="100000"/>
              </a:lnSpc>
            </a:pPr>
            <a:r>
              <a:rPr sz="1000" b="0" i="1">
                <a:solidFill>
                  <a:srgbClr val="555555"/>
                </a:solidFill>
                <a:latin typeface="Aptos" panose="020B0004020202020204" pitchFamily="34" charset="0"/>
              </a:rPr>
              <a:t>Gate-sensitive, compliance critical</a:t>
            </a:r>
          </a:p>
        </p:txBody>
      </p:sp>
      <p:sp>
        <p:nvSpPr>
          <p:cNvPr id="12" name="TextBox 11"/>
          <p:cNvSpPr txBox="1"/>
          <p:nvPr/>
        </p:nvSpPr>
        <p:spPr>
          <a:xfrm>
            <a:off x="640080" y="1839950"/>
            <a:ext cx="2514600" cy="215444"/>
          </a:xfrm>
          <a:prstGeom prst="rect">
            <a:avLst/>
          </a:prstGeom>
          <a:noFill/>
        </p:spPr>
        <p:txBody>
          <a:bodyPr wrap="square" lIns="0" tIns="0" rIns="0" bIns="0" anchor="ctr">
            <a:spAutoFit/>
          </a:bodyPr>
          <a:lstStyle/>
          <a:p>
            <a:pPr algn="l">
              <a:lnSpc>
                <a:spcPct val="100000"/>
              </a:lnSpc>
            </a:pPr>
            <a:r>
              <a:rPr sz="1400" b="1" i="0">
                <a:solidFill>
                  <a:srgbClr val="222222"/>
                </a:solidFill>
                <a:latin typeface="Aptos" panose="020B0004020202020204" pitchFamily="34" charset="0"/>
              </a:rPr>
              <a:t>Reliability</a:t>
            </a:r>
          </a:p>
        </p:txBody>
      </p:sp>
      <p:sp>
        <p:nvSpPr>
          <p:cNvPr id="13" name="Rectangle 12"/>
          <p:cNvSpPr/>
          <p:nvPr/>
        </p:nvSpPr>
        <p:spPr>
          <a:xfrm>
            <a:off x="3291840" y="1792224"/>
            <a:ext cx="5394960" cy="292608"/>
          </a:xfrm>
          <a:prstGeom prst="rect">
            <a:avLst/>
          </a:prstGeom>
          <a:solidFill>
            <a:srgbClr val="441F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ptos" panose="020B0004020202020204" pitchFamily="34" charset="0"/>
            </a:endParaRPr>
          </a:p>
        </p:txBody>
      </p:sp>
      <p:sp>
        <p:nvSpPr>
          <p:cNvPr id="14" name="TextBox 13"/>
          <p:cNvSpPr txBox="1"/>
          <p:nvPr/>
        </p:nvSpPr>
        <p:spPr>
          <a:xfrm>
            <a:off x="8778240" y="1839950"/>
            <a:ext cx="731520" cy="215444"/>
          </a:xfrm>
          <a:prstGeom prst="rect">
            <a:avLst/>
          </a:prstGeom>
          <a:noFill/>
        </p:spPr>
        <p:txBody>
          <a:bodyPr wrap="square" lIns="0" tIns="0" rIns="0" bIns="0" anchor="ctr">
            <a:spAutoFit/>
          </a:bodyPr>
          <a:lstStyle/>
          <a:p>
            <a:pPr algn="l">
              <a:lnSpc>
                <a:spcPct val="100000"/>
              </a:lnSpc>
            </a:pPr>
            <a:r>
              <a:rPr sz="1400" b="1" i="0">
                <a:solidFill>
                  <a:srgbClr val="0B3D5C"/>
                </a:solidFill>
                <a:latin typeface="Aptos" panose="020B0004020202020204" pitchFamily="34" charset="0"/>
              </a:rPr>
              <a:t>0.22</a:t>
            </a:r>
          </a:p>
        </p:txBody>
      </p:sp>
      <p:sp>
        <p:nvSpPr>
          <p:cNvPr id="15" name="TextBox 14"/>
          <p:cNvSpPr txBox="1"/>
          <p:nvPr/>
        </p:nvSpPr>
        <p:spPr>
          <a:xfrm>
            <a:off x="9692640" y="1793784"/>
            <a:ext cx="2103120" cy="307777"/>
          </a:xfrm>
          <a:prstGeom prst="rect">
            <a:avLst/>
          </a:prstGeom>
          <a:noFill/>
        </p:spPr>
        <p:txBody>
          <a:bodyPr wrap="square" lIns="0" tIns="0" rIns="0" bIns="0" anchor="ctr">
            <a:spAutoFit/>
          </a:bodyPr>
          <a:lstStyle/>
          <a:p>
            <a:pPr algn="l">
              <a:lnSpc>
                <a:spcPct val="100000"/>
              </a:lnSpc>
            </a:pPr>
            <a:r>
              <a:rPr sz="1000" b="0" i="1">
                <a:solidFill>
                  <a:srgbClr val="555555"/>
                </a:solidFill>
                <a:latin typeface="Aptos" panose="020B0004020202020204" pitchFamily="34" charset="0"/>
              </a:rPr>
              <a:t>2K continuity / recovery / no warm stop</a:t>
            </a:r>
          </a:p>
        </p:txBody>
      </p:sp>
      <p:sp>
        <p:nvSpPr>
          <p:cNvPr id="16" name="TextBox 15"/>
          <p:cNvSpPr txBox="1"/>
          <p:nvPr/>
        </p:nvSpPr>
        <p:spPr>
          <a:xfrm>
            <a:off x="640080" y="2315438"/>
            <a:ext cx="2514600" cy="215444"/>
          </a:xfrm>
          <a:prstGeom prst="rect">
            <a:avLst/>
          </a:prstGeom>
          <a:noFill/>
        </p:spPr>
        <p:txBody>
          <a:bodyPr wrap="square" lIns="0" tIns="0" rIns="0" bIns="0" anchor="ctr">
            <a:spAutoFit/>
          </a:bodyPr>
          <a:lstStyle/>
          <a:p>
            <a:pPr algn="l">
              <a:lnSpc>
                <a:spcPct val="100000"/>
              </a:lnSpc>
            </a:pPr>
            <a:r>
              <a:rPr sz="1400" b="1" i="0">
                <a:solidFill>
                  <a:srgbClr val="222222"/>
                </a:solidFill>
                <a:latin typeface="Aptos" panose="020B0004020202020204" pitchFamily="34" charset="0"/>
              </a:rPr>
              <a:t>Performance</a:t>
            </a:r>
          </a:p>
        </p:txBody>
      </p:sp>
      <p:sp>
        <p:nvSpPr>
          <p:cNvPr id="17" name="Rectangle 16"/>
          <p:cNvSpPr/>
          <p:nvPr/>
        </p:nvSpPr>
        <p:spPr>
          <a:xfrm>
            <a:off x="3291840" y="2267712"/>
            <a:ext cx="4904509" cy="292608"/>
          </a:xfrm>
          <a:prstGeom prst="rect">
            <a:avLst/>
          </a:prstGeom>
          <a:solidFill>
            <a:srgbClr val="441F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ptos" panose="020B0004020202020204" pitchFamily="34" charset="0"/>
            </a:endParaRPr>
          </a:p>
        </p:txBody>
      </p:sp>
      <p:sp>
        <p:nvSpPr>
          <p:cNvPr id="18" name="TextBox 17"/>
          <p:cNvSpPr txBox="1"/>
          <p:nvPr/>
        </p:nvSpPr>
        <p:spPr>
          <a:xfrm>
            <a:off x="8287789" y="2315438"/>
            <a:ext cx="731520" cy="215444"/>
          </a:xfrm>
          <a:prstGeom prst="rect">
            <a:avLst/>
          </a:prstGeom>
          <a:noFill/>
        </p:spPr>
        <p:txBody>
          <a:bodyPr wrap="square" lIns="0" tIns="0" rIns="0" bIns="0" anchor="ctr">
            <a:spAutoFit/>
          </a:bodyPr>
          <a:lstStyle/>
          <a:p>
            <a:pPr algn="l">
              <a:lnSpc>
                <a:spcPct val="100000"/>
              </a:lnSpc>
            </a:pPr>
            <a:r>
              <a:rPr sz="1400" b="1" i="0">
                <a:solidFill>
                  <a:srgbClr val="0B3D5C"/>
                </a:solidFill>
                <a:latin typeface="Aptos" panose="020B0004020202020204" pitchFamily="34" charset="0"/>
              </a:rPr>
              <a:t>0.20</a:t>
            </a:r>
          </a:p>
        </p:txBody>
      </p:sp>
      <p:sp>
        <p:nvSpPr>
          <p:cNvPr id="19" name="TextBox 18"/>
          <p:cNvSpPr txBox="1"/>
          <p:nvPr/>
        </p:nvSpPr>
        <p:spPr>
          <a:xfrm>
            <a:off x="9692640" y="2346216"/>
            <a:ext cx="2103120" cy="153888"/>
          </a:xfrm>
          <a:prstGeom prst="rect">
            <a:avLst/>
          </a:prstGeom>
          <a:noFill/>
        </p:spPr>
        <p:txBody>
          <a:bodyPr wrap="square" lIns="0" tIns="0" rIns="0" bIns="0" anchor="ctr">
            <a:spAutoFit/>
          </a:bodyPr>
          <a:lstStyle/>
          <a:p>
            <a:pPr algn="l">
              <a:lnSpc>
                <a:spcPct val="100000"/>
              </a:lnSpc>
            </a:pPr>
            <a:r>
              <a:rPr sz="1000" b="0" i="1">
                <a:solidFill>
                  <a:srgbClr val="555555"/>
                </a:solidFill>
                <a:latin typeface="Aptos" panose="020B0004020202020204" pitchFamily="34" charset="0"/>
              </a:rPr>
              <a:t>Heat loads, capacity, transients</a:t>
            </a:r>
          </a:p>
        </p:txBody>
      </p:sp>
      <p:sp>
        <p:nvSpPr>
          <p:cNvPr id="20" name="TextBox 19"/>
          <p:cNvSpPr txBox="1"/>
          <p:nvPr/>
        </p:nvSpPr>
        <p:spPr>
          <a:xfrm>
            <a:off x="640080" y="2790926"/>
            <a:ext cx="2514600" cy="215444"/>
          </a:xfrm>
          <a:prstGeom prst="rect">
            <a:avLst/>
          </a:prstGeom>
          <a:noFill/>
        </p:spPr>
        <p:txBody>
          <a:bodyPr wrap="square" lIns="0" tIns="0" rIns="0" bIns="0" anchor="ctr">
            <a:spAutoFit/>
          </a:bodyPr>
          <a:lstStyle/>
          <a:p>
            <a:pPr algn="l">
              <a:lnSpc>
                <a:spcPct val="100000"/>
              </a:lnSpc>
            </a:pPr>
            <a:r>
              <a:rPr sz="1400" b="1" i="0">
                <a:solidFill>
                  <a:srgbClr val="222222"/>
                </a:solidFill>
                <a:latin typeface="Aptos" panose="020B0004020202020204" pitchFamily="34" charset="0"/>
              </a:rPr>
              <a:t>Functional</a:t>
            </a:r>
          </a:p>
        </p:txBody>
      </p:sp>
      <p:sp>
        <p:nvSpPr>
          <p:cNvPr id="21" name="Rectangle 20"/>
          <p:cNvSpPr/>
          <p:nvPr/>
        </p:nvSpPr>
        <p:spPr>
          <a:xfrm>
            <a:off x="3291840" y="2743200"/>
            <a:ext cx="3923607" cy="292608"/>
          </a:xfrm>
          <a:prstGeom prst="rect">
            <a:avLst/>
          </a:prstGeom>
          <a:solidFill>
            <a:srgbClr val="441F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ptos" panose="020B0004020202020204" pitchFamily="34" charset="0"/>
            </a:endParaRPr>
          </a:p>
        </p:txBody>
      </p:sp>
      <p:sp>
        <p:nvSpPr>
          <p:cNvPr id="22" name="TextBox 21"/>
          <p:cNvSpPr txBox="1"/>
          <p:nvPr/>
        </p:nvSpPr>
        <p:spPr>
          <a:xfrm>
            <a:off x="7306887" y="2790926"/>
            <a:ext cx="731520" cy="215444"/>
          </a:xfrm>
          <a:prstGeom prst="rect">
            <a:avLst/>
          </a:prstGeom>
          <a:noFill/>
        </p:spPr>
        <p:txBody>
          <a:bodyPr wrap="square" lIns="0" tIns="0" rIns="0" bIns="0" anchor="ctr">
            <a:spAutoFit/>
          </a:bodyPr>
          <a:lstStyle/>
          <a:p>
            <a:pPr algn="l">
              <a:lnSpc>
                <a:spcPct val="100000"/>
              </a:lnSpc>
            </a:pPr>
            <a:r>
              <a:rPr sz="1400" b="1" i="0">
                <a:solidFill>
                  <a:srgbClr val="0B3D5C"/>
                </a:solidFill>
                <a:latin typeface="Aptos" panose="020B0004020202020204" pitchFamily="34" charset="0"/>
              </a:rPr>
              <a:t>0.16</a:t>
            </a:r>
          </a:p>
        </p:txBody>
      </p:sp>
      <p:sp>
        <p:nvSpPr>
          <p:cNvPr id="23" name="TextBox 22"/>
          <p:cNvSpPr txBox="1"/>
          <p:nvPr/>
        </p:nvSpPr>
        <p:spPr>
          <a:xfrm>
            <a:off x="9692640" y="2821704"/>
            <a:ext cx="2103120" cy="153888"/>
          </a:xfrm>
          <a:prstGeom prst="rect">
            <a:avLst/>
          </a:prstGeom>
          <a:noFill/>
        </p:spPr>
        <p:txBody>
          <a:bodyPr wrap="square" lIns="0" tIns="0" rIns="0" bIns="0" anchor="ctr">
            <a:spAutoFit/>
          </a:bodyPr>
          <a:lstStyle/>
          <a:p>
            <a:pPr algn="l">
              <a:lnSpc>
                <a:spcPct val="100000"/>
              </a:lnSpc>
            </a:pPr>
            <a:r>
              <a:rPr sz="1000" b="0" i="1">
                <a:solidFill>
                  <a:srgbClr val="555555"/>
                </a:solidFill>
                <a:latin typeface="Aptos" panose="020B0004020202020204" pitchFamily="34" charset="0"/>
              </a:rPr>
              <a:t>Control logic, procedures, operability</a:t>
            </a:r>
          </a:p>
        </p:txBody>
      </p:sp>
      <p:sp>
        <p:nvSpPr>
          <p:cNvPr id="24" name="TextBox 23"/>
          <p:cNvSpPr txBox="1"/>
          <p:nvPr/>
        </p:nvSpPr>
        <p:spPr>
          <a:xfrm>
            <a:off x="640080" y="3266414"/>
            <a:ext cx="2514600" cy="215444"/>
          </a:xfrm>
          <a:prstGeom prst="rect">
            <a:avLst/>
          </a:prstGeom>
          <a:noFill/>
        </p:spPr>
        <p:txBody>
          <a:bodyPr wrap="square" lIns="0" tIns="0" rIns="0" bIns="0" anchor="ctr">
            <a:spAutoFit/>
          </a:bodyPr>
          <a:lstStyle/>
          <a:p>
            <a:pPr algn="l">
              <a:lnSpc>
                <a:spcPct val="100000"/>
              </a:lnSpc>
            </a:pPr>
            <a:r>
              <a:rPr sz="1400" b="1" i="0">
                <a:solidFill>
                  <a:srgbClr val="222222"/>
                </a:solidFill>
                <a:latin typeface="Aptos" panose="020B0004020202020204" pitchFamily="34" charset="0"/>
              </a:rPr>
              <a:t>Quality/Verifiability</a:t>
            </a:r>
          </a:p>
        </p:txBody>
      </p:sp>
      <p:sp>
        <p:nvSpPr>
          <p:cNvPr id="25" name="Rectangle 24"/>
          <p:cNvSpPr/>
          <p:nvPr/>
        </p:nvSpPr>
        <p:spPr>
          <a:xfrm>
            <a:off x="3291840" y="3218688"/>
            <a:ext cx="2942705" cy="292608"/>
          </a:xfrm>
          <a:prstGeom prst="rect">
            <a:avLst/>
          </a:prstGeom>
          <a:solidFill>
            <a:srgbClr val="441F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ptos" panose="020B0004020202020204" pitchFamily="34" charset="0"/>
            </a:endParaRPr>
          </a:p>
        </p:txBody>
      </p:sp>
      <p:sp>
        <p:nvSpPr>
          <p:cNvPr id="26" name="TextBox 25"/>
          <p:cNvSpPr txBox="1"/>
          <p:nvPr/>
        </p:nvSpPr>
        <p:spPr>
          <a:xfrm>
            <a:off x="6325985" y="3266414"/>
            <a:ext cx="731520" cy="215444"/>
          </a:xfrm>
          <a:prstGeom prst="rect">
            <a:avLst/>
          </a:prstGeom>
          <a:noFill/>
        </p:spPr>
        <p:txBody>
          <a:bodyPr wrap="square" lIns="0" tIns="0" rIns="0" bIns="0" anchor="ctr">
            <a:spAutoFit/>
          </a:bodyPr>
          <a:lstStyle/>
          <a:p>
            <a:pPr algn="l">
              <a:lnSpc>
                <a:spcPct val="100000"/>
              </a:lnSpc>
            </a:pPr>
            <a:r>
              <a:rPr sz="1400" b="1" i="0">
                <a:solidFill>
                  <a:srgbClr val="0B3D5C"/>
                </a:solidFill>
                <a:latin typeface="Aptos" panose="020B0004020202020204" pitchFamily="34" charset="0"/>
              </a:rPr>
              <a:t>0.12</a:t>
            </a:r>
          </a:p>
        </p:txBody>
      </p:sp>
      <p:sp>
        <p:nvSpPr>
          <p:cNvPr id="27" name="TextBox 26"/>
          <p:cNvSpPr txBox="1"/>
          <p:nvPr/>
        </p:nvSpPr>
        <p:spPr>
          <a:xfrm>
            <a:off x="9692640" y="3297192"/>
            <a:ext cx="2103120" cy="153888"/>
          </a:xfrm>
          <a:prstGeom prst="rect">
            <a:avLst/>
          </a:prstGeom>
          <a:noFill/>
        </p:spPr>
        <p:txBody>
          <a:bodyPr wrap="square" lIns="0" tIns="0" rIns="0" bIns="0" anchor="ctr">
            <a:spAutoFit/>
          </a:bodyPr>
          <a:lstStyle/>
          <a:p>
            <a:pPr algn="l">
              <a:lnSpc>
                <a:spcPct val="100000"/>
              </a:lnSpc>
            </a:pPr>
            <a:r>
              <a:rPr sz="1000" b="0" i="1">
                <a:solidFill>
                  <a:srgbClr val="555555"/>
                </a:solidFill>
                <a:latin typeface="Aptos" panose="020B0004020202020204" pitchFamily="34" charset="0"/>
              </a:rPr>
              <a:t>FAT/SAT, QAP, standards, auditability</a:t>
            </a:r>
          </a:p>
        </p:txBody>
      </p:sp>
      <p:sp>
        <p:nvSpPr>
          <p:cNvPr id="28" name="TextBox 27"/>
          <p:cNvSpPr txBox="1"/>
          <p:nvPr/>
        </p:nvSpPr>
        <p:spPr>
          <a:xfrm>
            <a:off x="640080" y="3741902"/>
            <a:ext cx="2514600" cy="215444"/>
          </a:xfrm>
          <a:prstGeom prst="rect">
            <a:avLst/>
          </a:prstGeom>
          <a:noFill/>
        </p:spPr>
        <p:txBody>
          <a:bodyPr wrap="square" lIns="0" tIns="0" rIns="0" bIns="0" anchor="ctr">
            <a:spAutoFit/>
          </a:bodyPr>
          <a:lstStyle/>
          <a:p>
            <a:pPr algn="l">
              <a:lnSpc>
                <a:spcPct val="100000"/>
              </a:lnSpc>
            </a:pPr>
            <a:r>
              <a:rPr sz="1400" b="1" i="0">
                <a:solidFill>
                  <a:srgbClr val="222222"/>
                </a:solidFill>
                <a:latin typeface="Aptos" panose="020B0004020202020204" pitchFamily="34" charset="0"/>
              </a:rPr>
              <a:t>Lifecycle</a:t>
            </a:r>
          </a:p>
        </p:txBody>
      </p:sp>
      <p:sp>
        <p:nvSpPr>
          <p:cNvPr id="29" name="Rectangle 28"/>
          <p:cNvSpPr/>
          <p:nvPr/>
        </p:nvSpPr>
        <p:spPr>
          <a:xfrm>
            <a:off x="3291840" y="3694176"/>
            <a:ext cx="1716578" cy="292608"/>
          </a:xfrm>
          <a:prstGeom prst="rect">
            <a:avLst/>
          </a:prstGeom>
          <a:solidFill>
            <a:srgbClr val="441F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ptos" panose="020B0004020202020204" pitchFamily="34" charset="0"/>
            </a:endParaRPr>
          </a:p>
        </p:txBody>
      </p:sp>
      <p:sp>
        <p:nvSpPr>
          <p:cNvPr id="30" name="TextBox 29"/>
          <p:cNvSpPr txBox="1"/>
          <p:nvPr/>
        </p:nvSpPr>
        <p:spPr>
          <a:xfrm>
            <a:off x="5099858" y="3741902"/>
            <a:ext cx="731520" cy="215444"/>
          </a:xfrm>
          <a:prstGeom prst="rect">
            <a:avLst/>
          </a:prstGeom>
          <a:noFill/>
        </p:spPr>
        <p:txBody>
          <a:bodyPr wrap="square" lIns="0" tIns="0" rIns="0" bIns="0" anchor="ctr">
            <a:spAutoFit/>
          </a:bodyPr>
          <a:lstStyle/>
          <a:p>
            <a:pPr algn="l">
              <a:lnSpc>
                <a:spcPct val="100000"/>
              </a:lnSpc>
            </a:pPr>
            <a:r>
              <a:rPr sz="1400" b="1" i="0">
                <a:solidFill>
                  <a:srgbClr val="0B3D5C"/>
                </a:solidFill>
                <a:latin typeface="Aptos" panose="020B0004020202020204" pitchFamily="34" charset="0"/>
              </a:rPr>
              <a:t>0.07</a:t>
            </a:r>
          </a:p>
        </p:txBody>
      </p:sp>
      <p:sp>
        <p:nvSpPr>
          <p:cNvPr id="31" name="TextBox 30"/>
          <p:cNvSpPr txBox="1"/>
          <p:nvPr/>
        </p:nvSpPr>
        <p:spPr>
          <a:xfrm>
            <a:off x="9692640" y="3695736"/>
            <a:ext cx="2103120" cy="307777"/>
          </a:xfrm>
          <a:prstGeom prst="rect">
            <a:avLst/>
          </a:prstGeom>
          <a:noFill/>
        </p:spPr>
        <p:txBody>
          <a:bodyPr wrap="square" lIns="0" tIns="0" rIns="0" bIns="0" anchor="ctr">
            <a:spAutoFit/>
          </a:bodyPr>
          <a:lstStyle/>
          <a:p>
            <a:pPr algn="l">
              <a:lnSpc>
                <a:spcPct val="100000"/>
              </a:lnSpc>
            </a:pPr>
            <a:r>
              <a:rPr sz="1000" b="0" i="1">
                <a:solidFill>
                  <a:srgbClr val="555555"/>
                </a:solidFill>
                <a:latin typeface="Aptos" panose="020B0004020202020204" pitchFamily="34" charset="0"/>
              </a:rPr>
              <a:t>Maintainability / obsolescence / support</a:t>
            </a:r>
          </a:p>
        </p:txBody>
      </p:sp>
      <p:sp>
        <p:nvSpPr>
          <p:cNvPr id="32" name="TextBox 31"/>
          <p:cNvSpPr txBox="1"/>
          <p:nvPr/>
        </p:nvSpPr>
        <p:spPr>
          <a:xfrm>
            <a:off x="640080" y="4217390"/>
            <a:ext cx="2514600" cy="215444"/>
          </a:xfrm>
          <a:prstGeom prst="rect">
            <a:avLst/>
          </a:prstGeom>
          <a:noFill/>
        </p:spPr>
        <p:txBody>
          <a:bodyPr wrap="square" lIns="0" tIns="0" rIns="0" bIns="0" anchor="ctr">
            <a:spAutoFit/>
          </a:bodyPr>
          <a:lstStyle/>
          <a:p>
            <a:pPr algn="l">
              <a:lnSpc>
                <a:spcPct val="100000"/>
              </a:lnSpc>
            </a:pPr>
            <a:r>
              <a:rPr sz="1400" b="1" i="0">
                <a:solidFill>
                  <a:srgbClr val="222222"/>
                </a:solidFill>
                <a:latin typeface="Aptos" panose="020B0004020202020204" pitchFamily="34" charset="0"/>
              </a:rPr>
              <a:t>Cost</a:t>
            </a:r>
          </a:p>
        </p:txBody>
      </p:sp>
      <p:sp>
        <p:nvSpPr>
          <p:cNvPr id="33" name="Rectangle 32"/>
          <p:cNvSpPr/>
          <p:nvPr/>
        </p:nvSpPr>
        <p:spPr>
          <a:xfrm>
            <a:off x="3291840" y="4169664"/>
            <a:ext cx="735676" cy="292608"/>
          </a:xfrm>
          <a:prstGeom prst="rect">
            <a:avLst/>
          </a:prstGeom>
          <a:solidFill>
            <a:srgbClr val="C99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ptos" panose="020B0004020202020204" pitchFamily="34" charset="0"/>
            </a:endParaRPr>
          </a:p>
        </p:txBody>
      </p:sp>
      <p:sp>
        <p:nvSpPr>
          <p:cNvPr id="34" name="TextBox 33"/>
          <p:cNvSpPr txBox="1"/>
          <p:nvPr/>
        </p:nvSpPr>
        <p:spPr>
          <a:xfrm>
            <a:off x="4118956" y="4217390"/>
            <a:ext cx="731520" cy="215444"/>
          </a:xfrm>
          <a:prstGeom prst="rect">
            <a:avLst/>
          </a:prstGeom>
          <a:noFill/>
        </p:spPr>
        <p:txBody>
          <a:bodyPr wrap="square" lIns="0" tIns="0" rIns="0" bIns="0" anchor="ctr">
            <a:spAutoFit/>
          </a:bodyPr>
          <a:lstStyle/>
          <a:p>
            <a:pPr algn="l">
              <a:lnSpc>
                <a:spcPct val="100000"/>
              </a:lnSpc>
            </a:pPr>
            <a:r>
              <a:rPr sz="1400" b="1" i="0">
                <a:solidFill>
                  <a:srgbClr val="0B3D5C"/>
                </a:solidFill>
                <a:latin typeface="Aptos" panose="020B0004020202020204" pitchFamily="34" charset="0"/>
              </a:rPr>
              <a:t>0.03</a:t>
            </a:r>
          </a:p>
        </p:txBody>
      </p:sp>
      <p:sp>
        <p:nvSpPr>
          <p:cNvPr id="35" name="TextBox 34"/>
          <p:cNvSpPr txBox="1"/>
          <p:nvPr/>
        </p:nvSpPr>
        <p:spPr>
          <a:xfrm>
            <a:off x="9692640" y="4248168"/>
            <a:ext cx="2103120" cy="153888"/>
          </a:xfrm>
          <a:prstGeom prst="rect">
            <a:avLst/>
          </a:prstGeom>
          <a:noFill/>
        </p:spPr>
        <p:txBody>
          <a:bodyPr wrap="square" lIns="0" tIns="0" rIns="0" bIns="0" anchor="ctr">
            <a:spAutoFit/>
          </a:bodyPr>
          <a:lstStyle/>
          <a:p>
            <a:pPr algn="l">
              <a:lnSpc>
                <a:spcPct val="100000"/>
              </a:lnSpc>
            </a:pPr>
            <a:r>
              <a:rPr sz="1000" b="0" i="1">
                <a:solidFill>
                  <a:srgbClr val="555555"/>
                </a:solidFill>
                <a:latin typeface="Aptos" panose="020B0004020202020204" pitchFamily="34" charset="0"/>
              </a:rPr>
              <a:t>Tie-break driver only</a:t>
            </a:r>
          </a:p>
        </p:txBody>
      </p:sp>
      <p:sp>
        <p:nvSpPr>
          <p:cNvPr id="36" name="Rectangle 35"/>
          <p:cNvSpPr/>
          <p:nvPr/>
        </p:nvSpPr>
        <p:spPr>
          <a:xfrm>
            <a:off x="640080" y="4709160"/>
            <a:ext cx="10881360" cy="1051560"/>
          </a:xfrm>
          <a:prstGeom prst="rect">
            <a:avLst/>
          </a:prstGeom>
          <a:solidFill>
            <a:srgbClr val="EFE5F5"/>
          </a:solidFill>
          <a:ln w="12700">
            <a:solidFill>
              <a:srgbClr val="0B3D5C"/>
            </a:solidFill>
          </a:ln>
          <a:effectLst/>
        </p:spPr>
        <p:style>
          <a:lnRef idx="1">
            <a:schemeClr val="accent1"/>
          </a:lnRef>
          <a:fillRef idx="3">
            <a:schemeClr val="accent1"/>
          </a:fillRef>
          <a:effectRef idx="2">
            <a:schemeClr val="accent1"/>
          </a:effectRef>
          <a:fontRef idx="minor">
            <a:schemeClr val="lt1"/>
          </a:fontRef>
        </p:style>
        <p:txBody>
          <a:bodyPr wrap="square" lIns="146304" tIns="91440" rIns="146304" bIns="91440" rtlCol="0" anchor="ctr"/>
          <a:lstStyle/>
          <a:p>
            <a:pPr algn="ctr">
              <a:lnSpc>
                <a:spcPct val="110000"/>
              </a:lnSpc>
            </a:pPr>
            <a:r>
              <a:rPr sz="1400" b="1" dirty="0">
                <a:solidFill>
                  <a:srgbClr val="0B3D5C"/>
                </a:solidFill>
                <a:latin typeface="Aptos" panose="020B0004020202020204" pitchFamily="34" charset="0"/>
              </a:rPr>
              <a:t>Board position:  </a:t>
            </a:r>
            <a:r>
              <a:rPr sz="1400" b="1" dirty="0">
                <a:solidFill>
                  <a:srgbClr val="222222"/>
                </a:solidFill>
                <a:latin typeface="Aptos" panose="020B0004020202020204" pitchFamily="34" charset="0"/>
              </a:rPr>
              <a:t>Reliability (0.22) is weighted above Performance (0.20) </a:t>
            </a:r>
            <a:r>
              <a:rPr sz="1400" dirty="0">
                <a:solidFill>
                  <a:srgbClr val="222222"/>
                </a:solidFill>
                <a:latin typeface="Aptos" panose="020B0004020202020204" pitchFamily="34" charset="0"/>
              </a:rPr>
              <a:t>— performance is expected of every credible bidder in this class; sustained reliability at 2K is the differentiator. Legal/MUST items sit outside this sum as a gate. Cost decides only near-ties — this is a technical-only evaluation.</a:t>
            </a:r>
          </a:p>
        </p:txBody>
      </p:sp>
      <p:sp>
        <p:nvSpPr>
          <p:cNvPr id="37" name="TextBox 36"/>
          <p:cNvSpPr txBox="1"/>
          <p:nvPr/>
        </p:nvSpPr>
        <p:spPr>
          <a:xfrm>
            <a:off x="640080" y="5897880"/>
            <a:ext cx="10881360" cy="169277"/>
          </a:xfrm>
          <a:prstGeom prst="rect">
            <a:avLst/>
          </a:prstGeom>
          <a:noFill/>
        </p:spPr>
        <p:txBody>
          <a:bodyPr wrap="square" lIns="0" tIns="0" rIns="0" bIns="0" anchor="t">
            <a:spAutoFit/>
          </a:bodyPr>
          <a:lstStyle/>
          <a:p>
            <a:pPr algn="l">
              <a:lnSpc>
                <a:spcPct val="100000"/>
              </a:lnSpc>
            </a:pPr>
            <a:r>
              <a:rPr sz="1100" b="0" i="1">
                <a:solidFill>
                  <a:srgbClr val="555555"/>
                </a:solidFill>
                <a:latin typeface="Aptos" panose="020B0004020202020204" pitchFamily="34" charset="0"/>
              </a:rPr>
              <a:t>Weight sum check (BT_Config!B15) = 1.00. Editable in one place; both the OFFER and RTM rankings recompute from it.</a:t>
            </a:r>
          </a:p>
        </p:txBody>
      </p:sp>
      <p:sp>
        <p:nvSpPr>
          <p:cNvPr id="38" name="Slide Number Placeholder 37">
            <a:extLst>
              <a:ext uri="{FF2B5EF4-FFF2-40B4-BE49-F238E27FC236}">
                <a16:creationId xmlns:a16="http://schemas.microsoft.com/office/drawing/2014/main" id="{BCBD48FA-1954-34D0-98AF-581BAC995B49}"/>
              </a:ext>
            </a:extLst>
          </p:cNvPr>
          <p:cNvSpPr>
            <a:spLocks noGrp="1"/>
          </p:cNvSpPr>
          <p:nvPr>
            <p:ph type="sldNum" sz="quarter" idx="12"/>
          </p:nvPr>
        </p:nvSpPr>
        <p:spPr/>
        <p:txBody>
          <a:bodyPr/>
          <a:lstStyle/>
          <a:p>
            <a:fld id="{C1FF6DA9-008F-8B48-92A6-B652298478BF}" type="slidenum">
              <a:rPr lang="en-US" smtClean="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441F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09728"/>
            <a:ext cx="9875520" cy="685800"/>
          </a:xfrm>
          <a:prstGeom prst="rect">
            <a:avLst/>
          </a:prstGeom>
          <a:noFill/>
        </p:spPr>
        <p:txBody>
          <a:bodyPr wrap="square" lIns="0" tIns="0" rIns="0" bIns="0" anchor="ctr">
            <a:spAutoFit/>
          </a:bodyPr>
          <a:lstStyle/>
          <a:p>
            <a:pPr algn="l">
              <a:lnSpc>
                <a:spcPct val="100000"/>
              </a:lnSpc>
            </a:pPr>
            <a:r>
              <a:rPr sz="2500" b="1" i="0">
                <a:solidFill>
                  <a:srgbClr val="FFFFFF"/>
                </a:solidFill>
                <a:latin typeface="Aptos"/>
              </a:rPr>
              <a:t>From scores to ranking: S → win % → λ</a:t>
            </a:r>
          </a:p>
        </p:txBody>
      </p:sp>
      <p:sp>
        <p:nvSpPr>
          <p:cNvPr id="4" name="TextBox 3"/>
          <p:cNvSpPr txBox="1"/>
          <p:nvPr/>
        </p:nvSpPr>
        <p:spPr>
          <a:xfrm>
            <a:off x="10607040" y="292608"/>
            <a:ext cx="1371600" cy="320040"/>
          </a:xfrm>
          <a:prstGeom prst="rect">
            <a:avLst/>
          </a:prstGeom>
          <a:noFill/>
        </p:spPr>
        <p:txBody>
          <a:bodyPr wrap="square" lIns="0" tIns="0" rIns="0" bIns="0" anchor="t">
            <a:spAutoFit/>
          </a:bodyPr>
          <a:lstStyle/>
          <a:p>
            <a:pPr algn="r">
              <a:lnSpc>
                <a:spcPct val="100000"/>
              </a:lnSpc>
            </a:pPr>
            <a:r>
              <a:rPr sz="1100" b="1" i="0">
                <a:solidFill>
                  <a:srgbClr val="BFD6E6"/>
                </a:solidFill>
                <a:latin typeface="Aptos"/>
              </a:rPr>
              <a:t>METHOD-S04</a:t>
            </a:r>
          </a:p>
        </p:txBody>
      </p:sp>
      <p:sp>
        <p:nvSpPr>
          <p:cNvPr id="5" name="Rectangle 4"/>
          <p:cNvSpPr/>
          <p:nvPr/>
        </p:nvSpPr>
        <p:spPr>
          <a:xfrm>
            <a:off x="0" y="6547104"/>
            <a:ext cx="12191695" cy="310896"/>
          </a:xfrm>
          <a:prstGeom prst="rect">
            <a:avLst/>
          </a:prstGeom>
          <a:solidFill>
            <a:srgbClr val="F3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11480" y="6565392"/>
            <a:ext cx="10515600" cy="274320"/>
          </a:xfrm>
          <a:prstGeom prst="rect">
            <a:avLst/>
          </a:prstGeom>
          <a:noFill/>
        </p:spPr>
        <p:txBody>
          <a:bodyPr wrap="square" lIns="0" tIns="0" rIns="0" bIns="0" anchor="ctr">
            <a:spAutoFit/>
          </a:bodyPr>
          <a:lstStyle/>
          <a:p>
            <a:pPr algn="l">
              <a:lnSpc>
                <a:spcPct val="100000"/>
              </a:lnSpc>
            </a:pPr>
            <a:r>
              <a:rPr sz="850" b="0" i="0">
                <a:solidFill>
                  <a:srgbClr val="555555"/>
                </a:solidFill>
                <a:latin typeface="Aptos"/>
              </a:rPr>
              <a:t>BT METHOD — Engineering Baseline (canonical RTM-722) · METHOD-S04 | v3.6</a:t>
            </a:r>
          </a:p>
        </p:txBody>
      </p:sp>
      <p:pic>
        <p:nvPicPr>
          <p:cNvPr id="7" name="Picture 6" descr="emb_svslam.png"/>
          <p:cNvPicPr>
            <a:picLocks noChangeAspect="1"/>
          </p:cNvPicPr>
          <p:nvPr/>
        </p:nvPicPr>
        <p:blipFill>
          <a:blip r:embed="rId3"/>
          <a:stretch>
            <a:fillRect/>
          </a:stretch>
        </p:blipFill>
        <p:spPr>
          <a:xfrm>
            <a:off x="502920" y="1051560"/>
            <a:ext cx="11155680" cy="3842512"/>
          </a:xfrm>
          <a:prstGeom prst="rect">
            <a:avLst/>
          </a:prstGeom>
        </p:spPr>
      </p:pic>
      <p:sp>
        <p:nvSpPr>
          <p:cNvPr id="8" name="TextBox 7"/>
          <p:cNvSpPr txBox="1"/>
          <p:nvPr/>
        </p:nvSpPr>
        <p:spPr>
          <a:xfrm>
            <a:off x="640080" y="4892040"/>
            <a:ext cx="10881360" cy="767839"/>
          </a:xfrm>
          <a:prstGeom prst="rect">
            <a:avLst/>
          </a:prstGeom>
          <a:noFill/>
        </p:spPr>
        <p:txBody>
          <a:bodyPr wrap="square" lIns="0" tIns="0" rIns="0" bIns="0">
            <a:spAutoFit/>
          </a:bodyPr>
          <a:lstStyle/>
          <a:p>
            <a:pPr>
              <a:lnSpc>
                <a:spcPct val="108000"/>
              </a:lnSpc>
              <a:spcAft>
                <a:spcPts val="600"/>
              </a:spcAft>
            </a:pPr>
            <a:r>
              <a:rPr sz="1250" b="1">
                <a:solidFill>
                  <a:srgbClr val="0B3D5C"/>
                </a:solidFill>
                <a:latin typeface="Aptos" panose="020B0004020202020204" pitchFamily="34" charset="0"/>
              </a:rPr>
              <a:t>•  </a:t>
            </a:r>
            <a:r>
              <a:rPr sz="1250" b="1">
                <a:solidFill>
                  <a:srgbClr val="222222"/>
                </a:solidFill>
                <a:latin typeface="Aptos" panose="020B0004020202020204" pitchFamily="34" charset="0"/>
              </a:rPr>
              <a:t>Composite  </a:t>
            </a:r>
            <a:r>
              <a:rPr sz="1250">
                <a:solidFill>
                  <a:srgbClr val="222222"/>
                </a:solidFill>
                <a:latin typeface="Aptos" panose="020B0004020202020204" pitchFamily="34" charset="0"/>
              </a:rPr>
              <a:t>S = 100 · Σ_d w_d · (x_d/3)  → 0–100. This is the ranking sort key.</a:t>
            </a:r>
          </a:p>
          <a:p>
            <a:pPr>
              <a:lnSpc>
                <a:spcPct val="108000"/>
              </a:lnSpc>
              <a:spcAft>
                <a:spcPts val="600"/>
              </a:spcAft>
            </a:pPr>
            <a:r>
              <a:rPr sz="1250" b="1">
                <a:solidFill>
                  <a:srgbClr val="0B3D5C"/>
                </a:solidFill>
                <a:latin typeface="Aptos" panose="020B0004020202020204" pitchFamily="34" charset="0"/>
              </a:rPr>
              <a:t>•  </a:t>
            </a:r>
            <a:r>
              <a:rPr sz="1250" b="1">
                <a:solidFill>
                  <a:srgbClr val="222222"/>
                </a:solidFill>
                <a:latin typeface="Aptos" panose="020B0004020202020204" pitchFamily="34" charset="0"/>
              </a:rPr>
              <a:t>Win %  </a:t>
            </a:r>
            <a:r>
              <a:rPr sz="1250">
                <a:solidFill>
                  <a:srgbClr val="222222"/>
                </a:solidFill>
                <a:latin typeface="Aptos" panose="020B0004020202020204" pitchFamily="34" charset="0"/>
              </a:rPr>
              <a:t>BT score = 100 · (wins + 0.5·ties) / (N−1) over the round-robin — same order as S, human-readable.</a:t>
            </a:r>
          </a:p>
          <a:p>
            <a:pPr>
              <a:lnSpc>
                <a:spcPct val="108000"/>
              </a:lnSpc>
              <a:spcAft>
                <a:spcPts val="600"/>
              </a:spcAft>
            </a:pPr>
            <a:r>
              <a:rPr sz="1250" b="1">
                <a:solidFill>
                  <a:srgbClr val="0B3D5C"/>
                </a:solidFill>
                <a:latin typeface="Aptos" panose="020B0004020202020204" pitchFamily="34" charset="0"/>
              </a:rPr>
              <a:t>•  </a:t>
            </a:r>
            <a:r>
              <a:rPr sz="1250" b="1">
                <a:solidFill>
                  <a:srgbClr val="222222"/>
                </a:solidFill>
                <a:latin typeface="Aptos" panose="020B0004020202020204" pitchFamily="34" charset="0"/>
              </a:rPr>
              <a:t>λ (strength)  </a:t>
            </a:r>
            <a:r>
              <a:rPr sz="1250">
                <a:solidFill>
                  <a:srgbClr val="222222"/>
                </a:solidFill>
                <a:latin typeface="Aptos" panose="020B0004020202020204" pitchFamily="34" charset="0"/>
              </a:rPr>
              <a:t>Bradley–Terry MLE of P(i≻j) = λ_i/(λ_i+λ_j), regularised (pseudo-count 0.10/pair, ~320 iterations). Computed here for real: Spearman(S, λ) = 0.999.</a:t>
            </a:r>
          </a:p>
        </p:txBody>
      </p:sp>
      <p:sp>
        <p:nvSpPr>
          <p:cNvPr id="9" name="Rectangle 8"/>
          <p:cNvSpPr/>
          <p:nvPr/>
        </p:nvSpPr>
        <p:spPr>
          <a:xfrm>
            <a:off x="640080" y="5989320"/>
            <a:ext cx="10881360" cy="548640"/>
          </a:xfrm>
          <a:prstGeom prst="rect">
            <a:avLst/>
          </a:prstGeom>
          <a:solidFill>
            <a:srgbClr val="EFE5F5"/>
          </a:solidFill>
          <a:ln w="12700">
            <a:solidFill>
              <a:srgbClr val="0B3D5C"/>
            </a:solidFill>
          </a:ln>
          <a:effectLst/>
        </p:spPr>
        <p:style>
          <a:lnRef idx="1">
            <a:schemeClr val="accent1"/>
          </a:lnRef>
          <a:fillRef idx="3">
            <a:schemeClr val="accent1"/>
          </a:fillRef>
          <a:effectRef idx="2">
            <a:schemeClr val="accent1"/>
          </a:effectRef>
          <a:fontRef idx="minor">
            <a:schemeClr val="lt1"/>
          </a:fontRef>
        </p:style>
        <p:txBody>
          <a:bodyPr wrap="square" lIns="146304" tIns="91440" rIns="146304" bIns="91440" rtlCol="0" anchor="ctr"/>
          <a:lstStyle/>
          <a:p>
            <a:pPr algn="ctr">
              <a:lnSpc>
                <a:spcPct val="110000"/>
              </a:lnSpc>
            </a:pPr>
            <a:r>
              <a:rPr sz="1250" b="1">
                <a:solidFill>
                  <a:srgbClr val="0B3D5C"/>
                </a:solidFill>
                <a:latin typeface="Aptos"/>
              </a:rPr>
              <a:t>Board read:  </a:t>
            </a:r>
            <a:r>
              <a:rPr sz="1250">
                <a:solidFill>
                  <a:srgbClr val="222222"/>
                </a:solidFill>
                <a:latin typeface="Aptos"/>
              </a:rPr>
              <a:t>quote S to defend a ranking (anyone can recompute by hand), win % to brief, λ only for an explicit pairwise probability. All three always agree on order.</a:t>
            </a:r>
          </a:p>
        </p:txBody>
      </p:sp>
      <p:sp>
        <p:nvSpPr>
          <p:cNvPr id="10" name="Slide Number Placeholder 9">
            <a:extLst>
              <a:ext uri="{FF2B5EF4-FFF2-40B4-BE49-F238E27FC236}">
                <a16:creationId xmlns:a16="http://schemas.microsoft.com/office/drawing/2014/main" id="{1316730B-C9A5-4843-09E2-BCF8376C55F5}"/>
              </a:ext>
            </a:extLst>
          </p:cNvPr>
          <p:cNvSpPr>
            <a:spLocks noGrp="1"/>
          </p:cNvSpPr>
          <p:nvPr>
            <p:ph type="sldNum" sz="quarter" idx="12"/>
          </p:nvPr>
        </p:nvSpPr>
        <p:spPr/>
        <p:txBody>
          <a:bodyPr/>
          <a:lstStyle/>
          <a:p>
            <a:fld id="{C1FF6DA9-008F-8B48-92A6-B652298478BF}" type="slidenum">
              <a:rPr lang="en-US" smtClean="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441F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ptos" panose="020B0004020202020204" pitchFamily="34" charset="0"/>
            </a:endParaRPr>
          </a:p>
        </p:txBody>
      </p:sp>
      <p:sp>
        <p:nvSpPr>
          <p:cNvPr id="3" name="TextBox 2"/>
          <p:cNvSpPr txBox="1"/>
          <p:nvPr/>
        </p:nvSpPr>
        <p:spPr>
          <a:xfrm>
            <a:off x="411480" y="260267"/>
            <a:ext cx="9875520" cy="384721"/>
          </a:xfrm>
          <a:prstGeom prst="rect">
            <a:avLst/>
          </a:prstGeom>
          <a:noFill/>
        </p:spPr>
        <p:txBody>
          <a:bodyPr wrap="square" lIns="0" tIns="0" rIns="0" bIns="0" anchor="ctr">
            <a:spAutoFit/>
          </a:bodyPr>
          <a:lstStyle/>
          <a:p>
            <a:pPr algn="l">
              <a:lnSpc>
                <a:spcPct val="100000"/>
              </a:lnSpc>
            </a:pPr>
            <a:r>
              <a:rPr sz="2500" b="1" i="0">
                <a:solidFill>
                  <a:srgbClr val="FFFFFF"/>
                </a:solidFill>
                <a:latin typeface="Aptos" panose="020B0004020202020204" pitchFamily="34" charset="0"/>
              </a:rPr>
              <a:t>Deterministic pairwise examples</a:t>
            </a:r>
          </a:p>
        </p:txBody>
      </p:sp>
      <p:sp>
        <p:nvSpPr>
          <p:cNvPr id="4" name="TextBox 3"/>
          <p:cNvSpPr txBox="1"/>
          <p:nvPr/>
        </p:nvSpPr>
        <p:spPr>
          <a:xfrm>
            <a:off x="10607040" y="292608"/>
            <a:ext cx="1371600" cy="169277"/>
          </a:xfrm>
          <a:prstGeom prst="rect">
            <a:avLst/>
          </a:prstGeom>
          <a:noFill/>
        </p:spPr>
        <p:txBody>
          <a:bodyPr wrap="square" lIns="0" tIns="0" rIns="0" bIns="0" anchor="t">
            <a:spAutoFit/>
          </a:bodyPr>
          <a:lstStyle/>
          <a:p>
            <a:pPr algn="r">
              <a:lnSpc>
                <a:spcPct val="100000"/>
              </a:lnSpc>
            </a:pPr>
            <a:r>
              <a:rPr sz="1100" b="1" i="0">
                <a:solidFill>
                  <a:srgbClr val="BFD6E6"/>
                </a:solidFill>
                <a:latin typeface="Aptos" panose="020B0004020202020204" pitchFamily="34" charset="0"/>
              </a:rPr>
              <a:t>METHOD-S05</a:t>
            </a:r>
          </a:p>
        </p:txBody>
      </p:sp>
      <p:sp>
        <p:nvSpPr>
          <p:cNvPr id="5" name="Rectangle 4"/>
          <p:cNvSpPr/>
          <p:nvPr/>
        </p:nvSpPr>
        <p:spPr>
          <a:xfrm>
            <a:off x="0" y="6547104"/>
            <a:ext cx="12191695" cy="310896"/>
          </a:xfrm>
          <a:prstGeom prst="rect">
            <a:avLst/>
          </a:prstGeom>
          <a:solidFill>
            <a:srgbClr val="F3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ptos" panose="020B0004020202020204" pitchFamily="34" charset="0"/>
            </a:endParaRPr>
          </a:p>
        </p:txBody>
      </p:sp>
      <p:sp>
        <p:nvSpPr>
          <p:cNvPr id="6" name="TextBox 5"/>
          <p:cNvSpPr txBox="1"/>
          <p:nvPr/>
        </p:nvSpPr>
        <p:spPr>
          <a:xfrm>
            <a:off x="411480" y="6637149"/>
            <a:ext cx="10515600" cy="130805"/>
          </a:xfrm>
          <a:prstGeom prst="rect">
            <a:avLst/>
          </a:prstGeom>
          <a:noFill/>
        </p:spPr>
        <p:txBody>
          <a:bodyPr wrap="square" lIns="0" tIns="0" rIns="0" bIns="0" anchor="ctr">
            <a:spAutoFit/>
          </a:bodyPr>
          <a:lstStyle/>
          <a:p>
            <a:pPr algn="l">
              <a:lnSpc>
                <a:spcPct val="100000"/>
              </a:lnSpc>
            </a:pPr>
            <a:r>
              <a:rPr sz="850" b="0" i="0">
                <a:solidFill>
                  <a:srgbClr val="555555"/>
                </a:solidFill>
                <a:latin typeface="Aptos" panose="020B0004020202020204" pitchFamily="34" charset="0"/>
              </a:rPr>
              <a:t>BT METHOD — Engineering Baseline (canonical RTM-722) · METHOD-S05 | v3.6</a:t>
            </a:r>
          </a:p>
        </p:txBody>
      </p:sp>
      <p:sp>
        <p:nvSpPr>
          <p:cNvPr id="7" name="TextBox 6"/>
          <p:cNvSpPr txBox="1"/>
          <p:nvPr/>
        </p:nvSpPr>
        <p:spPr>
          <a:xfrm>
            <a:off x="640080" y="1188720"/>
            <a:ext cx="10881360" cy="2417393"/>
          </a:xfrm>
          <a:prstGeom prst="rect">
            <a:avLst/>
          </a:prstGeom>
          <a:noFill/>
        </p:spPr>
        <p:txBody>
          <a:bodyPr wrap="square" lIns="0" tIns="0" rIns="0" bIns="0">
            <a:spAutoFit/>
          </a:bodyPr>
          <a:lstStyle/>
          <a:p>
            <a:pPr>
              <a:lnSpc>
                <a:spcPct val="108000"/>
              </a:lnSpc>
              <a:spcAft>
                <a:spcPts val="2200"/>
              </a:spcAft>
            </a:pPr>
            <a:r>
              <a:rPr sz="1400" b="1" dirty="0">
                <a:solidFill>
                  <a:srgbClr val="0B3D5C"/>
                </a:solidFill>
                <a:latin typeface="Aptos" panose="020B0004020202020204" pitchFamily="34" charset="0"/>
              </a:rPr>
              <a:t>•  </a:t>
            </a:r>
            <a:r>
              <a:rPr sz="1400" b="1" dirty="0">
                <a:solidFill>
                  <a:srgbClr val="222222"/>
                </a:solidFill>
                <a:latin typeface="Aptos" panose="020B0004020202020204" pitchFamily="34" charset="0"/>
              </a:rPr>
              <a:t>OFFER-11 ≻ OFFER-12  (reliability beats invCOP at equal class)  —  </a:t>
            </a:r>
            <a:r>
              <a:rPr sz="1400" dirty="0">
                <a:solidFill>
                  <a:srgbClr val="222222"/>
                </a:solidFill>
                <a:latin typeface="Aptos" panose="020B0004020202020204" pitchFamily="34" charset="0"/>
              </a:rPr>
              <a:t>S=24.33 (R=3, LC=1) vs S=22.00 (P=3, C=2). Both T2 Secondary, adjacent ranks (23 vs 24). Reliability's weight (0.22) edges out Performance (0.20) plus Cost (0.03) — a direct, auditable consequence of the weight table, not a judgement call made per-item.</a:t>
            </a:r>
          </a:p>
          <a:p>
            <a:pPr>
              <a:lnSpc>
                <a:spcPct val="108000"/>
              </a:lnSpc>
              <a:spcAft>
                <a:spcPts val="2200"/>
              </a:spcAft>
            </a:pPr>
            <a:r>
              <a:rPr sz="1400" b="1" dirty="0">
                <a:solidFill>
                  <a:srgbClr val="0B3D5C"/>
                </a:solidFill>
                <a:latin typeface="Aptos" panose="020B0004020202020204" pitchFamily="34" charset="0"/>
              </a:rPr>
              <a:t>•  </a:t>
            </a:r>
            <a:r>
              <a:rPr sz="1400" b="1" dirty="0">
                <a:solidFill>
                  <a:srgbClr val="222222"/>
                </a:solidFill>
                <a:latin typeface="Aptos" panose="020B0004020202020204" pitchFamily="34" charset="0"/>
              </a:rPr>
              <a:t>OFFER-21 / OFFER-22 top  (LOOP + recovery, F3+R3)  —  </a:t>
            </a:r>
            <a:r>
              <a:rPr sz="1400" dirty="0">
                <a:solidFill>
                  <a:srgbClr val="222222"/>
                </a:solidFill>
                <a:latin typeface="Aptos" panose="020B0004020202020204" pitchFamily="34" charset="0"/>
              </a:rPr>
              <a:t>both S=38, rank 1 (tied). Reliability=3 and Functional=3, nothing else scored — the two highest-weighted non-gate dimensions, both maxed. This is the ranking's own explanation for why these two items lead: no other combination reaches 38 without a Legal/MUST flag.</a:t>
            </a:r>
          </a:p>
          <a:p>
            <a:pPr>
              <a:lnSpc>
                <a:spcPct val="108000"/>
              </a:lnSpc>
              <a:spcAft>
                <a:spcPts val="2200"/>
              </a:spcAft>
            </a:pPr>
            <a:r>
              <a:rPr sz="1400" b="1" dirty="0">
                <a:solidFill>
                  <a:srgbClr val="0B3D5C"/>
                </a:solidFill>
                <a:latin typeface="Aptos" panose="020B0004020202020204" pitchFamily="34" charset="0"/>
              </a:rPr>
              <a:t>•  </a:t>
            </a:r>
            <a:r>
              <a:rPr sz="1400" b="1" dirty="0">
                <a:solidFill>
                  <a:srgbClr val="222222"/>
                </a:solidFill>
                <a:latin typeface="Aptos" panose="020B0004020202020204" pitchFamily="34" charset="0"/>
              </a:rPr>
              <a:t>Gate items protected regardless of S  —  </a:t>
            </a:r>
            <a:r>
              <a:rPr sz="1400" dirty="0">
                <a:solidFill>
                  <a:srgbClr val="222222"/>
                </a:solidFill>
                <a:latin typeface="Aptos" panose="020B0004020202020204" pitchFamily="34" charset="0"/>
              </a:rPr>
              <a:t>OFFER-01 (S=21.33) and OFFER-47 (S=25.33) score BELOW several T1/T2 items, yet both sit in T0 Gate, outside the compensatory sum. The gate is not about outscoring others — it is a pass/fail check that no technical score can buy back.</a:t>
            </a:r>
          </a:p>
        </p:txBody>
      </p:sp>
      <p:sp>
        <p:nvSpPr>
          <p:cNvPr id="8" name="Rectangle 7"/>
          <p:cNvSpPr/>
          <p:nvPr/>
        </p:nvSpPr>
        <p:spPr>
          <a:xfrm>
            <a:off x="640080" y="5806440"/>
            <a:ext cx="10881360" cy="685800"/>
          </a:xfrm>
          <a:prstGeom prst="rect">
            <a:avLst/>
          </a:prstGeom>
          <a:solidFill>
            <a:srgbClr val="EFE5F5"/>
          </a:solidFill>
          <a:ln w="12700">
            <a:solidFill>
              <a:srgbClr val="0B3D5C"/>
            </a:solidFill>
          </a:ln>
          <a:effectLst/>
        </p:spPr>
        <p:style>
          <a:lnRef idx="1">
            <a:schemeClr val="accent1"/>
          </a:lnRef>
          <a:fillRef idx="3">
            <a:schemeClr val="accent1"/>
          </a:fillRef>
          <a:effectRef idx="2">
            <a:schemeClr val="accent1"/>
          </a:effectRef>
          <a:fontRef idx="minor">
            <a:schemeClr val="lt1"/>
          </a:fontRef>
        </p:style>
        <p:txBody>
          <a:bodyPr wrap="square" lIns="146304" tIns="91440" rIns="146304" bIns="91440" rtlCol="0" anchor="ctr"/>
          <a:lstStyle/>
          <a:p>
            <a:pPr algn="ctr">
              <a:lnSpc>
                <a:spcPct val="110000"/>
              </a:lnSpc>
            </a:pPr>
            <a:r>
              <a:rPr sz="1250" b="1">
                <a:solidFill>
                  <a:srgbClr val="0B3D5C"/>
                </a:solidFill>
                <a:latin typeface="Aptos" panose="020B0004020202020204" pitchFamily="34" charset="0"/>
              </a:rPr>
              <a:t>Board position:  </a:t>
            </a:r>
            <a:r>
              <a:rPr sz="1250">
                <a:solidFill>
                  <a:srgbClr val="222222"/>
                </a:solidFill>
                <a:latin typeface="Aptos" panose="020B0004020202020204" pitchFamily="34" charset="0"/>
              </a:rPr>
              <a:t>every ranking claim on this deck can be traced back to a specific weight, a specific dimension score, and a specific requirement page — there is no discretionary step between the workbook and the order.</a:t>
            </a:r>
          </a:p>
        </p:txBody>
      </p:sp>
      <p:sp>
        <p:nvSpPr>
          <p:cNvPr id="9" name="Slide Number Placeholder 8">
            <a:extLst>
              <a:ext uri="{FF2B5EF4-FFF2-40B4-BE49-F238E27FC236}">
                <a16:creationId xmlns:a16="http://schemas.microsoft.com/office/drawing/2014/main" id="{07442001-6241-ECB9-816A-2796A514793B}"/>
              </a:ext>
            </a:extLst>
          </p:cNvPr>
          <p:cNvSpPr>
            <a:spLocks noGrp="1"/>
          </p:cNvSpPr>
          <p:nvPr>
            <p:ph type="sldNum" sz="quarter" idx="12"/>
          </p:nvPr>
        </p:nvSpPr>
        <p:spPr/>
        <p:txBody>
          <a:bodyPr/>
          <a:lstStyle/>
          <a:p>
            <a:fld id="{C1FF6DA9-008F-8B48-92A6-B652298478BF}" type="slidenum">
              <a:rPr lang="en-US" smtClean="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441F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09728"/>
            <a:ext cx="9875520" cy="685800"/>
          </a:xfrm>
          <a:prstGeom prst="rect">
            <a:avLst/>
          </a:prstGeom>
          <a:noFill/>
        </p:spPr>
        <p:txBody>
          <a:bodyPr wrap="square" lIns="0" tIns="0" rIns="0" bIns="0" anchor="ctr">
            <a:spAutoFit/>
          </a:bodyPr>
          <a:lstStyle/>
          <a:p>
            <a:pPr algn="l">
              <a:lnSpc>
                <a:spcPct val="100000"/>
              </a:lnSpc>
            </a:pPr>
            <a:r>
              <a:rPr sz="2500" b="1" i="0">
                <a:solidFill>
                  <a:srgbClr val="FFFFFF"/>
                </a:solidFill>
                <a:latin typeface="Aptos"/>
              </a:rPr>
              <a:t>Tiers and the Legal gate</a:t>
            </a:r>
          </a:p>
        </p:txBody>
      </p:sp>
      <p:sp>
        <p:nvSpPr>
          <p:cNvPr id="4" name="TextBox 3"/>
          <p:cNvSpPr txBox="1"/>
          <p:nvPr/>
        </p:nvSpPr>
        <p:spPr>
          <a:xfrm>
            <a:off x="10607040" y="292608"/>
            <a:ext cx="1371600" cy="320040"/>
          </a:xfrm>
          <a:prstGeom prst="rect">
            <a:avLst/>
          </a:prstGeom>
          <a:noFill/>
        </p:spPr>
        <p:txBody>
          <a:bodyPr wrap="square" lIns="0" tIns="0" rIns="0" bIns="0" anchor="t">
            <a:spAutoFit/>
          </a:bodyPr>
          <a:lstStyle/>
          <a:p>
            <a:pPr algn="r">
              <a:lnSpc>
                <a:spcPct val="100000"/>
              </a:lnSpc>
            </a:pPr>
            <a:r>
              <a:rPr sz="1100" b="1" i="0">
                <a:solidFill>
                  <a:srgbClr val="BFD6E6"/>
                </a:solidFill>
                <a:latin typeface="Aptos"/>
              </a:rPr>
              <a:t>METHOD-S06</a:t>
            </a:r>
          </a:p>
        </p:txBody>
      </p:sp>
      <p:sp>
        <p:nvSpPr>
          <p:cNvPr id="5" name="Rectangle 4"/>
          <p:cNvSpPr/>
          <p:nvPr/>
        </p:nvSpPr>
        <p:spPr>
          <a:xfrm>
            <a:off x="0" y="6547104"/>
            <a:ext cx="12191695" cy="310896"/>
          </a:xfrm>
          <a:prstGeom prst="rect">
            <a:avLst/>
          </a:prstGeom>
          <a:solidFill>
            <a:srgbClr val="F3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11480" y="6565392"/>
            <a:ext cx="10515600" cy="274320"/>
          </a:xfrm>
          <a:prstGeom prst="rect">
            <a:avLst/>
          </a:prstGeom>
          <a:noFill/>
        </p:spPr>
        <p:txBody>
          <a:bodyPr wrap="square" lIns="0" tIns="0" rIns="0" bIns="0" anchor="ctr">
            <a:spAutoFit/>
          </a:bodyPr>
          <a:lstStyle/>
          <a:p>
            <a:pPr algn="l">
              <a:lnSpc>
                <a:spcPct val="100000"/>
              </a:lnSpc>
            </a:pPr>
            <a:r>
              <a:rPr sz="850" b="0" i="0">
                <a:solidFill>
                  <a:srgbClr val="555555"/>
                </a:solidFill>
                <a:latin typeface="Aptos"/>
              </a:rPr>
              <a:t>BT METHOD — Engineering Baseline (canonical RTM-722) · METHOD-S06 | v3.6</a:t>
            </a:r>
          </a:p>
        </p:txBody>
      </p:sp>
      <p:sp>
        <p:nvSpPr>
          <p:cNvPr id="7" name="Rectangle 6"/>
          <p:cNvSpPr/>
          <p:nvPr/>
        </p:nvSpPr>
        <p:spPr>
          <a:xfrm>
            <a:off x="640080" y="1371600"/>
            <a:ext cx="1305763" cy="777240"/>
          </a:xfrm>
          <a:prstGeom prst="rect">
            <a:avLst/>
          </a:prstGeom>
          <a:solidFill>
            <a:srgbClr val="A3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1444752"/>
            <a:ext cx="1305763" cy="320040"/>
          </a:xfrm>
          <a:prstGeom prst="rect">
            <a:avLst/>
          </a:prstGeom>
          <a:noFill/>
        </p:spPr>
        <p:txBody>
          <a:bodyPr wrap="square" lIns="0" tIns="0" rIns="0" bIns="0" anchor="t">
            <a:spAutoFit/>
          </a:bodyPr>
          <a:lstStyle/>
          <a:p>
            <a:pPr algn="ctr">
              <a:lnSpc>
                <a:spcPct val="100000"/>
              </a:lnSpc>
            </a:pPr>
            <a:r>
              <a:rPr sz="1250" b="1" i="0">
                <a:solidFill>
                  <a:srgbClr val="FFFFFF"/>
                </a:solidFill>
                <a:latin typeface="Aptos"/>
              </a:rPr>
              <a:t>T0 Gate</a:t>
            </a:r>
          </a:p>
        </p:txBody>
      </p:sp>
      <p:sp>
        <p:nvSpPr>
          <p:cNvPr id="9" name="TextBox 8"/>
          <p:cNvSpPr txBox="1"/>
          <p:nvPr/>
        </p:nvSpPr>
        <p:spPr>
          <a:xfrm>
            <a:off x="640080" y="1755648"/>
            <a:ext cx="1305763" cy="320040"/>
          </a:xfrm>
          <a:prstGeom prst="rect">
            <a:avLst/>
          </a:prstGeom>
          <a:noFill/>
        </p:spPr>
        <p:txBody>
          <a:bodyPr wrap="square" lIns="0" tIns="0" rIns="0" bIns="0" anchor="t">
            <a:spAutoFit/>
          </a:bodyPr>
          <a:lstStyle/>
          <a:p>
            <a:pPr algn="ctr">
              <a:lnSpc>
                <a:spcPct val="100000"/>
              </a:lnSpc>
            </a:pPr>
            <a:r>
              <a:rPr sz="1150" b="0" i="0">
                <a:solidFill>
                  <a:srgbClr val="FFFFFF"/>
                </a:solidFill>
                <a:latin typeface="Aptos"/>
              </a:rPr>
              <a:t>n = 6</a:t>
            </a:r>
          </a:p>
        </p:txBody>
      </p:sp>
      <p:sp>
        <p:nvSpPr>
          <p:cNvPr id="10" name="Rectangle 9"/>
          <p:cNvSpPr/>
          <p:nvPr/>
        </p:nvSpPr>
        <p:spPr>
          <a:xfrm>
            <a:off x="1945843" y="1371600"/>
            <a:ext cx="2611526" cy="777240"/>
          </a:xfrm>
          <a:prstGeom prst="rect">
            <a:avLst/>
          </a:prstGeom>
          <a:solidFill>
            <a:srgbClr val="1A6B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945843" y="1444752"/>
            <a:ext cx="2611526" cy="320040"/>
          </a:xfrm>
          <a:prstGeom prst="rect">
            <a:avLst/>
          </a:prstGeom>
          <a:noFill/>
        </p:spPr>
        <p:txBody>
          <a:bodyPr wrap="square" lIns="0" tIns="0" rIns="0" bIns="0" anchor="t">
            <a:spAutoFit/>
          </a:bodyPr>
          <a:lstStyle/>
          <a:p>
            <a:pPr algn="ctr">
              <a:lnSpc>
                <a:spcPct val="100000"/>
              </a:lnSpc>
            </a:pPr>
            <a:r>
              <a:rPr sz="1250" b="1" i="0">
                <a:solidFill>
                  <a:srgbClr val="FFFFFF"/>
                </a:solidFill>
                <a:latin typeface="Aptos"/>
              </a:rPr>
              <a:t>T1 Primary</a:t>
            </a:r>
          </a:p>
        </p:txBody>
      </p:sp>
      <p:sp>
        <p:nvSpPr>
          <p:cNvPr id="12" name="TextBox 11"/>
          <p:cNvSpPr txBox="1"/>
          <p:nvPr/>
        </p:nvSpPr>
        <p:spPr>
          <a:xfrm>
            <a:off x="1945843" y="1755648"/>
            <a:ext cx="2611526" cy="320040"/>
          </a:xfrm>
          <a:prstGeom prst="rect">
            <a:avLst/>
          </a:prstGeom>
          <a:noFill/>
        </p:spPr>
        <p:txBody>
          <a:bodyPr wrap="square" lIns="0" tIns="0" rIns="0" bIns="0" anchor="t">
            <a:spAutoFit/>
          </a:bodyPr>
          <a:lstStyle/>
          <a:p>
            <a:pPr algn="ctr">
              <a:lnSpc>
                <a:spcPct val="100000"/>
              </a:lnSpc>
            </a:pPr>
            <a:r>
              <a:rPr sz="1150" b="0" i="0">
                <a:solidFill>
                  <a:srgbClr val="FFFFFF"/>
                </a:solidFill>
                <a:latin typeface="Aptos"/>
              </a:rPr>
              <a:t>n = 12</a:t>
            </a:r>
          </a:p>
        </p:txBody>
      </p:sp>
      <p:sp>
        <p:nvSpPr>
          <p:cNvPr id="13" name="Rectangle 12"/>
          <p:cNvSpPr/>
          <p:nvPr/>
        </p:nvSpPr>
        <p:spPr>
          <a:xfrm>
            <a:off x="4557369" y="1371600"/>
            <a:ext cx="3264408" cy="777240"/>
          </a:xfrm>
          <a:prstGeom prst="rect">
            <a:avLst/>
          </a:prstGeom>
          <a:solidFill>
            <a:srgbClr val="2B6C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57369" y="1444752"/>
            <a:ext cx="3264408" cy="320040"/>
          </a:xfrm>
          <a:prstGeom prst="rect">
            <a:avLst/>
          </a:prstGeom>
          <a:noFill/>
        </p:spPr>
        <p:txBody>
          <a:bodyPr wrap="square" lIns="0" tIns="0" rIns="0" bIns="0" anchor="t">
            <a:spAutoFit/>
          </a:bodyPr>
          <a:lstStyle/>
          <a:p>
            <a:pPr algn="ctr">
              <a:lnSpc>
                <a:spcPct val="100000"/>
              </a:lnSpc>
            </a:pPr>
            <a:r>
              <a:rPr sz="1250" b="1" i="0">
                <a:solidFill>
                  <a:srgbClr val="FFFFFF"/>
                </a:solidFill>
                <a:latin typeface="Aptos"/>
              </a:rPr>
              <a:t>T2 Secondary</a:t>
            </a:r>
          </a:p>
        </p:txBody>
      </p:sp>
      <p:sp>
        <p:nvSpPr>
          <p:cNvPr id="15" name="TextBox 14"/>
          <p:cNvSpPr txBox="1"/>
          <p:nvPr/>
        </p:nvSpPr>
        <p:spPr>
          <a:xfrm>
            <a:off x="4557369" y="1755648"/>
            <a:ext cx="3264408" cy="320040"/>
          </a:xfrm>
          <a:prstGeom prst="rect">
            <a:avLst/>
          </a:prstGeom>
          <a:noFill/>
        </p:spPr>
        <p:txBody>
          <a:bodyPr wrap="square" lIns="0" tIns="0" rIns="0" bIns="0" anchor="t">
            <a:spAutoFit/>
          </a:bodyPr>
          <a:lstStyle/>
          <a:p>
            <a:pPr algn="ctr">
              <a:lnSpc>
                <a:spcPct val="100000"/>
              </a:lnSpc>
            </a:pPr>
            <a:r>
              <a:rPr sz="1150" b="0" i="0">
                <a:solidFill>
                  <a:srgbClr val="FFFFFF"/>
                </a:solidFill>
                <a:latin typeface="Aptos"/>
              </a:rPr>
              <a:t>n = 15</a:t>
            </a:r>
          </a:p>
        </p:txBody>
      </p:sp>
      <p:sp>
        <p:nvSpPr>
          <p:cNvPr id="16" name="Rectangle 15"/>
          <p:cNvSpPr/>
          <p:nvPr/>
        </p:nvSpPr>
        <p:spPr>
          <a:xfrm>
            <a:off x="7821777" y="1371600"/>
            <a:ext cx="3699662" cy="777240"/>
          </a:xfrm>
          <a:prstGeom prst="rect">
            <a:avLst/>
          </a:prstGeom>
          <a:solidFill>
            <a:srgbClr val="8C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821777" y="1444752"/>
            <a:ext cx="3699662" cy="320040"/>
          </a:xfrm>
          <a:prstGeom prst="rect">
            <a:avLst/>
          </a:prstGeom>
          <a:noFill/>
        </p:spPr>
        <p:txBody>
          <a:bodyPr wrap="square" lIns="0" tIns="0" rIns="0" bIns="0" anchor="t">
            <a:spAutoFit/>
          </a:bodyPr>
          <a:lstStyle/>
          <a:p>
            <a:pPr algn="ctr">
              <a:lnSpc>
                <a:spcPct val="100000"/>
              </a:lnSpc>
            </a:pPr>
            <a:r>
              <a:rPr sz="1250" b="1" i="0">
                <a:solidFill>
                  <a:srgbClr val="FFFFFF"/>
                </a:solidFill>
                <a:latin typeface="Aptos"/>
              </a:rPr>
              <a:t>T3 Contextual</a:t>
            </a:r>
          </a:p>
        </p:txBody>
      </p:sp>
      <p:sp>
        <p:nvSpPr>
          <p:cNvPr id="18" name="TextBox 17"/>
          <p:cNvSpPr txBox="1"/>
          <p:nvPr/>
        </p:nvSpPr>
        <p:spPr>
          <a:xfrm>
            <a:off x="7821777" y="1755648"/>
            <a:ext cx="3699662" cy="320040"/>
          </a:xfrm>
          <a:prstGeom prst="rect">
            <a:avLst/>
          </a:prstGeom>
          <a:noFill/>
        </p:spPr>
        <p:txBody>
          <a:bodyPr wrap="square" lIns="0" tIns="0" rIns="0" bIns="0" anchor="t">
            <a:spAutoFit/>
          </a:bodyPr>
          <a:lstStyle/>
          <a:p>
            <a:pPr algn="ctr">
              <a:lnSpc>
                <a:spcPct val="100000"/>
              </a:lnSpc>
            </a:pPr>
            <a:r>
              <a:rPr sz="1150" b="0" i="0">
                <a:solidFill>
                  <a:srgbClr val="FFFFFF"/>
                </a:solidFill>
                <a:latin typeface="Aptos"/>
              </a:rPr>
              <a:t>n = 17</a:t>
            </a:r>
          </a:p>
        </p:txBody>
      </p:sp>
      <p:sp>
        <p:nvSpPr>
          <p:cNvPr id="19" name="TextBox 18"/>
          <p:cNvSpPr txBox="1"/>
          <p:nvPr/>
        </p:nvSpPr>
        <p:spPr>
          <a:xfrm>
            <a:off x="640080" y="2423160"/>
            <a:ext cx="10881360" cy="365760"/>
          </a:xfrm>
          <a:prstGeom prst="rect">
            <a:avLst/>
          </a:prstGeom>
          <a:noFill/>
        </p:spPr>
        <p:txBody>
          <a:bodyPr wrap="square" lIns="0" tIns="0" rIns="0" bIns="0" anchor="t">
            <a:spAutoFit/>
          </a:bodyPr>
          <a:lstStyle/>
          <a:p>
            <a:pPr algn="l">
              <a:lnSpc>
                <a:spcPct val="100000"/>
              </a:lnSpc>
            </a:pPr>
            <a:r>
              <a:rPr sz="1600" b="1" i="0">
                <a:solidFill>
                  <a:srgbClr val="A30000"/>
                </a:solidFill>
                <a:latin typeface="Aptos"/>
              </a:rPr>
              <a:t>T0 Gate items (6): OFFER-47, OFFER-48, OFFER-49, OFFER-01, OFFER-02, OFFER-03</a:t>
            </a:r>
          </a:p>
        </p:txBody>
      </p:sp>
      <p:sp>
        <p:nvSpPr>
          <p:cNvPr id="20" name="TextBox 19"/>
          <p:cNvSpPr txBox="1"/>
          <p:nvPr/>
        </p:nvSpPr>
        <p:spPr>
          <a:xfrm>
            <a:off x="640080" y="2926080"/>
            <a:ext cx="10881360" cy="2651760"/>
          </a:xfrm>
          <a:prstGeom prst="rect">
            <a:avLst/>
          </a:prstGeom>
          <a:noFill/>
        </p:spPr>
        <p:txBody>
          <a:bodyPr wrap="square" lIns="0" tIns="0" rIns="0" bIns="0">
            <a:spAutoFit/>
          </a:bodyPr>
          <a:lstStyle/>
          <a:p>
            <a:pPr>
              <a:lnSpc>
                <a:spcPct val="108000"/>
              </a:lnSpc>
              <a:spcAft>
                <a:spcPts val="1200"/>
              </a:spcAft>
            </a:pPr>
            <a:r>
              <a:rPr sz="1600" b="1">
                <a:solidFill>
                  <a:srgbClr val="0B3D5C"/>
                </a:solidFill>
                <a:latin typeface="Aptos"/>
              </a:rPr>
              <a:t>•  </a:t>
            </a:r>
            <a:r>
              <a:rPr sz="1600" b="1">
                <a:solidFill>
                  <a:srgbClr val="222222"/>
                </a:solidFill>
                <a:latin typeface="Aptos"/>
              </a:rPr>
              <a:t>T0 Gate.</a:t>
            </a:r>
            <a:r>
              <a:rPr sz="1600">
                <a:solidFill>
                  <a:srgbClr val="222222"/>
                </a:solidFill>
                <a:latin typeface="Aptos"/>
              </a:rPr>
              <a:t> Compliance-critical items (Safety/Legal score = 2): tender-compliance confirmation, QAP, detailed QC procedures, codes/standards/compliance framework. A gate failure cannot be bought back by strong scores elsewhere — evaluated pass/fail, above the weighted sum.</a:t>
            </a:r>
          </a:p>
          <a:p>
            <a:pPr>
              <a:lnSpc>
                <a:spcPct val="108000"/>
              </a:lnSpc>
              <a:spcAft>
                <a:spcPts val="1200"/>
              </a:spcAft>
            </a:pPr>
            <a:r>
              <a:rPr sz="1600" b="1">
                <a:solidFill>
                  <a:srgbClr val="0B3D5C"/>
                </a:solidFill>
                <a:latin typeface="Aptos"/>
              </a:rPr>
              <a:t>•  </a:t>
            </a:r>
            <a:r>
              <a:rPr sz="1600" b="1">
                <a:solidFill>
                  <a:srgbClr val="222222"/>
                </a:solidFill>
                <a:latin typeface="Aptos"/>
              </a:rPr>
              <a:t>T1 / T2 / T3.</a:t>
            </a:r>
            <a:r>
              <a:rPr sz="1600">
                <a:solidFill>
                  <a:srgbClr val="222222"/>
                </a:solidFill>
                <a:latin typeface="Aptos"/>
              </a:rPr>
              <a:t> Non-gate items split into bands by rank; band sizes are editable in BT_Config (B18=10, B19=16). Ties share both rank and tier — band sizes may stretch at the boundary by design; no arbitrary tie-break is applied.</a:t>
            </a:r>
          </a:p>
          <a:p>
            <a:pPr>
              <a:lnSpc>
                <a:spcPct val="108000"/>
              </a:lnSpc>
              <a:spcAft>
                <a:spcPts val="1200"/>
              </a:spcAft>
            </a:pPr>
            <a:r>
              <a:rPr sz="1600" b="1">
                <a:solidFill>
                  <a:srgbClr val="0B3D5C"/>
                </a:solidFill>
                <a:latin typeface="Aptos"/>
              </a:rPr>
              <a:t>•  </a:t>
            </a:r>
            <a:r>
              <a:rPr sz="1600" b="1">
                <a:solidFill>
                  <a:srgbClr val="222222"/>
                </a:solidFill>
                <a:latin typeface="Aptos"/>
              </a:rPr>
              <a:t>RTM priorities (separate scale).</a:t>
            </a:r>
            <a:r>
              <a:rPr sz="1600">
                <a:solidFill>
                  <a:srgbClr val="222222"/>
                </a:solidFill>
                <a:latin typeface="Aptos"/>
              </a:rPr>
              <a:t> P1 Critical ≤ rank 36 (top 5%), P2 High ≤ 181 (25%), P3 Medium ≤ 433 (60%), P4 Low the rest — same S, same weights, formula-driven bands.</a:t>
            </a:r>
          </a:p>
        </p:txBody>
      </p:sp>
      <p:sp>
        <p:nvSpPr>
          <p:cNvPr id="21" name="Slide Number Placeholder 20">
            <a:extLst>
              <a:ext uri="{FF2B5EF4-FFF2-40B4-BE49-F238E27FC236}">
                <a16:creationId xmlns:a16="http://schemas.microsoft.com/office/drawing/2014/main" id="{16B35211-F92E-E045-A166-983FB67B5D82}"/>
              </a:ext>
            </a:extLst>
          </p:cNvPr>
          <p:cNvSpPr>
            <a:spLocks noGrp="1"/>
          </p:cNvSpPr>
          <p:nvPr>
            <p:ph type="sldNum" sz="quarter" idx="12"/>
          </p:nvPr>
        </p:nvSpPr>
        <p:spPr/>
        <p:txBody>
          <a:bodyPr/>
          <a:lstStyle/>
          <a:p>
            <a:fld id="{C1FF6DA9-008F-8B48-92A6-B652298478BF}" type="slidenum">
              <a:rPr lang="en-US" smtClean="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441F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09728"/>
            <a:ext cx="9875520" cy="685800"/>
          </a:xfrm>
          <a:prstGeom prst="rect">
            <a:avLst/>
          </a:prstGeom>
          <a:noFill/>
        </p:spPr>
        <p:txBody>
          <a:bodyPr wrap="square" lIns="0" tIns="0" rIns="0" bIns="0" anchor="ctr">
            <a:spAutoFit/>
          </a:bodyPr>
          <a:lstStyle/>
          <a:p>
            <a:pPr algn="l">
              <a:lnSpc>
                <a:spcPct val="100000"/>
              </a:lnSpc>
            </a:pPr>
            <a:r>
              <a:rPr sz="2500" b="1" i="0">
                <a:solidFill>
                  <a:srgbClr val="FFFFFF"/>
                </a:solidFill>
                <a:latin typeface="Aptos"/>
              </a:rPr>
              <a:t>OFFER importance result</a:t>
            </a:r>
          </a:p>
        </p:txBody>
      </p:sp>
      <p:sp>
        <p:nvSpPr>
          <p:cNvPr id="4" name="TextBox 3"/>
          <p:cNvSpPr txBox="1"/>
          <p:nvPr/>
        </p:nvSpPr>
        <p:spPr>
          <a:xfrm>
            <a:off x="10607040" y="292608"/>
            <a:ext cx="1371600" cy="320040"/>
          </a:xfrm>
          <a:prstGeom prst="rect">
            <a:avLst/>
          </a:prstGeom>
          <a:noFill/>
        </p:spPr>
        <p:txBody>
          <a:bodyPr wrap="square" lIns="0" tIns="0" rIns="0" bIns="0" anchor="t">
            <a:spAutoFit/>
          </a:bodyPr>
          <a:lstStyle/>
          <a:p>
            <a:pPr algn="r">
              <a:lnSpc>
                <a:spcPct val="100000"/>
              </a:lnSpc>
            </a:pPr>
            <a:r>
              <a:rPr sz="1100" b="1" i="0">
                <a:solidFill>
                  <a:srgbClr val="BFD6E6"/>
                </a:solidFill>
                <a:latin typeface="Aptos"/>
              </a:rPr>
              <a:t>EVAL-S01</a:t>
            </a:r>
          </a:p>
        </p:txBody>
      </p:sp>
      <p:sp>
        <p:nvSpPr>
          <p:cNvPr id="5" name="Rectangle 4"/>
          <p:cNvSpPr/>
          <p:nvPr/>
        </p:nvSpPr>
        <p:spPr>
          <a:xfrm>
            <a:off x="0" y="6547104"/>
            <a:ext cx="12191695" cy="310896"/>
          </a:xfrm>
          <a:prstGeom prst="rect">
            <a:avLst/>
          </a:prstGeom>
          <a:solidFill>
            <a:srgbClr val="F3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11480" y="6565392"/>
            <a:ext cx="10515600" cy="274320"/>
          </a:xfrm>
          <a:prstGeom prst="rect">
            <a:avLst/>
          </a:prstGeom>
          <a:noFill/>
        </p:spPr>
        <p:txBody>
          <a:bodyPr wrap="square" lIns="0" tIns="0" rIns="0" bIns="0" anchor="ctr">
            <a:spAutoFit/>
          </a:bodyPr>
          <a:lstStyle/>
          <a:p>
            <a:pPr algn="l">
              <a:lnSpc>
                <a:spcPct val="100000"/>
              </a:lnSpc>
            </a:pPr>
            <a:r>
              <a:rPr sz="850" b="0" i="0">
                <a:solidFill>
                  <a:srgbClr val="555555"/>
                </a:solidFill>
                <a:latin typeface="Aptos"/>
              </a:rPr>
              <a:t>BT METHOD — Engineering Baseline (canonical RTM-722) · EVAL-S01 | v3.6</a:t>
            </a:r>
          </a:p>
        </p:txBody>
      </p:sp>
      <p:pic>
        <p:nvPicPr>
          <p:cNvPr id="7" name="Picture 6" descr="emb_offer.png"/>
          <p:cNvPicPr>
            <a:picLocks noChangeAspect="1"/>
          </p:cNvPicPr>
          <p:nvPr/>
        </p:nvPicPr>
        <p:blipFill>
          <a:blip r:embed="rId3"/>
          <a:stretch>
            <a:fillRect/>
          </a:stretch>
        </p:blipFill>
        <p:spPr>
          <a:xfrm>
            <a:off x="320040" y="960120"/>
            <a:ext cx="7711440" cy="5257800"/>
          </a:xfrm>
          <a:prstGeom prst="rect">
            <a:avLst/>
          </a:prstGeom>
        </p:spPr>
      </p:pic>
      <p:sp>
        <p:nvSpPr>
          <p:cNvPr id="8" name="TextBox 7"/>
          <p:cNvSpPr txBox="1"/>
          <p:nvPr/>
        </p:nvSpPr>
        <p:spPr>
          <a:xfrm>
            <a:off x="8092440" y="1051560"/>
            <a:ext cx="3749039" cy="320040"/>
          </a:xfrm>
          <a:prstGeom prst="rect">
            <a:avLst/>
          </a:prstGeom>
          <a:noFill/>
        </p:spPr>
        <p:txBody>
          <a:bodyPr wrap="square" lIns="0" tIns="0" rIns="0" bIns="0" anchor="t">
            <a:spAutoFit/>
          </a:bodyPr>
          <a:lstStyle/>
          <a:p>
            <a:pPr algn="l">
              <a:lnSpc>
                <a:spcPct val="100000"/>
              </a:lnSpc>
            </a:pPr>
            <a:r>
              <a:rPr sz="1600" b="1" i="0">
                <a:solidFill>
                  <a:srgbClr val="0B3D5C"/>
                </a:solidFill>
                <a:latin typeface="Aptos"/>
              </a:rPr>
              <a:t>Top-6 non-gate drivers</a:t>
            </a:r>
          </a:p>
        </p:txBody>
      </p:sp>
      <p:sp>
        <p:nvSpPr>
          <p:cNvPr id="9" name="TextBox 8"/>
          <p:cNvSpPr txBox="1"/>
          <p:nvPr/>
        </p:nvSpPr>
        <p:spPr>
          <a:xfrm>
            <a:off x="8092440" y="1463040"/>
            <a:ext cx="3749039" cy="3291840"/>
          </a:xfrm>
          <a:prstGeom prst="rect">
            <a:avLst/>
          </a:prstGeom>
          <a:noFill/>
        </p:spPr>
        <p:txBody>
          <a:bodyPr wrap="square" lIns="0" tIns="0" rIns="0" bIns="0">
            <a:spAutoFit/>
          </a:bodyPr>
          <a:lstStyle/>
          <a:p>
            <a:pPr>
              <a:lnSpc>
                <a:spcPct val="108000"/>
              </a:lnSpc>
              <a:spcAft>
                <a:spcPts val="900"/>
              </a:spcAft>
            </a:pPr>
            <a:r>
              <a:rPr sz="1050" b="1">
                <a:solidFill>
                  <a:srgbClr val="0B3D5C"/>
                </a:solidFill>
                <a:latin typeface="Aptos"/>
              </a:rPr>
              <a:t>•  </a:t>
            </a:r>
            <a:r>
              <a:rPr sz="1050">
                <a:solidFill>
                  <a:srgbClr val="222222"/>
                </a:solidFill>
                <a:latin typeface="Aptos"/>
              </a:rPr>
              <a:t>OFFER-21  (S=38.00, rank 1)  —  LOOP Strategy &amp; Critical Load Management</a:t>
            </a:r>
          </a:p>
          <a:p>
            <a:pPr>
              <a:lnSpc>
                <a:spcPct val="108000"/>
              </a:lnSpc>
              <a:spcAft>
                <a:spcPts val="900"/>
              </a:spcAft>
            </a:pPr>
            <a:r>
              <a:rPr sz="1050" b="1">
                <a:solidFill>
                  <a:srgbClr val="0B3D5C"/>
                </a:solidFill>
                <a:latin typeface="Aptos"/>
              </a:rPr>
              <a:t>•  </a:t>
            </a:r>
            <a:r>
              <a:rPr sz="1050">
                <a:solidFill>
                  <a:srgbClr val="222222"/>
                </a:solidFill>
                <a:latin typeface="Aptos"/>
              </a:rPr>
              <a:t>OFFER-22  (S=38.00, rank 1)  —  Helium Recovery System Design</a:t>
            </a:r>
          </a:p>
          <a:p>
            <a:pPr>
              <a:lnSpc>
                <a:spcPct val="108000"/>
              </a:lnSpc>
              <a:spcAft>
                <a:spcPts val="900"/>
              </a:spcAft>
            </a:pPr>
            <a:r>
              <a:rPr sz="1050" b="1">
                <a:solidFill>
                  <a:srgbClr val="0B3D5C"/>
                </a:solidFill>
                <a:latin typeface="Aptos"/>
              </a:rPr>
              <a:t>•  </a:t>
            </a:r>
            <a:r>
              <a:rPr sz="1050">
                <a:solidFill>
                  <a:srgbClr val="222222"/>
                </a:solidFill>
                <a:latin typeface="Aptos"/>
              </a:rPr>
              <a:t>OFFER-19  (S=35.67, rank 3)  —  Warm Storage Heater (WSH) Design &amp; Layout</a:t>
            </a:r>
          </a:p>
          <a:p>
            <a:pPr>
              <a:lnSpc>
                <a:spcPct val="108000"/>
              </a:lnSpc>
              <a:spcAft>
                <a:spcPts val="900"/>
              </a:spcAft>
            </a:pPr>
            <a:r>
              <a:rPr sz="1050" b="1">
                <a:solidFill>
                  <a:srgbClr val="0B3D5C"/>
                </a:solidFill>
                <a:latin typeface="Aptos"/>
              </a:rPr>
              <a:t>•  </a:t>
            </a:r>
            <a:r>
              <a:rPr sz="1050">
                <a:solidFill>
                  <a:srgbClr val="222222"/>
                </a:solidFill>
                <a:latin typeface="Aptos"/>
              </a:rPr>
              <a:t>OFFER-29  (S=32.33, rank 4)  —  Control System Obsolescence Strategy</a:t>
            </a:r>
          </a:p>
          <a:p>
            <a:pPr>
              <a:lnSpc>
                <a:spcPct val="108000"/>
              </a:lnSpc>
              <a:spcAft>
                <a:spcPts val="900"/>
              </a:spcAft>
            </a:pPr>
            <a:r>
              <a:rPr sz="1050" b="1">
                <a:solidFill>
                  <a:srgbClr val="0B3D5C"/>
                </a:solidFill>
                <a:latin typeface="Aptos"/>
              </a:rPr>
              <a:t>•  </a:t>
            </a:r>
            <a:r>
              <a:rPr sz="1050">
                <a:solidFill>
                  <a:srgbClr val="222222"/>
                </a:solidFill>
                <a:latin typeface="Aptos"/>
              </a:rPr>
              <a:t>OFFER-42  (S=31.00, rank 5)  —  After-Sales Service Organization &amp; Pricing</a:t>
            </a:r>
          </a:p>
          <a:p>
            <a:pPr>
              <a:lnSpc>
                <a:spcPct val="108000"/>
              </a:lnSpc>
              <a:spcAft>
                <a:spcPts val="900"/>
              </a:spcAft>
            </a:pPr>
            <a:r>
              <a:rPr sz="1050" b="1">
                <a:solidFill>
                  <a:srgbClr val="0B3D5C"/>
                </a:solidFill>
                <a:latin typeface="Aptos"/>
              </a:rPr>
              <a:t>•  </a:t>
            </a:r>
            <a:r>
              <a:rPr sz="1050">
                <a:solidFill>
                  <a:srgbClr val="222222"/>
                </a:solidFill>
                <a:latin typeface="Aptos"/>
              </a:rPr>
              <a:t>OFFER-43  (S=31.00, rank 5)  —  Maintenance Effort &amp; Intervention Estimation</a:t>
            </a:r>
          </a:p>
        </p:txBody>
      </p:sp>
      <p:sp>
        <p:nvSpPr>
          <p:cNvPr id="10" name="Rectangle 9"/>
          <p:cNvSpPr/>
          <p:nvPr/>
        </p:nvSpPr>
        <p:spPr>
          <a:xfrm>
            <a:off x="8092440" y="4892040"/>
            <a:ext cx="3749039" cy="1417320"/>
          </a:xfrm>
          <a:prstGeom prst="rect">
            <a:avLst/>
          </a:prstGeom>
          <a:solidFill>
            <a:srgbClr val="EFE5F5"/>
          </a:solidFill>
          <a:ln w="12700">
            <a:solidFill>
              <a:srgbClr val="0B3D5C"/>
            </a:solidFill>
          </a:ln>
          <a:effectLst/>
        </p:spPr>
        <p:style>
          <a:lnRef idx="1">
            <a:schemeClr val="accent1"/>
          </a:lnRef>
          <a:fillRef idx="3">
            <a:schemeClr val="accent1"/>
          </a:fillRef>
          <a:effectRef idx="2">
            <a:schemeClr val="accent1"/>
          </a:effectRef>
          <a:fontRef idx="minor">
            <a:schemeClr val="lt1"/>
          </a:fontRef>
        </p:style>
        <p:txBody>
          <a:bodyPr wrap="square" lIns="146304" tIns="91440" rIns="146304" bIns="91440" rtlCol="0" anchor="ctr"/>
          <a:lstStyle/>
          <a:p>
            <a:pPr algn="ctr">
              <a:lnSpc>
                <a:spcPct val="110000"/>
              </a:lnSpc>
            </a:pPr>
            <a:r>
              <a:rPr sz="1250" b="1">
                <a:solidFill>
                  <a:srgbClr val="0B3D5C"/>
                </a:solidFill>
                <a:latin typeface="Aptos"/>
              </a:rPr>
              <a:t>Board read:  </a:t>
            </a:r>
            <a:r>
              <a:rPr sz="1250">
                <a:solidFill>
                  <a:srgbClr val="222222"/>
                </a:solidFill>
                <a:latin typeface="Aptos"/>
              </a:rPr>
              <a:t>the two leaders (OFFER-21/22) are both LOOP/recovery items — the ranking independently converges on loss-of-offsite-power behaviour as the single biggest technical differentiator, before any bidder text was read.</a:t>
            </a:r>
          </a:p>
        </p:txBody>
      </p:sp>
      <p:sp>
        <p:nvSpPr>
          <p:cNvPr id="11" name="Slide Number Placeholder 10">
            <a:extLst>
              <a:ext uri="{FF2B5EF4-FFF2-40B4-BE49-F238E27FC236}">
                <a16:creationId xmlns:a16="http://schemas.microsoft.com/office/drawing/2014/main" id="{9A48A5EF-68F5-B1D0-A364-C3B181BDAA93}"/>
              </a:ext>
            </a:extLst>
          </p:cNvPr>
          <p:cNvSpPr>
            <a:spLocks noGrp="1"/>
          </p:cNvSpPr>
          <p:nvPr>
            <p:ph type="sldNum" sz="quarter" idx="12"/>
          </p:nvPr>
        </p:nvSpPr>
        <p:spPr>
          <a:xfrm>
            <a:off x="9860280" y="6429502"/>
            <a:ext cx="2133600" cy="365125"/>
          </a:xfrm>
        </p:spPr>
        <p:txBody>
          <a:bodyPr/>
          <a:lstStyle/>
          <a:p>
            <a:fld id="{C1FF6DA9-008F-8B48-92A6-B652298478BF}" type="slidenum">
              <a:rPr lang="en-US" smtClean="0">
                <a:solidFill>
                  <a:schemeClr val="tx1"/>
                </a:solidFill>
                <a:latin typeface="Aptos" panose="020B0004020202020204" pitchFamily="34" charset="0"/>
              </a:rPr>
              <a:t>8</a:t>
            </a:fld>
            <a:endParaRPr lang="en-US" dirty="0">
              <a:solidFill>
                <a:schemeClr val="tx1"/>
              </a:solidFill>
              <a:latin typeface="Aptos" panose="020B00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441F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09728"/>
            <a:ext cx="9875520" cy="685800"/>
          </a:xfrm>
          <a:prstGeom prst="rect">
            <a:avLst/>
          </a:prstGeom>
          <a:noFill/>
        </p:spPr>
        <p:txBody>
          <a:bodyPr wrap="square" lIns="0" tIns="0" rIns="0" bIns="0" anchor="ctr">
            <a:spAutoFit/>
          </a:bodyPr>
          <a:lstStyle/>
          <a:p>
            <a:pPr algn="l">
              <a:lnSpc>
                <a:spcPct val="100000"/>
              </a:lnSpc>
            </a:pPr>
            <a:r>
              <a:rPr sz="2500" b="1" i="0">
                <a:solidFill>
                  <a:srgbClr val="FFFFFF"/>
                </a:solidFill>
                <a:latin typeface="Aptos"/>
              </a:rPr>
              <a:t>Robustness: weight sensitivity</a:t>
            </a:r>
          </a:p>
        </p:txBody>
      </p:sp>
      <p:sp>
        <p:nvSpPr>
          <p:cNvPr id="4" name="TextBox 3"/>
          <p:cNvSpPr txBox="1"/>
          <p:nvPr/>
        </p:nvSpPr>
        <p:spPr>
          <a:xfrm>
            <a:off x="10607040" y="292608"/>
            <a:ext cx="1371600" cy="320040"/>
          </a:xfrm>
          <a:prstGeom prst="rect">
            <a:avLst/>
          </a:prstGeom>
          <a:noFill/>
        </p:spPr>
        <p:txBody>
          <a:bodyPr wrap="square" lIns="0" tIns="0" rIns="0" bIns="0" anchor="t">
            <a:spAutoFit/>
          </a:bodyPr>
          <a:lstStyle/>
          <a:p>
            <a:pPr algn="r">
              <a:lnSpc>
                <a:spcPct val="100000"/>
              </a:lnSpc>
            </a:pPr>
            <a:r>
              <a:rPr sz="1100" b="1" i="0">
                <a:solidFill>
                  <a:srgbClr val="BFD6E6"/>
                </a:solidFill>
                <a:latin typeface="Aptos"/>
              </a:rPr>
              <a:t>EVAL-S02</a:t>
            </a:r>
          </a:p>
        </p:txBody>
      </p:sp>
      <p:sp>
        <p:nvSpPr>
          <p:cNvPr id="5" name="Rectangle 4"/>
          <p:cNvSpPr/>
          <p:nvPr/>
        </p:nvSpPr>
        <p:spPr>
          <a:xfrm>
            <a:off x="0" y="6547104"/>
            <a:ext cx="12191695" cy="310896"/>
          </a:xfrm>
          <a:prstGeom prst="rect">
            <a:avLst/>
          </a:prstGeom>
          <a:solidFill>
            <a:srgbClr val="F3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11480" y="6565392"/>
            <a:ext cx="10515600" cy="274320"/>
          </a:xfrm>
          <a:prstGeom prst="rect">
            <a:avLst/>
          </a:prstGeom>
          <a:noFill/>
        </p:spPr>
        <p:txBody>
          <a:bodyPr wrap="square" lIns="0" tIns="0" rIns="0" bIns="0" anchor="ctr">
            <a:spAutoFit/>
          </a:bodyPr>
          <a:lstStyle/>
          <a:p>
            <a:pPr algn="l">
              <a:lnSpc>
                <a:spcPct val="100000"/>
              </a:lnSpc>
            </a:pPr>
            <a:r>
              <a:rPr sz="850" b="0" i="0">
                <a:solidFill>
                  <a:srgbClr val="555555"/>
                </a:solidFill>
                <a:latin typeface="Aptos"/>
              </a:rPr>
              <a:t>BT METHOD — Engineering Baseline (canonical RTM-722) · EVAL-S02 | v3.6</a:t>
            </a:r>
          </a:p>
        </p:txBody>
      </p:sp>
      <p:pic>
        <p:nvPicPr>
          <p:cNvPr id="7" name="Picture 6" descr="emb_sensitivity.png"/>
          <p:cNvPicPr>
            <a:picLocks noChangeAspect="1"/>
          </p:cNvPicPr>
          <p:nvPr/>
        </p:nvPicPr>
        <p:blipFill>
          <a:blip r:embed="rId3"/>
          <a:stretch>
            <a:fillRect/>
          </a:stretch>
        </p:blipFill>
        <p:spPr>
          <a:xfrm>
            <a:off x="320040" y="978408"/>
            <a:ext cx="7476562" cy="4350000"/>
          </a:xfrm>
          <a:prstGeom prst="rect">
            <a:avLst/>
          </a:prstGeom>
        </p:spPr>
      </p:pic>
      <p:sp>
        <p:nvSpPr>
          <p:cNvPr id="8" name="TextBox 7"/>
          <p:cNvSpPr txBox="1"/>
          <p:nvPr/>
        </p:nvSpPr>
        <p:spPr>
          <a:xfrm>
            <a:off x="3157728" y="5373408"/>
            <a:ext cx="8631936" cy="1086592"/>
          </a:xfrm>
          <a:prstGeom prst="rect">
            <a:avLst/>
          </a:prstGeom>
          <a:solidFill>
            <a:schemeClr val="tx2">
              <a:lumMod val="20000"/>
              <a:lumOff val="80000"/>
            </a:schemeClr>
          </a:solidFill>
        </p:spPr>
        <p:txBody>
          <a:bodyPr wrap="square" lIns="0" tIns="0" rIns="0" bIns="0">
            <a:spAutoFit/>
          </a:bodyPr>
          <a:lstStyle/>
          <a:p>
            <a:pPr>
              <a:lnSpc>
                <a:spcPct val="108000"/>
              </a:lnSpc>
              <a:spcAft>
                <a:spcPts val="300"/>
              </a:spcAft>
            </a:pPr>
            <a:r>
              <a:rPr sz="1050" b="1" dirty="0">
                <a:solidFill>
                  <a:srgbClr val="0B3D5C"/>
                </a:solidFill>
                <a:latin typeface="Aptos"/>
              </a:rPr>
              <a:t>•  </a:t>
            </a:r>
            <a:r>
              <a:rPr sz="1050" b="1" dirty="0">
                <a:solidFill>
                  <a:srgbClr val="222222"/>
                </a:solidFill>
                <a:latin typeface="Aptos"/>
              </a:rPr>
              <a:t>528 scenarios — </a:t>
            </a:r>
            <a:r>
              <a:rPr sz="1050" dirty="0">
                <a:solidFill>
                  <a:srgbClr val="222222"/>
                </a:solidFill>
                <a:latin typeface="Aptos"/>
              </a:rPr>
              <a:t>one-at-a-time ±25%/±50% per dimension, plus 500 Dirichlet draws around the user weights (concentration ≈ w·80).</a:t>
            </a:r>
          </a:p>
          <a:p>
            <a:pPr>
              <a:lnSpc>
                <a:spcPct val="108000"/>
              </a:lnSpc>
              <a:spcAft>
                <a:spcPts val="300"/>
              </a:spcAft>
            </a:pPr>
            <a:r>
              <a:rPr sz="1050" b="1" dirty="0">
                <a:solidFill>
                  <a:srgbClr val="0B3D5C"/>
                </a:solidFill>
                <a:latin typeface="Aptos"/>
              </a:rPr>
              <a:t>•  </a:t>
            </a:r>
            <a:r>
              <a:rPr sz="1050" b="1" dirty="0">
                <a:solidFill>
                  <a:srgbClr val="222222"/>
                </a:solidFill>
                <a:latin typeface="Aptos"/>
              </a:rPr>
              <a:t>Stable in the large — </a:t>
            </a:r>
            <a:r>
              <a:rPr sz="1050" dirty="0">
                <a:solidFill>
                  <a:srgbClr val="222222"/>
                </a:solidFill>
                <a:latin typeface="Aptos"/>
              </a:rPr>
              <a:t>ranking </a:t>
            </a:r>
            <a:r>
              <a:rPr sz="1050" dirty="0">
                <a:solidFill>
                  <a:srgbClr val="222222"/>
                </a:solidFill>
                <a:latin typeface="Aptos" panose="020B0004020202020204" pitchFamily="34" charset="0"/>
              </a:rPr>
              <a:t>correlation</a:t>
            </a:r>
            <a:r>
              <a:rPr sz="1050" dirty="0">
                <a:solidFill>
                  <a:srgbClr val="222222"/>
                </a:solidFill>
                <a:latin typeface="Aptos"/>
              </a:rPr>
              <a:t> vs. equal weights ρ ≈ 0.92; the overall order is not an artefact of this specific weight table.</a:t>
            </a:r>
          </a:p>
          <a:p>
            <a:pPr>
              <a:lnSpc>
                <a:spcPct val="108000"/>
              </a:lnSpc>
              <a:spcAft>
                <a:spcPts val="300"/>
              </a:spcAft>
            </a:pPr>
            <a:r>
              <a:rPr sz="1050" b="1" dirty="0">
                <a:solidFill>
                  <a:srgbClr val="0B3D5C"/>
                </a:solidFill>
                <a:latin typeface="Aptos"/>
              </a:rPr>
              <a:t>•  </a:t>
            </a:r>
            <a:r>
              <a:rPr sz="1050" b="1" dirty="0">
                <a:solidFill>
                  <a:srgbClr val="222222"/>
                </a:solidFill>
                <a:latin typeface="Aptos"/>
              </a:rPr>
              <a:t>Named boundary items — </a:t>
            </a:r>
            <a:r>
              <a:rPr sz="1050" dirty="0">
                <a:solidFill>
                  <a:srgbClr val="222222"/>
                </a:solidFill>
                <a:latin typeface="Aptos"/>
              </a:rPr>
              <a:t>OFFER-41, -33, -20, -27, -46 show the widest rank swing — these are the ones to re-examine first if weights are revisited.</a:t>
            </a:r>
          </a:p>
        </p:txBody>
      </p:sp>
      <p:sp>
        <p:nvSpPr>
          <p:cNvPr id="9" name="Slide Number Placeholder 8">
            <a:extLst>
              <a:ext uri="{FF2B5EF4-FFF2-40B4-BE49-F238E27FC236}">
                <a16:creationId xmlns:a16="http://schemas.microsoft.com/office/drawing/2014/main" id="{D5BD4614-E94A-E2F0-40B8-A475D831EC79}"/>
              </a:ext>
            </a:extLst>
          </p:cNvPr>
          <p:cNvSpPr>
            <a:spLocks noGrp="1"/>
          </p:cNvSpPr>
          <p:nvPr>
            <p:ph type="sldNum" sz="quarter" idx="12"/>
          </p:nvPr>
        </p:nvSpPr>
        <p:spPr/>
        <p:txBody>
          <a:bodyPr/>
          <a:lstStyle/>
          <a:p>
            <a:fld id="{C1FF6DA9-008F-8B48-92A6-B652298478BF}" type="slidenum">
              <a:rPr lang="en-US" smtClean="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441F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09728"/>
            <a:ext cx="9875520" cy="685800"/>
          </a:xfrm>
          <a:prstGeom prst="rect">
            <a:avLst/>
          </a:prstGeom>
          <a:noFill/>
        </p:spPr>
        <p:txBody>
          <a:bodyPr wrap="square" lIns="0" tIns="0" rIns="0" bIns="0" anchor="ctr">
            <a:spAutoFit/>
          </a:bodyPr>
          <a:lstStyle/>
          <a:p>
            <a:pPr algn="l">
              <a:lnSpc>
                <a:spcPct val="100000"/>
              </a:lnSpc>
            </a:pPr>
            <a:r>
              <a:rPr sz="2500" b="1" i="0">
                <a:solidFill>
                  <a:srgbClr val="FFFFFF"/>
                </a:solidFill>
                <a:latin typeface="Aptos"/>
              </a:rPr>
              <a:t>RTM requirement importance</a:t>
            </a:r>
          </a:p>
        </p:txBody>
      </p:sp>
      <p:sp>
        <p:nvSpPr>
          <p:cNvPr id="4" name="TextBox 3"/>
          <p:cNvSpPr txBox="1"/>
          <p:nvPr/>
        </p:nvSpPr>
        <p:spPr>
          <a:xfrm>
            <a:off x="10607040" y="292608"/>
            <a:ext cx="1371600" cy="320040"/>
          </a:xfrm>
          <a:prstGeom prst="rect">
            <a:avLst/>
          </a:prstGeom>
          <a:noFill/>
        </p:spPr>
        <p:txBody>
          <a:bodyPr wrap="square" lIns="0" tIns="0" rIns="0" bIns="0" anchor="t">
            <a:spAutoFit/>
          </a:bodyPr>
          <a:lstStyle/>
          <a:p>
            <a:pPr algn="r">
              <a:lnSpc>
                <a:spcPct val="100000"/>
              </a:lnSpc>
            </a:pPr>
            <a:r>
              <a:rPr sz="1100" b="1" i="0">
                <a:solidFill>
                  <a:srgbClr val="BFD6E6"/>
                </a:solidFill>
                <a:latin typeface="Aptos"/>
              </a:rPr>
              <a:t>EVAL-S03</a:t>
            </a:r>
          </a:p>
        </p:txBody>
      </p:sp>
      <p:sp>
        <p:nvSpPr>
          <p:cNvPr id="5" name="Rectangle 4"/>
          <p:cNvSpPr/>
          <p:nvPr/>
        </p:nvSpPr>
        <p:spPr>
          <a:xfrm>
            <a:off x="0" y="6547104"/>
            <a:ext cx="12191695" cy="310896"/>
          </a:xfrm>
          <a:prstGeom prst="rect">
            <a:avLst/>
          </a:prstGeom>
          <a:solidFill>
            <a:srgbClr val="F3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11480" y="6565392"/>
            <a:ext cx="10515600" cy="274320"/>
          </a:xfrm>
          <a:prstGeom prst="rect">
            <a:avLst/>
          </a:prstGeom>
          <a:noFill/>
        </p:spPr>
        <p:txBody>
          <a:bodyPr wrap="square" lIns="0" tIns="0" rIns="0" bIns="0" anchor="ctr">
            <a:spAutoFit/>
          </a:bodyPr>
          <a:lstStyle/>
          <a:p>
            <a:pPr algn="l">
              <a:lnSpc>
                <a:spcPct val="100000"/>
              </a:lnSpc>
            </a:pPr>
            <a:r>
              <a:rPr sz="850" b="0" i="0">
                <a:solidFill>
                  <a:srgbClr val="555555"/>
                </a:solidFill>
                <a:latin typeface="Aptos"/>
              </a:rPr>
              <a:t>BT METHOD — Engineering Baseline (canonical RTM-722) · EVAL-S03 | v3.6</a:t>
            </a:r>
          </a:p>
        </p:txBody>
      </p:sp>
      <p:pic>
        <p:nvPicPr>
          <p:cNvPr id="7" name="Picture 6" descr="emb_rtm.png"/>
          <p:cNvPicPr>
            <a:picLocks noChangeAspect="1"/>
          </p:cNvPicPr>
          <p:nvPr/>
        </p:nvPicPr>
        <p:blipFill>
          <a:blip r:embed="rId3"/>
          <a:stretch>
            <a:fillRect/>
          </a:stretch>
        </p:blipFill>
        <p:spPr>
          <a:xfrm>
            <a:off x="914400" y="960120"/>
            <a:ext cx="8354961" cy="4709160"/>
          </a:xfrm>
          <a:prstGeom prst="rect">
            <a:avLst/>
          </a:prstGeom>
        </p:spPr>
      </p:pic>
      <p:sp>
        <p:nvSpPr>
          <p:cNvPr id="8" name="TextBox 7"/>
          <p:cNvSpPr txBox="1"/>
          <p:nvPr/>
        </p:nvSpPr>
        <p:spPr>
          <a:xfrm>
            <a:off x="320040" y="5623560"/>
            <a:ext cx="11521440" cy="914400"/>
          </a:xfrm>
          <a:prstGeom prst="rect">
            <a:avLst/>
          </a:prstGeom>
          <a:noFill/>
        </p:spPr>
        <p:txBody>
          <a:bodyPr wrap="square" lIns="0" tIns="0" rIns="0" bIns="0">
            <a:spAutoFit/>
          </a:bodyPr>
          <a:lstStyle/>
          <a:p>
            <a:pPr>
              <a:lnSpc>
                <a:spcPct val="108000"/>
              </a:lnSpc>
              <a:spcAft>
                <a:spcPts val="200"/>
              </a:spcAft>
            </a:pPr>
            <a:r>
              <a:rPr sz="950" b="1" dirty="0">
                <a:solidFill>
                  <a:srgbClr val="0B3D5C"/>
                </a:solidFill>
                <a:latin typeface="Aptos"/>
              </a:rPr>
              <a:t>•  </a:t>
            </a:r>
            <a:r>
              <a:rPr sz="950" b="1" dirty="0">
                <a:solidFill>
                  <a:srgbClr val="222222"/>
                </a:solidFill>
                <a:latin typeface="Aptos"/>
              </a:rPr>
              <a:t>722 requirements ranked on identical weights — </a:t>
            </a:r>
            <a:r>
              <a:rPr sz="950" dirty="0">
                <a:solidFill>
                  <a:srgbClr val="222222"/>
                </a:solidFill>
                <a:latin typeface="Aptos"/>
              </a:rPr>
              <a:t>P1 Critical = top 36 (5%), P2 High = 145 (25% cumulative), P3 Medium = 255 (60% cumulative), P4 Low = 286.</a:t>
            </a:r>
          </a:p>
          <a:p>
            <a:pPr>
              <a:lnSpc>
                <a:spcPct val="108000"/>
              </a:lnSpc>
              <a:spcAft>
                <a:spcPts val="200"/>
              </a:spcAft>
            </a:pPr>
            <a:r>
              <a:rPr sz="950" b="1" dirty="0">
                <a:solidFill>
                  <a:srgbClr val="0B3D5C"/>
                </a:solidFill>
                <a:latin typeface="Aptos"/>
              </a:rPr>
              <a:t>•  </a:t>
            </a:r>
            <a:r>
              <a:rPr sz="950" b="1" dirty="0">
                <a:solidFill>
                  <a:srgbClr val="222222"/>
                </a:solidFill>
                <a:latin typeface="Aptos"/>
              </a:rPr>
              <a:t>Top items: </a:t>
            </a:r>
            <a:r>
              <a:rPr sz="950" dirty="0">
                <a:solidFill>
                  <a:srgbClr val="222222"/>
                </a:solidFill>
                <a:latin typeface="Aptos"/>
              </a:rPr>
              <a:t>RTM-328 (§4.6.5, MCS integration), RTM-482 (§4.11, commissioning performance testing), RTM-258–262 (§4.4.7, LOOP / abnormal-conditions recovery) — regulation, performance testing and LOOP recovery dominate the top of the list.</a:t>
            </a:r>
          </a:p>
          <a:p>
            <a:pPr>
              <a:lnSpc>
                <a:spcPct val="108000"/>
              </a:lnSpc>
              <a:spcAft>
                <a:spcPts val="200"/>
              </a:spcAft>
            </a:pPr>
            <a:r>
              <a:rPr sz="950" b="1" dirty="0">
                <a:solidFill>
                  <a:srgbClr val="0B3D5C"/>
                </a:solidFill>
                <a:latin typeface="Aptos"/>
              </a:rPr>
              <a:t>•  </a:t>
            </a:r>
            <a:r>
              <a:rPr sz="950" b="1" dirty="0">
                <a:solidFill>
                  <a:srgbClr val="222222"/>
                </a:solidFill>
                <a:latin typeface="Aptos"/>
              </a:rPr>
              <a:t>Caveat — </a:t>
            </a:r>
            <a:r>
              <a:rPr sz="950" dirty="0">
                <a:solidFill>
                  <a:srgbClr val="222222"/>
                </a:solidFill>
                <a:latin typeface="Aptos"/>
              </a:rPr>
              <a:t>429 of 722 rows are keyword-derived (flagged yellow, amber in the chart); 293 inherit their score from a linked OFFER item. High-ranked keyword rows should be re-scored from shall-text before being relied on for negotiation.</a:t>
            </a:r>
          </a:p>
        </p:txBody>
      </p:sp>
      <p:sp>
        <p:nvSpPr>
          <p:cNvPr id="9" name="Slide Number Placeholder 8">
            <a:extLst>
              <a:ext uri="{FF2B5EF4-FFF2-40B4-BE49-F238E27FC236}">
                <a16:creationId xmlns:a16="http://schemas.microsoft.com/office/drawing/2014/main" id="{F5F1A886-4851-8A68-C8D5-DE17BFFC86DE}"/>
              </a:ext>
            </a:extLst>
          </p:cNvPr>
          <p:cNvSpPr>
            <a:spLocks noGrp="1"/>
          </p:cNvSpPr>
          <p:nvPr>
            <p:ph type="sldNum" sz="quarter" idx="12"/>
          </p:nvPr>
        </p:nvSpPr>
        <p:spPr/>
        <p:txBody>
          <a:bodyPr/>
          <a:lstStyle/>
          <a:p>
            <a:fld id="{C1FF6DA9-008F-8B48-92A6-B652298478BF}" type="slidenum">
              <a:rPr lang="en-US" smtClean="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441F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09728"/>
            <a:ext cx="9875520" cy="685800"/>
          </a:xfrm>
          <a:prstGeom prst="rect">
            <a:avLst/>
          </a:prstGeom>
          <a:noFill/>
        </p:spPr>
        <p:txBody>
          <a:bodyPr wrap="square" lIns="0" tIns="0" rIns="0" bIns="0" anchor="ctr">
            <a:spAutoFit/>
          </a:bodyPr>
          <a:lstStyle/>
          <a:p>
            <a:pPr algn="l">
              <a:lnSpc>
                <a:spcPct val="100000"/>
              </a:lnSpc>
            </a:pPr>
            <a:r>
              <a:rPr sz="2500" b="1" i="0">
                <a:solidFill>
                  <a:srgbClr val="FFFFFF"/>
                </a:solidFill>
                <a:latin typeface="Aptos"/>
              </a:rPr>
              <a:t>Where the contract weight sits</a:t>
            </a:r>
          </a:p>
        </p:txBody>
      </p:sp>
      <p:sp>
        <p:nvSpPr>
          <p:cNvPr id="4" name="TextBox 3"/>
          <p:cNvSpPr txBox="1"/>
          <p:nvPr/>
        </p:nvSpPr>
        <p:spPr>
          <a:xfrm>
            <a:off x="10607040" y="292608"/>
            <a:ext cx="1371600" cy="320040"/>
          </a:xfrm>
          <a:prstGeom prst="rect">
            <a:avLst/>
          </a:prstGeom>
          <a:noFill/>
        </p:spPr>
        <p:txBody>
          <a:bodyPr wrap="square" lIns="0" tIns="0" rIns="0" bIns="0" anchor="t">
            <a:spAutoFit/>
          </a:bodyPr>
          <a:lstStyle/>
          <a:p>
            <a:pPr algn="r">
              <a:lnSpc>
                <a:spcPct val="100000"/>
              </a:lnSpc>
            </a:pPr>
            <a:r>
              <a:rPr sz="1100" b="1" i="0">
                <a:solidFill>
                  <a:srgbClr val="BFD6E6"/>
                </a:solidFill>
                <a:latin typeface="Aptos"/>
              </a:rPr>
              <a:t>EVAL-S04</a:t>
            </a:r>
          </a:p>
        </p:txBody>
      </p:sp>
      <p:sp>
        <p:nvSpPr>
          <p:cNvPr id="5" name="Rectangle 4"/>
          <p:cNvSpPr/>
          <p:nvPr/>
        </p:nvSpPr>
        <p:spPr>
          <a:xfrm>
            <a:off x="0" y="6547104"/>
            <a:ext cx="12191695" cy="310896"/>
          </a:xfrm>
          <a:prstGeom prst="rect">
            <a:avLst/>
          </a:prstGeom>
          <a:solidFill>
            <a:srgbClr val="F3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11480" y="6565392"/>
            <a:ext cx="10515600" cy="274320"/>
          </a:xfrm>
          <a:prstGeom prst="rect">
            <a:avLst/>
          </a:prstGeom>
          <a:noFill/>
        </p:spPr>
        <p:txBody>
          <a:bodyPr wrap="square" lIns="0" tIns="0" rIns="0" bIns="0" anchor="ctr">
            <a:spAutoFit/>
          </a:bodyPr>
          <a:lstStyle/>
          <a:p>
            <a:pPr algn="l">
              <a:lnSpc>
                <a:spcPct val="100000"/>
              </a:lnSpc>
            </a:pPr>
            <a:r>
              <a:rPr sz="850" b="0" i="0">
                <a:solidFill>
                  <a:srgbClr val="555555"/>
                </a:solidFill>
                <a:latin typeface="Aptos"/>
              </a:rPr>
              <a:t>BT METHOD — Engineering Baseline (canonical RTM-722) · EVAL-S04 | v3.6</a:t>
            </a:r>
          </a:p>
        </p:txBody>
      </p:sp>
      <p:pic>
        <p:nvPicPr>
          <p:cNvPr id="7" name="Picture 6" descr="emb_rtm_sections.png"/>
          <p:cNvPicPr>
            <a:picLocks noChangeAspect="1"/>
          </p:cNvPicPr>
          <p:nvPr/>
        </p:nvPicPr>
        <p:blipFill>
          <a:blip r:embed="rId3"/>
          <a:stretch>
            <a:fillRect/>
          </a:stretch>
        </p:blipFill>
        <p:spPr>
          <a:xfrm>
            <a:off x="320040" y="960120"/>
            <a:ext cx="7620000" cy="4572000"/>
          </a:xfrm>
          <a:prstGeom prst="rect">
            <a:avLst/>
          </a:prstGeom>
        </p:spPr>
      </p:pic>
      <p:sp>
        <p:nvSpPr>
          <p:cNvPr id="8" name="TextBox 7"/>
          <p:cNvSpPr txBox="1"/>
          <p:nvPr/>
        </p:nvSpPr>
        <p:spPr>
          <a:xfrm>
            <a:off x="8229600" y="1051560"/>
            <a:ext cx="3566160" cy="320040"/>
          </a:xfrm>
          <a:prstGeom prst="rect">
            <a:avLst/>
          </a:prstGeom>
          <a:noFill/>
        </p:spPr>
        <p:txBody>
          <a:bodyPr wrap="square" lIns="0" tIns="0" rIns="0" bIns="0" anchor="t">
            <a:spAutoFit/>
          </a:bodyPr>
          <a:lstStyle/>
          <a:p>
            <a:pPr algn="l">
              <a:lnSpc>
                <a:spcPct val="100000"/>
              </a:lnSpc>
            </a:pPr>
            <a:r>
              <a:rPr sz="1600" b="1" i="0">
                <a:solidFill>
                  <a:srgbClr val="0B3D5C"/>
                </a:solidFill>
                <a:latin typeface="Aptos"/>
              </a:rPr>
              <a:t>Highest-weight sections</a:t>
            </a:r>
          </a:p>
        </p:txBody>
      </p:sp>
      <p:sp>
        <p:nvSpPr>
          <p:cNvPr id="9" name="TextBox 8"/>
          <p:cNvSpPr txBox="1"/>
          <p:nvPr/>
        </p:nvSpPr>
        <p:spPr>
          <a:xfrm>
            <a:off x="8229600" y="1463040"/>
            <a:ext cx="3566160" cy="2926080"/>
          </a:xfrm>
          <a:prstGeom prst="rect">
            <a:avLst/>
          </a:prstGeom>
          <a:noFill/>
        </p:spPr>
        <p:txBody>
          <a:bodyPr wrap="square" lIns="0" tIns="0" rIns="0" bIns="0">
            <a:spAutoFit/>
          </a:bodyPr>
          <a:lstStyle/>
          <a:p>
            <a:pPr>
              <a:lnSpc>
                <a:spcPct val="108000"/>
              </a:lnSpc>
              <a:spcAft>
                <a:spcPts val="800"/>
              </a:spcAft>
            </a:pPr>
            <a:r>
              <a:rPr sz="1550" b="1" dirty="0">
                <a:solidFill>
                  <a:srgbClr val="0B3D5C"/>
                </a:solidFill>
                <a:latin typeface="Aptos"/>
              </a:rPr>
              <a:t>•  </a:t>
            </a:r>
            <a:r>
              <a:rPr sz="1550" dirty="0">
                <a:solidFill>
                  <a:srgbClr val="222222"/>
                </a:solidFill>
                <a:latin typeface="Aptos"/>
              </a:rPr>
              <a:t>§4.6.8  (mean S=32.3, n=22)</a:t>
            </a:r>
          </a:p>
          <a:p>
            <a:pPr>
              <a:lnSpc>
                <a:spcPct val="108000"/>
              </a:lnSpc>
              <a:spcAft>
                <a:spcPts val="800"/>
              </a:spcAft>
            </a:pPr>
            <a:r>
              <a:rPr sz="1550" b="1" dirty="0">
                <a:solidFill>
                  <a:srgbClr val="0B3D5C"/>
                </a:solidFill>
                <a:latin typeface="Aptos"/>
              </a:rPr>
              <a:t>•  </a:t>
            </a:r>
            <a:r>
              <a:rPr sz="1550" dirty="0">
                <a:solidFill>
                  <a:srgbClr val="222222"/>
                </a:solidFill>
                <a:latin typeface="Aptos"/>
              </a:rPr>
              <a:t>§4.4.5.2  (mean S=28.2, n=10)</a:t>
            </a:r>
          </a:p>
          <a:p>
            <a:pPr>
              <a:lnSpc>
                <a:spcPct val="108000"/>
              </a:lnSpc>
              <a:spcAft>
                <a:spcPts val="800"/>
              </a:spcAft>
            </a:pPr>
            <a:r>
              <a:rPr sz="1550" b="1" dirty="0">
                <a:solidFill>
                  <a:srgbClr val="0B3D5C"/>
                </a:solidFill>
                <a:latin typeface="Aptos"/>
              </a:rPr>
              <a:t>•  </a:t>
            </a:r>
            <a:r>
              <a:rPr sz="1550" dirty="0">
                <a:solidFill>
                  <a:srgbClr val="222222"/>
                </a:solidFill>
                <a:latin typeface="Aptos"/>
              </a:rPr>
              <a:t>§4.4.8.1  (mean S=27.3, n=5)</a:t>
            </a:r>
          </a:p>
          <a:p>
            <a:pPr>
              <a:lnSpc>
                <a:spcPct val="108000"/>
              </a:lnSpc>
              <a:spcAft>
                <a:spcPts val="800"/>
              </a:spcAft>
            </a:pPr>
            <a:r>
              <a:rPr sz="1550" b="1" dirty="0">
                <a:solidFill>
                  <a:srgbClr val="0B3D5C"/>
                </a:solidFill>
                <a:latin typeface="Aptos"/>
              </a:rPr>
              <a:t>•  </a:t>
            </a:r>
            <a:r>
              <a:rPr sz="1550" dirty="0">
                <a:solidFill>
                  <a:srgbClr val="222222"/>
                </a:solidFill>
                <a:latin typeface="Aptos"/>
              </a:rPr>
              <a:t>§4.4.8.2  (mean S=27.3, n=8)</a:t>
            </a:r>
          </a:p>
          <a:p>
            <a:pPr>
              <a:lnSpc>
                <a:spcPct val="108000"/>
              </a:lnSpc>
              <a:spcAft>
                <a:spcPts val="800"/>
              </a:spcAft>
            </a:pPr>
            <a:r>
              <a:rPr sz="1550" b="1" dirty="0">
                <a:solidFill>
                  <a:srgbClr val="0B3D5C"/>
                </a:solidFill>
                <a:latin typeface="Aptos"/>
              </a:rPr>
              <a:t>•  </a:t>
            </a:r>
            <a:r>
              <a:rPr sz="1550" dirty="0">
                <a:solidFill>
                  <a:srgbClr val="222222"/>
                </a:solidFill>
                <a:latin typeface="Aptos"/>
              </a:rPr>
              <a:t>§9.1  (mean S=25.3, n=8)</a:t>
            </a:r>
          </a:p>
          <a:p>
            <a:pPr>
              <a:lnSpc>
                <a:spcPct val="108000"/>
              </a:lnSpc>
              <a:spcAft>
                <a:spcPts val="800"/>
              </a:spcAft>
            </a:pPr>
            <a:r>
              <a:rPr sz="1550" b="1" dirty="0">
                <a:solidFill>
                  <a:srgbClr val="0B3D5C"/>
                </a:solidFill>
                <a:latin typeface="Aptos"/>
              </a:rPr>
              <a:t>•  </a:t>
            </a:r>
            <a:r>
              <a:rPr sz="1550" dirty="0">
                <a:solidFill>
                  <a:srgbClr val="222222"/>
                </a:solidFill>
                <a:latin typeface="Aptos"/>
              </a:rPr>
              <a:t>§4.4.7  (mean S=24.5, n=6)</a:t>
            </a:r>
          </a:p>
        </p:txBody>
      </p:sp>
      <p:sp>
        <p:nvSpPr>
          <p:cNvPr id="10" name="Rectangle 9"/>
          <p:cNvSpPr/>
          <p:nvPr/>
        </p:nvSpPr>
        <p:spPr>
          <a:xfrm>
            <a:off x="8229600" y="4754880"/>
            <a:ext cx="3566160" cy="1554480"/>
          </a:xfrm>
          <a:prstGeom prst="rect">
            <a:avLst/>
          </a:prstGeom>
          <a:solidFill>
            <a:srgbClr val="EFE5F5"/>
          </a:solidFill>
          <a:ln w="12700">
            <a:solidFill>
              <a:srgbClr val="0B3D5C"/>
            </a:solidFill>
          </a:ln>
          <a:effectLst/>
        </p:spPr>
        <p:style>
          <a:lnRef idx="1">
            <a:schemeClr val="accent1"/>
          </a:lnRef>
          <a:fillRef idx="3">
            <a:schemeClr val="accent1"/>
          </a:fillRef>
          <a:effectRef idx="2">
            <a:schemeClr val="accent1"/>
          </a:effectRef>
          <a:fontRef idx="minor">
            <a:schemeClr val="lt1"/>
          </a:fontRef>
        </p:style>
        <p:txBody>
          <a:bodyPr wrap="square" lIns="146304" tIns="91440" rIns="146304" bIns="91440" rtlCol="0" anchor="ctr"/>
          <a:lstStyle/>
          <a:p>
            <a:pPr algn="ctr">
              <a:lnSpc>
                <a:spcPct val="110000"/>
              </a:lnSpc>
            </a:pPr>
            <a:r>
              <a:rPr sz="1250" b="1">
                <a:solidFill>
                  <a:srgbClr val="0B3D5C"/>
                </a:solidFill>
                <a:latin typeface="Aptos"/>
              </a:rPr>
              <a:t>Use for:  </a:t>
            </a:r>
            <a:r>
              <a:rPr sz="1250">
                <a:solidFill>
                  <a:srgbClr val="222222"/>
                </a:solidFill>
                <a:latin typeface="Aptos"/>
              </a:rPr>
              <a:t>review staffing (put your strongest reviewers on §4.6.8 and §4.4.5.2) and the negotiation agenda (these sections carry more technical weight per requirement than the document average).</a:t>
            </a:r>
          </a:p>
        </p:txBody>
      </p:sp>
      <p:sp>
        <p:nvSpPr>
          <p:cNvPr id="11" name="Slide Number Placeholder 10">
            <a:extLst>
              <a:ext uri="{FF2B5EF4-FFF2-40B4-BE49-F238E27FC236}">
                <a16:creationId xmlns:a16="http://schemas.microsoft.com/office/drawing/2014/main" id="{3CCCE474-90DC-6F28-BA91-26C50E773FEB}"/>
              </a:ext>
            </a:extLst>
          </p:cNvPr>
          <p:cNvSpPr>
            <a:spLocks noGrp="1"/>
          </p:cNvSpPr>
          <p:nvPr>
            <p:ph type="sldNum" sz="quarter" idx="12"/>
          </p:nvPr>
        </p:nvSpPr>
        <p:spPr/>
        <p:txBody>
          <a:bodyPr/>
          <a:lstStyle/>
          <a:p>
            <a:fld id="{C1FF6DA9-008F-8B48-92A6-B652298478BF}" type="slidenum">
              <a:rPr lang="en-US" smtClean="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441F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09728"/>
            <a:ext cx="9875520" cy="685800"/>
          </a:xfrm>
          <a:prstGeom prst="rect">
            <a:avLst/>
          </a:prstGeom>
          <a:noFill/>
        </p:spPr>
        <p:txBody>
          <a:bodyPr wrap="square" lIns="0" tIns="0" rIns="0" bIns="0" anchor="ctr">
            <a:spAutoFit/>
          </a:bodyPr>
          <a:lstStyle/>
          <a:p>
            <a:pPr algn="l">
              <a:lnSpc>
                <a:spcPct val="100000"/>
              </a:lnSpc>
            </a:pPr>
            <a:r>
              <a:rPr sz="2500" b="1" i="0">
                <a:solidFill>
                  <a:srgbClr val="FFFFFF"/>
                </a:solidFill>
                <a:latin typeface="Aptos"/>
              </a:rPr>
              <a:t>Evaluation workflow &amp; STATUS semantics</a:t>
            </a:r>
          </a:p>
        </p:txBody>
      </p:sp>
      <p:sp>
        <p:nvSpPr>
          <p:cNvPr id="4" name="TextBox 3"/>
          <p:cNvSpPr txBox="1"/>
          <p:nvPr/>
        </p:nvSpPr>
        <p:spPr>
          <a:xfrm>
            <a:off x="10607040" y="292608"/>
            <a:ext cx="1371600" cy="320040"/>
          </a:xfrm>
          <a:prstGeom prst="rect">
            <a:avLst/>
          </a:prstGeom>
          <a:noFill/>
        </p:spPr>
        <p:txBody>
          <a:bodyPr wrap="square" lIns="0" tIns="0" rIns="0" bIns="0" anchor="t">
            <a:spAutoFit/>
          </a:bodyPr>
          <a:lstStyle/>
          <a:p>
            <a:pPr algn="r">
              <a:lnSpc>
                <a:spcPct val="100000"/>
              </a:lnSpc>
            </a:pPr>
            <a:r>
              <a:rPr sz="1100" b="1" i="0">
                <a:solidFill>
                  <a:srgbClr val="BFD6E6"/>
                </a:solidFill>
                <a:latin typeface="Aptos"/>
              </a:rPr>
              <a:t>EVAL-S05</a:t>
            </a:r>
          </a:p>
        </p:txBody>
      </p:sp>
      <p:sp>
        <p:nvSpPr>
          <p:cNvPr id="5" name="Rectangle 4"/>
          <p:cNvSpPr/>
          <p:nvPr/>
        </p:nvSpPr>
        <p:spPr>
          <a:xfrm>
            <a:off x="0" y="6547104"/>
            <a:ext cx="12191695" cy="310896"/>
          </a:xfrm>
          <a:prstGeom prst="rect">
            <a:avLst/>
          </a:prstGeom>
          <a:solidFill>
            <a:srgbClr val="F3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11480" y="6565392"/>
            <a:ext cx="10515600" cy="274320"/>
          </a:xfrm>
          <a:prstGeom prst="rect">
            <a:avLst/>
          </a:prstGeom>
          <a:noFill/>
        </p:spPr>
        <p:txBody>
          <a:bodyPr wrap="square" lIns="0" tIns="0" rIns="0" bIns="0" anchor="ctr">
            <a:spAutoFit/>
          </a:bodyPr>
          <a:lstStyle/>
          <a:p>
            <a:pPr algn="l">
              <a:lnSpc>
                <a:spcPct val="100000"/>
              </a:lnSpc>
            </a:pPr>
            <a:r>
              <a:rPr sz="850" b="0" i="0">
                <a:solidFill>
                  <a:srgbClr val="555555"/>
                </a:solidFill>
                <a:latin typeface="Aptos"/>
              </a:rPr>
              <a:t>BT METHOD — Engineering Baseline (canonical RTM-722) · EVAL-S05 | v3.6</a:t>
            </a:r>
          </a:p>
        </p:txBody>
      </p:sp>
      <p:sp>
        <p:nvSpPr>
          <p:cNvPr id="7" name="TextBox 6"/>
          <p:cNvSpPr txBox="1"/>
          <p:nvPr/>
        </p:nvSpPr>
        <p:spPr>
          <a:xfrm>
            <a:off x="502920" y="1005840"/>
            <a:ext cx="5669280" cy="320040"/>
          </a:xfrm>
          <a:prstGeom prst="rect">
            <a:avLst/>
          </a:prstGeom>
          <a:noFill/>
        </p:spPr>
        <p:txBody>
          <a:bodyPr wrap="square" lIns="0" tIns="0" rIns="0" bIns="0" anchor="t">
            <a:spAutoFit/>
          </a:bodyPr>
          <a:lstStyle/>
          <a:p>
            <a:pPr algn="l">
              <a:lnSpc>
                <a:spcPct val="100000"/>
              </a:lnSpc>
            </a:pPr>
            <a:r>
              <a:rPr sz="1300" b="1" i="0">
                <a:solidFill>
                  <a:srgbClr val="0B3D5C"/>
                </a:solidFill>
                <a:latin typeface="Aptos"/>
              </a:rPr>
              <a:t>BT_Input — per-bidder evaluation row (shell, TBD state)</a:t>
            </a:r>
          </a:p>
        </p:txBody>
      </p:sp>
      <p:graphicFrame>
        <p:nvGraphicFramePr>
          <p:cNvPr id="8" name="Table 7"/>
          <p:cNvGraphicFramePr>
            <a:graphicFrameLocks noGrp="1"/>
          </p:cNvGraphicFramePr>
          <p:nvPr/>
        </p:nvGraphicFramePr>
        <p:xfrm>
          <a:off x="502920" y="1371600"/>
          <a:ext cx="6400800" cy="1600200"/>
        </p:xfrm>
        <a:graphic>
          <a:graphicData uri="http://schemas.openxmlformats.org/drawingml/2006/table">
            <a:tbl>
              <a:tblPr firstRow="1" bandRow="1">
                <a:tableStyleId>{5C22544A-7EE6-4342-B048-85BDC9FD1C3A}</a:tableStyleId>
              </a:tblPr>
              <a:tblGrid>
                <a:gridCol w="6858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777240">
                  <a:extLst>
                    <a:ext uri="{9D8B030D-6E8A-4147-A177-3AD203B41FA5}">
                      <a16:colId xmlns:a16="http://schemas.microsoft.com/office/drawing/2014/main" val="20002"/>
                    </a:ext>
                  </a:extLst>
                </a:gridCol>
                <a:gridCol w="502920">
                  <a:extLst>
                    <a:ext uri="{9D8B030D-6E8A-4147-A177-3AD203B41FA5}">
                      <a16:colId xmlns:a16="http://schemas.microsoft.com/office/drawing/2014/main" val="20003"/>
                    </a:ext>
                  </a:extLst>
                </a:gridCol>
                <a:gridCol w="594360">
                  <a:extLst>
                    <a:ext uri="{9D8B030D-6E8A-4147-A177-3AD203B41FA5}">
                      <a16:colId xmlns:a16="http://schemas.microsoft.com/office/drawing/2014/main" val="20004"/>
                    </a:ext>
                  </a:extLst>
                </a:gridCol>
                <a:gridCol w="502920">
                  <a:extLst>
                    <a:ext uri="{9D8B030D-6E8A-4147-A177-3AD203B41FA5}">
                      <a16:colId xmlns:a16="http://schemas.microsoft.com/office/drawing/2014/main" val="20005"/>
                    </a:ext>
                  </a:extLst>
                </a:gridCol>
                <a:gridCol w="685800">
                  <a:extLst>
                    <a:ext uri="{9D8B030D-6E8A-4147-A177-3AD203B41FA5}">
                      <a16:colId xmlns:a16="http://schemas.microsoft.com/office/drawing/2014/main" val="20006"/>
                    </a:ext>
                  </a:extLst>
                </a:gridCol>
                <a:gridCol w="548640">
                  <a:extLst>
                    <a:ext uri="{9D8B030D-6E8A-4147-A177-3AD203B41FA5}">
                      <a16:colId xmlns:a16="http://schemas.microsoft.com/office/drawing/2014/main" val="20007"/>
                    </a:ext>
                  </a:extLst>
                </a:gridCol>
                <a:gridCol w="502920">
                  <a:extLst>
                    <a:ext uri="{9D8B030D-6E8A-4147-A177-3AD203B41FA5}">
                      <a16:colId xmlns:a16="http://schemas.microsoft.com/office/drawing/2014/main" val="20008"/>
                    </a:ext>
                  </a:extLst>
                </a:gridCol>
              </a:tblGrid>
              <a:tr h="400050">
                <a:tc>
                  <a:txBody>
                    <a:bodyPr/>
                    <a:lstStyle/>
                    <a:p>
                      <a:r>
                        <a:rPr sz="800" b="1">
                          <a:solidFill>
                            <a:srgbClr val="FFFFFF"/>
                          </a:solidFill>
                          <a:latin typeface="Aptos"/>
                        </a:rPr>
                        <a:t>Offer ID</a:t>
                      </a:r>
                    </a:p>
                  </a:txBody>
                  <a:tcPr anchor="ctr">
                    <a:solidFill>
                      <a:srgbClr val="0B3D5C"/>
                    </a:solidFill>
                  </a:tcPr>
                </a:tc>
                <a:tc>
                  <a:txBody>
                    <a:bodyPr/>
                    <a:lstStyle/>
                    <a:p>
                      <a:r>
                        <a:rPr sz="800" b="1">
                          <a:solidFill>
                            <a:srgbClr val="FFFFFF"/>
                          </a:solidFill>
                          <a:latin typeface="Aptos"/>
                        </a:rPr>
                        <a:t>Title</a:t>
                      </a:r>
                    </a:p>
                  </a:txBody>
                  <a:tcPr anchor="ctr">
                    <a:solidFill>
                      <a:srgbClr val="0B3D5C"/>
                    </a:solidFill>
                  </a:tcPr>
                </a:tc>
                <a:tc>
                  <a:txBody>
                    <a:bodyPr/>
                    <a:lstStyle/>
                    <a:p>
                      <a:r>
                        <a:rPr sz="800" b="1">
                          <a:solidFill>
                            <a:srgbClr val="FFFFFF"/>
                          </a:solidFill>
                          <a:latin typeface="Aptos"/>
                        </a:rPr>
                        <a:t>Tier</a:t>
                      </a:r>
                    </a:p>
                  </a:txBody>
                  <a:tcPr anchor="ctr">
                    <a:solidFill>
                      <a:srgbClr val="0B3D5C"/>
                    </a:solidFill>
                  </a:tcPr>
                </a:tc>
                <a:tc>
                  <a:txBody>
                    <a:bodyPr/>
                    <a:lstStyle/>
                    <a:p>
                      <a:r>
                        <a:rPr sz="800" b="1">
                          <a:solidFill>
                            <a:srgbClr val="FFFFFF"/>
                          </a:solidFill>
                          <a:latin typeface="Aptos"/>
                        </a:rPr>
                        <a:t>BT Rank</a:t>
                      </a:r>
                    </a:p>
                  </a:txBody>
                  <a:tcPr anchor="ctr">
                    <a:solidFill>
                      <a:srgbClr val="0B3D5C"/>
                    </a:solidFill>
                  </a:tcPr>
                </a:tc>
                <a:tc>
                  <a:txBody>
                    <a:bodyPr/>
                    <a:lstStyle/>
                    <a:p>
                      <a:r>
                        <a:rPr sz="800" b="1">
                          <a:solidFill>
                            <a:srgbClr val="FFFFFF"/>
                          </a:solidFill>
                          <a:latin typeface="Aptos"/>
                        </a:rPr>
                        <a:t>A_STATUS</a:t>
                      </a:r>
                    </a:p>
                  </a:txBody>
                  <a:tcPr anchor="ctr">
                    <a:solidFill>
                      <a:srgbClr val="0B3D5C"/>
                    </a:solidFill>
                  </a:tcPr>
                </a:tc>
                <a:tc>
                  <a:txBody>
                    <a:bodyPr/>
                    <a:lstStyle/>
                    <a:p>
                      <a:r>
                        <a:rPr sz="800" b="1">
                          <a:solidFill>
                            <a:srgbClr val="FFFFFF"/>
                          </a:solidFill>
                          <a:latin typeface="Aptos"/>
                        </a:rPr>
                        <a:t>A_Tech</a:t>
                      </a:r>
                    </a:p>
                    <a:p>
                      <a:r>
                        <a:rPr sz="800" b="1">
                          <a:solidFill>
                            <a:srgbClr val="FFFFFF"/>
                          </a:solidFill>
                          <a:latin typeface="Aptos"/>
                        </a:rPr>
                        <a:t>Depth</a:t>
                      </a:r>
                    </a:p>
                  </a:txBody>
                  <a:tcPr anchor="ctr">
                    <a:solidFill>
                      <a:srgbClr val="0B3D5C"/>
                    </a:solidFill>
                  </a:tcPr>
                </a:tc>
                <a:tc>
                  <a:txBody>
                    <a:bodyPr/>
                    <a:lstStyle/>
                    <a:p>
                      <a:r>
                        <a:rPr sz="800" b="1">
                          <a:solidFill>
                            <a:srgbClr val="FFFFFF"/>
                          </a:solidFill>
                          <a:latin typeface="Aptos"/>
                        </a:rPr>
                        <a:t>A_Source /</a:t>
                      </a:r>
                    </a:p>
                    <a:p>
                      <a:r>
                        <a:rPr sz="800" b="1">
                          <a:solidFill>
                            <a:srgbClr val="FFFFFF"/>
                          </a:solidFill>
                          <a:latin typeface="Aptos"/>
                        </a:rPr>
                        <a:t>Location</a:t>
                      </a:r>
                    </a:p>
                  </a:txBody>
                  <a:tcPr anchor="ctr">
                    <a:solidFill>
                      <a:srgbClr val="0B3D5C"/>
                    </a:solidFill>
                  </a:tcPr>
                </a:tc>
                <a:tc>
                  <a:txBody>
                    <a:bodyPr/>
                    <a:lstStyle/>
                    <a:p>
                      <a:r>
                        <a:rPr sz="800" b="1">
                          <a:solidFill>
                            <a:srgbClr val="FFFFFF"/>
                          </a:solidFill>
                          <a:latin typeface="Aptos"/>
                        </a:rPr>
                        <a:t>A_Negot.</a:t>
                      </a:r>
                    </a:p>
                  </a:txBody>
                  <a:tcPr anchor="ctr">
                    <a:solidFill>
                      <a:srgbClr val="0B3D5C"/>
                    </a:solidFill>
                  </a:tcPr>
                </a:tc>
                <a:tc>
                  <a:txBody>
                    <a:bodyPr/>
                    <a:lstStyle/>
                    <a:p>
                      <a:r>
                        <a:rPr sz="800" b="1">
                          <a:solidFill>
                            <a:srgbClr val="FFFFFF"/>
                          </a:solidFill>
                          <a:latin typeface="Aptos"/>
                        </a:rPr>
                        <a:t>Comment</a:t>
                      </a:r>
                    </a:p>
                  </a:txBody>
                  <a:tcPr anchor="ctr">
                    <a:solidFill>
                      <a:srgbClr val="0B3D5C"/>
                    </a:solidFill>
                  </a:tcPr>
                </a:tc>
                <a:extLst>
                  <a:ext uri="{0D108BD9-81ED-4DB2-BD59-A6C34878D82A}">
                    <a16:rowId xmlns:a16="http://schemas.microsoft.com/office/drawing/2014/main" val="10000"/>
                  </a:ext>
                </a:extLst>
              </a:tr>
              <a:tr h="400050">
                <a:tc>
                  <a:txBody>
                    <a:bodyPr/>
                    <a:lstStyle/>
                    <a:p>
                      <a:r>
                        <a:rPr sz="850" b="0">
                          <a:solidFill>
                            <a:srgbClr val="222222"/>
                          </a:solidFill>
                          <a:latin typeface="Aptos"/>
                        </a:rPr>
                        <a:t>OFFER-21</a:t>
                      </a:r>
                    </a:p>
                  </a:txBody>
                  <a:tcPr anchor="ctr">
                    <a:solidFill>
                      <a:srgbClr val="F4F7F9"/>
                    </a:solidFill>
                  </a:tcPr>
                </a:tc>
                <a:tc>
                  <a:txBody>
                    <a:bodyPr/>
                    <a:lstStyle/>
                    <a:p>
                      <a:r>
                        <a:rPr sz="850" b="0">
                          <a:solidFill>
                            <a:srgbClr val="222222"/>
                          </a:solidFill>
                          <a:latin typeface="Aptos"/>
                        </a:rPr>
                        <a:t>LOOP Strategy &amp; Critical Load Mgmt</a:t>
                      </a:r>
                    </a:p>
                  </a:txBody>
                  <a:tcPr anchor="ctr">
                    <a:solidFill>
                      <a:srgbClr val="F4F7F9"/>
                    </a:solidFill>
                  </a:tcPr>
                </a:tc>
                <a:tc>
                  <a:txBody>
                    <a:bodyPr/>
                    <a:lstStyle/>
                    <a:p>
                      <a:r>
                        <a:rPr sz="850" b="0">
                          <a:solidFill>
                            <a:srgbClr val="222222"/>
                          </a:solidFill>
                          <a:latin typeface="Aptos"/>
                        </a:rPr>
                        <a:t>T1 Primary</a:t>
                      </a:r>
                    </a:p>
                  </a:txBody>
                  <a:tcPr anchor="ctr">
                    <a:solidFill>
                      <a:srgbClr val="F4F7F9"/>
                    </a:solidFill>
                  </a:tcPr>
                </a:tc>
                <a:tc>
                  <a:txBody>
                    <a:bodyPr/>
                    <a:lstStyle/>
                    <a:p>
                      <a:r>
                        <a:rPr sz="850" b="0">
                          <a:solidFill>
                            <a:srgbClr val="222222"/>
                          </a:solidFill>
                          <a:latin typeface="Aptos"/>
                        </a:rPr>
                        <a:t>1</a:t>
                      </a:r>
                    </a:p>
                  </a:txBody>
                  <a:tcPr anchor="ctr">
                    <a:solidFill>
                      <a:srgbClr val="F4F7F9"/>
                    </a:solidFill>
                  </a:tcPr>
                </a:tc>
                <a:tc>
                  <a:txBody>
                    <a:bodyPr/>
                    <a:lstStyle/>
                    <a:p>
                      <a:r>
                        <a:rPr sz="850" b="1">
                          <a:solidFill>
                            <a:srgbClr val="C99A00"/>
                          </a:solidFill>
                          <a:latin typeface="Aptos"/>
                        </a:rPr>
                        <a:t>TBD</a:t>
                      </a:r>
                    </a:p>
                  </a:txBody>
                  <a:tcPr anchor="ctr">
                    <a:solidFill>
                      <a:srgbClr val="FFF6D8"/>
                    </a:solidFill>
                  </a:tcPr>
                </a:tc>
                <a:tc>
                  <a:txBody>
                    <a:bodyPr/>
                    <a:lstStyle/>
                    <a:p>
                      <a:r>
                        <a:rPr sz="850" b="0">
                          <a:solidFill>
                            <a:srgbClr val="222222"/>
                          </a:solidFill>
                          <a:latin typeface="Aptos"/>
                        </a:rPr>
                        <a:t>—</a:t>
                      </a:r>
                    </a:p>
                  </a:txBody>
                  <a:tcPr anchor="ctr">
                    <a:solidFill>
                      <a:srgbClr val="F4F7F9"/>
                    </a:solidFill>
                  </a:tcPr>
                </a:tc>
                <a:tc>
                  <a:txBody>
                    <a:bodyPr/>
                    <a:lstStyle/>
                    <a:p>
                      <a:r>
                        <a:rPr sz="850" b="0">
                          <a:solidFill>
                            <a:srgbClr val="222222"/>
                          </a:solidFill>
                          <a:latin typeface="Aptos"/>
                        </a:rPr>
                        <a:t>—</a:t>
                      </a:r>
                    </a:p>
                  </a:txBody>
                  <a:tcPr anchor="ctr">
                    <a:solidFill>
                      <a:srgbClr val="F4F7F9"/>
                    </a:solidFill>
                  </a:tcPr>
                </a:tc>
                <a:tc>
                  <a:txBody>
                    <a:bodyPr/>
                    <a:lstStyle/>
                    <a:p>
                      <a:r>
                        <a:rPr sz="850" b="0">
                          <a:solidFill>
                            <a:srgbClr val="222222"/>
                          </a:solidFill>
                          <a:latin typeface="Aptos"/>
                        </a:rPr>
                        <a:t>—</a:t>
                      </a:r>
                    </a:p>
                  </a:txBody>
                  <a:tcPr anchor="ctr">
                    <a:solidFill>
                      <a:srgbClr val="F4F7F9"/>
                    </a:solidFill>
                  </a:tcPr>
                </a:tc>
                <a:tc>
                  <a:txBody>
                    <a:bodyPr/>
                    <a:lstStyle/>
                    <a:p>
                      <a:endParaRPr/>
                    </a:p>
                  </a:txBody>
                  <a:tcPr anchor="ctr">
                    <a:solidFill>
                      <a:srgbClr val="F4F7F9"/>
                    </a:solidFill>
                  </a:tcPr>
                </a:tc>
                <a:extLst>
                  <a:ext uri="{0D108BD9-81ED-4DB2-BD59-A6C34878D82A}">
                    <a16:rowId xmlns:a16="http://schemas.microsoft.com/office/drawing/2014/main" val="10001"/>
                  </a:ext>
                </a:extLst>
              </a:tr>
              <a:tr h="400050">
                <a:tc>
                  <a:txBody>
                    <a:bodyPr/>
                    <a:lstStyle/>
                    <a:p>
                      <a:r>
                        <a:rPr sz="850" b="0">
                          <a:solidFill>
                            <a:srgbClr val="222222"/>
                          </a:solidFill>
                          <a:latin typeface="Aptos"/>
                        </a:rPr>
                        <a:t>OFFER-22</a:t>
                      </a:r>
                    </a:p>
                  </a:txBody>
                  <a:tcPr anchor="ctr">
                    <a:solidFill>
                      <a:srgbClr val="FFFFFF"/>
                    </a:solidFill>
                  </a:tcPr>
                </a:tc>
                <a:tc>
                  <a:txBody>
                    <a:bodyPr/>
                    <a:lstStyle/>
                    <a:p>
                      <a:r>
                        <a:rPr sz="850" b="0">
                          <a:solidFill>
                            <a:srgbClr val="222222"/>
                          </a:solidFill>
                          <a:latin typeface="Aptos"/>
                        </a:rPr>
                        <a:t>Helium Recovery System Design</a:t>
                      </a:r>
                    </a:p>
                  </a:txBody>
                  <a:tcPr anchor="ctr">
                    <a:solidFill>
                      <a:srgbClr val="FFFFFF"/>
                    </a:solidFill>
                  </a:tcPr>
                </a:tc>
                <a:tc>
                  <a:txBody>
                    <a:bodyPr/>
                    <a:lstStyle/>
                    <a:p>
                      <a:r>
                        <a:rPr sz="850" b="0">
                          <a:solidFill>
                            <a:srgbClr val="222222"/>
                          </a:solidFill>
                          <a:latin typeface="Aptos"/>
                        </a:rPr>
                        <a:t>T1 Primary</a:t>
                      </a:r>
                    </a:p>
                  </a:txBody>
                  <a:tcPr anchor="ctr">
                    <a:solidFill>
                      <a:srgbClr val="FFFFFF"/>
                    </a:solidFill>
                  </a:tcPr>
                </a:tc>
                <a:tc>
                  <a:txBody>
                    <a:bodyPr/>
                    <a:lstStyle/>
                    <a:p>
                      <a:r>
                        <a:rPr sz="850" b="0">
                          <a:solidFill>
                            <a:srgbClr val="222222"/>
                          </a:solidFill>
                          <a:latin typeface="Aptos"/>
                        </a:rPr>
                        <a:t>1</a:t>
                      </a:r>
                    </a:p>
                  </a:txBody>
                  <a:tcPr anchor="ctr">
                    <a:solidFill>
                      <a:srgbClr val="FFFFFF"/>
                    </a:solidFill>
                  </a:tcPr>
                </a:tc>
                <a:tc>
                  <a:txBody>
                    <a:bodyPr/>
                    <a:lstStyle/>
                    <a:p>
                      <a:r>
                        <a:rPr sz="850" b="1">
                          <a:solidFill>
                            <a:srgbClr val="C99A00"/>
                          </a:solidFill>
                          <a:latin typeface="Aptos"/>
                        </a:rPr>
                        <a:t>TBD</a:t>
                      </a:r>
                    </a:p>
                  </a:txBody>
                  <a:tcPr anchor="ctr">
                    <a:solidFill>
                      <a:srgbClr val="FFF6D8"/>
                    </a:solidFill>
                  </a:tcPr>
                </a:tc>
                <a:tc>
                  <a:txBody>
                    <a:bodyPr/>
                    <a:lstStyle/>
                    <a:p>
                      <a:r>
                        <a:rPr sz="850" b="0">
                          <a:solidFill>
                            <a:srgbClr val="222222"/>
                          </a:solidFill>
                          <a:latin typeface="Aptos"/>
                        </a:rPr>
                        <a:t>—</a:t>
                      </a:r>
                    </a:p>
                  </a:txBody>
                  <a:tcPr anchor="ctr">
                    <a:solidFill>
                      <a:srgbClr val="FFFFFF"/>
                    </a:solidFill>
                  </a:tcPr>
                </a:tc>
                <a:tc>
                  <a:txBody>
                    <a:bodyPr/>
                    <a:lstStyle/>
                    <a:p>
                      <a:r>
                        <a:rPr sz="850" b="0">
                          <a:solidFill>
                            <a:srgbClr val="222222"/>
                          </a:solidFill>
                          <a:latin typeface="Aptos"/>
                        </a:rPr>
                        <a:t>—</a:t>
                      </a:r>
                    </a:p>
                  </a:txBody>
                  <a:tcPr anchor="ctr">
                    <a:solidFill>
                      <a:srgbClr val="FFFFFF"/>
                    </a:solidFill>
                  </a:tcPr>
                </a:tc>
                <a:tc>
                  <a:txBody>
                    <a:bodyPr/>
                    <a:lstStyle/>
                    <a:p>
                      <a:r>
                        <a:rPr sz="850" b="0">
                          <a:solidFill>
                            <a:srgbClr val="222222"/>
                          </a:solidFill>
                          <a:latin typeface="Aptos"/>
                        </a:rPr>
                        <a:t>—</a:t>
                      </a:r>
                    </a:p>
                  </a:txBody>
                  <a:tcPr anchor="ctr">
                    <a:solidFill>
                      <a:srgbClr val="FFFFFF"/>
                    </a:solidFill>
                  </a:tcPr>
                </a:tc>
                <a:tc>
                  <a:txBody>
                    <a:bodyPr/>
                    <a:lstStyle/>
                    <a:p>
                      <a:endParaRPr/>
                    </a:p>
                  </a:txBody>
                  <a:tcPr anchor="ctr">
                    <a:solidFill>
                      <a:srgbClr val="FFFFFF"/>
                    </a:solidFill>
                  </a:tcPr>
                </a:tc>
                <a:extLst>
                  <a:ext uri="{0D108BD9-81ED-4DB2-BD59-A6C34878D82A}">
                    <a16:rowId xmlns:a16="http://schemas.microsoft.com/office/drawing/2014/main" val="10002"/>
                  </a:ext>
                </a:extLst>
              </a:tr>
              <a:tr h="400050">
                <a:tc>
                  <a:txBody>
                    <a:bodyPr/>
                    <a:lstStyle/>
                    <a:p>
                      <a:r>
                        <a:rPr sz="850" b="0">
                          <a:solidFill>
                            <a:srgbClr val="222222"/>
                          </a:solidFill>
                          <a:latin typeface="Aptos"/>
                        </a:rPr>
                        <a:t>OFFER-19</a:t>
                      </a:r>
                    </a:p>
                  </a:txBody>
                  <a:tcPr anchor="ctr">
                    <a:solidFill>
                      <a:srgbClr val="F4F7F9"/>
                    </a:solidFill>
                  </a:tcPr>
                </a:tc>
                <a:tc>
                  <a:txBody>
                    <a:bodyPr/>
                    <a:lstStyle/>
                    <a:p>
                      <a:r>
                        <a:rPr sz="850" b="0">
                          <a:solidFill>
                            <a:srgbClr val="222222"/>
                          </a:solidFill>
                          <a:latin typeface="Aptos"/>
                        </a:rPr>
                        <a:t>Warm Storage Heater Design &amp; Layout</a:t>
                      </a:r>
                    </a:p>
                  </a:txBody>
                  <a:tcPr anchor="ctr">
                    <a:solidFill>
                      <a:srgbClr val="F4F7F9"/>
                    </a:solidFill>
                  </a:tcPr>
                </a:tc>
                <a:tc>
                  <a:txBody>
                    <a:bodyPr/>
                    <a:lstStyle/>
                    <a:p>
                      <a:r>
                        <a:rPr sz="850" b="0">
                          <a:solidFill>
                            <a:srgbClr val="222222"/>
                          </a:solidFill>
                          <a:latin typeface="Aptos"/>
                        </a:rPr>
                        <a:t>T1 Primary</a:t>
                      </a:r>
                    </a:p>
                  </a:txBody>
                  <a:tcPr anchor="ctr">
                    <a:solidFill>
                      <a:srgbClr val="F4F7F9"/>
                    </a:solidFill>
                  </a:tcPr>
                </a:tc>
                <a:tc>
                  <a:txBody>
                    <a:bodyPr/>
                    <a:lstStyle/>
                    <a:p>
                      <a:r>
                        <a:rPr sz="850" b="0">
                          <a:solidFill>
                            <a:srgbClr val="222222"/>
                          </a:solidFill>
                          <a:latin typeface="Aptos"/>
                        </a:rPr>
                        <a:t>3</a:t>
                      </a:r>
                    </a:p>
                  </a:txBody>
                  <a:tcPr anchor="ctr">
                    <a:solidFill>
                      <a:srgbClr val="F4F7F9"/>
                    </a:solidFill>
                  </a:tcPr>
                </a:tc>
                <a:tc>
                  <a:txBody>
                    <a:bodyPr/>
                    <a:lstStyle/>
                    <a:p>
                      <a:r>
                        <a:rPr sz="850" b="1">
                          <a:solidFill>
                            <a:srgbClr val="C99A00"/>
                          </a:solidFill>
                          <a:latin typeface="Aptos"/>
                        </a:rPr>
                        <a:t>TBD</a:t>
                      </a:r>
                    </a:p>
                  </a:txBody>
                  <a:tcPr anchor="ctr">
                    <a:solidFill>
                      <a:srgbClr val="FFF6D8"/>
                    </a:solidFill>
                  </a:tcPr>
                </a:tc>
                <a:tc>
                  <a:txBody>
                    <a:bodyPr/>
                    <a:lstStyle/>
                    <a:p>
                      <a:r>
                        <a:rPr sz="850" b="0">
                          <a:solidFill>
                            <a:srgbClr val="222222"/>
                          </a:solidFill>
                          <a:latin typeface="Aptos"/>
                        </a:rPr>
                        <a:t>—</a:t>
                      </a:r>
                    </a:p>
                  </a:txBody>
                  <a:tcPr anchor="ctr">
                    <a:solidFill>
                      <a:srgbClr val="F4F7F9"/>
                    </a:solidFill>
                  </a:tcPr>
                </a:tc>
                <a:tc>
                  <a:txBody>
                    <a:bodyPr/>
                    <a:lstStyle/>
                    <a:p>
                      <a:r>
                        <a:rPr sz="850" b="0">
                          <a:solidFill>
                            <a:srgbClr val="222222"/>
                          </a:solidFill>
                          <a:latin typeface="Aptos"/>
                        </a:rPr>
                        <a:t>—</a:t>
                      </a:r>
                    </a:p>
                  </a:txBody>
                  <a:tcPr anchor="ctr">
                    <a:solidFill>
                      <a:srgbClr val="F4F7F9"/>
                    </a:solidFill>
                  </a:tcPr>
                </a:tc>
                <a:tc>
                  <a:txBody>
                    <a:bodyPr/>
                    <a:lstStyle/>
                    <a:p>
                      <a:r>
                        <a:rPr sz="850" b="0">
                          <a:solidFill>
                            <a:srgbClr val="222222"/>
                          </a:solidFill>
                          <a:latin typeface="Aptos"/>
                        </a:rPr>
                        <a:t>—</a:t>
                      </a:r>
                    </a:p>
                  </a:txBody>
                  <a:tcPr anchor="ctr">
                    <a:solidFill>
                      <a:srgbClr val="F4F7F9"/>
                    </a:solidFill>
                  </a:tcPr>
                </a:tc>
                <a:tc>
                  <a:txBody>
                    <a:bodyPr/>
                    <a:lstStyle/>
                    <a:p>
                      <a:endParaRPr/>
                    </a:p>
                  </a:txBody>
                  <a:tcPr anchor="ctr">
                    <a:solidFill>
                      <a:srgbClr val="F4F7F9"/>
                    </a:solidFill>
                  </a:tcPr>
                </a:tc>
                <a:extLst>
                  <a:ext uri="{0D108BD9-81ED-4DB2-BD59-A6C34878D82A}">
                    <a16:rowId xmlns:a16="http://schemas.microsoft.com/office/drawing/2014/main" val="10003"/>
                  </a:ext>
                </a:extLst>
              </a:tr>
            </a:tbl>
          </a:graphicData>
        </a:graphic>
      </p:graphicFrame>
      <p:sp>
        <p:nvSpPr>
          <p:cNvPr id="9" name="TextBox 8"/>
          <p:cNvSpPr txBox="1"/>
          <p:nvPr/>
        </p:nvSpPr>
        <p:spPr>
          <a:xfrm>
            <a:off x="502920" y="3200400"/>
            <a:ext cx="6400800" cy="274320"/>
          </a:xfrm>
          <a:prstGeom prst="rect">
            <a:avLst/>
          </a:prstGeom>
          <a:noFill/>
        </p:spPr>
        <p:txBody>
          <a:bodyPr wrap="square" lIns="0" tIns="0" rIns="0" bIns="0" anchor="t">
            <a:spAutoFit/>
          </a:bodyPr>
          <a:lstStyle/>
          <a:p>
            <a:pPr algn="l">
              <a:lnSpc>
                <a:spcPct val="100000"/>
              </a:lnSpc>
            </a:pPr>
            <a:r>
              <a:rPr sz="1600" b="1" i="0">
                <a:solidFill>
                  <a:srgbClr val="0B3D5C"/>
                </a:solidFill>
                <a:latin typeface="Aptos"/>
              </a:rPr>
              <a:t>STATUS legend (Compliance_Legend)</a:t>
            </a:r>
          </a:p>
        </p:txBody>
      </p:sp>
      <p:sp>
        <p:nvSpPr>
          <p:cNvPr id="10" name="Rectangle 9"/>
          <p:cNvSpPr/>
          <p:nvPr/>
        </p:nvSpPr>
        <p:spPr>
          <a:xfrm>
            <a:off x="502920" y="3520440"/>
            <a:ext cx="777240" cy="256032"/>
          </a:xfrm>
          <a:prstGeom prst="rect">
            <a:avLst/>
          </a:prstGeom>
          <a:solidFill>
            <a:srgbClr val="54D3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02920" y="3525012"/>
            <a:ext cx="777240" cy="256032"/>
          </a:xfrm>
          <a:prstGeom prst="rect">
            <a:avLst/>
          </a:prstGeom>
          <a:noFill/>
        </p:spPr>
        <p:txBody>
          <a:bodyPr wrap="square" lIns="0" tIns="0" rIns="0" bIns="0" anchor="ctr">
            <a:spAutoFit/>
          </a:bodyPr>
          <a:lstStyle/>
          <a:p>
            <a:pPr algn="ctr">
              <a:lnSpc>
                <a:spcPct val="100000"/>
              </a:lnSpc>
            </a:pPr>
            <a:r>
              <a:rPr sz="850" b="1" i="0">
                <a:solidFill>
                  <a:srgbClr val="1A1A1A"/>
                </a:solidFill>
                <a:latin typeface="Aptos"/>
              </a:rPr>
              <a:t>OK</a:t>
            </a:r>
          </a:p>
        </p:txBody>
      </p:sp>
      <p:sp>
        <p:nvSpPr>
          <p:cNvPr id="12" name="TextBox 11"/>
          <p:cNvSpPr txBox="1"/>
          <p:nvPr/>
        </p:nvSpPr>
        <p:spPr>
          <a:xfrm>
            <a:off x="1371600" y="3502152"/>
            <a:ext cx="2331720" cy="310896"/>
          </a:xfrm>
          <a:prstGeom prst="rect">
            <a:avLst/>
          </a:prstGeom>
          <a:noFill/>
        </p:spPr>
        <p:txBody>
          <a:bodyPr wrap="square" lIns="0" tIns="0" rIns="0" bIns="0" anchor="ctr">
            <a:spAutoFit/>
          </a:bodyPr>
          <a:lstStyle/>
          <a:p>
            <a:pPr algn="l">
              <a:lnSpc>
                <a:spcPct val="100000"/>
              </a:lnSpc>
            </a:pPr>
            <a:r>
              <a:rPr sz="830" b="0" i="0">
                <a:solidFill>
                  <a:srgbClr val="333333"/>
                </a:solidFill>
                <a:latin typeface="Aptos"/>
              </a:rPr>
              <a:t>Fulfils requirement — nothing to do</a:t>
            </a:r>
          </a:p>
        </p:txBody>
      </p:sp>
      <p:sp>
        <p:nvSpPr>
          <p:cNvPr id="13" name="Rectangle 12"/>
          <p:cNvSpPr/>
          <p:nvPr/>
        </p:nvSpPr>
        <p:spPr>
          <a:xfrm>
            <a:off x="3749040" y="3520440"/>
            <a:ext cx="777240" cy="256032"/>
          </a:xfrm>
          <a:prstGeom prst="rect">
            <a:avLst/>
          </a:prstGeom>
          <a:solidFill>
            <a:srgbClr val="A7E4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749040" y="3525012"/>
            <a:ext cx="777240" cy="256032"/>
          </a:xfrm>
          <a:prstGeom prst="rect">
            <a:avLst/>
          </a:prstGeom>
          <a:noFill/>
        </p:spPr>
        <p:txBody>
          <a:bodyPr wrap="square" lIns="0" tIns="0" rIns="0" bIns="0" anchor="ctr">
            <a:spAutoFit/>
          </a:bodyPr>
          <a:lstStyle/>
          <a:p>
            <a:pPr algn="ctr">
              <a:lnSpc>
                <a:spcPct val="100000"/>
              </a:lnSpc>
            </a:pPr>
            <a:r>
              <a:rPr sz="850" b="1" i="0">
                <a:solidFill>
                  <a:srgbClr val="1A1A1A"/>
                </a:solidFill>
                <a:latin typeface="Aptos"/>
              </a:rPr>
              <a:t>OK/Minor</a:t>
            </a:r>
          </a:p>
        </p:txBody>
      </p:sp>
      <p:sp>
        <p:nvSpPr>
          <p:cNvPr id="15" name="TextBox 14"/>
          <p:cNvSpPr txBox="1"/>
          <p:nvPr/>
        </p:nvSpPr>
        <p:spPr>
          <a:xfrm>
            <a:off x="4617720" y="3502152"/>
            <a:ext cx="2331720" cy="310896"/>
          </a:xfrm>
          <a:prstGeom prst="rect">
            <a:avLst/>
          </a:prstGeom>
          <a:noFill/>
        </p:spPr>
        <p:txBody>
          <a:bodyPr wrap="square" lIns="0" tIns="0" rIns="0" bIns="0" anchor="ctr">
            <a:spAutoFit/>
          </a:bodyPr>
          <a:lstStyle/>
          <a:p>
            <a:pPr algn="l">
              <a:lnSpc>
                <a:spcPct val="100000"/>
              </a:lnSpc>
            </a:pPr>
            <a:r>
              <a:rPr sz="830" b="0" i="0">
                <a:solidFill>
                  <a:srgbClr val="333333"/>
                </a:solidFill>
                <a:latin typeface="Aptos"/>
              </a:rPr>
              <a:t>Very low risk — can be closed</a:t>
            </a:r>
          </a:p>
        </p:txBody>
      </p:sp>
      <p:sp>
        <p:nvSpPr>
          <p:cNvPr id="16" name="Rectangle 15"/>
          <p:cNvSpPr/>
          <p:nvPr/>
        </p:nvSpPr>
        <p:spPr>
          <a:xfrm>
            <a:off x="502920" y="4087368"/>
            <a:ext cx="777240" cy="256032"/>
          </a:xfrm>
          <a:prstGeom prst="rect">
            <a:avLst/>
          </a:prstGeom>
          <a:solidFill>
            <a:srgbClr val="B7E1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2920" y="4091940"/>
            <a:ext cx="777240" cy="256032"/>
          </a:xfrm>
          <a:prstGeom prst="rect">
            <a:avLst/>
          </a:prstGeom>
          <a:noFill/>
        </p:spPr>
        <p:txBody>
          <a:bodyPr wrap="square" lIns="0" tIns="0" rIns="0" bIns="0" anchor="ctr">
            <a:spAutoFit/>
          </a:bodyPr>
          <a:lstStyle/>
          <a:p>
            <a:pPr algn="ctr">
              <a:lnSpc>
                <a:spcPct val="100000"/>
              </a:lnSpc>
            </a:pPr>
            <a:r>
              <a:rPr sz="850" b="1" i="0">
                <a:solidFill>
                  <a:srgbClr val="1A1A1A"/>
                </a:solidFill>
                <a:latin typeface="Aptos"/>
              </a:rPr>
              <a:t>Minor disc.</a:t>
            </a:r>
          </a:p>
        </p:txBody>
      </p:sp>
      <p:sp>
        <p:nvSpPr>
          <p:cNvPr id="18" name="TextBox 17"/>
          <p:cNvSpPr txBox="1"/>
          <p:nvPr/>
        </p:nvSpPr>
        <p:spPr>
          <a:xfrm>
            <a:off x="1371600" y="4069080"/>
            <a:ext cx="2331720" cy="310896"/>
          </a:xfrm>
          <a:prstGeom prst="rect">
            <a:avLst/>
          </a:prstGeom>
          <a:noFill/>
        </p:spPr>
        <p:txBody>
          <a:bodyPr wrap="square" lIns="0" tIns="0" rIns="0" bIns="0" anchor="ctr">
            <a:spAutoFit/>
          </a:bodyPr>
          <a:lstStyle/>
          <a:p>
            <a:pPr algn="l">
              <a:lnSpc>
                <a:spcPct val="100000"/>
              </a:lnSpc>
            </a:pPr>
            <a:r>
              <a:rPr sz="830" b="0" i="0">
                <a:solidFill>
                  <a:srgbClr val="333333"/>
                </a:solidFill>
                <a:latin typeface="Aptos"/>
              </a:rPr>
              <a:t>Solvable without management — ACR level</a:t>
            </a:r>
          </a:p>
        </p:txBody>
      </p:sp>
      <p:sp>
        <p:nvSpPr>
          <p:cNvPr id="19" name="Rectangle 18"/>
          <p:cNvSpPr/>
          <p:nvPr/>
        </p:nvSpPr>
        <p:spPr>
          <a:xfrm>
            <a:off x="3749040" y="4087368"/>
            <a:ext cx="777240" cy="256032"/>
          </a:xfrm>
          <a:prstGeom prst="rect">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749040" y="4091940"/>
            <a:ext cx="777240" cy="256032"/>
          </a:xfrm>
          <a:prstGeom prst="rect">
            <a:avLst/>
          </a:prstGeom>
          <a:noFill/>
        </p:spPr>
        <p:txBody>
          <a:bodyPr wrap="square" lIns="0" tIns="0" rIns="0" bIns="0" anchor="ctr">
            <a:spAutoFit/>
          </a:bodyPr>
          <a:lstStyle/>
          <a:p>
            <a:pPr algn="ctr">
              <a:lnSpc>
                <a:spcPct val="100000"/>
              </a:lnSpc>
            </a:pPr>
            <a:r>
              <a:rPr sz="850" b="1" i="0">
                <a:solidFill>
                  <a:srgbClr val="1A1A1A"/>
                </a:solidFill>
                <a:latin typeface="Aptos"/>
              </a:rPr>
              <a:t>Major disc.</a:t>
            </a:r>
          </a:p>
        </p:txBody>
      </p:sp>
      <p:sp>
        <p:nvSpPr>
          <p:cNvPr id="21" name="TextBox 20"/>
          <p:cNvSpPr txBox="1"/>
          <p:nvPr/>
        </p:nvSpPr>
        <p:spPr>
          <a:xfrm>
            <a:off x="4617720" y="4069080"/>
            <a:ext cx="2331720" cy="310896"/>
          </a:xfrm>
          <a:prstGeom prst="rect">
            <a:avLst/>
          </a:prstGeom>
          <a:noFill/>
        </p:spPr>
        <p:txBody>
          <a:bodyPr wrap="square" lIns="0" tIns="0" rIns="0" bIns="0" anchor="ctr">
            <a:spAutoFit/>
          </a:bodyPr>
          <a:lstStyle/>
          <a:p>
            <a:pPr algn="l">
              <a:lnSpc>
                <a:spcPct val="100000"/>
              </a:lnSpc>
            </a:pPr>
            <a:r>
              <a:rPr sz="830" b="0" i="0">
                <a:solidFill>
                  <a:srgbClr val="333333"/>
                </a:solidFill>
                <a:latin typeface="Aptos"/>
              </a:rPr>
              <a:t>Solvable, needs management level</a:t>
            </a:r>
          </a:p>
        </p:txBody>
      </p:sp>
      <p:sp>
        <p:nvSpPr>
          <p:cNvPr id="22" name="Rectangle 21"/>
          <p:cNvSpPr/>
          <p:nvPr/>
        </p:nvSpPr>
        <p:spPr>
          <a:xfrm>
            <a:off x="502920" y="4654296"/>
            <a:ext cx="777240" cy="256032"/>
          </a:xfrm>
          <a:prstGeom prst="rect">
            <a:avLst/>
          </a:prstGeom>
          <a:solidFill>
            <a:srgbClr val="F58A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02920" y="4658868"/>
            <a:ext cx="777240" cy="256032"/>
          </a:xfrm>
          <a:prstGeom prst="rect">
            <a:avLst/>
          </a:prstGeom>
          <a:noFill/>
        </p:spPr>
        <p:txBody>
          <a:bodyPr wrap="square" lIns="0" tIns="0" rIns="0" bIns="0" anchor="ctr">
            <a:spAutoFit/>
          </a:bodyPr>
          <a:lstStyle/>
          <a:p>
            <a:pPr algn="ctr">
              <a:lnSpc>
                <a:spcPct val="100000"/>
              </a:lnSpc>
            </a:pPr>
            <a:r>
              <a:rPr sz="850" b="1" i="0">
                <a:solidFill>
                  <a:srgbClr val="FFFFFF"/>
                </a:solidFill>
                <a:latin typeface="Aptos"/>
              </a:rPr>
              <a:t>NOK</a:t>
            </a:r>
          </a:p>
        </p:txBody>
      </p:sp>
      <p:sp>
        <p:nvSpPr>
          <p:cNvPr id="24" name="TextBox 23"/>
          <p:cNvSpPr txBox="1"/>
          <p:nvPr/>
        </p:nvSpPr>
        <p:spPr>
          <a:xfrm>
            <a:off x="1371600" y="4636008"/>
            <a:ext cx="2331720" cy="310896"/>
          </a:xfrm>
          <a:prstGeom prst="rect">
            <a:avLst/>
          </a:prstGeom>
          <a:noFill/>
        </p:spPr>
        <p:txBody>
          <a:bodyPr wrap="square" lIns="0" tIns="0" rIns="0" bIns="0" anchor="ctr">
            <a:spAutoFit/>
          </a:bodyPr>
          <a:lstStyle/>
          <a:p>
            <a:pPr algn="l">
              <a:lnSpc>
                <a:spcPct val="100000"/>
              </a:lnSpc>
            </a:pPr>
            <a:r>
              <a:rPr sz="830" b="0" i="0">
                <a:solidFill>
                  <a:srgbClr val="333333"/>
                </a:solidFill>
                <a:latin typeface="Aptos"/>
              </a:rPr>
              <a:t>Does not fulfil — enforce or relax requirement</a:t>
            </a:r>
          </a:p>
        </p:txBody>
      </p:sp>
      <p:sp>
        <p:nvSpPr>
          <p:cNvPr id="25" name="Rectangle 24"/>
          <p:cNvSpPr/>
          <p:nvPr/>
        </p:nvSpPr>
        <p:spPr>
          <a:xfrm>
            <a:off x="3749040" y="4654296"/>
            <a:ext cx="777240" cy="256032"/>
          </a:xfrm>
          <a:prstGeom prst="rect">
            <a:avLst/>
          </a:prstGeom>
          <a:solidFill>
            <a:srgbClr val="FCE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749040" y="4658868"/>
            <a:ext cx="777240" cy="256032"/>
          </a:xfrm>
          <a:prstGeom prst="rect">
            <a:avLst/>
          </a:prstGeom>
          <a:noFill/>
        </p:spPr>
        <p:txBody>
          <a:bodyPr wrap="square" lIns="0" tIns="0" rIns="0" bIns="0" anchor="ctr">
            <a:spAutoFit/>
          </a:bodyPr>
          <a:lstStyle/>
          <a:p>
            <a:pPr algn="ctr">
              <a:lnSpc>
                <a:spcPct val="100000"/>
              </a:lnSpc>
            </a:pPr>
            <a:r>
              <a:rPr sz="850" b="1" i="0">
                <a:solidFill>
                  <a:srgbClr val="1A1A1A"/>
                </a:solidFill>
                <a:latin typeface="Aptos"/>
              </a:rPr>
              <a:t>MISS</a:t>
            </a:r>
          </a:p>
        </p:txBody>
      </p:sp>
      <p:sp>
        <p:nvSpPr>
          <p:cNvPr id="27" name="TextBox 26"/>
          <p:cNvSpPr txBox="1"/>
          <p:nvPr/>
        </p:nvSpPr>
        <p:spPr>
          <a:xfrm>
            <a:off x="4617720" y="4636008"/>
            <a:ext cx="2331720" cy="310896"/>
          </a:xfrm>
          <a:prstGeom prst="rect">
            <a:avLst/>
          </a:prstGeom>
          <a:noFill/>
        </p:spPr>
        <p:txBody>
          <a:bodyPr wrap="square" lIns="0" tIns="0" rIns="0" bIns="0" anchor="ctr">
            <a:spAutoFit/>
          </a:bodyPr>
          <a:lstStyle/>
          <a:p>
            <a:pPr algn="l">
              <a:lnSpc>
                <a:spcPct val="100000"/>
              </a:lnSpc>
            </a:pPr>
            <a:r>
              <a:rPr sz="830" b="0" i="0">
                <a:solidFill>
                  <a:srgbClr val="333333"/>
                </a:solidFill>
                <a:latin typeface="Aptos"/>
              </a:rPr>
              <a:t>Info missing — follow-up needed</a:t>
            </a:r>
          </a:p>
        </p:txBody>
      </p:sp>
      <p:sp>
        <p:nvSpPr>
          <p:cNvPr id="28" name="Rectangle 27"/>
          <p:cNvSpPr/>
          <p:nvPr/>
        </p:nvSpPr>
        <p:spPr>
          <a:xfrm>
            <a:off x="502920" y="5221224"/>
            <a:ext cx="777240" cy="256032"/>
          </a:xfrm>
          <a:prstGeom prst="rect">
            <a:avLst/>
          </a:prstGeom>
          <a:solidFill>
            <a:srgbClr val="E6B8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02920" y="5225796"/>
            <a:ext cx="777240" cy="256032"/>
          </a:xfrm>
          <a:prstGeom prst="rect">
            <a:avLst/>
          </a:prstGeom>
          <a:noFill/>
        </p:spPr>
        <p:txBody>
          <a:bodyPr wrap="square" lIns="0" tIns="0" rIns="0" bIns="0" anchor="ctr">
            <a:spAutoFit/>
          </a:bodyPr>
          <a:lstStyle/>
          <a:p>
            <a:pPr algn="ctr">
              <a:lnSpc>
                <a:spcPct val="100000"/>
              </a:lnSpc>
            </a:pPr>
            <a:r>
              <a:rPr sz="850" b="1" i="0">
                <a:solidFill>
                  <a:srgbClr val="1A1A1A"/>
                </a:solidFill>
                <a:latin typeface="Aptos"/>
              </a:rPr>
              <a:t>ERROR</a:t>
            </a:r>
          </a:p>
        </p:txBody>
      </p:sp>
      <p:sp>
        <p:nvSpPr>
          <p:cNvPr id="30" name="TextBox 29"/>
          <p:cNvSpPr txBox="1"/>
          <p:nvPr/>
        </p:nvSpPr>
        <p:spPr>
          <a:xfrm>
            <a:off x="1371600" y="5202936"/>
            <a:ext cx="2331720" cy="310896"/>
          </a:xfrm>
          <a:prstGeom prst="rect">
            <a:avLst/>
          </a:prstGeom>
          <a:noFill/>
        </p:spPr>
        <p:txBody>
          <a:bodyPr wrap="square" lIns="0" tIns="0" rIns="0" bIns="0" anchor="ctr">
            <a:spAutoFit/>
          </a:bodyPr>
          <a:lstStyle/>
          <a:p>
            <a:pPr algn="l">
              <a:lnSpc>
                <a:spcPct val="100000"/>
              </a:lnSpc>
            </a:pPr>
            <a:r>
              <a:rPr sz="830" b="0" i="0">
                <a:solidFill>
                  <a:srgbClr val="333333"/>
                </a:solidFill>
                <a:latin typeface="Aptos"/>
              </a:rPr>
              <a:t>Misinterpretation — clarify with supplier</a:t>
            </a:r>
          </a:p>
        </p:txBody>
      </p:sp>
      <p:sp>
        <p:nvSpPr>
          <p:cNvPr id="31" name="Rectangle 30"/>
          <p:cNvSpPr/>
          <p:nvPr/>
        </p:nvSpPr>
        <p:spPr>
          <a:xfrm>
            <a:off x="3749040" y="5221224"/>
            <a:ext cx="777240" cy="256032"/>
          </a:xfrm>
          <a:prstGeom prst="rect">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749040" y="5225796"/>
            <a:ext cx="777240" cy="256032"/>
          </a:xfrm>
          <a:prstGeom prst="rect">
            <a:avLst/>
          </a:prstGeom>
          <a:noFill/>
        </p:spPr>
        <p:txBody>
          <a:bodyPr wrap="square" lIns="0" tIns="0" rIns="0" bIns="0" anchor="ctr">
            <a:spAutoFit/>
          </a:bodyPr>
          <a:lstStyle/>
          <a:p>
            <a:pPr algn="ctr">
              <a:lnSpc>
                <a:spcPct val="100000"/>
              </a:lnSpc>
            </a:pPr>
            <a:r>
              <a:rPr sz="850" b="1" i="0">
                <a:solidFill>
                  <a:srgbClr val="FFFFFF"/>
                </a:solidFill>
                <a:latin typeface="Aptos"/>
              </a:rPr>
              <a:t>TBD</a:t>
            </a:r>
          </a:p>
        </p:txBody>
      </p:sp>
      <p:sp>
        <p:nvSpPr>
          <p:cNvPr id="33" name="TextBox 32"/>
          <p:cNvSpPr txBox="1"/>
          <p:nvPr/>
        </p:nvSpPr>
        <p:spPr>
          <a:xfrm>
            <a:off x="4617720" y="5202936"/>
            <a:ext cx="2331720" cy="310896"/>
          </a:xfrm>
          <a:prstGeom prst="rect">
            <a:avLst/>
          </a:prstGeom>
          <a:noFill/>
        </p:spPr>
        <p:txBody>
          <a:bodyPr wrap="square" lIns="0" tIns="0" rIns="0" bIns="0" anchor="ctr">
            <a:spAutoFit/>
          </a:bodyPr>
          <a:lstStyle/>
          <a:p>
            <a:pPr algn="l">
              <a:lnSpc>
                <a:spcPct val="100000"/>
              </a:lnSpc>
            </a:pPr>
            <a:r>
              <a:rPr sz="830" b="0" i="0">
                <a:solidFill>
                  <a:srgbClr val="333333"/>
                </a:solidFill>
                <a:latin typeface="Aptos"/>
              </a:rPr>
              <a:t>Not yet evaluated — default state</a:t>
            </a:r>
          </a:p>
        </p:txBody>
      </p:sp>
      <p:sp>
        <p:nvSpPr>
          <p:cNvPr id="34" name="Rectangle 33"/>
          <p:cNvSpPr/>
          <p:nvPr/>
        </p:nvSpPr>
        <p:spPr>
          <a:xfrm>
            <a:off x="7178040" y="1371600"/>
            <a:ext cx="4663440" cy="2743200"/>
          </a:xfrm>
          <a:prstGeom prst="rect">
            <a:avLst/>
          </a:prstGeom>
          <a:solidFill>
            <a:srgbClr val="EFE5F5"/>
          </a:solidFill>
          <a:ln w="12700">
            <a:solidFill>
              <a:srgbClr val="0B3D5C"/>
            </a:solidFill>
          </a:ln>
          <a:effectLst/>
        </p:spPr>
        <p:style>
          <a:lnRef idx="1">
            <a:schemeClr val="accent1"/>
          </a:lnRef>
          <a:fillRef idx="3">
            <a:schemeClr val="accent1"/>
          </a:fillRef>
          <a:effectRef idx="2">
            <a:schemeClr val="accent1"/>
          </a:effectRef>
          <a:fontRef idx="minor">
            <a:schemeClr val="lt1"/>
          </a:fontRef>
        </p:style>
        <p:txBody>
          <a:bodyPr wrap="square" lIns="146304" tIns="91440" rIns="146304" bIns="91440" rtlCol="0" anchor="ctr"/>
          <a:lstStyle/>
          <a:p>
            <a:pPr algn="ctr">
              <a:lnSpc>
                <a:spcPct val="110000"/>
              </a:lnSpc>
            </a:pPr>
            <a:r>
              <a:rPr sz="1600" b="1">
                <a:solidFill>
                  <a:srgbClr val="0B3D5C"/>
                </a:solidFill>
                <a:latin typeface="Aptos"/>
              </a:rPr>
              <a:t>Fields per bidder:  </a:t>
            </a:r>
            <a:r>
              <a:rPr sz="1600">
                <a:solidFill>
                  <a:srgbClr val="222222"/>
                </a:solidFill>
                <a:latin typeface="Aptos"/>
              </a:rPr>
              <a:t>STATUS (compliance dropdown above) · Technical Depth (0.4 declarative / 0.7 partial / 1.0 fully substantiated) · Source/Location (where in the offer the evidence sits) · Negotiation (flag for the negotiation agenda, RFI, or Not available). Filter row slices by cluster, tier, STATUS or negotiation flag.</a:t>
            </a:r>
          </a:p>
        </p:txBody>
      </p:sp>
      <p:sp>
        <p:nvSpPr>
          <p:cNvPr id="35" name="TextBox 34"/>
          <p:cNvSpPr txBox="1"/>
          <p:nvPr/>
        </p:nvSpPr>
        <p:spPr>
          <a:xfrm>
            <a:off x="7178040" y="4343400"/>
            <a:ext cx="4663440" cy="1737360"/>
          </a:xfrm>
          <a:prstGeom prst="rect">
            <a:avLst/>
          </a:prstGeom>
          <a:noFill/>
        </p:spPr>
        <p:txBody>
          <a:bodyPr wrap="square" lIns="0" tIns="0" rIns="0" bIns="0" anchor="t">
            <a:spAutoFit/>
          </a:bodyPr>
          <a:lstStyle/>
          <a:p>
            <a:pPr algn="l">
              <a:lnSpc>
                <a:spcPct val="100000"/>
              </a:lnSpc>
            </a:pPr>
            <a:r>
              <a:rPr sz="1150" b="1" i="1">
                <a:solidFill>
                  <a:srgbClr val="A30000"/>
                </a:solidFill>
                <a:latin typeface="Aptos"/>
              </a:rPr>
              <a:t>This is the shell only — TBD state, no bidder data. Evaluation begins once this baseline (METHOD-S01…S06, EVAL-S01…S04) is approved.</a:t>
            </a:r>
            <a:r>
              <a:rPr sz="1100" i="1" b="0">
                <a:solidFill>
                  <a:srgbClr val="444444"/>
                </a:solidFill>
              </a:rPr>
              <a:t> Swatch colours above now match COMPLIANCE_LEGEND/xlsx exactly, incl. text colour (Excel itself uses plain black text on these fills, not white) -- except TBD, kept dark grey here rather than the workbook's bright yellow so it still reads as "nothing entered yet" next to the others.</a:t>
            </a:r>
          </a:p>
        </p:txBody>
      </p:sp>
      <p:sp>
        <p:nvSpPr>
          <p:cNvPr id="36" name="Slide Number Placeholder 35">
            <a:extLst>
              <a:ext uri="{FF2B5EF4-FFF2-40B4-BE49-F238E27FC236}">
                <a16:creationId xmlns:a16="http://schemas.microsoft.com/office/drawing/2014/main" id="{034987C9-9CDA-6C16-BE8E-3541DB2AD609}"/>
              </a:ext>
            </a:extLst>
          </p:cNvPr>
          <p:cNvSpPr>
            <a:spLocks noGrp="1"/>
          </p:cNvSpPr>
          <p:nvPr>
            <p:ph type="sldNum" sz="quarter" idx="12"/>
          </p:nvPr>
        </p:nvSpPr>
        <p:spPr/>
        <p:txBody>
          <a:bodyPr/>
          <a:lstStyle/>
          <a:p>
            <a:fld id="{C1FF6DA9-008F-8B48-92A6-B652298478BF}" type="slidenum">
              <a:rPr lang="en-US" smtClean="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441F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ptos" panose="020B0004020202020204" pitchFamily="34" charset="0"/>
            </a:endParaRPr>
          </a:p>
        </p:txBody>
      </p:sp>
      <p:sp>
        <p:nvSpPr>
          <p:cNvPr id="3" name="TextBox 2"/>
          <p:cNvSpPr txBox="1"/>
          <p:nvPr/>
        </p:nvSpPr>
        <p:spPr>
          <a:xfrm>
            <a:off x="411480" y="260267"/>
            <a:ext cx="9875520" cy="384721"/>
          </a:xfrm>
          <a:prstGeom prst="rect">
            <a:avLst/>
          </a:prstGeom>
          <a:noFill/>
        </p:spPr>
        <p:txBody>
          <a:bodyPr wrap="square" lIns="0" tIns="0" rIns="0" bIns="0" anchor="ctr">
            <a:spAutoFit/>
          </a:bodyPr>
          <a:lstStyle/>
          <a:p>
            <a:pPr algn="l">
              <a:lnSpc>
                <a:spcPct val="100000"/>
              </a:lnSpc>
            </a:pPr>
            <a:r>
              <a:rPr sz="2500" b="1" i="0">
                <a:solidFill>
                  <a:srgbClr val="FFFFFF"/>
                </a:solidFill>
                <a:latin typeface="Aptos" panose="020B0004020202020204" pitchFamily="34" charset="0"/>
              </a:rPr>
              <a:t>Traceability &amp; open items</a:t>
            </a:r>
          </a:p>
        </p:txBody>
      </p:sp>
      <p:sp>
        <p:nvSpPr>
          <p:cNvPr id="4" name="TextBox 3"/>
          <p:cNvSpPr txBox="1"/>
          <p:nvPr/>
        </p:nvSpPr>
        <p:spPr>
          <a:xfrm>
            <a:off x="10607040" y="292608"/>
            <a:ext cx="1371600" cy="169277"/>
          </a:xfrm>
          <a:prstGeom prst="rect">
            <a:avLst/>
          </a:prstGeom>
          <a:noFill/>
        </p:spPr>
        <p:txBody>
          <a:bodyPr wrap="square" lIns="0" tIns="0" rIns="0" bIns="0" anchor="t">
            <a:spAutoFit/>
          </a:bodyPr>
          <a:lstStyle/>
          <a:p>
            <a:pPr algn="r">
              <a:lnSpc>
                <a:spcPct val="100000"/>
              </a:lnSpc>
            </a:pPr>
            <a:r>
              <a:rPr sz="1100" b="1" i="0">
                <a:solidFill>
                  <a:srgbClr val="BFD6E6"/>
                </a:solidFill>
                <a:latin typeface="Aptos" panose="020B0004020202020204" pitchFamily="34" charset="0"/>
              </a:rPr>
              <a:t>EVAL-S06</a:t>
            </a:r>
          </a:p>
        </p:txBody>
      </p:sp>
      <p:sp>
        <p:nvSpPr>
          <p:cNvPr id="5" name="Rectangle 4"/>
          <p:cNvSpPr/>
          <p:nvPr/>
        </p:nvSpPr>
        <p:spPr>
          <a:xfrm>
            <a:off x="0" y="6547104"/>
            <a:ext cx="12191695" cy="310896"/>
          </a:xfrm>
          <a:prstGeom prst="rect">
            <a:avLst/>
          </a:prstGeom>
          <a:solidFill>
            <a:srgbClr val="F3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ptos" panose="020B0004020202020204" pitchFamily="34" charset="0"/>
            </a:endParaRPr>
          </a:p>
        </p:txBody>
      </p:sp>
      <p:sp>
        <p:nvSpPr>
          <p:cNvPr id="6" name="TextBox 5"/>
          <p:cNvSpPr txBox="1"/>
          <p:nvPr/>
        </p:nvSpPr>
        <p:spPr>
          <a:xfrm>
            <a:off x="411480" y="6637149"/>
            <a:ext cx="10515600" cy="130805"/>
          </a:xfrm>
          <a:prstGeom prst="rect">
            <a:avLst/>
          </a:prstGeom>
          <a:noFill/>
        </p:spPr>
        <p:txBody>
          <a:bodyPr wrap="square" lIns="0" tIns="0" rIns="0" bIns="0" anchor="ctr">
            <a:spAutoFit/>
          </a:bodyPr>
          <a:lstStyle/>
          <a:p>
            <a:pPr algn="l">
              <a:lnSpc>
                <a:spcPct val="100000"/>
              </a:lnSpc>
            </a:pPr>
            <a:r>
              <a:rPr sz="850" b="0" i="0">
                <a:solidFill>
                  <a:srgbClr val="555555"/>
                </a:solidFill>
                <a:latin typeface="Aptos" panose="020B0004020202020204" pitchFamily="34" charset="0"/>
              </a:rPr>
              <a:t>BT METHOD — Engineering Baseline (canonical RTM-722) · EVAL-S06 | v3.6</a:t>
            </a:r>
          </a:p>
        </p:txBody>
      </p:sp>
      <p:sp>
        <p:nvSpPr>
          <p:cNvPr id="7" name="TextBox 6"/>
          <p:cNvSpPr txBox="1"/>
          <p:nvPr/>
        </p:nvSpPr>
        <p:spPr>
          <a:xfrm>
            <a:off x="502920" y="1005840"/>
            <a:ext cx="6766560" cy="200055"/>
          </a:xfrm>
          <a:prstGeom prst="rect">
            <a:avLst/>
          </a:prstGeom>
          <a:noFill/>
        </p:spPr>
        <p:txBody>
          <a:bodyPr wrap="square" lIns="0" tIns="0" rIns="0" bIns="0" anchor="t">
            <a:spAutoFit/>
          </a:bodyPr>
          <a:lstStyle/>
          <a:p>
            <a:pPr algn="l">
              <a:lnSpc>
                <a:spcPct val="100000"/>
              </a:lnSpc>
            </a:pPr>
            <a:r>
              <a:rPr sz="1600" b="1" i="0">
                <a:solidFill>
                  <a:srgbClr val="0B3D5C"/>
                </a:solidFill>
                <a:latin typeface="Aptos" panose="020B0004020202020204" pitchFamily="34" charset="0"/>
              </a:rPr>
              <a:t>OFFER ↔ RTM crosswalk — 377 typed links (sample)</a:t>
            </a:r>
          </a:p>
        </p:txBody>
      </p:sp>
      <p:graphicFrame>
        <p:nvGraphicFramePr>
          <p:cNvPr id="8" name="Table 7"/>
          <p:cNvGraphicFramePr>
            <a:graphicFrameLocks noGrp="1"/>
          </p:cNvGraphicFramePr>
          <p:nvPr/>
        </p:nvGraphicFramePr>
        <p:xfrm>
          <a:off x="502920" y="1371600"/>
          <a:ext cx="6766560" cy="1508760"/>
        </p:xfrm>
        <a:graphic>
          <a:graphicData uri="http://schemas.openxmlformats.org/drawingml/2006/table">
            <a:tbl>
              <a:tblPr firstRow="1" bandRow="1">
                <a:tableStyleId>{5C22544A-7EE6-4342-B048-85BDC9FD1C3A}</a:tableStyleId>
              </a:tblPr>
              <a:tblGrid>
                <a:gridCol w="82296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4389120">
                  <a:extLst>
                    <a:ext uri="{9D8B030D-6E8A-4147-A177-3AD203B41FA5}">
                      <a16:colId xmlns:a16="http://schemas.microsoft.com/office/drawing/2014/main" val="20003"/>
                    </a:ext>
                  </a:extLst>
                </a:gridCol>
              </a:tblGrid>
              <a:tr h="301752">
                <a:tc>
                  <a:txBody>
                    <a:bodyPr/>
                    <a:lstStyle/>
                    <a:p>
                      <a:r>
                        <a:rPr sz="900" b="1">
                          <a:solidFill>
                            <a:srgbClr val="FFFFFF"/>
                          </a:solidFill>
                          <a:latin typeface="Aptos"/>
                        </a:rPr>
                        <a:t>OFFER</a:t>
                      </a:r>
                    </a:p>
                  </a:txBody>
                  <a:tcPr>
                    <a:solidFill>
                      <a:srgbClr val="0B3D5C"/>
                    </a:solidFill>
                  </a:tcPr>
                </a:tc>
                <a:tc>
                  <a:txBody>
                    <a:bodyPr/>
                    <a:lstStyle/>
                    <a:p>
                      <a:r>
                        <a:rPr sz="900" b="1">
                          <a:solidFill>
                            <a:srgbClr val="FFFFFF"/>
                          </a:solidFill>
                          <a:latin typeface="Aptos"/>
                        </a:rPr>
                        <a:t>RTM</a:t>
                      </a:r>
                    </a:p>
                  </a:txBody>
                  <a:tcPr>
                    <a:solidFill>
                      <a:srgbClr val="0B3D5C"/>
                    </a:solidFill>
                  </a:tcPr>
                </a:tc>
                <a:tc>
                  <a:txBody>
                    <a:bodyPr/>
                    <a:lstStyle/>
                    <a:p>
                      <a:r>
                        <a:rPr sz="900" b="1">
                          <a:solidFill>
                            <a:srgbClr val="FFFFFF"/>
                          </a:solidFill>
                          <a:latin typeface="Aptos"/>
                        </a:rPr>
                        <a:t>§</a:t>
                      </a:r>
                    </a:p>
                  </a:txBody>
                  <a:tcPr>
                    <a:solidFill>
                      <a:srgbClr val="0B3D5C"/>
                    </a:solidFill>
                  </a:tcPr>
                </a:tc>
                <a:tc>
                  <a:txBody>
                    <a:bodyPr/>
                    <a:lstStyle/>
                    <a:p>
                      <a:r>
                        <a:rPr sz="900" b="1">
                          <a:solidFill>
                            <a:srgbClr val="FFFFFF"/>
                          </a:solidFill>
                          <a:latin typeface="Aptos"/>
                        </a:rPr>
                        <a:t>Relation type</a:t>
                      </a:r>
                    </a:p>
                  </a:txBody>
                  <a:tcPr>
                    <a:solidFill>
                      <a:srgbClr val="0B3D5C"/>
                    </a:solidFill>
                  </a:tcPr>
                </a:tc>
                <a:extLst>
                  <a:ext uri="{0D108BD9-81ED-4DB2-BD59-A6C34878D82A}">
                    <a16:rowId xmlns:a16="http://schemas.microsoft.com/office/drawing/2014/main" val="10000"/>
                  </a:ext>
                </a:extLst>
              </a:tr>
              <a:tr h="301752">
                <a:tc>
                  <a:txBody>
                    <a:bodyPr/>
                    <a:lstStyle/>
                    <a:p>
                      <a:r>
                        <a:rPr sz="850">
                          <a:solidFill>
                            <a:srgbClr val="222222"/>
                          </a:solidFill>
                          <a:latin typeface="Aptos"/>
                        </a:rPr>
                        <a:t>OFFER-04</a:t>
                      </a:r>
                    </a:p>
                  </a:txBody>
                  <a:tcPr>
                    <a:solidFill>
                      <a:srgbClr val="F4F7F9"/>
                    </a:solidFill>
                  </a:tcPr>
                </a:tc>
                <a:tc>
                  <a:txBody>
                    <a:bodyPr/>
                    <a:lstStyle/>
                    <a:p>
                      <a:r>
                        <a:rPr sz="850">
                          <a:solidFill>
                            <a:srgbClr val="222222"/>
                          </a:solidFill>
                          <a:latin typeface="Aptos"/>
                        </a:rPr>
                        <a:t>RTM-019</a:t>
                      </a:r>
                    </a:p>
                  </a:txBody>
                  <a:tcPr>
                    <a:solidFill>
                      <a:srgbClr val="F4F7F9"/>
                    </a:solidFill>
                  </a:tcPr>
                </a:tc>
                <a:tc>
                  <a:txBody>
                    <a:bodyPr/>
                    <a:lstStyle/>
                    <a:p>
                      <a:r>
                        <a:rPr sz="850">
                          <a:solidFill>
                            <a:srgbClr val="222222"/>
                          </a:solidFill>
                          <a:latin typeface="Aptos"/>
                        </a:rPr>
                        <a:t>4.2.2.2</a:t>
                      </a:r>
                    </a:p>
                  </a:txBody>
                  <a:tcPr>
                    <a:solidFill>
                      <a:srgbClr val="F4F7F9"/>
                    </a:solidFill>
                  </a:tcPr>
                </a:tc>
                <a:tc>
                  <a:txBody>
                    <a:bodyPr/>
                    <a:lstStyle/>
                    <a:p>
                      <a:r>
                        <a:rPr sz="850">
                          <a:solidFill>
                            <a:srgbClr val="222222"/>
                          </a:solidFill>
                          <a:latin typeface="Aptos"/>
                        </a:rPr>
                        <a:t>Direct — exact contract section</a:t>
                      </a:r>
                    </a:p>
                  </a:txBody>
                  <a:tcPr>
                    <a:solidFill>
                      <a:srgbClr val="F4F7F9"/>
                    </a:solidFill>
                  </a:tcPr>
                </a:tc>
                <a:extLst>
                  <a:ext uri="{0D108BD9-81ED-4DB2-BD59-A6C34878D82A}">
                    <a16:rowId xmlns:a16="http://schemas.microsoft.com/office/drawing/2014/main" val="10001"/>
                  </a:ext>
                </a:extLst>
              </a:tr>
              <a:tr h="301752">
                <a:tc>
                  <a:txBody>
                    <a:bodyPr/>
                    <a:lstStyle/>
                    <a:p>
                      <a:r>
                        <a:rPr sz="850">
                          <a:solidFill>
                            <a:srgbClr val="222222"/>
                          </a:solidFill>
                          <a:latin typeface="Aptos"/>
                        </a:rPr>
                        <a:t>OFFER-01</a:t>
                      </a:r>
                    </a:p>
                  </a:txBody>
                  <a:tcPr>
                    <a:solidFill>
                      <a:srgbClr val="FFFFFF"/>
                    </a:solidFill>
                  </a:tcPr>
                </a:tc>
                <a:tc>
                  <a:txBody>
                    <a:bodyPr/>
                    <a:lstStyle/>
                    <a:p>
                      <a:r>
                        <a:rPr sz="850">
                          <a:solidFill>
                            <a:srgbClr val="222222"/>
                          </a:solidFill>
                          <a:latin typeface="Aptos"/>
                        </a:rPr>
                        <a:t>RTM-002</a:t>
                      </a:r>
                    </a:p>
                  </a:txBody>
                  <a:tcPr>
                    <a:solidFill>
                      <a:srgbClr val="FFFFFF"/>
                    </a:solidFill>
                  </a:tcPr>
                </a:tc>
                <a:tc>
                  <a:txBody>
                    <a:bodyPr/>
                    <a:lstStyle/>
                    <a:p>
                      <a:r>
                        <a:rPr sz="850">
                          <a:solidFill>
                            <a:srgbClr val="222222"/>
                          </a:solidFill>
                          <a:latin typeface="Aptos"/>
                        </a:rPr>
                        <a:t>4.1</a:t>
                      </a:r>
                    </a:p>
                  </a:txBody>
                  <a:tcPr>
                    <a:solidFill>
                      <a:srgbClr val="FFFFFF"/>
                    </a:solidFill>
                  </a:tcPr>
                </a:tc>
                <a:tc>
                  <a:txBody>
                    <a:bodyPr/>
                    <a:lstStyle/>
                    <a:p>
                      <a:r>
                        <a:rPr sz="850">
                          <a:solidFill>
                            <a:srgbClr val="222222"/>
                          </a:solidFill>
                          <a:latin typeface="Aptos"/>
                        </a:rPr>
                        <a:t>Supporting — shared section</a:t>
                      </a:r>
                    </a:p>
                  </a:txBody>
                  <a:tcPr>
                    <a:solidFill>
                      <a:srgbClr val="FFFFFF"/>
                    </a:solidFill>
                  </a:tcPr>
                </a:tc>
                <a:extLst>
                  <a:ext uri="{0D108BD9-81ED-4DB2-BD59-A6C34878D82A}">
                    <a16:rowId xmlns:a16="http://schemas.microsoft.com/office/drawing/2014/main" val="10002"/>
                  </a:ext>
                </a:extLst>
              </a:tr>
              <a:tr h="301752">
                <a:tc>
                  <a:txBody>
                    <a:bodyPr/>
                    <a:lstStyle/>
                    <a:p>
                      <a:r>
                        <a:rPr sz="850">
                          <a:solidFill>
                            <a:srgbClr val="222222"/>
                          </a:solidFill>
                          <a:latin typeface="Aptos"/>
                        </a:rPr>
                        <a:t>OFFER-13</a:t>
                      </a:r>
                    </a:p>
                  </a:txBody>
                  <a:tcPr>
                    <a:solidFill>
                      <a:srgbClr val="F4F7F9"/>
                    </a:solidFill>
                  </a:tcPr>
                </a:tc>
                <a:tc>
                  <a:txBody>
                    <a:bodyPr/>
                    <a:lstStyle/>
                    <a:p>
                      <a:r>
                        <a:rPr sz="850">
                          <a:solidFill>
                            <a:srgbClr val="222222"/>
                          </a:solidFill>
                          <a:latin typeface="Aptos"/>
                        </a:rPr>
                        <a:t>RTM-141</a:t>
                      </a:r>
                    </a:p>
                  </a:txBody>
                  <a:tcPr>
                    <a:solidFill>
                      <a:srgbClr val="F4F7F9"/>
                    </a:solidFill>
                  </a:tcPr>
                </a:tc>
                <a:tc>
                  <a:txBody>
                    <a:bodyPr/>
                    <a:lstStyle/>
                    <a:p>
                      <a:r>
                        <a:rPr sz="850">
                          <a:solidFill>
                            <a:srgbClr val="222222"/>
                          </a:solidFill>
                          <a:latin typeface="Aptos"/>
                        </a:rPr>
                        <a:t>4.4.3.1</a:t>
                      </a:r>
                    </a:p>
                  </a:txBody>
                  <a:tcPr>
                    <a:solidFill>
                      <a:srgbClr val="F4F7F9"/>
                    </a:solidFill>
                  </a:tcPr>
                </a:tc>
                <a:tc>
                  <a:txBody>
                    <a:bodyPr/>
                    <a:lstStyle/>
                    <a:p>
                      <a:r>
                        <a:rPr sz="850">
                          <a:solidFill>
                            <a:srgbClr val="222222"/>
                          </a:solidFill>
                          <a:latin typeface="Aptos"/>
                        </a:rPr>
                        <a:t>Broad/contextual — main component specification</a:t>
                      </a:r>
                    </a:p>
                  </a:txBody>
                  <a:tcPr>
                    <a:solidFill>
                      <a:srgbClr val="F4F7F9"/>
                    </a:solidFill>
                  </a:tcPr>
                </a:tc>
                <a:extLst>
                  <a:ext uri="{0D108BD9-81ED-4DB2-BD59-A6C34878D82A}">
                    <a16:rowId xmlns:a16="http://schemas.microsoft.com/office/drawing/2014/main" val="10003"/>
                  </a:ext>
                </a:extLst>
              </a:tr>
              <a:tr h="301752">
                <a:tc>
                  <a:txBody>
                    <a:bodyPr/>
                    <a:lstStyle/>
                    <a:p>
                      <a:r>
                        <a:rPr sz="850">
                          <a:solidFill>
                            <a:srgbClr val="222222"/>
                          </a:solidFill>
                          <a:latin typeface="Aptos"/>
                        </a:rPr>
                        <a:t>OFFER-50</a:t>
                      </a:r>
                    </a:p>
                  </a:txBody>
                  <a:tcPr>
                    <a:solidFill>
                      <a:srgbClr val="FFFFFF"/>
                    </a:solidFill>
                  </a:tcPr>
                </a:tc>
                <a:tc>
                  <a:txBody>
                    <a:bodyPr/>
                    <a:lstStyle/>
                    <a:p>
                      <a:r>
                        <a:rPr sz="850">
                          <a:solidFill>
                            <a:srgbClr val="222222"/>
                          </a:solidFill>
                          <a:latin typeface="Aptos"/>
                        </a:rPr>
                        <a:t>RTM-709</a:t>
                      </a:r>
                    </a:p>
                  </a:txBody>
                  <a:tcPr>
                    <a:solidFill>
                      <a:srgbClr val="FFFFFF"/>
                    </a:solidFill>
                  </a:tcPr>
                </a:tc>
                <a:tc>
                  <a:txBody>
                    <a:bodyPr/>
                    <a:lstStyle/>
                    <a:p>
                      <a:r>
                        <a:rPr sz="850">
                          <a:solidFill>
                            <a:srgbClr val="222222"/>
                          </a:solidFill>
                          <a:latin typeface="Aptos"/>
                        </a:rPr>
                        <a:t>10.2</a:t>
                      </a:r>
                    </a:p>
                  </a:txBody>
                  <a:tcPr>
                    <a:solidFill>
                      <a:srgbClr val="FFFFFF"/>
                    </a:solidFill>
                  </a:tcPr>
                </a:tc>
                <a:tc>
                  <a:txBody>
                    <a:bodyPr/>
                    <a:lstStyle/>
                    <a:p>
                      <a:r>
                        <a:rPr sz="850">
                          <a:solidFill>
                            <a:srgbClr val="222222"/>
                          </a:solidFill>
                          <a:latin typeface="Aptos"/>
                        </a:rPr>
                        <a:t>Supporting warranty context</a:t>
                      </a:r>
                    </a:p>
                  </a:txBody>
                  <a:tcPr>
                    <a:solidFill>
                      <a:srgbClr val="FFFFFF"/>
                    </a:solidFill>
                  </a:tcPr>
                </a:tc>
                <a:extLst>
                  <a:ext uri="{0D108BD9-81ED-4DB2-BD59-A6C34878D82A}">
                    <a16:rowId xmlns:a16="http://schemas.microsoft.com/office/drawing/2014/main" val="10004"/>
                  </a:ext>
                </a:extLst>
              </a:tr>
            </a:tbl>
          </a:graphicData>
        </a:graphic>
      </p:graphicFrame>
      <p:sp>
        <p:nvSpPr>
          <p:cNvPr id="9" name="TextBox 8"/>
          <p:cNvSpPr txBox="1"/>
          <p:nvPr/>
        </p:nvSpPr>
        <p:spPr>
          <a:xfrm>
            <a:off x="502920" y="3063240"/>
            <a:ext cx="6766560" cy="184666"/>
          </a:xfrm>
          <a:prstGeom prst="rect">
            <a:avLst/>
          </a:prstGeom>
          <a:noFill/>
        </p:spPr>
        <p:txBody>
          <a:bodyPr wrap="square" lIns="0" tIns="0" rIns="0" bIns="0" anchor="t">
            <a:spAutoFit/>
          </a:bodyPr>
          <a:lstStyle/>
          <a:p>
            <a:pPr algn="l">
              <a:lnSpc>
                <a:spcPct val="100000"/>
              </a:lnSpc>
            </a:pPr>
            <a:r>
              <a:rPr sz="1600" b="1" i="0">
                <a:solidFill>
                  <a:srgbClr val="0B3D5C"/>
                </a:solidFill>
                <a:latin typeface="Aptos" panose="020B0004020202020204" pitchFamily="34" charset="0"/>
              </a:rPr>
              <a:t>Link type distribution (377 total)</a:t>
            </a:r>
          </a:p>
        </p:txBody>
      </p:sp>
      <p:sp>
        <p:nvSpPr>
          <p:cNvPr id="10" name="TextBox 9"/>
          <p:cNvSpPr txBox="1"/>
          <p:nvPr/>
        </p:nvSpPr>
        <p:spPr>
          <a:xfrm>
            <a:off x="502920" y="3429000"/>
            <a:ext cx="4114800" cy="169277"/>
          </a:xfrm>
          <a:prstGeom prst="rect">
            <a:avLst/>
          </a:prstGeom>
          <a:noFill/>
        </p:spPr>
        <p:txBody>
          <a:bodyPr wrap="square" lIns="0" tIns="0" rIns="0" bIns="0" anchor="t">
            <a:spAutoFit/>
          </a:bodyPr>
          <a:lstStyle/>
          <a:p>
            <a:pPr algn="l">
              <a:lnSpc>
                <a:spcPct val="100000"/>
              </a:lnSpc>
            </a:pPr>
            <a:r>
              <a:rPr sz="1100" b="0" i="0">
                <a:solidFill>
                  <a:srgbClr val="222222"/>
                </a:solidFill>
                <a:latin typeface="Aptos" panose="020B0004020202020204" pitchFamily="34" charset="0"/>
              </a:rPr>
              <a:t>Direct — primary evidence: </a:t>
            </a:r>
          </a:p>
        </p:txBody>
      </p:sp>
      <p:sp>
        <p:nvSpPr>
          <p:cNvPr id="11" name="TextBox 10"/>
          <p:cNvSpPr txBox="1"/>
          <p:nvPr/>
        </p:nvSpPr>
        <p:spPr>
          <a:xfrm>
            <a:off x="3108960" y="3429000"/>
            <a:ext cx="914400" cy="169277"/>
          </a:xfrm>
          <a:prstGeom prst="rect">
            <a:avLst/>
          </a:prstGeom>
          <a:noFill/>
        </p:spPr>
        <p:txBody>
          <a:bodyPr wrap="square" lIns="0" tIns="0" rIns="0" bIns="0" anchor="t">
            <a:spAutoFit/>
          </a:bodyPr>
          <a:lstStyle/>
          <a:p>
            <a:pPr algn="l">
              <a:lnSpc>
                <a:spcPct val="100000"/>
              </a:lnSpc>
            </a:pPr>
            <a:r>
              <a:rPr sz="1100" b="1" i="0">
                <a:solidFill>
                  <a:srgbClr val="0B3D5C"/>
                </a:solidFill>
                <a:latin typeface="Aptos" panose="020B0004020202020204" pitchFamily="34" charset="0"/>
              </a:rPr>
              <a:t>190</a:t>
            </a:r>
          </a:p>
        </p:txBody>
      </p:sp>
      <p:sp>
        <p:nvSpPr>
          <p:cNvPr id="12" name="TextBox 11"/>
          <p:cNvSpPr txBox="1"/>
          <p:nvPr/>
        </p:nvSpPr>
        <p:spPr>
          <a:xfrm>
            <a:off x="502920" y="3721608"/>
            <a:ext cx="4114800" cy="169277"/>
          </a:xfrm>
          <a:prstGeom prst="rect">
            <a:avLst/>
          </a:prstGeom>
          <a:noFill/>
        </p:spPr>
        <p:txBody>
          <a:bodyPr wrap="square" lIns="0" tIns="0" rIns="0" bIns="0" anchor="t">
            <a:spAutoFit/>
          </a:bodyPr>
          <a:lstStyle/>
          <a:p>
            <a:pPr algn="l">
              <a:lnSpc>
                <a:spcPct val="100000"/>
              </a:lnSpc>
            </a:pPr>
            <a:r>
              <a:rPr sz="1100" b="0" i="0">
                <a:solidFill>
                  <a:srgbClr val="222222"/>
                </a:solidFill>
                <a:latin typeface="Aptos" panose="020B0004020202020204" pitchFamily="34" charset="0"/>
              </a:rPr>
              <a:t>Supporting: </a:t>
            </a:r>
          </a:p>
        </p:txBody>
      </p:sp>
      <p:sp>
        <p:nvSpPr>
          <p:cNvPr id="13" name="TextBox 12"/>
          <p:cNvSpPr txBox="1"/>
          <p:nvPr/>
        </p:nvSpPr>
        <p:spPr>
          <a:xfrm>
            <a:off x="3108960" y="3721608"/>
            <a:ext cx="914400" cy="169277"/>
          </a:xfrm>
          <a:prstGeom prst="rect">
            <a:avLst/>
          </a:prstGeom>
          <a:noFill/>
        </p:spPr>
        <p:txBody>
          <a:bodyPr wrap="square" lIns="0" tIns="0" rIns="0" bIns="0" anchor="t">
            <a:spAutoFit/>
          </a:bodyPr>
          <a:lstStyle/>
          <a:p>
            <a:pPr algn="l">
              <a:lnSpc>
                <a:spcPct val="100000"/>
              </a:lnSpc>
            </a:pPr>
            <a:r>
              <a:rPr sz="1100" b="1" i="0">
                <a:solidFill>
                  <a:srgbClr val="0B3D5C"/>
                </a:solidFill>
                <a:latin typeface="Aptos" panose="020B0004020202020204" pitchFamily="34" charset="0"/>
              </a:rPr>
              <a:t>135</a:t>
            </a:r>
          </a:p>
        </p:txBody>
      </p:sp>
      <p:sp>
        <p:nvSpPr>
          <p:cNvPr id="14" name="TextBox 13"/>
          <p:cNvSpPr txBox="1"/>
          <p:nvPr/>
        </p:nvSpPr>
        <p:spPr>
          <a:xfrm>
            <a:off x="502920" y="4014216"/>
            <a:ext cx="4114800" cy="169277"/>
          </a:xfrm>
          <a:prstGeom prst="rect">
            <a:avLst/>
          </a:prstGeom>
          <a:noFill/>
        </p:spPr>
        <p:txBody>
          <a:bodyPr wrap="square" lIns="0" tIns="0" rIns="0" bIns="0" anchor="t">
            <a:spAutoFit/>
          </a:bodyPr>
          <a:lstStyle/>
          <a:p>
            <a:pPr algn="l">
              <a:lnSpc>
                <a:spcPct val="100000"/>
              </a:lnSpc>
            </a:pPr>
            <a:r>
              <a:rPr sz="1100" b="0" i="0">
                <a:solidFill>
                  <a:srgbClr val="222222"/>
                </a:solidFill>
                <a:latin typeface="Aptos" panose="020B0004020202020204" pitchFamily="34" charset="0"/>
              </a:rPr>
              <a:t>Broad/contextual: </a:t>
            </a:r>
          </a:p>
        </p:txBody>
      </p:sp>
      <p:sp>
        <p:nvSpPr>
          <p:cNvPr id="15" name="TextBox 14"/>
          <p:cNvSpPr txBox="1"/>
          <p:nvPr/>
        </p:nvSpPr>
        <p:spPr>
          <a:xfrm>
            <a:off x="3108960" y="4014216"/>
            <a:ext cx="914400" cy="169277"/>
          </a:xfrm>
          <a:prstGeom prst="rect">
            <a:avLst/>
          </a:prstGeom>
          <a:noFill/>
        </p:spPr>
        <p:txBody>
          <a:bodyPr wrap="square" lIns="0" tIns="0" rIns="0" bIns="0" anchor="t">
            <a:spAutoFit/>
          </a:bodyPr>
          <a:lstStyle/>
          <a:p>
            <a:pPr algn="l">
              <a:lnSpc>
                <a:spcPct val="100000"/>
              </a:lnSpc>
            </a:pPr>
            <a:r>
              <a:rPr sz="1100" b="1" i="0">
                <a:solidFill>
                  <a:srgbClr val="0B3D5C"/>
                </a:solidFill>
                <a:latin typeface="Aptos" panose="020B0004020202020204" pitchFamily="34" charset="0"/>
              </a:rPr>
              <a:t>44</a:t>
            </a:r>
          </a:p>
        </p:txBody>
      </p:sp>
      <p:sp>
        <p:nvSpPr>
          <p:cNvPr id="16" name="TextBox 15"/>
          <p:cNvSpPr txBox="1"/>
          <p:nvPr/>
        </p:nvSpPr>
        <p:spPr>
          <a:xfrm>
            <a:off x="502920" y="4306824"/>
            <a:ext cx="4114800" cy="169277"/>
          </a:xfrm>
          <a:prstGeom prst="rect">
            <a:avLst/>
          </a:prstGeom>
          <a:noFill/>
        </p:spPr>
        <p:txBody>
          <a:bodyPr wrap="square" lIns="0" tIns="0" rIns="0" bIns="0" anchor="t">
            <a:spAutoFit/>
          </a:bodyPr>
          <a:lstStyle/>
          <a:p>
            <a:pPr algn="l">
              <a:lnSpc>
                <a:spcPct val="100000"/>
              </a:lnSpc>
            </a:pPr>
            <a:r>
              <a:rPr sz="1100" b="0" i="0">
                <a:solidFill>
                  <a:srgbClr val="222222"/>
                </a:solidFill>
                <a:latin typeface="Aptos" panose="020B0004020202020204" pitchFamily="34" charset="0"/>
              </a:rPr>
              <a:t>Contextual: </a:t>
            </a:r>
          </a:p>
        </p:txBody>
      </p:sp>
      <p:sp>
        <p:nvSpPr>
          <p:cNvPr id="17" name="TextBox 16"/>
          <p:cNvSpPr txBox="1"/>
          <p:nvPr/>
        </p:nvSpPr>
        <p:spPr>
          <a:xfrm>
            <a:off x="3108960" y="4306824"/>
            <a:ext cx="914400" cy="169277"/>
          </a:xfrm>
          <a:prstGeom prst="rect">
            <a:avLst/>
          </a:prstGeom>
          <a:noFill/>
        </p:spPr>
        <p:txBody>
          <a:bodyPr wrap="square" lIns="0" tIns="0" rIns="0" bIns="0" anchor="t">
            <a:spAutoFit/>
          </a:bodyPr>
          <a:lstStyle/>
          <a:p>
            <a:pPr algn="l">
              <a:lnSpc>
                <a:spcPct val="100000"/>
              </a:lnSpc>
            </a:pPr>
            <a:r>
              <a:rPr sz="1100" b="1" i="0">
                <a:solidFill>
                  <a:srgbClr val="0B3D5C"/>
                </a:solidFill>
                <a:latin typeface="Aptos" panose="020B0004020202020204" pitchFamily="34" charset="0"/>
              </a:rPr>
              <a:t>6</a:t>
            </a:r>
          </a:p>
        </p:txBody>
      </p:sp>
      <p:sp>
        <p:nvSpPr>
          <p:cNvPr id="18" name="TextBox 17"/>
          <p:cNvSpPr txBox="1"/>
          <p:nvPr/>
        </p:nvSpPr>
        <p:spPr>
          <a:xfrm>
            <a:off x="502920" y="4599432"/>
            <a:ext cx="4114800" cy="169277"/>
          </a:xfrm>
          <a:prstGeom prst="rect">
            <a:avLst/>
          </a:prstGeom>
          <a:noFill/>
        </p:spPr>
        <p:txBody>
          <a:bodyPr wrap="square" lIns="0" tIns="0" rIns="0" bIns="0" anchor="t">
            <a:spAutoFit/>
          </a:bodyPr>
          <a:lstStyle/>
          <a:p>
            <a:pPr algn="l">
              <a:lnSpc>
                <a:spcPct val="100000"/>
              </a:lnSpc>
            </a:pPr>
            <a:r>
              <a:rPr sz="1100" b="0" i="0">
                <a:solidFill>
                  <a:srgbClr val="222222"/>
                </a:solidFill>
                <a:latin typeface="Aptos" panose="020B0004020202020204" pitchFamily="34" charset="0"/>
              </a:rPr>
              <a:t>Warranty context: </a:t>
            </a:r>
          </a:p>
        </p:txBody>
      </p:sp>
      <p:sp>
        <p:nvSpPr>
          <p:cNvPr id="19" name="TextBox 18"/>
          <p:cNvSpPr txBox="1"/>
          <p:nvPr/>
        </p:nvSpPr>
        <p:spPr>
          <a:xfrm>
            <a:off x="3108960" y="4599432"/>
            <a:ext cx="914400" cy="169277"/>
          </a:xfrm>
          <a:prstGeom prst="rect">
            <a:avLst/>
          </a:prstGeom>
          <a:noFill/>
        </p:spPr>
        <p:txBody>
          <a:bodyPr wrap="square" lIns="0" tIns="0" rIns="0" bIns="0" anchor="t">
            <a:spAutoFit/>
          </a:bodyPr>
          <a:lstStyle/>
          <a:p>
            <a:pPr algn="l">
              <a:lnSpc>
                <a:spcPct val="100000"/>
              </a:lnSpc>
            </a:pPr>
            <a:r>
              <a:rPr sz="1100" b="1" i="0">
                <a:solidFill>
                  <a:srgbClr val="0B3D5C"/>
                </a:solidFill>
                <a:latin typeface="Aptos" panose="020B0004020202020204" pitchFamily="34" charset="0"/>
              </a:rPr>
              <a:t>2</a:t>
            </a:r>
          </a:p>
        </p:txBody>
      </p:sp>
      <p:sp>
        <p:nvSpPr>
          <p:cNvPr id="20" name="Rectangle 19"/>
          <p:cNvSpPr/>
          <p:nvPr/>
        </p:nvSpPr>
        <p:spPr>
          <a:xfrm>
            <a:off x="7498079" y="1371600"/>
            <a:ext cx="4343400" cy="2423160"/>
          </a:xfrm>
          <a:prstGeom prst="rect">
            <a:avLst/>
          </a:prstGeom>
          <a:solidFill>
            <a:srgbClr val="EFE5F5"/>
          </a:solidFill>
          <a:ln w="12700">
            <a:solidFill>
              <a:srgbClr val="0B3D5C"/>
            </a:solidFill>
          </a:ln>
          <a:effectLst/>
        </p:spPr>
        <p:style>
          <a:lnRef idx="1">
            <a:schemeClr val="accent1"/>
          </a:lnRef>
          <a:fillRef idx="3">
            <a:schemeClr val="accent1"/>
          </a:fillRef>
          <a:effectRef idx="2">
            <a:schemeClr val="accent1"/>
          </a:effectRef>
          <a:fontRef idx="minor">
            <a:schemeClr val="lt1"/>
          </a:fontRef>
        </p:style>
        <p:txBody>
          <a:bodyPr wrap="square" lIns="146304" tIns="91440" rIns="146304" bIns="91440" rtlCol="0" anchor="ctr"/>
          <a:lstStyle/>
          <a:p>
            <a:pPr algn="ctr">
              <a:lnSpc>
                <a:spcPct val="110000"/>
              </a:lnSpc>
            </a:pPr>
            <a:r>
              <a:rPr sz="1600" b="1">
                <a:solidFill>
                  <a:srgbClr val="0B3D5C"/>
                </a:solidFill>
                <a:latin typeface="Aptos" panose="020B0004020202020204" pitchFamily="34" charset="0"/>
              </a:rPr>
              <a:t>Intentional no-primary items:  </a:t>
            </a:r>
            <a:r>
              <a:rPr sz="1600">
                <a:solidFill>
                  <a:srgbClr val="222222"/>
                </a:solidFill>
                <a:latin typeface="Aptos" panose="020B0004020202020204" pitchFamily="34" charset="0"/>
              </a:rPr>
              <a:t>OFFER-09, -13, -43, -44 (justification / breadth / hours / schedule — no single shall anchor). This is by design, not a gap.</a:t>
            </a:r>
          </a:p>
        </p:txBody>
      </p:sp>
      <p:sp>
        <p:nvSpPr>
          <p:cNvPr id="21" name="TextBox 20"/>
          <p:cNvSpPr txBox="1"/>
          <p:nvPr/>
        </p:nvSpPr>
        <p:spPr>
          <a:xfrm>
            <a:off x="502920" y="4892040"/>
            <a:ext cx="11247120" cy="920893"/>
          </a:xfrm>
          <a:prstGeom prst="rect">
            <a:avLst/>
          </a:prstGeom>
          <a:noFill/>
        </p:spPr>
        <p:txBody>
          <a:bodyPr wrap="square" lIns="0" tIns="0" rIns="0" bIns="0">
            <a:spAutoFit/>
          </a:bodyPr>
          <a:lstStyle/>
          <a:p>
            <a:pPr>
              <a:lnSpc>
                <a:spcPct val="108000"/>
              </a:lnSpc>
              <a:spcAft>
                <a:spcPts val="600"/>
              </a:spcAft>
            </a:pPr>
            <a:r>
              <a:rPr sz="1050" b="1" dirty="0">
                <a:solidFill>
                  <a:srgbClr val="0B3D5C"/>
                </a:solidFill>
                <a:latin typeface="Aptos" panose="020B0004020202020204" pitchFamily="34" charset="0"/>
              </a:rPr>
              <a:t>•  </a:t>
            </a:r>
            <a:r>
              <a:rPr sz="1050" dirty="0">
                <a:solidFill>
                  <a:srgbClr val="222222"/>
                </a:solidFill>
                <a:latin typeface="Aptos" panose="020B0004020202020204" pitchFamily="34" charset="0"/>
              </a:rPr>
              <a:t>Re-score high-ranked keyword RTMs from shall-text (RTM-328, -482, -603, -718)</a:t>
            </a:r>
          </a:p>
          <a:p>
            <a:pPr>
              <a:lnSpc>
                <a:spcPct val="108000"/>
              </a:lnSpc>
              <a:spcAft>
                <a:spcPts val="600"/>
              </a:spcAft>
            </a:pPr>
            <a:r>
              <a:rPr sz="1050" b="1" dirty="0">
                <a:solidFill>
                  <a:srgbClr val="0B3D5C"/>
                </a:solidFill>
                <a:latin typeface="Aptos" panose="020B0004020202020204" pitchFamily="34" charset="0"/>
              </a:rPr>
              <a:t>•  </a:t>
            </a:r>
            <a:r>
              <a:rPr sz="1050" dirty="0">
                <a:solidFill>
                  <a:srgbClr val="222222"/>
                </a:solidFill>
                <a:latin typeface="Aptos" panose="020B0004020202020204" pitchFamily="34" charset="0"/>
              </a:rPr>
              <a:t>OFFER-25: all-</a:t>
            </a:r>
            <a:r>
              <a:rPr lang="en-US" sz="1050" dirty="0">
                <a:solidFill>
                  <a:srgbClr val="222222"/>
                </a:solidFill>
                <a:latin typeface="Aptos" panose="020B0004020202020204" pitchFamily="34" charset="0"/>
              </a:rPr>
              <a:t>zero-dimension</a:t>
            </a:r>
            <a:r>
              <a:rPr sz="1050" dirty="0">
                <a:solidFill>
                  <a:srgbClr val="222222"/>
                </a:solidFill>
                <a:latin typeface="Aptos" panose="020B0004020202020204" pitchFamily="34" charset="0"/>
              </a:rPr>
              <a:t> vector, ranks last by construction — needs a Quality/Verifiability score if cybersecurity qualification matters</a:t>
            </a:r>
          </a:p>
          <a:p>
            <a:pPr>
              <a:lnSpc>
                <a:spcPct val="108000"/>
              </a:lnSpc>
              <a:spcAft>
                <a:spcPts val="600"/>
              </a:spcAft>
            </a:pPr>
            <a:r>
              <a:rPr sz="1050" b="1" dirty="0">
                <a:solidFill>
                  <a:srgbClr val="0B3D5C"/>
                </a:solidFill>
                <a:latin typeface="Aptos" panose="020B0004020202020204" pitchFamily="34" charset="0"/>
              </a:rPr>
              <a:t>•  </a:t>
            </a:r>
            <a:r>
              <a:rPr sz="1050" dirty="0">
                <a:solidFill>
                  <a:srgbClr val="222222"/>
                </a:solidFill>
                <a:latin typeface="Aptos" panose="020B0004020202020204" pitchFamily="34" charset="0"/>
              </a:rPr>
              <a:t>Review flags: OFFER-13 breadth, OFFER-39 FAT/SAT scope, OFFER-44 (Table 22), OFFER-47/48 QAP overlap, OFFER-49 parent §9</a:t>
            </a:r>
          </a:p>
          <a:p>
            <a:pPr>
              <a:lnSpc>
                <a:spcPct val="108000"/>
              </a:lnSpc>
              <a:spcAft>
                <a:spcPts val="600"/>
              </a:spcAft>
            </a:pPr>
            <a:r>
              <a:rPr sz="1050" b="1" dirty="0">
                <a:solidFill>
                  <a:srgbClr val="0B3D5C"/>
                </a:solidFill>
                <a:latin typeface="Aptos" panose="020B0004020202020204" pitchFamily="34" charset="0"/>
              </a:rPr>
              <a:t>•  </a:t>
            </a:r>
            <a:r>
              <a:rPr sz="1050" dirty="0">
                <a:solidFill>
                  <a:srgbClr val="222222"/>
                </a:solidFill>
                <a:latin typeface="Aptos" panose="020B0004020202020204" pitchFamily="34" charset="0"/>
              </a:rPr>
              <a:t>Bidder evaluation not started — all STATUS = TBD by design</a:t>
            </a:r>
          </a:p>
        </p:txBody>
      </p:sp>
      <p:sp>
        <p:nvSpPr>
          <p:cNvPr id="22" name="Slide Number Placeholder 21">
            <a:extLst>
              <a:ext uri="{FF2B5EF4-FFF2-40B4-BE49-F238E27FC236}">
                <a16:creationId xmlns:a16="http://schemas.microsoft.com/office/drawing/2014/main" id="{EDE2416E-1560-EC3F-B639-32D28900DC02}"/>
              </a:ext>
            </a:extLst>
          </p:cNvPr>
          <p:cNvSpPr>
            <a:spLocks noGrp="1"/>
          </p:cNvSpPr>
          <p:nvPr>
            <p:ph type="sldNum" sz="quarter" idx="12"/>
          </p:nvPr>
        </p:nvSpPr>
        <p:spPr/>
        <p:txBody>
          <a:bodyPr/>
          <a:lstStyle/>
          <a:p>
            <a:fld id="{C1FF6DA9-008F-8B48-92A6-B652298478BF}" type="slidenum">
              <a:rPr lang="en-US" smtClean="0"/>
              <a:t>13</a:t>
            </a:fld>
            <a:endParaRPr lang="en-US"/>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68680"/>
          </a:xfrm>
          <a:prstGeom prst="rect">
            <a:avLst/>
          </a:prstGeom>
          <a:solidFill>
            <a:srgbClr val="441F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9875520" cy="685800"/>
          </a:xfrm>
          <a:prstGeom prst="rect">
            <a:avLst/>
          </a:prstGeom>
          <a:noFill/>
        </p:spPr>
        <p:txBody>
          <a:bodyPr wrap="square">
            <a:spAutoFit/>
          </a:bodyPr>
          <a:lstStyle/>
          <a:p>
            <a:r>
              <a:rPr sz="2500" b="1">
                <a:solidFill>
                  <a:srgbClr val="FFFFFF"/>
                </a:solidFill>
                <a:latin typeface="Aptos"/>
              </a:rPr>
              <a:t>Chart appendix — all 5 diagrams at a glance</a:t>
            </a:r>
          </a:p>
        </p:txBody>
      </p:sp>
      <p:sp>
        <p:nvSpPr>
          <p:cNvPr id="4" name="TextBox 3"/>
          <p:cNvSpPr txBox="1"/>
          <p:nvPr/>
        </p:nvSpPr>
        <p:spPr>
          <a:xfrm>
            <a:off x="10607040" y="292608"/>
            <a:ext cx="1371600" cy="320040"/>
          </a:xfrm>
          <a:prstGeom prst="rect">
            <a:avLst/>
          </a:prstGeom>
          <a:noFill/>
        </p:spPr>
        <p:txBody>
          <a:bodyPr wrap="none">
            <a:spAutoFit/>
          </a:bodyPr>
          <a:lstStyle/>
          <a:p>
            <a:pPr algn="r"/>
            <a:r>
              <a:rPr sz="1100" b="1">
                <a:solidFill>
                  <a:srgbClr val="BFD6E6"/>
                </a:solidFill>
                <a:latin typeface="Aptos"/>
              </a:rPr>
              <a:t>CHART-S00</a:t>
            </a:r>
          </a:p>
        </p:txBody>
      </p:sp>
      <p:sp>
        <p:nvSpPr>
          <p:cNvPr id="5" name="Rectangle 4"/>
          <p:cNvSpPr/>
          <p:nvPr/>
        </p:nvSpPr>
        <p:spPr>
          <a:xfrm>
            <a:off x="0" y="6547104"/>
            <a:ext cx="12192000" cy="310896"/>
          </a:xfrm>
          <a:prstGeom prst="rect">
            <a:avLst/>
          </a:prstGeom>
          <a:solidFill>
            <a:srgbClr val="F3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565392"/>
            <a:ext cx="10515600" cy="274320"/>
          </a:xfrm>
          <a:prstGeom prst="rect">
            <a:avLst/>
          </a:prstGeom>
          <a:noFill/>
        </p:spPr>
        <p:txBody>
          <a:bodyPr wrap="none">
            <a:spAutoFit/>
          </a:bodyPr>
          <a:lstStyle/>
          <a:p>
            <a:r>
              <a:rPr sz="850">
                <a:solidFill>
                  <a:srgbClr val="555555"/>
                </a:solidFill>
                <a:latin typeface="Aptos"/>
              </a:rPr>
              <a:t>BT METHOD — Engineering Baseline (canonical RTM-722) · CHART-S00 | v3.6</a:t>
            </a:r>
          </a:p>
        </p:txBody>
      </p:sp>
      <p:sp>
        <p:nvSpPr>
          <p:cNvPr id="7" name="TextBox 6"/>
          <p:cNvSpPr txBox="1"/>
          <p:nvPr/>
        </p:nvSpPr>
        <p:spPr>
          <a:xfrm>
            <a:off x="411480" y="900000"/>
            <a:ext cx="11000000" cy="280000"/>
          </a:xfrm>
          <a:prstGeom prst="rect">
            <a:avLst/>
          </a:prstGeom>
          <a:noFill/>
        </p:spPr>
        <p:txBody>
          <a:bodyPr wrap="none">
            <a:spAutoFit/>
          </a:bodyPr>
          <a:lstStyle/>
          <a:p>
            <a:r>
              <a:rPr sz="1200" i="1">
                <a:solidFill>
                  <a:srgbClr val="555555"/>
                </a:solidFill>
                <a:latin typeface="Aptos"/>
              </a:rPr>
              <a:t>Master index — each thumbnail below is enlarged on its own slide (CHART-S01…S05) right after this one.</a:t>
            </a:r>
          </a:p>
        </p:txBody>
      </p:sp>
      <p:pic>
        <p:nvPicPr>
          <p:cNvPr id="8" name="Picture 7" descr="image.png"/>
          <p:cNvPicPr>
            <a:picLocks noChangeAspect="1"/>
          </p:cNvPicPr>
          <p:nvPr/>
        </p:nvPicPr>
        <p:blipFill>
          <a:blip r:embed="rId2"/>
          <a:stretch>
            <a:fillRect/>
          </a:stretch>
        </p:blipFill>
        <p:spPr>
          <a:xfrm>
            <a:off x="410040" y="1370000"/>
            <a:ext cx="3670640" cy="1264331"/>
          </a:xfrm>
          <a:prstGeom prst="rect">
            <a:avLst/>
          </a:prstGeom>
        </p:spPr>
      </p:pic>
      <p:sp>
        <p:nvSpPr>
          <p:cNvPr id="9" name="TextBox 8"/>
          <p:cNvSpPr txBox="1"/>
          <p:nvPr/>
        </p:nvSpPr>
        <p:spPr>
          <a:xfrm>
            <a:off x="320040" y="3420000"/>
            <a:ext cx="3850640" cy="430000"/>
          </a:xfrm>
          <a:prstGeom prst="rect">
            <a:avLst/>
          </a:prstGeom>
          <a:noFill/>
        </p:spPr>
        <p:txBody>
          <a:bodyPr wrap="square">
            <a:spAutoFit/>
          </a:bodyPr>
          <a:lstStyle/>
          <a:p>
            <a:pPr algn="ctr"/>
            <a:r>
              <a:rPr sz="1100" b="1">
                <a:solidFill>
                  <a:srgbClr val="441F63"/>
                </a:solidFill>
                <a:latin typeface="Aptos"/>
              </a:rPr>
              <a:t>From scores to ranking: S → win % → λ</a:t>
            </a:r>
          </a:p>
          <a:p>
            <a:pPr algn="ctr"/>
            <a:r>
              <a:rPr sz="900">
                <a:solidFill>
                  <a:srgbClr val="555555"/>
                </a:solidFill>
                <a:latin typeface="Aptos"/>
              </a:rPr>
              <a:t>CHART-S01  ·  from METHOD-S04</a:t>
            </a:r>
          </a:p>
        </p:txBody>
      </p:sp>
      <p:pic>
        <p:nvPicPr>
          <p:cNvPr id="10" name="Picture 9" descr="image.png"/>
          <p:cNvPicPr>
            <a:picLocks noChangeAspect="1"/>
          </p:cNvPicPr>
          <p:nvPr/>
        </p:nvPicPr>
        <p:blipFill>
          <a:blip r:embed="rId3"/>
          <a:stretch>
            <a:fillRect/>
          </a:stretch>
        </p:blipFill>
        <p:spPr>
          <a:xfrm>
            <a:off x="4658667" y="1370000"/>
            <a:ext cx="2874666" cy="1960000"/>
          </a:xfrm>
          <a:prstGeom prst="rect">
            <a:avLst/>
          </a:prstGeom>
        </p:spPr>
      </p:pic>
      <p:sp>
        <p:nvSpPr>
          <p:cNvPr id="11" name="TextBox 10"/>
          <p:cNvSpPr txBox="1"/>
          <p:nvPr/>
        </p:nvSpPr>
        <p:spPr>
          <a:xfrm>
            <a:off x="4170680" y="3420000"/>
            <a:ext cx="3850640" cy="430000"/>
          </a:xfrm>
          <a:prstGeom prst="rect">
            <a:avLst/>
          </a:prstGeom>
          <a:noFill/>
        </p:spPr>
        <p:txBody>
          <a:bodyPr wrap="square">
            <a:spAutoFit/>
          </a:bodyPr>
          <a:lstStyle/>
          <a:p>
            <a:pPr algn="ctr"/>
            <a:r>
              <a:rPr sz="1100" b="1">
                <a:solidFill>
                  <a:srgbClr val="441F63"/>
                </a:solidFill>
                <a:latin typeface="Aptos"/>
              </a:rPr>
              <a:t>OFFER importance result</a:t>
            </a:r>
          </a:p>
          <a:p>
            <a:pPr algn="ctr"/>
            <a:r>
              <a:rPr sz="900">
                <a:solidFill>
                  <a:srgbClr val="555555"/>
                </a:solidFill>
                <a:latin typeface="Aptos"/>
              </a:rPr>
              <a:t>CHART-S02  ·  from EVAL-S01</a:t>
            </a:r>
          </a:p>
        </p:txBody>
      </p:sp>
      <p:pic>
        <p:nvPicPr>
          <p:cNvPr id="12" name="Picture 11" descr="image.png"/>
          <p:cNvPicPr>
            <a:picLocks noChangeAspect="1"/>
          </p:cNvPicPr>
          <p:nvPr/>
        </p:nvPicPr>
        <p:blipFill>
          <a:blip r:embed="rId4"/>
          <a:stretch>
            <a:fillRect/>
          </a:stretch>
        </p:blipFill>
        <p:spPr>
          <a:xfrm>
            <a:off x="8262265" y="1370000"/>
            <a:ext cx="3368750" cy="1960000"/>
          </a:xfrm>
          <a:prstGeom prst="rect">
            <a:avLst/>
          </a:prstGeom>
        </p:spPr>
      </p:pic>
      <p:sp>
        <p:nvSpPr>
          <p:cNvPr id="13" name="TextBox 12"/>
          <p:cNvSpPr txBox="1"/>
          <p:nvPr/>
        </p:nvSpPr>
        <p:spPr>
          <a:xfrm>
            <a:off x="8021320" y="3420000"/>
            <a:ext cx="3850640" cy="430000"/>
          </a:xfrm>
          <a:prstGeom prst="rect">
            <a:avLst/>
          </a:prstGeom>
          <a:noFill/>
        </p:spPr>
        <p:txBody>
          <a:bodyPr wrap="square">
            <a:spAutoFit/>
          </a:bodyPr>
          <a:lstStyle/>
          <a:p>
            <a:pPr algn="ctr"/>
            <a:r>
              <a:rPr sz="1100" b="1">
                <a:solidFill>
                  <a:srgbClr val="441F63"/>
                </a:solidFill>
                <a:latin typeface="Aptos"/>
              </a:rPr>
              <a:t>Robustness: weight sensitivity</a:t>
            </a:r>
          </a:p>
          <a:p>
            <a:pPr algn="ctr"/>
            <a:r>
              <a:rPr sz="900">
                <a:solidFill>
                  <a:srgbClr val="555555"/>
                </a:solidFill>
                <a:latin typeface="Aptos"/>
              </a:rPr>
              <a:t>CHART-S03  ·  from EVAL-S02</a:t>
            </a:r>
          </a:p>
        </p:txBody>
      </p:sp>
      <p:pic>
        <p:nvPicPr>
          <p:cNvPr id="14" name="Picture 13" descr="image.png"/>
          <p:cNvPicPr>
            <a:picLocks noChangeAspect="1"/>
          </p:cNvPicPr>
          <p:nvPr/>
        </p:nvPicPr>
        <p:blipFill>
          <a:blip r:embed="rId5"/>
          <a:stretch>
            <a:fillRect/>
          </a:stretch>
        </p:blipFill>
        <p:spPr>
          <a:xfrm>
            <a:off x="1469310" y="3940000"/>
            <a:ext cx="3477419" cy="1960000"/>
          </a:xfrm>
          <a:prstGeom prst="rect">
            <a:avLst/>
          </a:prstGeom>
        </p:spPr>
      </p:pic>
      <p:sp>
        <p:nvSpPr>
          <p:cNvPr id="15" name="TextBox 14"/>
          <p:cNvSpPr txBox="1"/>
          <p:nvPr/>
        </p:nvSpPr>
        <p:spPr>
          <a:xfrm>
            <a:off x="320040" y="5990000"/>
            <a:ext cx="5775960" cy="430000"/>
          </a:xfrm>
          <a:prstGeom prst="rect">
            <a:avLst/>
          </a:prstGeom>
          <a:noFill/>
        </p:spPr>
        <p:txBody>
          <a:bodyPr wrap="square">
            <a:spAutoFit/>
          </a:bodyPr>
          <a:lstStyle/>
          <a:p>
            <a:pPr algn="ctr"/>
            <a:r>
              <a:rPr sz="1100" b="1">
                <a:solidFill>
                  <a:srgbClr val="441F63"/>
                </a:solidFill>
                <a:latin typeface="Aptos"/>
              </a:rPr>
              <a:t>RTM requirement importance</a:t>
            </a:r>
          </a:p>
          <a:p>
            <a:pPr algn="ctr"/>
            <a:r>
              <a:rPr sz="900">
                <a:solidFill>
                  <a:srgbClr val="555555"/>
                </a:solidFill>
                <a:latin typeface="Aptos"/>
              </a:rPr>
              <a:t>CHART-S04  ·  from EVAL-S03</a:t>
            </a:r>
          </a:p>
        </p:txBody>
      </p:sp>
      <p:pic>
        <p:nvPicPr>
          <p:cNvPr id="16" name="Picture 15" descr="image.png"/>
          <p:cNvPicPr>
            <a:picLocks noChangeAspect="1"/>
          </p:cNvPicPr>
          <p:nvPr/>
        </p:nvPicPr>
        <p:blipFill>
          <a:blip r:embed="rId6"/>
          <a:stretch>
            <a:fillRect/>
          </a:stretch>
        </p:blipFill>
        <p:spPr>
          <a:xfrm>
            <a:off x="7350647" y="3940000"/>
            <a:ext cx="3266666" cy="1960000"/>
          </a:xfrm>
          <a:prstGeom prst="rect">
            <a:avLst/>
          </a:prstGeom>
        </p:spPr>
      </p:pic>
      <p:sp>
        <p:nvSpPr>
          <p:cNvPr id="17" name="TextBox 16"/>
          <p:cNvSpPr txBox="1"/>
          <p:nvPr/>
        </p:nvSpPr>
        <p:spPr>
          <a:xfrm>
            <a:off x="6096000" y="5990000"/>
            <a:ext cx="5775960" cy="430000"/>
          </a:xfrm>
          <a:prstGeom prst="rect">
            <a:avLst/>
          </a:prstGeom>
          <a:noFill/>
        </p:spPr>
        <p:txBody>
          <a:bodyPr wrap="square">
            <a:spAutoFit/>
          </a:bodyPr>
          <a:lstStyle/>
          <a:p>
            <a:pPr algn="ctr"/>
            <a:r>
              <a:rPr sz="1100" b="1">
                <a:solidFill>
                  <a:srgbClr val="441F63"/>
                </a:solidFill>
                <a:latin typeface="Aptos"/>
              </a:rPr>
              <a:t>Where the contract weight sits</a:t>
            </a:r>
          </a:p>
          <a:p>
            <a:pPr algn="ctr"/>
            <a:r>
              <a:rPr sz="900">
                <a:solidFill>
                  <a:srgbClr val="555555"/>
                </a:solidFill>
                <a:latin typeface="Aptos"/>
              </a:rPr>
              <a:t>CHART-S05  ·  from EVAL-S04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68680"/>
          </a:xfrm>
          <a:prstGeom prst="rect">
            <a:avLst/>
          </a:prstGeom>
          <a:solidFill>
            <a:srgbClr val="441F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9875520" cy="685800"/>
          </a:xfrm>
          <a:prstGeom prst="rect">
            <a:avLst/>
          </a:prstGeom>
          <a:noFill/>
        </p:spPr>
        <p:txBody>
          <a:bodyPr wrap="square">
            <a:spAutoFit/>
          </a:bodyPr>
          <a:lstStyle/>
          <a:p>
            <a:r>
              <a:rPr sz="2500" b="1">
                <a:solidFill>
                  <a:srgbClr val="FFFFFF"/>
                </a:solidFill>
                <a:latin typeface="Aptos"/>
              </a:rPr>
              <a:t>From scores to ranking: S → win % → λ (enlarged)</a:t>
            </a:r>
          </a:p>
        </p:txBody>
      </p:sp>
      <p:sp>
        <p:nvSpPr>
          <p:cNvPr id="4" name="TextBox 3"/>
          <p:cNvSpPr txBox="1"/>
          <p:nvPr/>
        </p:nvSpPr>
        <p:spPr>
          <a:xfrm>
            <a:off x="10607040" y="292608"/>
            <a:ext cx="1371600" cy="320040"/>
          </a:xfrm>
          <a:prstGeom prst="rect">
            <a:avLst/>
          </a:prstGeom>
          <a:noFill/>
        </p:spPr>
        <p:txBody>
          <a:bodyPr wrap="none">
            <a:spAutoFit/>
          </a:bodyPr>
          <a:lstStyle/>
          <a:p>
            <a:pPr algn="r"/>
            <a:r>
              <a:rPr sz="1100" b="1">
                <a:solidFill>
                  <a:srgbClr val="BFD6E6"/>
                </a:solidFill>
                <a:latin typeface="Aptos"/>
              </a:rPr>
              <a:t>CHART-S01</a:t>
            </a:r>
          </a:p>
        </p:txBody>
      </p:sp>
      <p:sp>
        <p:nvSpPr>
          <p:cNvPr id="5" name="Rectangle 4"/>
          <p:cNvSpPr/>
          <p:nvPr/>
        </p:nvSpPr>
        <p:spPr>
          <a:xfrm>
            <a:off x="0" y="6547104"/>
            <a:ext cx="12192000" cy="310896"/>
          </a:xfrm>
          <a:prstGeom prst="rect">
            <a:avLst/>
          </a:prstGeom>
          <a:solidFill>
            <a:srgbClr val="F3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565392"/>
            <a:ext cx="10515600" cy="274320"/>
          </a:xfrm>
          <a:prstGeom prst="rect">
            <a:avLst/>
          </a:prstGeom>
          <a:noFill/>
        </p:spPr>
        <p:txBody>
          <a:bodyPr wrap="none">
            <a:spAutoFit/>
          </a:bodyPr>
          <a:lstStyle/>
          <a:p>
            <a:r>
              <a:rPr sz="850">
                <a:solidFill>
                  <a:srgbClr val="555555"/>
                </a:solidFill>
                <a:latin typeface="Aptos"/>
              </a:rPr>
              <a:t>BT METHOD — Engineering Baseline (canonical RTM-722) · CHART-S01 (enlarged from METHOD-S04) | v3.6</a:t>
            </a:r>
          </a:p>
        </p:txBody>
      </p:sp>
      <p:pic>
        <p:nvPicPr>
          <p:cNvPr id="7" name="Picture 6" descr="image.png"/>
          <p:cNvPicPr>
            <a:picLocks noChangeAspect="1"/>
          </p:cNvPicPr>
          <p:nvPr/>
        </p:nvPicPr>
        <p:blipFill>
          <a:blip r:embed="rId2"/>
          <a:stretch>
            <a:fillRect/>
          </a:stretch>
        </p:blipFill>
        <p:spPr>
          <a:xfrm>
            <a:off x="320040" y="1050000"/>
            <a:ext cx="11551920" cy="3978994"/>
          </a:xfrm>
          <a:prstGeom prst="rect">
            <a:avLst/>
          </a:prstGeom>
        </p:spPr>
      </p:pic>
      <p:sp>
        <p:nvSpPr>
          <p:cNvPr id="8" name="Rectangle 7"/>
          <p:cNvSpPr/>
          <p:nvPr/>
        </p:nvSpPr>
        <p:spPr>
          <a:xfrm>
            <a:off x="320040" y="5118994"/>
            <a:ext cx="11551920" cy="548640"/>
          </a:xfrm>
          <a:prstGeom prst="rect">
            <a:avLst/>
          </a:prstGeom>
          <a:solidFill>
            <a:srgbClr val="EFE5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64008" rIns="137160"/>
          <a:lstStyle/>
          <a:p>
            <a:pPr algn="ctr"/>
            <a:r>
              <a:rPr b="1" sz="1250">
                <a:solidFill>
                  <a:srgbClr val="0B3D5C"/>
                </a:solidFill>
                <a:latin typeface="Aptos"/>
              </a:rPr>
              <a:t>Board read:  </a:t>
            </a:r>
            <a:r>
              <a:rPr sz="1250">
                <a:solidFill>
                  <a:srgbClr val="222222"/>
                </a:solidFill>
                <a:latin typeface="Aptos"/>
              </a:rPr>
              <a:t>Quote S to defend a ranking, win % to brief, λ on request — all three are deterministic transforms of the same weighted scores.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68680"/>
          </a:xfrm>
          <a:prstGeom prst="rect">
            <a:avLst/>
          </a:prstGeom>
          <a:solidFill>
            <a:srgbClr val="441F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9875520" cy="685800"/>
          </a:xfrm>
          <a:prstGeom prst="rect">
            <a:avLst/>
          </a:prstGeom>
          <a:noFill/>
        </p:spPr>
        <p:txBody>
          <a:bodyPr wrap="square">
            <a:spAutoFit/>
          </a:bodyPr>
          <a:lstStyle/>
          <a:p>
            <a:r>
              <a:rPr sz="2500" b="1">
                <a:solidFill>
                  <a:srgbClr val="FFFFFF"/>
                </a:solidFill>
                <a:latin typeface="Aptos"/>
              </a:rPr>
              <a:t>OFFER importance result (enlarged)</a:t>
            </a:r>
          </a:p>
        </p:txBody>
      </p:sp>
      <p:sp>
        <p:nvSpPr>
          <p:cNvPr id="4" name="TextBox 3"/>
          <p:cNvSpPr txBox="1"/>
          <p:nvPr/>
        </p:nvSpPr>
        <p:spPr>
          <a:xfrm>
            <a:off x="10607040" y="292608"/>
            <a:ext cx="1371600" cy="320040"/>
          </a:xfrm>
          <a:prstGeom prst="rect">
            <a:avLst/>
          </a:prstGeom>
          <a:noFill/>
        </p:spPr>
        <p:txBody>
          <a:bodyPr wrap="none">
            <a:spAutoFit/>
          </a:bodyPr>
          <a:lstStyle/>
          <a:p>
            <a:pPr algn="r"/>
            <a:r>
              <a:rPr sz="1100" b="1">
                <a:solidFill>
                  <a:srgbClr val="BFD6E6"/>
                </a:solidFill>
                <a:latin typeface="Aptos"/>
              </a:rPr>
              <a:t>CHART-S02</a:t>
            </a:r>
          </a:p>
        </p:txBody>
      </p:sp>
      <p:sp>
        <p:nvSpPr>
          <p:cNvPr id="5" name="Rectangle 4"/>
          <p:cNvSpPr/>
          <p:nvPr/>
        </p:nvSpPr>
        <p:spPr>
          <a:xfrm>
            <a:off x="0" y="6547104"/>
            <a:ext cx="12192000" cy="310896"/>
          </a:xfrm>
          <a:prstGeom prst="rect">
            <a:avLst/>
          </a:prstGeom>
          <a:solidFill>
            <a:srgbClr val="F3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565392"/>
            <a:ext cx="10515600" cy="274320"/>
          </a:xfrm>
          <a:prstGeom prst="rect">
            <a:avLst/>
          </a:prstGeom>
          <a:noFill/>
        </p:spPr>
        <p:txBody>
          <a:bodyPr wrap="none">
            <a:spAutoFit/>
          </a:bodyPr>
          <a:lstStyle/>
          <a:p>
            <a:r>
              <a:rPr sz="850">
                <a:solidFill>
                  <a:srgbClr val="555555"/>
                </a:solidFill>
                <a:latin typeface="Aptos"/>
              </a:rPr>
              <a:t>BT METHOD — Engineering Baseline (canonical RTM-722) · CHART-S02 (enlarged from EVAL-S01) | v3.6</a:t>
            </a:r>
          </a:p>
        </p:txBody>
      </p:sp>
      <p:pic>
        <p:nvPicPr>
          <p:cNvPr id="7" name="Picture 6" descr="image.png"/>
          <p:cNvPicPr>
            <a:picLocks noChangeAspect="1"/>
          </p:cNvPicPr>
          <p:nvPr/>
        </p:nvPicPr>
        <p:blipFill>
          <a:blip r:embed="rId2"/>
          <a:stretch>
            <a:fillRect/>
          </a:stretch>
        </p:blipFill>
        <p:spPr>
          <a:xfrm>
            <a:off x="2599126" y="1050000"/>
            <a:ext cx="6993747" cy="4768464"/>
          </a:xfrm>
          <a:prstGeom prst="rect">
            <a:avLst/>
          </a:prstGeom>
        </p:spPr>
      </p:pic>
      <p:sp>
        <p:nvSpPr>
          <p:cNvPr id="8" name="Rectangle 7"/>
          <p:cNvSpPr/>
          <p:nvPr/>
        </p:nvSpPr>
        <p:spPr>
          <a:xfrm>
            <a:off x="320040" y="5908464"/>
            <a:ext cx="11551920" cy="548640"/>
          </a:xfrm>
          <a:prstGeom prst="rect">
            <a:avLst/>
          </a:prstGeom>
          <a:solidFill>
            <a:srgbClr val="EFE5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64008" rIns="137160"/>
          <a:lstStyle/>
          <a:p>
            <a:pPr algn="ctr"/>
            <a:r>
              <a:rPr b="1" sz="1250">
                <a:solidFill>
                  <a:srgbClr val="0B3D5C"/>
                </a:solidFill>
                <a:latin typeface="Aptos"/>
              </a:rPr>
              <a:t>Board read:  </a:t>
            </a:r>
            <a:r>
              <a:rPr sz="1250">
                <a:solidFill>
                  <a:srgbClr val="222222"/>
                </a:solidFill>
                <a:latin typeface="Aptos"/>
              </a:rPr>
              <a:t>The two leaders (OFFER-21/22) are both LOOP/recovery-strategy items — see EVAL-S01 for the full top-6 driver breakdown.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68680"/>
          </a:xfrm>
          <a:prstGeom prst="rect">
            <a:avLst/>
          </a:prstGeom>
          <a:solidFill>
            <a:srgbClr val="441F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9875520" cy="685800"/>
          </a:xfrm>
          <a:prstGeom prst="rect">
            <a:avLst/>
          </a:prstGeom>
          <a:noFill/>
        </p:spPr>
        <p:txBody>
          <a:bodyPr wrap="square">
            <a:spAutoFit/>
          </a:bodyPr>
          <a:lstStyle/>
          <a:p>
            <a:r>
              <a:rPr sz="2500" b="1">
                <a:solidFill>
                  <a:srgbClr val="FFFFFF"/>
                </a:solidFill>
                <a:latin typeface="Aptos"/>
              </a:rPr>
              <a:t>Robustness: weight sensitivity (enlarged)</a:t>
            </a:r>
          </a:p>
        </p:txBody>
      </p:sp>
      <p:sp>
        <p:nvSpPr>
          <p:cNvPr id="4" name="TextBox 3"/>
          <p:cNvSpPr txBox="1"/>
          <p:nvPr/>
        </p:nvSpPr>
        <p:spPr>
          <a:xfrm>
            <a:off x="10607040" y="292608"/>
            <a:ext cx="1371600" cy="320040"/>
          </a:xfrm>
          <a:prstGeom prst="rect">
            <a:avLst/>
          </a:prstGeom>
          <a:noFill/>
        </p:spPr>
        <p:txBody>
          <a:bodyPr wrap="none">
            <a:spAutoFit/>
          </a:bodyPr>
          <a:lstStyle/>
          <a:p>
            <a:pPr algn="r"/>
            <a:r>
              <a:rPr sz="1100" b="1">
                <a:solidFill>
                  <a:srgbClr val="BFD6E6"/>
                </a:solidFill>
                <a:latin typeface="Aptos"/>
              </a:rPr>
              <a:t>CHART-S03</a:t>
            </a:r>
          </a:p>
        </p:txBody>
      </p:sp>
      <p:sp>
        <p:nvSpPr>
          <p:cNvPr id="5" name="Rectangle 4"/>
          <p:cNvSpPr/>
          <p:nvPr/>
        </p:nvSpPr>
        <p:spPr>
          <a:xfrm>
            <a:off x="0" y="6547104"/>
            <a:ext cx="12192000" cy="310896"/>
          </a:xfrm>
          <a:prstGeom prst="rect">
            <a:avLst/>
          </a:prstGeom>
          <a:solidFill>
            <a:srgbClr val="F3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565392"/>
            <a:ext cx="10515600" cy="274320"/>
          </a:xfrm>
          <a:prstGeom prst="rect">
            <a:avLst/>
          </a:prstGeom>
          <a:noFill/>
        </p:spPr>
        <p:txBody>
          <a:bodyPr wrap="none">
            <a:spAutoFit/>
          </a:bodyPr>
          <a:lstStyle/>
          <a:p>
            <a:r>
              <a:rPr sz="850">
                <a:solidFill>
                  <a:srgbClr val="555555"/>
                </a:solidFill>
                <a:latin typeface="Aptos"/>
              </a:rPr>
              <a:t>BT METHOD — Engineering Baseline (canonical RTM-722) · CHART-S03 (enlarged from EVAL-S02) | v3.6</a:t>
            </a:r>
          </a:p>
        </p:txBody>
      </p:sp>
      <p:pic>
        <p:nvPicPr>
          <p:cNvPr id="7" name="Picture 6" descr="image.png"/>
          <p:cNvPicPr>
            <a:picLocks noChangeAspect="1"/>
          </p:cNvPicPr>
          <p:nvPr/>
        </p:nvPicPr>
        <p:blipFill>
          <a:blip r:embed="rId2"/>
          <a:stretch>
            <a:fillRect/>
          </a:stretch>
        </p:blipFill>
        <p:spPr>
          <a:xfrm>
            <a:off x="1998101" y="1050000"/>
            <a:ext cx="8195797" cy="4768464"/>
          </a:xfrm>
          <a:prstGeom prst="rect">
            <a:avLst/>
          </a:prstGeom>
        </p:spPr>
      </p:pic>
      <p:sp>
        <p:nvSpPr>
          <p:cNvPr id="8" name="Rectangle 7"/>
          <p:cNvSpPr/>
          <p:nvPr/>
        </p:nvSpPr>
        <p:spPr>
          <a:xfrm>
            <a:off x="320040" y="5908464"/>
            <a:ext cx="11551920" cy="548640"/>
          </a:xfrm>
          <a:prstGeom prst="rect">
            <a:avLst/>
          </a:prstGeom>
          <a:solidFill>
            <a:srgbClr val="EFE5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64008" rIns="137160"/>
          <a:lstStyle/>
          <a:p>
            <a:pPr algn="ctr"/>
            <a:r>
              <a:rPr b="1" sz="1250">
                <a:solidFill>
                  <a:srgbClr val="0B3D5C"/>
                </a:solidFill>
                <a:latin typeface="Aptos"/>
              </a:rPr>
              <a:t>Board read:  </a:t>
            </a:r>
            <a:r>
              <a:rPr sz="1250">
                <a:solidFill>
                  <a:srgbClr val="222222"/>
                </a:solidFill>
                <a:latin typeface="Aptos"/>
              </a:rPr>
              <a:t>528 scenarios — one-at-a-time ±25%/±50% per dimension, plus combinatorial sweeps. See EVAL-S02 for the full scenario methodology.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68680"/>
          </a:xfrm>
          <a:prstGeom prst="rect">
            <a:avLst/>
          </a:prstGeom>
          <a:solidFill>
            <a:srgbClr val="441F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9875520" cy="685800"/>
          </a:xfrm>
          <a:prstGeom prst="rect">
            <a:avLst/>
          </a:prstGeom>
          <a:noFill/>
        </p:spPr>
        <p:txBody>
          <a:bodyPr wrap="square">
            <a:spAutoFit/>
          </a:bodyPr>
          <a:lstStyle/>
          <a:p>
            <a:r>
              <a:rPr sz="2500" b="1">
                <a:solidFill>
                  <a:srgbClr val="FFFFFF"/>
                </a:solidFill>
                <a:latin typeface="Aptos"/>
              </a:rPr>
              <a:t>RTM requirement importance (enlarged)</a:t>
            </a:r>
          </a:p>
        </p:txBody>
      </p:sp>
      <p:sp>
        <p:nvSpPr>
          <p:cNvPr id="4" name="TextBox 3"/>
          <p:cNvSpPr txBox="1"/>
          <p:nvPr/>
        </p:nvSpPr>
        <p:spPr>
          <a:xfrm>
            <a:off x="10607040" y="292608"/>
            <a:ext cx="1371600" cy="320040"/>
          </a:xfrm>
          <a:prstGeom prst="rect">
            <a:avLst/>
          </a:prstGeom>
          <a:noFill/>
        </p:spPr>
        <p:txBody>
          <a:bodyPr wrap="none">
            <a:spAutoFit/>
          </a:bodyPr>
          <a:lstStyle/>
          <a:p>
            <a:pPr algn="r"/>
            <a:r>
              <a:rPr sz="1100" b="1">
                <a:solidFill>
                  <a:srgbClr val="BFD6E6"/>
                </a:solidFill>
                <a:latin typeface="Aptos"/>
              </a:rPr>
              <a:t>CHART-S04</a:t>
            </a:r>
          </a:p>
        </p:txBody>
      </p:sp>
      <p:sp>
        <p:nvSpPr>
          <p:cNvPr id="5" name="Rectangle 4"/>
          <p:cNvSpPr/>
          <p:nvPr/>
        </p:nvSpPr>
        <p:spPr>
          <a:xfrm>
            <a:off x="0" y="6547104"/>
            <a:ext cx="12192000" cy="310896"/>
          </a:xfrm>
          <a:prstGeom prst="rect">
            <a:avLst/>
          </a:prstGeom>
          <a:solidFill>
            <a:srgbClr val="F3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565392"/>
            <a:ext cx="10515600" cy="274320"/>
          </a:xfrm>
          <a:prstGeom prst="rect">
            <a:avLst/>
          </a:prstGeom>
          <a:noFill/>
        </p:spPr>
        <p:txBody>
          <a:bodyPr wrap="none">
            <a:spAutoFit/>
          </a:bodyPr>
          <a:lstStyle/>
          <a:p>
            <a:r>
              <a:rPr sz="850">
                <a:solidFill>
                  <a:srgbClr val="555555"/>
                </a:solidFill>
                <a:latin typeface="Aptos"/>
              </a:rPr>
              <a:t>BT METHOD — Engineering Baseline (canonical RTM-722) · CHART-S04 (enlarged from EVAL-S03) | v3.6</a:t>
            </a:r>
          </a:p>
        </p:txBody>
      </p:sp>
      <p:pic>
        <p:nvPicPr>
          <p:cNvPr id="7" name="Picture 6" descr="image.png"/>
          <p:cNvPicPr>
            <a:picLocks noChangeAspect="1"/>
          </p:cNvPicPr>
          <p:nvPr/>
        </p:nvPicPr>
        <p:blipFill>
          <a:blip r:embed="rId2"/>
          <a:stretch>
            <a:fillRect/>
          </a:stretch>
        </p:blipFill>
        <p:spPr>
          <a:xfrm>
            <a:off x="1865911" y="1050000"/>
            <a:ext cx="8460178" cy="4768464"/>
          </a:xfrm>
          <a:prstGeom prst="rect">
            <a:avLst/>
          </a:prstGeom>
        </p:spPr>
      </p:pic>
      <p:sp>
        <p:nvSpPr>
          <p:cNvPr id="8" name="Rectangle 7"/>
          <p:cNvSpPr/>
          <p:nvPr/>
        </p:nvSpPr>
        <p:spPr>
          <a:xfrm>
            <a:off x="320040" y="5908464"/>
            <a:ext cx="11551920" cy="548640"/>
          </a:xfrm>
          <a:prstGeom prst="rect">
            <a:avLst/>
          </a:prstGeom>
          <a:solidFill>
            <a:srgbClr val="EFE5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64008" rIns="137160"/>
          <a:lstStyle/>
          <a:p>
            <a:pPr algn="ctr"/>
            <a:r>
              <a:rPr b="1" sz="1250">
                <a:solidFill>
                  <a:srgbClr val="0B3D5C"/>
                </a:solidFill>
                <a:latin typeface="Aptos"/>
              </a:rPr>
              <a:t>Board read:  </a:t>
            </a:r>
            <a:r>
              <a:rPr sz="1250">
                <a:solidFill>
                  <a:srgbClr val="222222"/>
                </a:solidFill>
                <a:latin typeface="Aptos"/>
              </a:rPr>
              <a:t>722 requirements ranked on identical weights — see EVAL-S03 for tier definitions and the P1-critical cutoff.</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68680"/>
          </a:xfrm>
          <a:prstGeom prst="rect">
            <a:avLst/>
          </a:prstGeom>
          <a:solidFill>
            <a:srgbClr val="441F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9875520" cy="685800"/>
          </a:xfrm>
          <a:prstGeom prst="rect">
            <a:avLst/>
          </a:prstGeom>
          <a:noFill/>
        </p:spPr>
        <p:txBody>
          <a:bodyPr wrap="square">
            <a:spAutoFit/>
          </a:bodyPr>
          <a:lstStyle/>
          <a:p>
            <a:r>
              <a:rPr sz="2500" b="1">
                <a:solidFill>
                  <a:srgbClr val="FFFFFF"/>
                </a:solidFill>
                <a:latin typeface="Aptos"/>
              </a:rPr>
              <a:t>Where the contract weight sits (enlarged)</a:t>
            </a:r>
          </a:p>
        </p:txBody>
      </p:sp>
      <p:sp>
        <p:nvSpPr>
          <p:cNvPr id="4" name="TextBox 3"/>
          <p:cNvSpPr txBox="1"/>
          <p:nvPr/>
        </p:nvSpPr>
        <p:spPr>
          <a:xfrm>
            <a:off x="10607040" y="292608"/>
            <a:ext cx="1371600" cy="320040"/>
          </a:xfrm>
          <a:prstGeom prst="rect">
            <a:avLst/>
          </a:prstGeom>
          <a:noFill/>
        </p:spPr>
        <p:txBody>
          <a:bodyPr wrap="none">
            <a:spAutoFit/>
          </a:bodyPr>
          <a:lstStyle/>
          <a:p>
            <a:pPr algn="r"/>
            <a:r>
              <a:rPr sz="1100" b="1">
                <a:solidFill>
                  <a:srgbClr val="BFD6E6"/>
                </a:solidFill>
                <a:latin typeface="Aptos"/>
              </a:rPr>
              <a:t>CHART-S05</a:t>
            </a:r>
          </a:p>
        </p:txBody>
      </p:sp>
      <p:sp>
        <p:nvSpPr>
          <p:cNvPr id="5" name="Rectangle 4"/>
          <p:cNvSpPr/>
          <p:nvPr/>
        </p:nvSpPr>
        <p:spPr>
          <a:xfrm>
            <a:off x="0" y="6547104"/>
            <a:ext cx="12192000" cy="310896"/>
          </a:xfrm>
          <a:prstGeom prst="rect">
            <a:avLst/>
          </a:prstGeom>
          <a:solidFill>
            <a:srgbClr val="F3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565392"/>
            <a:ext cx="10515600" cy="274320"/>
          </a:xfrm>
          <a:prstGeom prst="rect">
            <a:avLst/>
          </a:prstGeom>
          <a:noFill/>
        </p:spPr>
        <p:txBody>
          <a:bodyPr wrap="none">
            <a:spAutoFit/>
          </a:bodyPr>
          <a:lstStyle/>
          <a:p>
            <a:r>
              <a:rPr sz="850">
                <a:solidFill>
                  <a:srgbClr val="555555"/>
                </a:solidFill>
                <a:latin typeface="Aptos"/>
              </a:rPr>
              <a:t>BT METHOD — Engineering Baseline (canonical RTM-722) · CHART-S05 (enlarged from EVAL-S04) | v3.6</a:t>
            </a:r>
          </a:p>
        </p:txBody>
      </p:sp>
      <p:pic>
        <p:nvPicPr>
          <p:cNvPr id="7" name="Picture 6" descr="image.png"/>
          <p:cNvPicPr>
            <a:picLocks noChangeAspect="1"/>
          </p:cNvPicPr>
          <p:nvPr/>
        </p:nvPicPr>
        <p:blipFill>
          <a:blip r:embed="rId2"/>
          <a:stretch>
            <a:fillRect/>
          </a:stretch>
        </p:blipFill>
        <p:spPr>
          <a:xfrm>
            <a:off x="2122280" y="1050000"/>
            <a:ext cx="7947440" cy="4768464"/>
          </a:xfrm>
          <a:prstGeom prst="rect">
            <a:avLst/>
          </a:prstGeom>
        </p:spPr>
      </p:pic>
      <p:sp>
        <p:nvSpPr>
          <p:cNvPr id="8" name="Rectangle 7"/>
          <p:cNvSpPr/>
          <p:nvPr/>
        </p:nvSpPr>
        <p:spPr>
          <a:xfrm>
            <a:off x="320040" y="5908464"/>
            <a:ext cx="11551920" cy="548640"/>
          </a:xfrm>
          <a:prstGeom prst="rect">
            <a:avLst/>
          </a:prstGeom>
          <a:solidFill>
            <a:srgbClr val="EFE5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64008" rIns="137160"/>
          <a:lstStyle/>
          <a:p>
            <a:pPr algn="ctr"/>
            <a:r>
              <a:rPr b="1" sz="1250">
                <a:solidFill>
                  <a:srgbClr val="0B3D5C"/>
                </a:solidFill>
                <a:latin typeface="Aptos"/>
              </a:rPr>
              <a:t>Board read:  </a:t>
            </a:r>
            <a:r>
              <a:rPr sz="1250">
                <a:solidFill>
                  <a:srgbClr val="222222"/>
                </a:solidFill>
                <a:latin typeface="Aptos"/>
              </a:rPr>
              <a:t>Use for review staffing — put your strongest reviewers on the highest-weight sections. See EVAL-S04 for the full section ranking.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68680"/>
          </a:xfrm>
          <a:prstGeom prst="rect">
            <a:avLst/>
          </a:prstGeom>
          <a:solidFill>
            <a:srgbClr val="441F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9875520" cy="685800"/>
          </a:xfrm>
          <a:prstGeom prst="rect">
            <a:avLst/>
          </a:prstGeom>
          <a:noFill/>
        </p:spPr>
        <p:txBody>
          <a:bodyPr wrap="square">
            <a:spAutoFit/>
          </a:bodyPr>
          <a:lstStyle/>
          <a:p>
            <a:r>
              <a:rPr sz="2500" b="1">
                <a:solidFill>
                  <a:srgbClr val="FFFFFF"/>
                </a:solidFill>
                <a:latin typeface="Aptos"/>
              </a:rPr>
              <a:t>OFFER importance — granular breakdown (1 of 2)</a:t>
            </a:r>
          </a:p>
        </p:txBody>
      </p:sp>
      <p:sp>
        <p:nvSpPr>
          <p:cNvPr id="4" name="TextBox 3"/>
          <p:cNvSpPr txBox="1"/>
          <p:nvPr/>
        </p:nvSpPr>
        <p:spPr>
          <a:xfrm>
            <a:off x="10307040" y="292608"/>
            <a:ext cx="1671600" cy="320040"/>
          </a:xfrm>
          <a:prstGeom prst="rect">
            <a:avLst/>
          </a:prstGeom>
          <a:noFill/>
        </p:spPr>
        <p:txBody>
          <a:bodyPr wrap="none">
            <a:spAutoFit/>
          </a:bodyPr>
          <a:lstStyle/>
          <a:p>
            <a:pPr algn="r"/>
            <a:r>
              <a:rPr sz="1100" b="1">
                <a:solidFill>
                  <a:srgbClr val="BFD6E6"/>
                </a:solidFill>
                <a:latin typeface="Aptos"/>
              </a:rPr>
              <a:t>EVAL-S07</a:t>
            </a:r>
          </a:p>
        </p:txBody>
      </p:sp>
      <p:sp>
        <p:nvSpPr>
          <p:cNvPr id="5" name="Rectangle 4"/>
          <p:cNvSpPr/>
          <p:nvPr/>
        </p:nvSpPr>
        <p:spPr>
          <a:xfrm>
            <a:off x="0" y="6547104"/>
            <a:ext cx="12192000" cy="310896"/>
          </a:xfrm>
          <a:prstGeom prst="rect">
            <a:avLst/>
          </a:prstGeom>
          <a:solidFill>
            <a:srgbClr val="F3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565392"/>
            <a:ext cx="10515600" cy="274320"/>
          </a:xfrm>
          <a:prstGeom prst="rect">
            <a:avLst/>
          </a:prstGeom>
          <a:noFill/>
        </p:spPr>
        <p:txBody>
          <a:bodyPr wrap="none">
            <a:spAutoFit/>
          </a:bodyPr>
          <a:lstStyle/>
          <a:p>
            <a:r>
              <a:rPr sz="850">
                <a:solidFill>
                  <a:srgbClr val="555555"/>
                </a:solidFill>
                <a:latin typeface="Aptos"/>
              </a:rPr>
              <a:t>BT METHOD — Engineering Baseline (canonical RTM-722) · EVAL-S07 (granular split of EVAL-S01) | v3.7</a:t>
            </a:r>
          </a:p>
        </p:txBody>
      </p:sp>
      <p:pic>
        <p:nvPicPr>
          <p:cNvPr id="7" name="Picture 6" descr="offer_top25.png"/>
          <p:cNvPicPr>
            <a:picLocks noChangeAspect="1"/>
          </p:cNvPicPr>
          <p:nvPr/>
        </p:nvPicPr>
        <p:blipFill>
          <a:blip r:embed="rId2"/>
          <a:stretch>
            <a:fillRect/>
          </a:stretch>
        </p:blipFill>
        <p:spPr>
          <a:xfrm>
            <a:off x="3274106" y="1000000"/>
            <a:ext cx="5643788" cy="4997104"/>
          </a:xfrm>
          <a:prstGeom prst="rect">
            <a:avLst/>
          </a:prstGeom>
        </p:spPr>
      </p:pic>
      <p:sp>
        <p:nvSpPr>
          <p:cNvPr id="8" name="Rectangle 7"/>
          <p:cNvSpPr/>
          <p:nvPr/>
        </p:nvSpPr>
        <p:spPr>
          <a:xfrm>
            <a:off x="320040" y="6057104"/>
            <a:ext cx="11551920" cy="430000"/>
          </a:xfrm>
          <a:prstGeom prst="rect">
            <a:avLst/>
          </a:prstGeom>
          <a:solidFill>
            <a:srgbClr val="EFE5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64008" rIns="137160"/>
          <a:lstStyle/>
          <a:p>
            <a:pPr algn="ctr"/>
            <a:r>
              <a:rPr b="1" sz="1200">
                <a:solidFill>
                  <a:srgbClr val="0B3D5C"/>
                </a:solidFill>
                <a:latin typeface="Aptos"/>
              </a:rPr>
              <a:t>Note:  </a:t>
            </a:r>
            <a:r>
              <a:rPr sz="1200">
                <a:solidFill>
                  <a:srgbClr val="222222"/>
                </a:solidFill>
                <a:latin typeface="Aptos"/>
              </a:rPr>
              <a:t>Same 50-item ranking as EVAL-S01, split for legibility — ranks 1-25 here, 26-50 on the next slide. Recomputed from the current OFFER_RANKING sheet (v9).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68680"/>
          </a:xfrm>
          <a:prstGeom prst="rect">
            <a:avLst/>
          </a:prstGeom>
          <a:solidFill>
            <a:srgbClr val="441F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9875520" cy="685800"/>
          </a:xfrm>
          <a:prstGeom prst="rect">
            <a:avLst/>
          </a:prstGeom>
          <a:noFill/>
        </p:spPr>
        <p:txBody>
          <a:bodyPr wrap="square">
            <a:spAutoFit/>
          </a:bodyPr>
          <a:lstStyle/>
          <a:p>
            <a:r>
              <a:rPr sz="2500" b="1">
                <a:solidFill>
                  <a:srgbClr val="FFFFFF"/>
                </a:solidFill>
                <a:latin typeface="Aptos"/>
              </a:rPr>
              <a:t>OFFER importance — granular breakdown (2 of 2)</a:t>
            </a:r>
          </a:p>
        </p:txBody>
      </p:sp>
      <p:sp>
        <p:nvSpPr>
          <p:cNvPr id="4" name="TextBox 3"/>
          <p:cNvSpPr txBox="1"/>
          <p:nvPr/>
        </p:nvSpPr>
        <p:spPr>
          <a:xfrm>
            <a:off x="10307040" y="292608"/>
            <a:ext cx="1671600" cy="320040"/>
          </a:xfrm>
          <a:prstGeom prst="rect">
            <a:avLst/>
          </a:prstGeom>
          <a:noFill/>
        </p:spPr>
        <p:txBody>
          <a:bodyPr wrap="none">
            <a:spAutoFit/>
          </a:bodyPr>
          <a:lstStyle/>
          <a:p>
            <a:pPr algn="r"/>
            <a:r>
              <a:rPr sz="1100" b="1">
                <a:solidFill>
                  <a:srgbClr val="BFD6E6"/>
                </a:solidFill>
                <a:latin typeface="Aptos"/>
              </a:rPr>
              <a:t>EVAL-S08</a:t>
            </a:r>
          </a:p>
        </p:txBody>
      </p:sp>
      <p:sp>
        <p:nvSpPr>
          <p:cNvPr id="5" name="Rectangle 4"/>
          <p:cNvSpPr/>
          <p:nvPr/>
        </p:nvSpPr>
        <p:spPr>
          <a:xfrm>
            <a:off x="0" y="6547104"/>
            <a:ext cx="12192000" cy="310896"/>
          </a:xfrm>
          <a:prstGeom prst="rect">
            <a:avLst/>
          </a:prstGeom>
          <a:solidFill>
            <a:srgbClr val="F3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565392"/>
            <a:ext cx="10515600" cy="274320"/>
          </a:xfrm>
          <a:prstGeom prst="rect">
            <a:avLst/>
          </a:prstGeom>
          <a:noFill/>
        </p:spPr>
        <p:txBody>
          <a:bodyPr wrap="none">
            <a:spAutoFit/>
          </a:bodyPr>
          <a:lstStyle/>
          <a:p>
            <a:r>
              <a:rPr sz="850">
                <a:solidFill>
                  <a:srgbClr val="555555"/>
                </a:solidFill>
                <a:latin typeface="Aptos"/>
              </a:rPr>
              <a:t>BT METHOD — Engineering Baseline (canonical RTM-722) · EVAL-S08 (granular split of EVAL-S01) | v3.7</a:t>
            </a:r>
          </a:p>
        </p:txBody>
      </p:sp>
      <p:pic>
        <p:nvPicPr>
          <p:cNvPr id="7" name="Picture 6" descr="offer_bottom25.png"/>
          <p:cNvPicPr>
            <a:picLocks noChangeAspect="1"/>
          </p:cNvPicPr>
          <p:nvPr/>
        </p:nvPicPr>
        <p:blipFill>
          <a:blip r:embed="rId2"/>
          <a:stretch>
            <a:fillRect/>
          </a:stretch>
        </p:blipFill>
        <p:spPr>
          <a:xfrm>
            <a:off x="3274106" y="1000000"/>
            <a:ext cx="5643788" cy="4997104"/>
          </a:xfrm>
          <a:prstGeom prst="rect">
            <a:avLst/>
          </a:prstGeom>
        </p:spPr>
      </p:pic>
      <p:sp>
        <p:nvSpPr>
          <p:cNvPr id="8" name="Rectangle 7"/>
          <p:cNvSpPr/>
          <p:nvPr/>
        </p:nvSpPr>
        <p:spPr>
          <a:xfrm>
            <a:off x="320040" y="6057104"/>
            <a:ext cx="11551920" cy="430000"/>
          </a:xfrm>
          <a:prstGeom prst="rect">
            <a:avLst/>
          </a:prstGeom>
          <a:solidFill>
            <a:srgbClr val="EFE5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64008" rIns="137160"/>
          <a:lstStyle/>
          <a:p>
            <a:pPr algn="ctr"/>
            <a:r>
              <a:rPr b="1" sz="1200">
                <a:solidFill>
                  <a:srgbClr val="0B3D5C"/>
                </a:solidFill>
                <a:latin typeface="Aptos"/>
              </a:rPr>
              <a:t>Note:  </a:t>
            </a:r>
            <a:r>
              <a:rPr sz="1200">
                <a:solidFill>
                  <a:srgbClr val="222222"/>
                </a:solidFill>
                <a:latin typeface="Aptos"/>
              </a:rPr>
              <a:t>Ranks 26-50 of 50 — mostly T2 Secondary and T3 Contextual items; no T0 Gate or T1 Primary items fall below rank 25.</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68680"/>
          </a:xfrm>
          <a:prstGeom prst="rect">
            <a:avLst/>
          </a:prstGeom>
          <a:solidFill>
            <a:srgbClr val="441F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9875520" cy="685800"/>
          </a:xfrm>
          <a:prstGeom prst="rect">
            <a:avLst/>
          </a:prstGeom>
          <a:noFill/>
        </p:spPr>
        <p:txBody>
          <a:bodyPr wrap="square">
            <a:spAutoFit/>
          </a:bodyPr>
          <a:lstStyle/>
          <a:p>
            <a:r>
              <a:rPr sz="2500" b="1">
                <a:solidFill>
                  <a:srgbClr val="FFFFFF"/>
                </a:solidFill>
                <a:latin typeface="Aptos"/>
              </a:rPr>
              <a:t>Requirement structure: 7 dimensions, not 1 (PCA)</a:t>
            </a:r>
          </a:p>
        </p:txBody>
      </p:sp>
      <p:sp>
        <p:nvSpPr>
          <p:cNvPr id="4" name="TextBox 3"/>
          <p:cNvSpPr txBox="1"/>
          <p:nvPr/>
        </p:nvSpPr>
        <p:spPr>
          <a:xfrm>
            <a:off x="10607040" y="292608"/>
            <a:ext cx="1371600" cy="320040"/>
          </a:xfrm>
          <a:prstGeom prst="rect">
            <a:avLst/>
          </a:prstGeom>
          <a:noFill/>
        </p:spPr>
        <p:txBody>
          <a:bodyPr wrap="none">
            <a:spAutoFit/>
          </a:bodyPr>
          <a:lstStyle/>
          <a:p>
            <a:pPr algn="r"/>
            <a:r>
              <a:rPr sz="1100" b="1">
                <a:solidFill>
                  <a:srgbClr val="BFD6E6"/>
                </a:solidFill>
                <a:latin typeface="Aptos"/>
              </a:rPr>
              <a:t>EVAL-S10</a:t>
            </a:r>
          </a:p>
        </p:txBody>
      </p:sp>
      <p:sp>
        <p:nvSpPr>
          <p:cNvPr id="5" name="Rectangle 4"/>
          <p:cNvSpPr/>
          <p:nvPr/>
        </p:nvSpPr>
        <p:spPr>
          <a:xfrm>
            <a:off x="0" y="6547104"/>
            <a:ext cx="12192000" cy="310896"/>
          </a:xfrm>
          <a:prstGeom prst="rect">
            <a:avLst/>
          </a:prstGeom>
          <a:solidFill>
            <a:srgbClr val="F3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565392"/>
            <a:ext cx="10515600" cy="274320"/>
          </a:xfrm>
          <a:prstGeom prst="rect">
            <a:avLst/>
          </a:prstGeom>
          <a:noFill/>
        </p:spPr>
        <p:txBody>
          <a:bodyPr wrap="none">
            <a:spAutoFit/>
          </a:bodyPr>
          <a:lstStyle/>
          <a:p>
            <a:r>
              <a:rPr sz="850">
                <a:solidFill>
                  <a:srgbClr val="555555"/>
                </a:solidFill>
                <a:latin typeface="Aptos"/>
              </a:rPr>
              <a:t>BT METHOD — Engineering Baseline (canonical RTM-722) · EVAL-S10 (PCA structure analysis, new) | v3.7</a:t>
            </a:r>
          </a:p>
        </p:txBody>
      </p:sp>
      <p:pic>
        <p:nvPicPr>
          <p:cNvPr id="7" name="Picture 6" descr="pca_scatter.png"/>
          <p:cNvPicPr>
            <a:picLocks noChangeAspect="1"/>
          </p:cNvPicPr>
          <p:nvPr/>
        </p:nvPicPr>
        <p:blipFill>
          <a:blip r:embed="rId2"/>
          <a:stretch>
            <a:fillRect/>
          </a:stretch>
        </p:blipFill>
        <p:spPr>
          <a:xfrm>
            <a:off x="457200" y="960120"/>
            <a:ext cx="5919769" cy="4100000"/>
          </a:xfrm>
          <a:prstGeom prst="rect">
            <a:avLst/>
          </a:prstGeom>
        </p:spPr>
      </p:pic>
      <p:sp>
        <p:nvSpPr>
          <p:cNvPr id="8" name="Rectangle 7"/>
          <p:cNvSpPr/>
          <p:nvPr/>
        </p:nvSpPr>
        <p:spPr>
          <a:xfrm>
            <a:off x="411480" y="5150000"/>
            <a:ext cx="10545840" cy="1330000"/>
          </a:xfrm>
          <a:prstGeom prst="rect">
            <a:avLst/>
          </a:prstGeom>
          <a:solidFill>
            <a:srgbClr val="EFE5F5"/>
          </a:solidFill>
          <a:ln w="9525">
            <a:solidFill>
              <a:srgbClr val="441F63"/>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68580" bIns="68580"/>
          <a:lstStyle/>
          <a:p>
            <a:pPr algn="ctr">
              <a:spcAft>
                <a:spcPts val="400"/>
              </a:spcAft>
            </a:pPr>
            <a:r>
              <a:rPr b="1" sz="1100">
                <a:solidFill>
                  <a:srgbClr val="441F63"/>
                </a:solidFill>
                <a:latin typeface="Aptos"/>
              </a:rPr>
              <a:t>What you're looking at:  </a:t>
            </a:r>
            <a:r>
              <a:rPr sz="1100">
                <a:solidFill>
                  <a:srgbClr val="333333"/>
                </a:solidFill>
                <a:latin typeface="Aptos"/>
              </a:rPr>
              <a:t>each dot is one of the 722 RTMs, projected from its 7 raw BT-dimension scores (Safety/Legal, Reliability, Performance, Functional, Quality, Lifecycle, Cost) down to the 2 directions of greatest spread (PCA). Colour = Domain; red rings = the 43 T0 Gate items.</a:t>
            </a:r>
          </a:p>
          <a:p>
            <a:pPr>
              <a:spcAft>
                <a:spcPts val="400"/>
              </a:spcAft>
            </a:pPr>
            <a:r>
              <a:rPr b="1" sz="1100">
                <a:solidFill>
                  <a:srgbClr val="441F63"/>
                </a:solidFill>
                <a:latin typeface="Aptos"/>
              </a:rPr>
              <a:t>The read:  </a:t>
            </a:r>
            <a:r>
              <a:rPr sz="1100">
                <a:solidFill>
                  <a:srgbClr val="333333"/>
                </a:solidFill>
                <a:latin typeface="Aptos"/>
              </a:rPr>
              <a:t>no single axis dominates (PC1 is only 30.6% of the variance — it takes 5 of the 7 original dimensions to explain 84.5%) — this is genuinely 7-dimensional data, which is why the scoring keeps all 7 weighted dimensions rather than collapsing to a simpler score. Gate items (red rings) sit almost entirely on the right/positive side — the compliance/quality pole — while the four largest bulk domains (Subsystems, Control &amp; Interlock, dark/light blue) sit on the opposite, engineering-performance pole. That separation is *why* volume and per-item stakes diverge (see next slide).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68680"/>
          </a:xfrm>
          <a:prstGeom prst="rect">
            <a:avLst/>
          </a:prstGeom>
          <a:solidFill>
            <a:srgbClr val="441F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9875520" cy="685800"/>
          </a:xfrm>
          <a:prstGeom prst="rect">
            <a:avLst/>
          </a:prstGeom>
          <a:noFill/>
        </p:spPr>
        <p:txBody>
          <a:bodyPr wrap="square">
            <a:spAutoFit/>
          </a:bodyPr>
          <a:lstStyle/>
          <a:p>
            <a:r>
              <a:rPr sz="2500" b="1">
                <a:solidFill>
                  <a:srgbClr val="FFFFFF"/>
                </a:solidFill>
                <a:latin typeface="Aptos"/>
              </a:rPr>
              <a:t>Why volume and importance diverge, by domain</a:t>
            </a:r>
          </a:p>
        </p:txBody>
      </p:sp>
      <p:sp>
        <p:nvSpPr>
          <p:cNvPr id="4" name="TextBox 3"/>
          <p:cNvSpPr txBox="1"/>
          <p:nvPr/>
        </p:nvSpPr>
        <p:spPr>
          <a:xfrm>
            <a:off x="10607040" y="292608"/>
            <a:ext cx="1371600" cy="320040"/>
          </a:xfrm>
          <a:prstGeom prst="rect">
            <a:avLst/>
          </a:prstGeom>
          <a:noFill/>
        </p:spPr>
        <p:txBody>
          <a:bodyPr wrap="none">
            <a:spAutoFit/>
          </a:bodyPr>
          <a:lstStyle/>
          <a:p>
            <a:pPr algn="r"/>
            <a:r>
              <a:rPr sz="1100" b="1">
                <a:solidFill>
                  <a:srgbClr val="BFD6E6"/>
                </a:solidFill>
                <a:latin typeface="Aptos"/>
              </a:rPr>
              <a:t>EVAL-S11</a:t>
            </a:r>
          </a:p>
        </p:txBody>
      </p:sp>
      <p:sp>
        <p:nvSpPr>
          <p:cNvPr id="5" name="Rectangle 4"/>
          <p:cNvSpPr/>
          <p:nvPr/>
        </p:nvSpPr>
        <p:spPr>
          <a:xfrm>
            <a:off x="0" y="6547104"/>
            <a:ext cx="12192000" cy="310896"/>
          </a:xfrm>
          <a:prstGeom prst="rect">
            <a:avLst/>
          </a:prstGeom>
          <a:solidFill>
            <a:srgbClr val="F3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565392"/>
            <a:ext cx="10515600" cy="274320"/>
          </a:xfrm>
          <a:prstGeom prst="rect">
            <a:avLst/>
          </a:prstGeom>
          <a:noFill/>
        </p:spPr>
        <p:txBody>
          <a:bodyPr wrap="none">
            <a:spAutoFit/>
          </a:bodyPr>
          <a:lstStyle/>
          <a:p>
            <a:r>
              <a:rPr sz="850">
                <a:solidFill>
                  <a:srgbClr val="555555"/>
                </a:solidFill>
                <a:latin typeface="Aptos"/>
              </a:rPr>
              <a:t>BT METHOD — Engineering Baseline (canonical RTM-722) · EVAL-S11 (PCA structure analysis, new) | v3.7</a:t>
            </a:r>
          </a:p>
        </p:txBody>
      </p:sp>
      <p:pic>
        <p:nvPicPr>
          <p:cNvPr id="7" name="Picture 6" descr="domain_quadrant.png"/>
          <p:cNvPicPr>
            <a:picLocks noChangeAspect="1"/>
          </p:cNvPicPr>
          <p:nvPr/>
        </p:nvPicPr>
        <p:blipFill>
          <a:blip r:embed="rId2"/>
          <a:stretch>
            <a:fillRect/>
          </a:stretch>
        </p:blipFill>
        <p:spPr>
          <a:xfrm>
            <a:off x="457200" y="960120"/>
            <a:ext cx="5904000" cy="4100000"/>
          </a:xfrm>
          <a:prstGeom prst="rect">
            <a:avLst/>
          </a:prstGeom>
        </p:spPr>
      </p:pic>
      <p:sp>
        <p:nvSpPr>
          <p:cNvPr id="8" name="Rectangle 7"/>
          <p:cNvSpPr/>
          <p:nvPr/>
        </p:nvSpPr>
        <p:spPr>
          <a:xfrm>
            <a:off x="411480" y="5150000"/>
            <a:ext cx="10545840" cy="1330000"/>
          </a:xfrm>
          <a:prstGeom prst="rect">
            <a:avLst/>
          </a:prstGeom>
          <a:solidFill>
            <a:srgbClr val="EFE5F5"/>
          </a:solidFill>
          <a:ln w="9525">
            <a:solidFill>
              <a:srgbClr val="441F63"/>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68580" bIns="68580"/>
          <a:lstStyle/>
          <a:p>
            <a:pPr algn="ctr">
              <a:spcAft>
                <a:spcPts val="400"/>
              </a:spcAft>
            </a:pPr>
            <a:r>
              <a:rPr b="1" sz="1100">
                <a:solidFill>
                  <a:srgbClr val="441F63"/>
                </a:solidFill>
                <a:latin typeface="Aptos"/>
              </a:rPr>
              <a:t>What you're looking at:  </a:t>
            </a:r>
            <a:r>
              <a:rPr sz="1100">
                <a:solidFill>
                  <a:srgbClr val="333333"/>
                </a:solidFill>
                <a:latin typeface="Aptos"/>
              </a:rPr>
              <a:t>every contract Domain plotted by its Average Weighted S (x — per-item stakes) against its RTM count (y, log scale — review volume). Bubble size also scales with count.</a:t>
            </a:r>
          </a:p>
          <a:p>
            <a:pPr>
              <a:spcAft>
                <a:spcPts val="400"/>
              </a:spcAft>
            </a:pPr>
            <a:r>
              <a:rPr b="1" sz="1100">
                <a:solidFill>
                  <a:srgbClr val="441F63"/>
                </a:solidFill>
                <a:latin typeface="Aptos"/>
              </a:rPr>
              <a:t>The read:  </a:t>
            </a:r>
            <a:r>
              <a:rPr sz="1100">
                <a:solidFill>
                  <a:srgbClr val="333333"/>
                </a:solidFill>
                <a:latin typeface="Aptos"/>
              </a:rPr>
              <a:t>Subsystems is the largest bubble (202 RTMs, top of the chart) but sits mid-pack on the x-axis (avg 32.0) — it dominates total/summed weight purely because of its size, not because each of its requirements is unusually high-stakes. Small domains far to the right (Commissioning avg 44.3, After-Sales avg 42.0, both n&lt;5) carry the highest per-item stakes but negligible volume. Use the y-axis to plan REVIEW STAFFING (where the hours go) and the x-axis to plan REVIEW SENIORITY (which few items need your most experienced reviewer) — they are answering two different questions, not one.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68680"/>
          </a:xfrm>
          <a:prstGeom prst="rect">
            <a:avLst/>
          </a:prstGeom>
          <a:solidFill>
            <a:srgbClr val="441F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9875520" cy="685800"/>
          </a:xfrm>
          <a:prstGeom prst="rect">
            <a:avLst/>
          </a:prstGeom>
          <a:noFill/>
        </p:spPr>
        <p:txBody>
          <a:bodyPr wrap="square">
            <a:spAutoFit/>
          </a:bodyPr>
          <a:lstStyle/>
          <a:p>
            <a:r>
              <a:rPr sz="2400" b="1">
                <a:solidFill>
                  <a:srgbClr val="FFFFFF"/>
                </a:solidFill>
                <a:latin typeface="Aptos"/>
              </a:rPr>
              <a:t>Deliverables Dossier — Applicable Documentation</a:t>
            </a:r>
          </a:p>
        </p:txBody>
      </p:sp>
      <p:sp>
        <p:nvSpPr>
          <p:cNvPr id="4" name="TextBox 3"/>
          <p:cNvSpPr txBox="1"/>
          <p:nvPr/>
        </p:nvSpPr>
        <p:spPr>
          <a:xfrm>
            <a:off x="10607040" y="292608"/>
            <a:ext cx="1371600" cy="320040"/>
          </a:xfrm>
          <a:prstGeom prst="rect">
            <a:avLst/>
          </a:prstGeom>
          <a:noFill/>
        </p:spPr>
        <p:txBody>
          <a:bodyPr wrap="none">
            <a:spAutoFit/>
          </a:bodyPr>
          <a:lstStyle/>
          <a:p>
            <a:pPr algn="r"/>
            <a:r>
              <a:rPr sz="1100" b="1">
                <a:solidFill>
                  <a:srgbClr val="BFD6E6"/>
                </a:solidFill>
                <a:latin typeface="Aptos"/>
              </a:rPr>
              <a:t>EVAL-S12</a:t>
            </a:r>
          </a:p>
        </p:txBody>
      </p:sp>
      <p:sp>
        <p:nvSpPr>
          <p:cNvPr id="5" name="Rectangle 4"/>
          <p:cNvSpPr/>
          <p:nvPr/>
        </p:nvSpPr>
        <p:spPr>
          <a:xfrm>
            <a:off x="0" y="6547104"/>
            <a:ext cx="12192000" cy="310896"/>
          </a:xfrm>
          <a:prstGeom prst="rect">
            <a:avLst/>
          </a:prstGeom>
          <a:solidFill>
            <a:srgbClr val="F3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565392"/>
            <a:ext cx="10515600" cy="274320"/>
          </a:xfrm>
          <a:prstGeom prst="rect">
            <a:avLst/>
          </a:prstGeom>
          <a:noFill/>
        </p:spPr>
        <p:txBody>
          <a:bodyPr wrap="none">
            <a:spAutoFit/>
          </a:bodyPr>
          <a:lstStyle/>
          <a:p>
            <a:r>
              <a:rPr sz="850">
                <a:solidFill>
                  <a:srgbClr val="555555"/>
                </a:solidFill>
                <a:latin typeface="Aptos"/>
              </a:rPr>
              <a:t>BT METHOD — Engineering Baseline (canonical RTM-722) · EVAL-S12 (Deliverables Dossier / AD relevance, REBUILT v23: +AD_07/AD_08) | v3.9</a:t>
            </a:r>
          </a:p>
        </p:txBody>
      </p:sp>
      <p:sp>
        <p:nvSpPr>
          <p:cNvPr id="7" name="TextBox 6"/>
          <p:cNvSpPr txBox="1"/>
          <p:nvPr/>
        </p:nvSpPr>
        <p:spPr>
          <a:xfrm>
            <a:off x="411480" y="940000"/>
            <a:ext cx="11400000" cy="280000"/>
          </a:xfrm>
          <a:prstGeom prst="rect">
            <a:avLst/>
          </a:prstGeom>
          <a:noFill/>
        </p:spPr>
        <p:txBody>
          <a:bodyPr wrap="square">
            <a:spAutoFit/>
          </a:bodyPr>
          <a:lstStyle/>
          <a:p>
            <a:r>
              <a:rPr sz="1150">
                <a:solidFill>
                  <a:srgbClr val="222222"/>
                </a:solidFill>
                <a:latin typeface="Aptos"/>
              </a:rPr>
              <a:t>8 top-level document groups (34 entries incl. sub-items): AD_01-06 from the contract's own Table 2, AD_07/AD_08 from GBO's project working folder (self-declared RTM anchors, not a text scan).</a:t>
            </a:r>
          </a:p>
        </p:txBody>
      </p:sp>
      <p:graphicFrame>
        <p:nvGraphicFramePr>
          <p:cNvPr id="8" name="Table 7"/>
          <p:cNvGraphicFramePr>
            <a:graphicFrameLocks noGrp="1"/>
          </p:cNvGraphicFramePr>
          <p:nvPr/>
        </p:nvGraphicFramePr>
        <p:xfrm>
          <a:off x="411480" y="1360000"/>
          <a:ext cx="6900000" cy="2900000"/>
        </p:xfrm>
        <a:graphic>
          <a:graphicData uri="http://schemas.openxmlformats.org/drawingml/2006/table">
            <a:tbl>
              <a:tblPr firstRow="1" bandRow="1">
                <a:tableStyleId>{5C22544A-7EE6-4342-B048-85BDC9FD1C3A}</a:tableStyleId>
              </a:tblPr>
              <a:tblGrid>
                <a:gridCol w="900000"/>
                <a:gridCol w="3900000"/>
                <a:gridCol w="1050000"/>
                <a:gridCol w="1050000"/>
              </a:tblGrid>
              <a:tr h="322222">
                <a:tc>
                  <a:txBody>
                    <a:bodyPr/>
                    <a:lstStyle/>
                    <a:p>
                      <a:r>
                        <a:rPr sz="950" b="1">
                          <a:solidFill>
                            <a:srgbClr val="FFFFFF"/>
                          </a:solidFill>
                          <a:latin typeface="Aptos"/>
                        </a:rPr>
                        <a:t>AD ID</a:t>
                      </a:r>
                    </a:p>
                  </a:txBody>
                  <a:tcPr>
                    <a:solidFill>
                      <a:srgbClr val="0B3D5C"/>
                    </a:solidFill>
                  </a:tcPr>
                </a:tc>
                <a:tc>
                  <a:txBody>
                    <a:bodyPr/>
                    <a:lstStyle/>
                    <a:p>
                      <a:r>
                        <a:rPr sz="950" b="1">
                          <a:solidFill>
                            <a:srgbClr val="FFFFFF"/>
                          </a:solidFill>
                          <a:latin typeface="Aptos"/>
                        </a:rPr>
                        <a:t>Document group</a:t>
                      </a:r>
                    </a:p>
                  </a:txBody>
                  <a:tcPr>
                    <a:solidFill>
                      <a:srgbClr val="0B3D5C"/>
                    </a:solidFill>
                  </a:tcPr>
                </a:tc>
                <a:tc>
                  <a:txBody>
                    <a:bodyPr/>
                    <a:lstStyle/>
                    <a:p>
                      <a:r>
                        <a:rPr sz="950" b="1">
                          <a:solidFill>
                            <a:srgbClr val="FFFFFF"/>
                          </a:solidFill>
                          <a:latin typeface="Aptos"/>
                        </a:rPr>
                        <a:t>Sub-items</a:t>
                      </a:r>
                    </a:p>
                  </a:txBody>
                  <a:tcPr>
                    <a:solidFill>
                      <a:srgbClr val="0B3D5C"/>
                    </a:solidFill>
                  </a:tcPr>
                </a:tc>
                <a:tc>
                  <a:txBody>
                    <a:bodyPr/>
                    <a:lstStyle/>
                    <a:p>
                      <a:r>
                        <a:rPr sz="950" b="1">
                          <a:solidFill>
                            <a:srgbClr val="FFFFFF"/>
                          </a:solidFill>
                          <a:latin typeface="Aptos"/>
                        </a:rPr>
                        <a:t>RTMs citing</a:t>
                      </a:r>
                    </a:p>
                  </a:txBody>
                  <a:tcPr>
                    <a:solidFill>
                      <a:srgbClr val="0B3D5C"/>
                    </a:solidFill>
                  </a:tcPr>
                </a:tc>
              </a:tr>
              <a:tr h="322222">
                <a:tc>
                  <a:txBody>
                    <a:bodyPr/>
                    <a:lstStyle/>
                    <a:p>
                      <a:r>
                        <a:rPr sz="880" b="1">
                          <a:solidFill>
                            <a:srgbClr val="0B3D5C"/>
                          </a:solidFill>
                          <a:latin typeface="Aptos"/>
                        </a:rPr>
                        <a:t>AD_01</a:t>
                      </a:r>
                    </a:p>
                  </a:txBody>
                  <a:tcPr>
                    <a:solidFill>
                      <a:srgbClr val="FFFFFF"/>
                    </a:solidFill>
                  </a:tcPr>
                </a:tc>
                <a:tc>
                  <a:txBody>
                    <a:bodyPr/>
                    <a:lstStyle/>
                    <a:p>
                      <a:r>
                        <a:rPr sz="880">
                          <a:solidFill>
                            <a:srgbClr val="222222"/>
                          </a:solidFill>
                          <a:latin typeface="Aptos"/>
                        </a:rPr>
                        <a:t>Auxiliary Building (ZIP file, including Navigation of Drawings)</a:t>
                      </a:r>
                    </a:p>
                  </a:txBody>
                  <a:tcPr>
                    <a:solidFill>
                      <a:srgbClr val="FFFFFF"/>
                    </a:solidFill>
                  </a:tcPr>
                </a:tc>
                <a:tc>
                  <a:txBody>
                    <a:bodyPr/>
                    <a:lstStyle/>
                    <a:p>
                      <a:r>
                        <a:rPr sz="880">
                          <a:solidFill>
                            <a:srgbClr val="222222"/>
                          </a:solidFill>
                          <a:latin typeface="Aptos"/>
                        </a:rPr>
                        <a:t>19</a:t>
                      </a:r>
                    </a:p>
                  </a:txBody>
                  <a:tcPr>
                    <a:solidFill>
                      <a:srgbClr val="FFFFFF"/>
                    </a:solidFill>
                  </a:tcPr>
                </a:tc>
                <a:tc>
                  <a:txBody>
                    <a:bodyPr/>
                    <a:lstStyle/>
                    <a:p>
                      <a:r>
                        <a:rPr sz="880">
                          <a:solidFill>
                            <a:srgbClr val="222222"/>
                          </a:solidFill>
                          <a:latin typeface="Aptos"/>
                        </a:rPr>
                        <a:t>2</a:t>
                      </a:r>
                    </a:p>
                  </a:txBody>
                  <a:tcPr>
                    <a:solidFill>
                      <a:srgbClr val="FFFFFF"/>
                    </a:solidFill>
                  </a:tcPr>
                </a:tc>
              </a:tr>
              <a:tr h="322222">
                <a:tc>
                  <a:txBody>
                    <a:bodyPr/>
                    <a:lstStyle/>
                    <a:p>
                      <a:r>
                        <a:rPr sz="880" b="1">
                          <a:solidFill>
                            <a:srgbClr val="0B3D5C"/>
                          </a:solidFill>
                          <a:latin typeface="Aptos"/>
                        </a:rPr>
                        <a:t>AD_02</a:t>
                      </a:r>
                    </a:p>
                  </a:txBody>
                  <a:tcPr>
                    <a:solidFill>
                      <a:srgbClr val="F4F7F9"/>
                    </a:solidFill>
                  </a:tcPr>
                </a:tc>
                <a:tc>
                  <a:txBody>
                    <a:bodyPr/>
                    <a:lstStyle/>
                    <a:p>
                      <a:r>
                        <a:rPr sz="880">
                          <a:solidFill>
                            <a:srgbClr val="222222"/>
                          </a:solidFill>
                          <a:latin typeface="Aptos"/>
                        </a:rPr>
                        <a:t>MINERVA Health, Safety and Environmental Plan</a:t>
                      </a:r>
                    </a:p>
                  </a:txBody>
                  <a:tcPr>
                    <a:solidFill>
                      <a:srgbClr val="F4F7F9"/>
                    </a:solidFill>
                  </a:tcPr>
                </a:tc>
                <a:tc>
                  <a:txBody>
                    <a:bodyPr/>
                    <a:lstStyle/>
                    <a:p>
                      <a:r>
                        <a:rPr sz="880">
                          <a:solidFill>
                            <a:srgbClr val="222222"/>
                          </a:solidFill>
                          <a:latin typeface="Aptos"/>
                        </a:rPr>
                        <a:t>—</a:t>
                      </a:r>
                    </a:p>
                  </a:txBody>
                  <a:tcPr>
                    <a:solidFill>
                      <a:srgbClr val="F4F7F9"/>
                    </a:solidFill>
                  </a:tcPr>
                </a:tc>
                <a:tc>
                  <a:txBody>
                    <a:bodyPr/>
                    <a:lstStyle/>
                    <a:p>
                      <a:r>
                        <a:rPr sz="880">
                          <a:solidFill>
                            <a:srgbClr val="222222"/>
                          </a:solidFill>
                          <a:latin typeface="Aptos"/>
                        </a:rPr>
                        <a:t>1</a:t>
                      </a:r>
                    </a:p>
                  </a:txBody>
                  <a:tcPr>
                    <a:solidFill>
                      <a:srgbClr val="F4F7F9"/>
                    </a:solidFill>
                  </a:tcPr>
                </a:tc>
              </a:tr>
              <a:tr h="322222">
                <a:tc>
                  <a:txBody>
                    <a:bodyPr/>
                    <a:lstStyle/>
                    <a:p>
                      <a:r>
                        <a:rPr sz="880" b="1">
                          <a:solidFill>
                            <a:srgbClr val="0B3D5C"/>
                          </a:solidFill>
                          <a:latin typeface="Aptos"/>
                        </a:rPr>
                        <a:t>AD_03</a:t>
                      </a:r>
                    </a:p>
                  </a:txBody>
                  <a:tcPr>
                    <a:solidFill>
                      <a:srgbClr val="FFFFFF"/>
                    </a:solidFill>
                  </a:tcPr>
                </a:tc>
                <a:tc>
                  <a:txBody>
                    <a:bodyPr/>
                    <a:lstStyle/>
                    <a:p>
                      <a:r>
                        <a:rPr sz="880">
                          <a:solidFill>
                            <a:srgbClr val="222222"/>
                          </a:solidFill>
                          <a:latin typeface="Aptos"/>
                        </a:rPr>
                        <a:t>3D MODEL (ZIP file, including viewer software readme)</a:t>
                      </a:r>
                    </a:p>
                  </a:txBody>
                  <a:tcPr>
                    <a:solidFill>
                      <a:srgbClr val="FFFFFF"/>
                    </a:solidFill>
                  </a:tcPr>
                </a:tc>
                <a:tc>
                  <a:txBody>
                    <a:bodyPr/>
                    <a:lstStyle/>
                    <a:p>
                      <a:r>
                        <a:rPr sz="880">
                          <a:solidFill>
                            <a:srgbClr val="222222"/>
                          </a:solidFill>
                          <a:latin typeface="Aptos"/>
                        </a:rPr>
                        <a:t>—</a:t>
                      </a:r>
                    </a:p>
                  </a:txBody>
                  <a:tcPr>
                    <a:solidFill>
                      <a:srgbClr val="FFFFFF"/>
                    </a:solidFill>
                  </a:tcPr>
                </a:tc>
                <a:tc>
                  <a:txBody>
                    <a:bodyPr/>
                    <a:lstStyle/>
                    <a:p>
                      <a:r>
                        <a:rPr sz="880">
                          <a:solidFill>
                            <a:srgbClr val="222222"/>
                          </a:solidFill>
                          <a:latin typeface="Aptos"/>
                        </a:rPr>
                        <a:t>1</a:t>
                      </a:r>
                    </a:p>
                  </a:txBody>
                  <a:tcPr>
                    <a:solidFill>
                      <a:srgbClr val="FFFFFF"/>
                    </a:solidFill>
                  </a:tcPr>
                </a:tc>
              </a:tr>
              <a:tr h="322222">
                <a:tc>
                  <a:txBody>
                    <a:bodyPr/>
                    <a:lstStyle/>
                    <a:p>
                      <a:r>
                        <a:rPr sz="880" b="1">
                          <a:solidFill>
                            <a:srgbClr val="0B3D5C"/>
                          </a:solidFill>
                          <a:latin typeface="Aptos"/>
                        </a:rPr>
                        <a:t>AD_04</a:t>
                      </a:r>
                    </a:p>
                  </a:txBody>
                  <a:tcPr>
                    <a:solidFill>
                      <a:srgbClr val="F4F7F9"/>
                    </a:solidFill>
                  </a:tcPr>
                </a:tc>
                <a:tc>
                  <a:txBody>
                    <a:bodyPr/>
                    <a:lstStyle/>
                    <a:p>
                      <a:r>
                        <a:rPr sz="880">
                          <a:solidFill>
                            <a:srgbClr val="222222"/>
                          </a:solidFill>
                          <a:latin typeface="Aptos"/>
                        </a:rPr>
                        <a:t>General Software and Hardware Requirements for Contractors</a:t>
                      </a:r>
                    </a:p>
                  </a:txBody>
                  <a:tcPr>
                    <a:solidFill>
                      <a:srgbClr val="F4F7F9"/>
                    </a:solidFill>
                  </a:tcPr>
                </a:tc>
                <a:tc>
                  <a:txBody>
                    <a:bodyPr/>
                    <a:lstStyle/>
                    <a:p>
                      <a:r>
                        <a:rPr sz="880">
                          <a:solidFill>
                            <a:srgbClr val="222222"/>
                          </a:solidFill>
                          <a:latin typeface="Aptos"/>
                        </a:rPr>
                        <a:t>—</a:t>
                      </a:r>
                    </a:p>
                  </a:txBody>
                  <a:tcPr>
                    <a:solidFill>
                      <a:srgbClr val="F4F7F9"/>
                    </a:solidFill>
                  </a:tcPr>
                </a:tc>
                <a:tc>
                  <a:txBody>
                    <a:bodyPr/>
                    <a:lstStyle/>
                    <a:p>
                      <a:r>
                        <a:rPr sz="880">
                          <a:solidFill>
                            <a:srgbClr val="222222"/>
                          </a:solidFill>
                          <a:latin typeface="Aptos"/>
                        </a:rPr>
                        <a:t>2</a:t>
                      </a:r>
                    </a:p>
                  </a:txBody>
                  <a:tcPr>
                    <a:solidFill>
                      <a:srgbClr val="F4F7F9"/>
                    </a:solidFill>
                  </a:tcPr>
                </a:tc>
              </a:tr>
              <a:tr h="322222">
                <a:tc>
                  <a:txBody>
                    <a:bodyPr/>
                    <a:lstStyle/>
                    <a:p>
                      <a:r>
                        <a:rPr sz="880" b="1">
                          <a:solidFill>
                            <a:srgbClr val="0B3D5C"/>
                          </a:solidFill>
                          <a:latin typeface="Aptos"/>
                        </a:rPr>
                        <a:t>AD_05</a:t>
                      </a:r>
                    </a:p>
                  </a:txBody>
                  <a:tcPr>
                    <a:solidFill>
                      <a:srgbClr val="FFFFFF"/>
                    </a:solidFill>
                  </a:tcPr>
                </a:tc>
                <a:tc>
                  <a:txBody>
                    <a:bodyPr/>
                    <a:lstStyle/>
                    <a:p>
                      <a:r>
                        <a:rPr sz="880">
                          <a:solidFill>
                            <a:srgbClr val="222222"/>
                          </a:solidFill>
                          <a:latin typeface="Aptos"/>
                        </a:rPr>
                        <a:t>Controls, Interlocks, and IT Documentation (ZIP file)</a:t>
                      </a:r>
                    </a:p>
                  </a:txBody>
                  <a:tcPr>
                    <a:solidFill>
                      <a:srgbClr val="FFFFFF"/>
                    </a:solidFill>
                  </a:tcPr>
                </a:tc>
                <a:tc>
                  <a:txBody>
                    <a:bodyPr/>
                    <a:lstStyle/>
                    <a:p>
                      <a:r>
                        <a:rPr sz="880">
                          <a:solidFill>
                            <a:srgbClr val="222222"/>
                          </a:solidFill>
                          <a:latin typeface="Aptos"/>
                        </a:rPr>
                        <a:t>7</a:t>
                      </a:r>
                    </a:p>
                  </a:txBody>
                  <a:tcPr>
                    <a:solidFill>
                      <a:srgbClr val="FFFFFF"/>
                    </a:solidFill>
                  </a:tcPr>
                </a:tc>
                <a:tc>
                  <a:txBody>
                    <a:bodyPr/>
                    <a:lstStyle/>
                    <a:p>
                      <a:r>
                        <a:rPr sz="880">
                          <a:solidFill>
                            <a:srgbClr val="222222"/>
                          </a:solidFill>
                          <a:latin typeface="Aptos"/>
                        </a:rPr>
                        <a:t>7</a:t>
                      </a:r>
                    </a:p>
                  </a:txBody>
                  <a:tcPr>
                    <a:solidFill>
                      <a:srgbClr val="FFFFFF"/>
                    </a:solidFill>
                  </a:tcPr>
                </a:tc>
              </a:tr>
              <a:tr h="322222">
                <a:tc>
                  <a:txBody>
                    <a:bodyPr/>
                    <a:lstStyle/>
                    <a:p>
                      <a:r>
                        <a:rPr sz="880" b="1">
                          <a:solidFill>
                            <a:srgbClr val="0B3D5C"/>
                          </a:solidFill>
                          <a:latin typeface="Aptos"/>
                        </a:rPr>
                        <a:t>AD_06</a:t>
                      </a:r>
                    </a:p>
                  </a:txBody>
                  <a:tcPr>
                    <a:solidFill>
                      <a:srgbClr val="F4F7F9"/>
                    </a:solidFill>
                  </a:tcPr>
                </a:tc>
                <a:tc>
                  <a:txBody>
                    <a:bodyPr/>
                    <a:lstStyle/>
                    <a:p>
                      <a:r>
                        <a:rPr sz="880">
                          <a:solidFill>
                            <a:srgbClr val="222222"/>
                          </a:solidFill>
                          <a:latin typeface="Aptos"/>
                        </a:rPr>
                        <a:t>ATS CAD Models Naming Convention</a:t>
                      </a:r>
                    </a:p>
                  </a:txBody>
                  <a:tcPr>
                    <a:solidFill>
                      <a:srgbClr val="F4F7F9"/>
                    </a:solidFill>
                  </a:tcPr>
                </a:tc>
                <a:tc>
                  <a:txBody>
                    <a:bodyPr/>
                    <a:lstStyle/>
                    <a:p>
                      <a:r>
                        <a:rPr sz="880">
                          <a:solidFill>
                            <a:srgbClr val="222222"/>
                          </a:solidFill>
                          <a:latin typeface="Aptos"/>
                        </a:rPr>
                        <a:t>—</a:t>
                      </a:r>
                    </a:p>
                  </a:txBody>
                  <a:tcPr>
                    <a:solidFill>
                      <a:srgbClr val="F4F7F9"/>
                    </a:solidFill>
                  </a:tcPr>
                </a:tc>
                <a:tc>
                  <a:txBody>
                    <a:bodyPr/>
                    <a:lstStyle/>
                    <a:p>
                      <a:r>
                        <a:rPr sz="880">
                          <a:solidFill>
                            <a:srgbClr val="222222"/>
                          </a:solidFill>
                          <a:latin typeface="Aptos"/>
                        </a:rPr>
                        <a:t>1</a:t>
                      </a:r>
                    </a:p>
                  </a:txBody>
                  <a:tcPr>
                    <a:solidFill>
                      <a:srgbClr val="F4F7F9"/>
                    </a:solidFill>
                  </a:tcPr>
                </a:tc>
              </a:tr>
              <a:tr h="322222">
                <a:tc>
                  <a:txBody>
                    <a:bodyPr/>
                    <a:lstStyle/>
                    <a:p>
                      <a:r>
                        <a:rPr sz="880" b="1">
                          <a:solidFill>
                            <a:srgbClr val="0B3D5C"/>
                          </a:solidFill>
                          <a:latin typeface="Aptos"/>
                        </a:rPr>
                        <a:t>AD_07 •NEW</a:t>
                      </a:r>
                    </a:p>
                  </a:txBody>
                  <a:tcPr>
                    <a:solidFill>
                      <a:srgbClr val="F0E6F8"/>
                    </a:solidFill>
                  </a:tcPr>
                </a:tc>
                <a:tc>
                  <a:txBody>
                    <a:bodyPr/>
                    <a:lstStyle/>
                    <a:p>
                      <a:r>
                        <a:rPr sz="880">
                          <a:solidFill>
                            <a:srgbClr val="222222"/>
                          </a:solidFill>
                          <a:latin typeface="Aptos"/>
                        </a:rPr>
                        <a:t>QPS Cybersecurity Policy Framework (CPF)</a:t>
                      </a:r>
                    </a:p>
                  </a:txBody>
                  <a:tcPr>
                    <a:solidFill>
                      <a:srgbClr val="F0E6F8"/>
                    </a:solidFill>
                  </a:tcPr>
                </a:tc>
                <a:tc>
                  <a:txBody>
                    <a:bodyPr/>
                    <a:lstStyle/>
                    <a:p>
                      <a:r>
                        <a:rPr sz="880">
                          <a:solidFill>
                            <a:srgbClr val="222222"/>
                          </a:solidFill>
                          <a:latin typeface="Aptos"/>
                        </a:rPr>
                        <a:t>—</a:t>
                      </a:r>
                    </a:p>
                  </a:txBody>
                  <a:tcPr>
                    <a:solidFill>
                      <a:srgbClr val="F0E6F8"/>
                    </a:solidFill>
                  </a:tcPr>
                </a:tc>
                <a:tc>
                  <a:txBody>
                    <a:bodyPr/>
                    <a:lstStyle/>
                    <a:p>
                      <a:r>
                        <a:rPr sz="880">
                          <a:solidFill>
                            <a:srgbClr val="222222"/>
                          </a:solidFill>
                          <a:latin typeface="Aptos"/>
                        </a:rPr>
                        <a:t>1</a:t>
                      </a:r>
                    </a:p>
                  </a:txBody>
                  <a:tcPr>
                    <a:solidFill>
                      <a:srgbClr val="F0E6F8"/>
                    </a:solidFill>
                  </a:tcPr>
                </a:tc>
              </a:tr>
              <a:tr h="322224">
                <a:tc>
                  <a:txBody>
                    <a:bodyPr/>
                    <a:lstStyle/>
                    <a:p>
                      <a:r>
                        <a:rPr sz="880" b="1">
                          <a:solidFill>
                            <a:srgbClr val="0B3D5C"/>
                          </a:solidFill>
                          <a:latin typeface="Aptos"/>
                        </a:rPr>
                        <a:t>AD_08 •NEW</a:t>
                      </a:r>
                    </a:p>
                  </a:txBody>
                  <a:tcPr>
                    <a:solidFill>
                      <a:srgbClr val="F0E6F8"/>
                    </a:solidFill>
                  </a:tcPr>
                </a:tc>
                <a:tc>
                  <a:txBody>
                    <a:bodyPr/>
                    <a:lstStyle/>
                    <a:p>
                      <a:r>
                        <a:rPr sz="880">
                          <a:solidFill>
                            <a:srgbClr val="222222"/>
                          </a:solidFill>
                          <a:latin typeface="Aptos"/>
                        </a:rPr>
                        <a:t>QPLANT Abnormal Scenarios and Line S Interface Clarifications</a:t>
                      </a:r>
                    </a:p>
                  </a:txBody>
                  <a:tcPr>
                    <a:solidFill>
                      <a:srgbClr val="F0E6F8"/>
                    </a:solidFill>
                  </a:tcPr>
                </a:tc>
                <a:tc>
                  <a:txBody>
                    <a:bodyPr/>
                    <a:lstStyle/>
                    <a:p>
                      <a:r>
                        <a:rPr sz="880">
                          <a:solidFill>
                            <a:srgbClr val="222222"/>
                          </a:solidFill>
                          <a:latin typeface="Aptos"/>
                        </a:rPr>
                        <a:t>—</a:t>
                      </a:r>
                    </a:p>
                  </a:txBody>
                  <a:tcPr>
                    <a:solidFill>
                      <a:srgbClr val="F0E6F8"/>
                    </a:solidFill>
                  </a:tcPr>
                </a:tc>
                <a:tc>
                  <a:txBody>
                    <a:bodyPr/>
                    <a:lstStyle/>
                    <a:p>
                      <a:r>
                        <a:rPr sz="880">
                          <a:solidFill>
                            <a:srgbClr val="222222"/>
                          </a:solidFill>
                          <a:latin typeface="Aptos"/>
                        </a:rPr>
                        <a:t>4</a:t>
                      </a:r>
                    </a:p>
                  </a:txBody>
                  <a:tcPr>
                    <a:solidFill>
                      <a:srgbClr val="F0E6F8"/>
                    </a:solidFill>
                  </a:tcPr>
                </a:tc>
              </a:tr>
            </a:tbl>
          </a:graphicData>
        </a:graphic>
      </p:graphicFrame>
      <p:sp>
        <p:nvSpPr>
          <p:cNvPr id="9" name="Rectangle 8"/>
          <p:cNvSpPr/>
          <p:nvPr/>
        </p:nvSpPr>
        <p:spPr>
          <a:xfrm>
            <a:off x="7498079" y="1360000"/>
            <a:ext cx="4343400" cy="2900000"/>
          </a:xfrm>
          <a:prstGeom prst="rect">
            <a:avLst/>
          </a:prstGeom>
          <a:solidFill>
            <a:srgbClr val="EFE5F5"/>
          </a:solidFill>
          <a:ln w="12700">
            <a:solidFill>
              <a:srgbClr val="0B3D5C"/>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0000" rIns="137160" bIns="60000">
            <a:noAutofit/>
          </a:bodyPr>
          <a:lstStyle/>
          <a:p>
            <a:pPr algn="ctr">
              <a:spcAft>
                <a:spcPts val="500"/>
              </a:spcAft>
            </a:pPr>
            <a:r>
              <a:rPr b="1" sz="1000">
                <a:solidFill>
                  <a:srgbClr val="0B3D5C"/>
                </a:solidFill>
                <a:latin typeface="Aptos"/>
              </a:rPr>
              <a:t>What's new: </a:t>
            </a:r>
            <a:r>
              <a:rPr sz="1000">
                <a:solidFill>
                  <a:srgbClr val="222222"/>
                </a:solidFill>
                <a:latin typeface="Aptos"/>
              </a:rPr>
              <a:t>AD_07 (QPS Cybersecurity Policy Framework) and AD_08 (Abnormal Scenarios/Line S) added from GBO's Master_Input folder -- project working docs, not contract Table 2 entries, disclosed as such.</a:t>
            </a:r>
          </a:p>
          <a:p>
            <a:pPr>
              <a:spcAft>
                <a:spcPts val="500"/>
              </a:spcAft>
            </a:pPr>
            <a:r>
              <a:rPr b="1" sz="1000">
                <a:solidFill>
                  <a:srgbClr val="0B3D5C"/>
                </a:solidFill>
                <a:latin typeface="Aptos"/>
              </a:rPr>
              <a:t>Link method differs by group: </a:t>
            </a:r>
            <a:r>
              <a:rPr sz="1000">
                <a:solidFill>
                  <a:srgbClr val="222222"/>
                </a:solidFill>
                <a:latin typeface="Aptos"/>
              </a:rPr>
              <a:t>AD_01-06 link via RTM text explicitly citing the AD_## code (9/32, 15 citing-instances). AD_07/08 link via each document's OWN self-declared RTM anchor (AD_07→RTM-322, AD_08→RTM-260/261/292/294) -- higher confidence, not a scan guess.</a:t>
            </a:r>
          </a:p>
          <a:p>
            <a:pPr>
              <a:spcAft>
                <a:spcPts val="500"/>
              </a:spcAft>
            </a:pPr>
            <a:r>
              <a:rPr b="1" sz="1000">
                <a:solidFill>
                  <a:srgbClr val="0B3D5C"/>
                </a:solidFill>
                <a:latin typeface="Aptos"/>
              </a:rPr>
              <a:t>Read with care: </a:t>
            </a:r>
            <a:r>
              <a:rPr sz="1000">
                <a:solidFill>
                  <a:srgbClr val="222222"/>
                </a:solidFill>
                <a:latin typeface="Aptos"/>
              </a:rPr>
              <a:t>a low citation count is NOT low relevance -- most RTMs describe the same deliverable in plain contract-section language without naming the AD code.</a:t>
            </a:r>
          </a:p>
        </p:txBody>
      </p:sp>
      <p:sp>
        <p:nvSpPr>
          <p:cNvPr id="10" name="Rectangle 9"/>
          <p:cNvSpPr/>
          <p:nvPr/>
        </p:nvSpPr>
        <p:spPr>
          <a:xfrm>
            <a:off x="320040" y="4400000"/>
            <a:ext cx="11551920" cy="1900000"/>
          </a:xfrm>
          <a:prstGeom prst="rect">
            <a:avLst/>
          </a:prstGeom>
          <a:solidFill>
            <a:srgbClr val="EFE5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80000" rIns="137160"/>
          <a:lstStyle/>
          <a:p>
            <a:pPr algn="ctr">
              <a:spcAft>
                <a:spcPts val="600"/>
              </a:spcAft>
            </a:pPr>
            <a:r>
              <a:rPr b="1" sz="1050">
                <a:solidFill>
                  <a:srgbClr val="0B3D5C"/>
                </a:solidFill>
                <a:latin typeface="Aptos"/>
              </a:rPr>
              <a:t>•  </a:t>
            </a:r>
            <a:r>
              <a:rPr sz="1050">
                <a:solidFill>
                  <a:srgbClr val="222222"/>
                </a:solidFill>
                <a:latin typeface="Aptos"/>
              </a:rPr>
              <a:t>Navigator (Taxonomy tab): the flat table has a companion collapsible tree, all 8 top-level groups, sub-items nested, linked RTMs clickable through to RTM Lookup.</a:t>
            </a:r>
          </a:p>
          <a:p>
            <a:pPr>
              <a:spcAft>
                <a:spcPts val="600"/>
              </a:spcAft>
            </a:pPr>
            <a:r>
              <a:rPr b="1" sz="1050">
                <a:solidFill>
                  <a:srgbClr val="0B3D5C"/>
                </a:solidFill>
                <a:latin typeface="Aptos"/>
              </a:rPr>
              <a:t>•  </a:t>
            </a:r>
            <a:r>
              <a:rPr sz="1050">
                <a:solidFill>
                  <a:srgbClr val="222222"/>
                </a:solidFill>
                <a:latin typeface="Aptos"/>
              </a:rPr>
              <a:t>Open: 5 more real AD_07/08-adjacent files (P&amp;ID vector figures, heat-load equation sheets) found in Master_Input but not yet ingested -- deferred pending a scoped follow-up pass, not silently dropped.</a:t>
            </a:r>
          </a:p>
          <a:p>
            <a:pPr>
              <a:spcAft>
                <a:spcPts val="600"/>
              </a:spcAft>
            </a:pPr>
            <a:r>
              <a:rPr b="1" sz="1050">
                <a:solidFill>
                  <a:srgbClr val="0B3D5C"/>
                </a:solidFill>
                <a:latin typeface="Aptos"/>
              </a:rPr>
              <a:t>•  </a:t>
            </a:r>
            <a:r>
              <a:rPr sz="1050">
                <a:solidFill>
                  <a:srgbClr val="222222"/>
                </a:solidFill>
                <a:latin typeface="Aptos"/>
              </a:rPr>
              <a:t>This ties to roadmap item B1 (granular Applicant OFFER documentation as one bookmarked PDF) -- same ingestion gap applies to both dossier documents and Applicants' own OFFER submissions.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68680"/>
          </a:xfrm>
          <a:prstGeom prst="rect">
            <a:avLst/>
          </a:prstGeom>
          <a:solidFill>
            <a:srgbClr val="441F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9875520" cy="685800"/>
          </a:xfrm>
          <a:prstGeom prst="rect">
            <a:avLst/>
          </a:prstGeom>
          <a:noFill/>
        </p:spPr>
        <p:txBody>
          <a:bodyPr wrap="square">
            <a:spAutoFit/>
          </a:bodyPr>
          <a:lstStyle/>
          <a:p>
            <a:r>
              <a:rPr sz="2400" b="1">
                <a:solidFill>
                  <a:srgbClr val="FFFFFF"/>
                </a:solidFill>
                <a:latin typeface="Aptos"/>
              </a:rPr>
              <a:t>Honest ranking: official (gate-first) vs pure weighted-S</a:t>
            </a:r>
          </a:p>
        </p:txBody>
      </p:sp>
      <p:sp>
        <p:nvSpPr>
          <p:cNvPr id="4" name="TextBox 3"/>
          <p:cNvSpPr txBox="1"/>
          <p:nvPr/>
        </p:nvSpPr>
        <p:spPr>
          <a:xfrm>
            <a:off x="10607040" y="292608"/>
            <a:ext cx="1371600" cy="320040"/>
          </a:xfrm>
          <a:prstGeom prst="rect">
            <a:avLst/>
          </a:prstGeom>
          <a:noFill/>
        </p:spPr>
        <p:txBody>
          <a:bodyPr wrap="none">
            <a:spAutoFit/>
          </a:bodyPr>
          <a:lstStyle/>
          <a:p>
            <a:pPr algn="r"/>
            <a:r>
              <a:rPr sz="1100" b="1">
                <a:solidFill>
                  <a:srgbClr val="BFD6E6"/>
                </a:solidFill>
                <a:latin typeface="Aptos"/>
              </a:rPr>
              <a:t>EVAL-S13</a:t>
            </a:r>
          </a:p>
        </p:txBody>
      </p:sp>
      <p:sp>
        <p:nvSpPr>
          <p:cNvPr id="5" name="Rectangle 4"/>
          <p:cNvSpPr/>
          <p:nvPr/>
        </p:nvSpPr>
        <p:spPr>
          <a:xfrm>
            <a:off x="0" y="6547104"/>
            <a:ext cx="12192000" cy="310896"/>
          </a:xfrm>
          <a:prstGeom prst="rect">
            <a:avLst/>
          </a:prstGeom>
          <a:solidFill>
            <a:srgbClr val="F3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565392"/>
            <a:ext cx="10515600" cy="274320"/>
          </a:xfrm>
          <a:prstGeom prst="rect">
            <a:avLst/>
          </a:prstGeom>
          <a:noFill/>
        </p:spPr>
        <p:txBody>
          <a:bodyPr wrap="none">
            <a:spAutoFit/>
          </a:bodyPr>
          <a:lstStyle/>
          <a:p>
            <a:r>
              <a:rPr sz="850">
                <a:solidFill>
                  <a:srgbClr val="555555"/>
                </a:solidFill>
                <a:latin typeface="Aptos"/>
              </a:rPr>
              <a:t>BT METHOD — Engineering Baseline (canonical RTM-722) · EVAL-S13 (gate-pinning transparency, new) | v3.9</a:t>
            </a:r>
          </a:p>
        </p:txBody>
      </p:sp>
      <p:sp>
        <p:nvSpPr>
          <p:cNvPr id="7" name="TextBox 6"/>
          <p:cNvSpPr txBox="1"/>
          <p:nvPr/>
        </p:nvSpPr>
        <p:spPr>
          <a:xfrm>
            <a:off x="411480" y="940000"/>
            <a:ext cx="11400000" cy="420000"/>
          </a:xfrm>
          <a:prstGeom prst="rect">
            <a:avLst/>
          </a:prstGeom>
          <a:noFill/>
        </p:spPr>
        <p:txBody>
          <a:bodyPr wrap="square">
            <a:spAutoFit/>
          </a:bodyPr>
          <a:lstStyle/>
          <a:p>
            <a:r>
              <a:rPr sz="1150">
                <a:solidFill>
                  <a:srgbClr val="222222"/>
                </a:solidFill>
                <a:latin typeface="Aptos"/>
              </a:rPr>
              <a:t>The official rank (used everywhere else in this deck) puts all 6 gate items first, by design -- gate/compliance status is pass-fail, independent of score. This slide shows BOTH views side by side: gate coloring is kept, not removed -- the pure-score column is additive disclosure, not a replacement answer.</a:t>
            </a:r>
          </a:p>
        </p:txBody>
      </p:sp>
      <p:graphicFrame>
        <p:nvGraphicFramePr>
          <p:cNvPr id="8" name="Table 7"/>
          <p:cNvGraphicFramePr>
            <a:graphicFrameLocks noGrp="1"/>
          </p:cNvGraphicFramePr>
          <p:nvPr/>
        </p:nvGraphicFramePr>
        <p:xfrm>
          <a:off x="320040" y="1560000"/>
          <a:ext cx="11550000" cy="3600000"/>
        </p:xfrm>
        <a:graphic>
          <a:graphicData uri="http://schemas.openxmlformats.org/drawingml/2006/table">
            <a:tbl>
              <a:tblPr firstRow="1" bandRow="1">
                <a:tableStyleId>{5C22544A-7EE6-4342-B048-85BDC9FD1C3A}</a:tableStyleId>
              </a:tblPr>
              <a:tblGrid>
                <a:gridCol w="950000"/>
                <a:gridCol w="4550000"/>
                <a:gridCol w="1600000"/>
                <a:gridCol w="1600000"/>
                <a:gridCol w="1400000"/>
                <a:gridCol w="1450000"/>
              </a:tblGrid>
              <a:tr h="514285">
                <a:tc>
                  <a:txBody>
                    <a:bodyPr wrap="square"/>
                    <a:lstStyle/>
                    <a:p>
                      <a:r>
                        <a:rPr sz="950" b="1">
                          <a:solidFill>
                            <a:srgbClr val="FFFFFF"/>
                          </a:solidFill>
                          <a:latin typeface="Aptos"/>
                        </a:rPr>
                        <a:t>OFFER ID</a:t>
                      </a:r>
                    </a:p>
                  </a:txBody>
                  <a:tcPr>
                    <a:solidFill>
                      <a:srgbClr val="0B3D5C"/>
                    </a:solidFill>
                  </a:tcPr>
                </a:tc>
                <a:tc>
                  <a:txBody>
                    <a:bodyPr wrap="square"/>
                    <a:lstStyle/>
                    <a:p>
                      <a:r>
                        <a:rPr sz="950" b="1">
                          <a:solidFill>
                            <a:srgbClr val="FFFFFF"/>
                          </a:solidFill>
                          <a:latin typeface="Aptos"/>
                        </a:rPr>
                        <a:t>Title</a:t>
                      </a:r>
                    </a:p>
                  </a:txBody>
                  <a:tcPr>
                    <a:solidFill>
                      <a:srgbClr val="0B3D5C"/>
                    </a:solidFill>
                  </a:tcPr>
                </a:tc>
                <a:tc>
                  <a:txBody>
                    <a:bodyPr wrap="square"/>
                    <a:lstStyle/>
                    <a:p>
                      <a:r>
                        <a:rPr sz="950" b="1">
                          <a:solidFill>
                            <a:srgbClr val="FFFFFF"/>
                          </a:solidFill>
                          <a:latin typeface="Aptos"/>
                        </a:rPr>
                        <a:t>Official rank
(gate-first)</a:t>
                      </a:r>
                    </a:p>
                  </a:txBody>
                  <a:tcPr>
                    <a:solidFill>
                      <a:srgbClr val="0B3D5C"/>
                    </a:solidFill>
                  </a:tcPr>
                </a:tc>
                <a:tc>
                  <a:txBody>
                    <a:bodyPr wrap="square"/>
                    <a:lstStyle/>
                    <a:p>
                      <a:r>
                        <a:rPr sz="950" b="1">
                          <a:solidFill>
                            <a:srgbClr val="FFFFFF"/>
                          </a:solidFill>
                          <a:latin typeface="Aptos"/>
                        </a:rPr>
                        <a:t>Pure weighted-S
rank</a:t>
                      </a:r>
                    </a:p>
                  </a:txBody>
                  <a:tcPr>
                    <a:solidFill>
                      <a:srgbClr val="0B3D5C"/>
                    </a:solidFill>
                  </a:tcPr>
                </a:tc>
                <a:tc>
                  <a:txBody>
                    <a:bodyPr wrap="square"/>
                    <a:lstStyle/>
                    <a:p>
                      <a:r>
                        <a:rPr sz="950" b="1">
                          <a:solidFill>
                            <a:srgbClr val="FFFFFF"/>
                          </a:solidFill>
                          <a:latin typeface="Aptos"/>
                        </a:rPr>
                        <a:t>Weighted S</a:t>
                      </a:r>
                    </a:p>
                  </a:txBody>
                  <a:tcPr>
                    <a:solidFill>
                      <a:srgbClr val="0B3D5C"/>
                    </a:solidFill>
                  </a:tcPr>
                </a:tc>
                <a:tc>
                  <a:txBody>
                    <a:bodyPr wrap="square"/>
                    <a:lstStyle/>
                    <a:p>
                      <a:r>
                        <a:rPr sz="950" b="1">
                          <a:solidFill>
                            <a:srgbClr val="FFFFFF"/>
                          </a:solidFill>
                          <a:latin typeface="Aptos"/>
                        </a:rPr>
                        <a:t>Places if
gate-blind</a:t>
                      </a:r>
                    </a:p>
                  </a:txBody>
                  <a:tcPr>
                    <a:solidFill>
                      <a:srgbClr val="0B3D5C"/>
                    </a:solidFill>
                  </a:tcPr>
                </a:tc>
              </a:tr>
              <a:tr h="514285">
                <a:tc>
                  <a:txBody>
                    <a:bodyPr wrap="square"/>
                    <a:lstStyle/>
                    <a:p>
                      <a:r>
                        <a:rPr sz="1000" b="1">
                          <a:solidFill>
                            <a:srgbClr val="B02A2A"/>
                          </a:solidFill>
                          <a:latin typeface="Aptos"/>
                        </a:rPr>
                        <a:t>OFFER-02</a:t>
                      </a:r>
                    </a:p>
                  </a:txBody>
                  <a:tcPr>
                    <a:solidFill>
                      <a:srgbClr val="FBE9E7"/>
                    </a:solidFill>
                  </a:tcPr>
                </a:tc>
                <a:tc>
                  <a:txBody>
                    <a:bodyPr wrap="square"/>
                    <a:lstStyle/>
                    <a:p>
                      <a:r>
                        <a:rPr sz="1000">
                          <a:solidFill>
                            <a:srgbClr val="222222"/>
                          </a:solidFill>
                          <a:latin typeface="Aptos"/>
                        </a:rPr>
                        <a:t>Assumptions, Deviations &amp; Additions Register</a:t>
                      </a:r>
                    </a:p>
                  </a:txBody>
                  <a:tcPr>
                    <a:solidFill>
                      <a:srgbClr val="FBE9E7"/>
                    </a:solidFill>
                  </a:tcPr>
                </a:tc>
                <a:tc>
                  <a:txBody>
                    <a:bodyPr wrap="square"/>
                    <a:lstStyle/>
                    <a:p>
                      <a:r>
                        <a:rPr sz="1000">
                          <a:solidFill>
                            <a:srgbClr val="222222"/>
                          </a:solidFill>
                          <a:latin typeface="Aptos"/>
                        </a:rPr>
                        <a:t>1</a:t>
                      </a:r>
                    </a:p>
                  </a:txBody>
                  <a:tcPr>
                    <a:solidFill>
                      <a:srgbClr val="FBE9E7"/>
                    </a:solidFill>
                  </a:tcPr>
                </a:tc>
                <a:tc>
                  <a:txBody>
                    <a:bodyPr wrap="square"/>
                    <a:lstStyle/>
                    <a:p>
                      <a:r>
                        <a:rPr sz="1000">
                          <a:solidFill>
                            <a:srgbClr val="222222"/>
                          </a:solidFill>
                          <a:latin typeface="Aptos"/>
                        </a:rPr>
                        <a:t>2</a:t>
                      </a:r>
                    </a:p>
                  </a:txBody>
                  <a:tcPr>
                    <a:solidFill>
                      <a:srgbClr val="FBE9E7"/>
                    </a:solidFill>
                  </a:tcPr>
                </a:tc>
                <a:tc>
                  <a:txBody>
                    <a:bodyPr wrap="square"/>
                    <a:lstStyle/>
                    <a:p>
                      <a:r>
                        <a:rPr sz="1000">
                          <a:solidFill>
                            <a:srgbClr val="222222"/>
                          </a:solidFill>
                          <a:latin typeface="Aptos"/>
                        </a:rPr>
                        <a:t>54.00</a:t>
                      </a:r>
                    </a:p>
                  </a:txBody>
                  <a:tcPr>
                    <a:solidFill>
                      <a:srgbClr val="FBE9E7"/>
                    </a:solidFill>
                  </a:tcPr>
                </a:tc>
                <a:tc>
                  <a:txBody>
                    <a:bodyPr wrap="square"/>
                    <a:lstStyle/>
                    <a:p>
                      <a:r>
                        <a:rPr sz="1000" b="1">
                          <a:solidFill>
                            <a:srgbClr val="B02A2A"/>
                          </a:solidFill>
                          <a:latin typeface="Aptos"/>
                        </a:rPr>
                        <a:t>+1</a:t>
                      </a:r>
                    </a:p>
                  </a:txBody>
                  <a:tcPr>
                    <a:solidFill>
                      <a:srgbClr val="FBE9E7"/>
                    </a:solidFill>
                  </a:tcPr>
                </a:tc>
              </a:tr>
              <a:tr h="514285">
                <a:tc>
                  <a:txBody>
                    <a:bodyPr wrap="square"/>
                    <a:lstStyle/>
                    <a:p>
                      <a:r>
                        <a:rPr sz="1000" b="1">
                          <a:solidFill>
                            <a:srgbClr val="B02A2A"/>
                          </a:solidFill>
                          <a:latin typeface="Aptos"/>
                        </a:rPr>
                        <a:t>OFFER-48</a:t>
                      </a:r>
                    </a:p>
                  </a:txBody>
                  <a:tcPr>
                    <a:solidFill>
                      <a:srgbClr val="FBE9E7"/>
                    </a:solidFill>
                  </a:tcPr>
                </a:tc>
                <a:tc>
                  <a:txBody>
                    <a:bodyPr wrap="square"/>
                    <a:lstStyle/>
                    <a:p>
                      <a:r>
                        <a:rPr sz="1000">
                          <a:solidFill>
                            <a:srgbClr val="222222"/>
                          </a:solidFill>
                          <a:latin typeface="Aptos"/>
                        </a:rPr>
                        <a:t>Detailed Quality Control Procedures</a:t>
                      </a:r>
                    </a:p>
                  </a:txBody>
                  <a:tcPr>
                    <a:solidFill>
                      <a:srgbClr val="FBE9E7"/>
                    </a:solidFill>
                  </a:tcPr>
                </a:tc>
                <a:tc>
                  <a:txBody>
                    <a:bodyPr wrap="square"/>
                    <a:lstStyle/>
                    <a:p>
                      <a:r>
                        <a:rPr sz="1000">
                          <a:solidFill>
                            <a:srgbClr val="222222"/>
                          </a:solidFill>
                          <a:latin typeface="Aptos"/>
                        </a:rPr>
                        <a:t>2</a:t>
                      </a:r>
                    </a:p>
                  </a:txBody>
                  <a:tcPr>
                    <a:solidFill>
                      <a:srgbClr val="FBE9E7"/>
                    </a:solidFill>
                  </a:tcPr>
                </a:tc>
                <a:tc>
                  <a:txBody>
                    <a:bodyPr wrap="square"/>
                    <a:lstStyle/>
                    <a:p>
                      <a:r>
                        <a:rPr sz="1000">
                          <a:solidFill>
                            <a:srgbClr val="222222"/>
                          </a:solidFill>
                          <a:latin typeface="Aptos"/>
                        </a:rPr>
                        <a:t>9</a:t>
                      </a:r>
                    </a:p>
                  </a:txBody>
                  <a:tcPr>
                    <a:solidFill>
                      <a:srgbClr val="FBE9E7"/>
                    </a:solidFill>
                  </a:tcPr>
                </a:tc>
                <a:tc>
                  <a:txBody>
                    <a:bodyPr wrap="square"/>
                    <a:lstStyle/>
                    <a:p>
                      <a:r>
                        <a:rPr sz="1000">
                          <a:solidFill>
                            <a:srgbClr val="222222"/>
                          </a:solidFill>
                          <a:latin typeface="Aptos"/>
                        </a:rPr>
                        <a:t>42.67</a:t>
                      </a:r>
                    </a:p>
                  </a:txBody>
                  <a:tcPr>
                    <a:solidFill>
                      <a:srgbClr val="FBE9E7"/>
                    </a:solidFill>
                  </a:tcPr>
                </a:tc>
                <a:tc>
                  <a:txBody>
                    <a:bodyPr wrap="square"/>
                    <a:lstStyle/>
                    <a:p>
                      <a:r>
                        <a:rPr sz="1000" b="1">
                          <a:solidFill>
                            <a:srgbClr val="B02A2A"/>
                          </a:solidFill>
                          <a:latin typeface="Aptos"/>
                        </a:rPr>
                        <a:t>+7</a:t>
                      </a:r>
                    </a:p>
                  </a:txBody>
                  <a:tcPr>
                    <a:solidFill>
                      <a:srgbClr val="FBE9E7"/>
                    </a:solidFill>
                  </a:tcPr>
                </a:tc>
              </a:tr>
              <a:tr h="514285">
                <a:tc>
                  <a:txBody>
                    <a:bodyPr wrap="square"/>
                    <a:lstStyle/>
                    <a:p>
                      <a:r>
                        <a:rPr sz="1000" b="1">
                          <a:solidFill>
                            <a:srgbClr val="B02A2A"/>
                          </a:solidFill>
                          <a:latin typeface="Aptos"/>
                        </a:rPr>
                        <a:t>OFFER-01</a:t>
                      </a:r>
                    </a:p>
                  </a:txBody>
                  <a:tcPr>
                    <a:solidFill>
                      <a:srgbClr val="FBE9E7"/>
                    </a:solidFill>
                  </a:tcPr>
                </a:tc>
                <a:tc>
                  <a:txBody>
                    <a:bodyPr wrap="square"/>
                    <a:lstStyle/>
                    <a:p>
                      <a:r>
                        <a:rPr sz="1000">
                          <a:solidFill>
                            <a:srgbClr val="222222"/>
                          </a:solidFill>
                          <a:latin typeface="Aptos"/>
                        </a:rPr>
                        <a:t>Tender Compliance Confirmation</a:t>
                      </a:r>
                    </a:p>
                  </a:txBody>
                  <a:tcPr>
                    <a:solidFill>
                      <a:srgbClr val="FBE9E7"/>
                    </a:solidFill>
                  </a:tcPr>
                </a:tc>
                <a:tc>
                  <a:txBody>
                    <a:bodyPr wrap="square"/>
                    <a:lstStyle/>
                    <a:p>
                      <a:r>
                        <a:rPr sz="1000">
                          <a:solidFill>
                            <a:srgbClr val="222222"/>
                          </a:solidFill>
                          <a:latin typeface="Aptos"/>
                        </a:rPr>
                        <a:t>3</a:t>
                      </a:r>
                    </a:p>
                  </a:txBody>
                  <a:tcPr>
                    <a:solidFill>
                      <a:srgbClr val="FBE9E7"/>
                    </a:solidFill>
                  </a:tcPr>
                </a:tc>
                <a:tc>
                  <a:txBody>
                    <a:bodyPr wrap="square"/>
                    <a:lstStyle/>
                    <a:p>
                      <a:r>
                        <a:rPr sz="1000">
                          <a:solidFill>
                            <a:srgbClr val="222222"/>
                          </a:solidFill>
                          <a:latin typeface="Aptos"/>
                        </a:rPr>
                        <a:t>18</a:t>
                      </a:r>
                    </a:p>
                  </a:txBody>
                  <a:tcPr>
                    <a:solidFill>
                      <a:srgbClr val="FBE9E7"/>
                    </a:solidFill>
                  </a:tcPr>
                </a:tc>
                <a:tc>
                  <a:txBody>
                    <a:bodyPr wrap="square"/>
                    <a:lstStyle/>
                    <a:p>
                      <a:r>
                        <a:rPr sz="1000">
                          <a:solidFill>
                            <a:srgbClr val="222222"/>
                          </a:solidFill>
                          <a:latin typeface="Aptos"/>
                        </a:rPr>
                        <a:t>32.00</a:t>
                      </a:r>
                    </a:p>
                  </a:txBody>
                  <a:tcPr>
                    <a:solidFill>
                      <a:srgbClr val="FBE9E7"/>
                    </a:solidFill>
                  </a:tcPr>
                </a:tc>
                <a:tc>
                  <a:txBody>
                    <a:bodyPr wrap="square"/>
                    <a:lstStyle/>
                    <a:p>
                      <a:r>
                        <a:rPr sz="1000" b="1">
                          <a:solidFill>
                            <a:srgbClr val="B02A2A"/>
                          </a:solidFill>
                          <a:latin typeface="Aptos"/>
                        </a:rPr>
                        <a:t>+15</a:t>
                      </a:r>
                    </a:p>
                  </a:txBody>
                  <a:tcPr>
                    <a:solidFill>
                      <a:srgbClr val="FBE9E7"/>
                    </a:solidFill>
                  </a:tcPr>
                </a:tc>
              </a:tr>
              <a:tr h="514285">
                <a:tc>
                  <a:txBody>
                    <a:bodyPr wrap="square"/>
                    <a:lstStyle/>
                    <a:p>
                      <a:r>
                        <a:rPr sz="1000" b="1">
                          <a:solidFill>
                            <a:srgbClr val="B02A2A"/>
                          </a:solidFill>
                          <a:latin typeface="Aptos"/>
                        </a:rPr>
                        <a:t>OFFER-03</a:t>
                      </a:r>
                    </a:p>
                  </a:txBody>
                  <a:tcPr>
                    <a:solidFill>
                      <a:srgbClr val="FBE9E7"/>
                    </a:solidFill>
                  </a:tcPr>
                </a:tc>
                <a:tc>
                  <a:txBody>
                    <a:bodyPr wrap="square"/>
                    <a:lstStyle/>
                    <a:p>
                      <a:r>
                        <a:rPr sz="1000">
                          <a:solidFill>
                            <a:srgbClr val="222222"/>
                          </a:solidFill>
                          <a:latin typeface="Aptos"/>
                        </a:rPr>
                        <a:t>Integrated Technical Proposal &amp; Execution Strategy</a:t>
                      </a:r>
                    </a:p>
                  </a:txBody>
                  <a:tcPr>
                    <a:solidFill>
                      <a:srgbClr val="FBE9E7"/>
                    </a:solidFill>
                  </a:tcPr>
                </a:tc>
                <a:tc>
                  <a:txBody>
                    <a:bodyPr wrap="square"/>
                    <a:lstStyle/>
                    <a:p>
                      <a:r>
                        <a:rPr sz="1000">
                          <a:solidFill>
                            <a:srgbClr val="222222"/>
                          </a:solidFill>
                          <a:latin typeface="Aptos"/>
                        </a:rPr>
                        <a:t>4</a:t>
                      </a:r>
                    </a:p>
                  </a:txBody>
                  <a:tcPr>
                    <a:solidFill>
                      <a:srgbClr val="FBE9E7"/>
                    </a:solidFill>
                  </a:tcPr>
                </a:tc>
                <a:tc>
                  <a:txBody>
                    <a:bodyPr wrap="square"/>
                    <a:lstStyle/>
                    <a:p>
                      <a:r>
                        <a:rPr sz="1000">
                          <a:solidFill>
                            <a:srgbClr val="222222"/>
                          </a:solidFill>
                          <a:latin typeface="Aptos"/>
                        </a:rPr>
                        <a:t>19</a:t>
                      </a:r>
                    </a:p>
                  </a:txBody>
                  <a:tcPr>
                    <a:solidFill>
                      <a:srgbClr val="FBE9E7"/>
                    </a:solidFill>
                  </a:tcPr>
                </a:tc>
                <a:tc>
                  <a:txBody>
                    <a:bodyPr wrap="square"/>
                    <a:lstStyle/>
                    <a:p>
                      <a:r>
                        <a:rPr sz="1000">
                          <a:solidFill>
                            <a:srgbClr val="222222"/>
                          </a:solidFill>
                          <a:latin typeface="Aptos"/>
                        </a:rPr>
                        <a:t>32.00</a:t>
                      </a:r>
                    </a:p>
                  </a:txBody>
                  <a:tcPr>
                    <a:solidFill>
                      <a:srgbClr val="FBE9E7"/>
                    </a:solidFill>
                  </a:tcPr>
                </a:tc>
                <a:tc>
                  <a:txBody>
                    <a:bodyPr wrap="square"/>
                    <a:lstStyle/>
                    <a:p>
                      <a:r>
                        <a:rPr sz="1000" b="1">
                          <a:solidFill>
                            <a:srgbClr val="B02A2A"/>
                          </a:solidFill>
                          <a:latin typeface="Aptos"/>
                        </a:rPr>
                        <a:t>+15</a:t>
                      </a:r>
                    </a:p>
                  </a:txBody>
                  <a:tcPr>
                    <a:solidFill>
                      <a:srgbClr val="FBE9E7"/>
                    </a:solidFill>
                  </a:tcPr>
                </a:tc>
              </a:tr>
              <a:tr h="514285">
                <a:tc>
                  <a:txBody>
                    <a:bodyPr wrap="square"/>
                    <a:lstStyle/>
                    <a:p>
                      <a:r>
                        <a:rPr sz="1000" b="1">
                          <a:solidFill>
                            <a:srgbClr val="B02A2A"/>
                          </a:solidFill>
                          <a:latin typeface="Aptos"/>
                        </a:rPr>
                        <a:t>OFFER-47</a:t>
                      </a:r>
                    </a:p>
                  </a:txBody>
                  <a:tcPr>
                    <a:solidFill>
                      <a:srgbClr val="FBE9E7"/>
                    </a:solidFill>
                  </a:tcPr>
                </a:tc>
                <a:tc>
                  <a:txBody>
                    <a:bodyPr wrap="square"/>
                    <a:lstStyle/>
                    <a:p>
                      <a:r>
                        <a:rPr sz="1000">
                          <a:solidFill>
                            <a:srgbClr val="222222"/>
                          </a:solidFill>
                          <a:latin typeface="Aptos"/>
                        </a:rPr>
                        <a:t>Quality Assurance Program (QAP) Definition</a:t>
                      </a:r>
                    </a:p>
                  </a:txBody>
                  <a:tcPr>
                    <a:solidFill>
                      <a:srgbClr val="FBE9E7"/>
                    </a:solidFill>
                  </a:tcPr>
                </a:tc>
                <a:tc>
                  <a:txBody>
                    <a:bodyPr wrap="square"/>
                    <a:lstStyle/>
                    <a:p>
                      <a:r>
                        <a:rPr sz="1000">
                          <a:solidFill>
                            <a:srgbClr val="222222"/>
                          </a:solidFill>
                          <a:latin typeface="Aptos"/>
                        </a:rPr>
                        <a:t>5</a:t>
                      </a:r>
                    </a:p>
                  </a:txBody>
                  <a:tcPr>
                    <a:solidFill>
                      <a:srgbClr val="FBE9E7"/>
                    </a:solidFill>
                  </a:tcPr>
                </a:tc>
                <a:tc>
                  <a:txBody>
                    <a:bodyPr wrap="square"/>
                    <a:lstStyle/>
                    <a:p>
                      <a:r>
                        <a:rPr sz="1000">
                          <a:solidFill>
                            <a:srgbClr val="222222"/>
                          </a:solidFill>
                          <a:latin typeface="Aptos"/>
                        </a:rPr>
                        <a:t>20</a:t>
                      </a:r>
                    </a:p>
                  </a:txBody>
                  <a:tcPr>
                    <a:solidFill>
                      <a:srgbClr val="FBE9E7"/>
                    </a:solidFill>
                  </a:tcPr>
                </a:tc>
                <a:tc>
                  <a:txBody>
                    <a:bodyPr wrap="square"/>
                    <a:lstStyle/>
                    <a:p>
                      <a:r>
                        <a:rPr sz="1000">
                          <a:solidFill>
                            <a:srgbClr val="222222"/>
                          </a:solidFill>
                          <a:latin typeface="Aptos"/>
                        </a:rPr>
                        <a:t>32.00</a:t>
                      </a:r>
                    </a:p>
                  </a:txBody>
                  <a:tcPr>
                    <a:solidFill>
                      <a:srgbClr val="FBE9E7"/>
                    </a:solidFill>
                  </a:tcPr>
                </a:tc>
                <a:tc>
                  <a:txBody>
                    <a:bodyPr wrap="square"/>
                    <a:lstStyle/>
                    <a:p>
                      <a:r>
                        <a:rPr sz="1000" b="1">
                          <a:solidFill>
                            <a:srgbClr val="B02A2A"/>
                          </a:solidFill>
                          <a:latin typeface="Aptos"/>
                        </a:rPr>
                        <a:t>+15</a:t>
                      </a:r>
                    </a:p>
                  </a:txBody>
                  <a:tcPr>
                    <a:solidFill>
                      <a:srgbClr val="FBE9E7"/>
                    </a:solidFill>
                  </a:tcPr>
                </a:tc>
              </a:tr>
              <a:tr h="514290">
                <a:tc>
                  <a:txBody>
                    <a:bodyPr wrap="square"/>
                    <a:lstStyle/>
                    <a:p>
                      <a:r>
                        <a:rPr sz="1000" b="1">
                          <a:solidFill>
                            <a:srgbClr val="B02A2A"/>
                          </a:solidFill>
                          <a:latin typeface="Aptos"/>
                        </a:rPr>
                        <a:t>OFFER-49</a:t>
                      </a:r>
                    </a:p>
                  </a:txBody>
                  <a:tcPr>
                    <a:solidFill>
                      <a:srgbClr val="FBE9E7"/>
                    </a:solidFill>
                  </a:tcPr>
                </a:tc>
                <a:tc>
                  <a:txBody>
                    <a:bodyPr wrap="square"/>
                    <a:lstStyle/>
                    <a:p>
                      <a:r>
                        <a:rPr sz="1000">
                          <a:solidFill>
                            <a:srgbClr val="222222"/>
                          </a:solidFill>
                          <a:latin typeface="Aptos"/>
                        </a:rPr>
                        <a:t>Codes, Standards &amp; Compliance Framework</a:t>
                      </a:r>
                    </a:p>
                  </a:txBody>
                  <a:tcPr>
                    <a:solidFill>
                      <a:srgbClr val="FBE9E7"/>
                    </a:solidFill>
                  </a:tcPr>
                </a:tc>
                <a:tc>
                  <a:txBody>
                    <a:bodyPr wrap="square"/>
                    <a:lstStyle/>
                    <a:p>
                      <a:r>
                        <a:rPr sz="1000">
                          <a:solidFill>
                            <a:srgbClr val="222222"/>
                          </a:solidFill>
                          <a:latin typeface="Aptos"/>
                        </a:rPr>
                        <a:t>6</a:t>
                      </a:r>
                    </a:p>
                  </a:txBody>
                  <a:tcPr>
                    <a:solidFill>
                      <a:srgbClr val="FBE9E7"/>
                    </a:solidFill>
                  </a:tcPr>
                </a:tc>
                <a:tc>
                  <a:txBody>
                    <a:bodyPr wrap="square"/>
                    <a:lstStyle/>
                    <a:p>
                      <a:r>
                        <a:rPr sz="1000">
                          <a:solidFill>
                            <a:srgbClr val="222222"/>
                          </a:solidFill>
                          <a:latin typeface="Aptos"/>
                        </a:rPr>
                        <a:t>21</a:t>
                      </a:r>
                    </a:p>
                  </a:txBody>
                  <a:tcPr>
                    <a:solidFill>
                      <a:srgbClr val="FBE9E7"/>
                    </a:solidFill>
                  </a:tcPr>
                </a:tc>
                <a:tc>
                  <a:txBody>
                    <a:bodyPr wrap="square"/>
                    <a:lstStyle/>
                    <a:p>
                      <a:r>
                        <a:rPr sz="1000">
                          <a:solidFill>
                            <a:srgbClr val="222222"/>
                          </a:solidFill>
                          <a:latin typeface="Aptos"/>
                        </a:rPr>
                        <a:t>32.00</a:t>
                      </a:r>
                    </a:p>
                  </a:txBody>
                  <a:tcPr>
                    <a:solidFill>
                      <a:srgbClr val="FBE9E7"/>
                    </a:solidFill>
                  </a:tcPr>
                </a:tc>
                <a:tc>
                  <a:txBody>
                    <a:bodyPr wrap="square"/>
                    <a:lstStyle/>
                    <a:p>
                      <a:r>
                        <a:rPr sz="1000" b="1">
                          <a:solidFill>
                            <a:srgbClr val="B02A2A"/>
                          </a:solidFill>
                          <a:latin typeface="Aptos"/>
                        </a:rPr>
                        <a:t>+15</a:t>
                      </a:r>
                    </a:p>
                  </a:txBody>
                  <a:tcPr>
                    <a:solidFill>
                      <a:srgbClr val="FBE9E7"/>
                    </a:solidFill>
                  </a:tcPr>
                </a:tc>
              </a:tr>
            </a:tbl>
          </a:graphicData>
        </a:graphic>
      </p:graphicFrame>
      <p:sp>
        <p:nvSpPr>
          <p:cNvPr id="9" name="Rectangle 8"/>
          <p:cNvSpPr/>
          <p:nvPr/>
        </p:nvSpPr>
        <p:spPr>
          <a:xfrm>
            <a:off x="320040" y="5350000"/>
            <a:ext cx="11551920" cy="1050000"/>
          </a:xfrm>
          <a:prstGeom prst="rect">
            <a:avLst/>
          </a:prstGeom>
          <a:solidFill>
            <a:srgbClr val="EFE5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70000" rIns="137160"/>
          <a:lstStyle/>
          <a:p>
            <a:pPr algn="ctr"/>
            <a:r>
              <a:rPr b="1" sz="1050">
                <a:solidFill>
                  <a:srgbClr val="0B3D5C"/>
                </a:solidFill>
                <a:latin typeface="Aptos"/>
              </a:rPr>
              <a:t>Read: </a:t>
            </a:r>
            <a:r>
              <a:rPr sz="1050">
                <a:solidFill>
                  <a:srgbClr val="222222"/>
                </a:solidFill>
                <a:latin typeface="Aptos"/>
              </a:rPr>
              <a:t>gate items drop an average of 11.3 places under pure scoring (range: OFFER-02 barely moves, OFFER-01/03/47/49 each drop 15 places). This confirms gate status and weighted score are genuinely independent -- gate-first sorting is not redundant with the score, which is exactly why it's kept as its own explicit rule rather than assumed. Neither view is 'more correct' -- they answer different questions.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68680"/>
          </a:xfrm>
          <a:prstGeom prst="rect">
            <a:avLst/>
          </a:prstGeom>
          <a:solidFill>
            <a:srgbClr val="441F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9875520" cy="685800"/>
          </a:xfrm>
          <a:prstGeom prst="rect">
            <a:avLst/>
          </a:prstGeom>
          <a:noFill/>
        </p:spPr>
        <p:txBody>
          <a:bodyPr wrap="square">
            <a:spAutoFit/>
          </a:bodyPr>
          <a:lstStyle/>
          <a:p>
            <a:r>
              <a:rPr sz="2400" b="1">
                <a:solidFill>
                  <a:srgbClr val="FFFFFF"/>
                </a:solidFill>
                <a:latin typeface="Aptos"/>
              </a:rPr>
              <a:t>Robustness: 3 named weight scenarios, side by side</a:t>
            </a:r>
          </a:p>
        </p:txBody>
      </p:sp>
      <p:sp>
        <p:nvSpPr>
          <p:cNvPr id="4" name="TextBox 3"/>
          <p:cNvSpPr txBox="1"/>
          <p:nvPr/>
        </p:nvSpPr>
        <p:spPr>
          <a:xfrm>
            <a:off x="10607040" y="292608"/>
            <a:ext cx="1371600" cy="320040"/>
          </a:xfrm>
          <a:prstGeom prst="rect">
            <a:avLst/>
          </a:prstGeom>
          <a:noFill/>
        </p:spPr>
        <p:txBody>
          <a:bodyPr wrap="none">
            <a:spAutoFit/>
          </a:bodyPr>
          <a:lstStyle/>
          <a:p>
            <a:pPr algn="r"/>
            <a:r>
              <a:rPr sz="1100" b="1">
                <a:solidFill>
                  <a:srgbClr val="BFD6E6"/>
                </a:solidFill>
                <a:latin typeface="Aptos"/>
              </a:rPr>
              <a:t>EVAL-S14</a:t>
            </a:r>
          </a:p>
        </p:txBody>
      </p:sp>
      <p:sp>
        <p:nvSpPr>
          <p:cNvPr id="5" name="Rectangle 4"/>
          <p:cNvSpPr/>
          <p:nvPr/>
        </p:nvSpPr>
        <p:spPr>
          <a:xfrm>
            <a:off x="0" y="6547104"/>
            <a:ext cx="12192000" cy="310896"/>
          </a:xfrm>
          <a:prstGeom prst="rect">
            <a:avLst/>
          </a:prstGeom>
          <a:solidFill>
            <a:srgbClr val="F3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565392"/>
            <a:ext cx="10515600" cy="274320"/>
          </a:xfrm>
          <a:prstGeom prst="rect">
            <a:avLst/>
          </a:prstGeom>
          <a:noFill/>
        </p:spPr>
        <p:txBody>
          <a:bodyPr wrap="none">
            <a:spAutoFit/>
          </a:bodyPr>
          <a:lstStyle/>
          <a:p>
            <a:r>
              <a:rPr sz="850">
                <a:solidFill>
                  <a:srgbClr val="555555"/>
                </a:solidFill>
                <a:latin typeface="Aptos"/>
              </a:rPr>
              <a:t>BT METHOD — Engineering Baseline (canonical RTM-722) · EVAL-S14 (weight-scenario comparison, new) | v3.9</a:t>
            </a:r>
          </a:p>
        </p:txBody>
      </p:sp>
      <p:sp>
        <p:nvSpPr>
          <p:cNvPr id="7" name="Rectangle 6"/>
          <p:cNvSpPr/>
          <p:nvPr/>
        </p:nvSpPr>
        <p:spPr>
          <a:xfrm>
            <a:off x="320040" y="940000"/>
            <a:ext cx="11551920" cy="520000"/>
          </a:xfrm>
          <a:prstGeom prst="rect">
            <a:avLst/>
          </a:prstGeom>
          <a:solidFill>
            <a:srgbClr val="FDF6E3"/>
          </a:solidFill>
          <a:ln w="12700">
            <a:solidFill>
              <a:srgbClr val="B7950B"/>
            </a:solidFill>
          </a:ln>
          <a:effectLst/>
        </p:spPr>
        <p:style>
          <a:lnRef idx="1">
            <a:schemeClr val="accent1"/>
          </a:lnRef>
          <a:fillRef idx="3">
            <a:schemeClr val="accent1"/>
          </a:fillRef>
          <a:effectRef idx="2">
            <a:schemeClr val="accent1"/>
          </a:effectRef>
          <a:fontRef idx="minor">
            <a:schemeClr val="lt1"/>
          </a:fontRef>
        </p:style>
        <p:txBody>
          <a:bodyPr rtlCol="0" anchor="ctr" wrap="square" lIns="120000" tIns="50000"/>
          <a:lstStyle/>
          <a:p>
            <a:pPr algn="ctr"/>
            <a:r>
              <a:rPr sz="1100" b="1">
                <a:solidFill>
                  <a:srgbClr val="5C4A00"/>
                </a:solidFill>
                <a:latin typeface="Aptos"/>
              </a:rPr>
              <a:t>Message: the full-range weight-sensitivity scatter (EVAL-S02) is real but hard to read as "is the ranking robust?" -- these 3 explainable, named scenarios narrow that to a concrete answer, not a replacement for it.</a:t>
            </a:r>
          </a:p>
        </p:txBody>
      </p:sp>
      <p:sp>
        <p:nvSpPr>
          <p:cNvPr id="8" name="Rectangle 7"/>
          <p:cNvSpPr/>
          <p:nvPr/>
        </p:nvSpPr>
        <p:spPr>
          <a:xfrm>
            <a:off x="320040" y="1620000"/>
            <a:ext cx="3770640" cy="1550000"/>
          </a:xfrm>
          <a:prstGeom prst="rect">
            <a:avLst/>
          </a:prstGeom>
          <a:solidFill>
            <a:srgbClr val="EFE5F5"/>
          </a:solidFill>
          <a:ln w="12700">
            <a:solidFill>
              <a:srgbClr val="0B3D5C"/>
            </a:solidFill>
          </a:ln>
          <a:effectLst/>
        </p:spPr>
        <p:style>
          <a:lnRef idx="1">
            <a:schemeClr val="accent1"/>
          </a:lnRef>
          <a:fillRef idx="3">
            <a:schemeClr val="accent1"/>
          </a:fillRef>
          <a:effectRef idx="2">
            <a:schemeClr val="accent1"/>
          </a:effectRef>
          <a:fontRef idx="minor">
            <a:schemeClr val="lt1"/>
          </a:fontRef>
        </p:style>
        <p:txBody>
          <a:bodyPr rtlCol="0" anchor="ctr" wrap="square" lIns="100000" tIns="70000" rIns="100000"/>
          <a:lstStyle/>
          <a:p>
            <a:pPr algn="ctr"/>
            <a:r>
              <a:rPr sz="1300" b="1">
                <a:solidFill>
                  <a:srgbClr val="0B3D5C"/>
                </a:solidFill>
                <a:latin typeface="Aptos"/>
              </a:rPr>
              <a:t>Base (current)</a:t>
            </a:r>
          </a:p>
          <a:p>
            <a:pPr>
              <a:spcBef>
                <a:spcPts val="400"/>
              </a:spcBef>
            </a:pPr>
            <a:r>
              <a:rPr sz="900">
                <a:solidFill>
                  <a:srgbClr val="555555"/>
                </a:solidFill>
                <a:latin typeface="Consolas"/>
              </a:rPr>
              <a:t>L 0.20 / R 0.22 / P 0.20 / F 0.16 / Q 0.12 / LC 0.07 / C 0.03</a:t>
            </a:r>
          </a:p>
          <a:p>
            <a:pPr>
              <a:spcBef>
                <a:spcPts val="600"/>
              </a:spcBef>
            </a:pPr>
            <a:r>
              <a:rPr sz="1000">
                <a:solidFill>
                  <a:srgbClr val="222222"/>
                </a:solidFill>
                <a:latin typeface="Aptos"/>
              </a:rPr>
              <a:t>The contract's frozen weighting -- Reliability and Safety/Legal dominate.</a:t>
            </a:r>
          </a:p>
        </p:txBody>
      </p:sp>
      <p:sp>
        <p:nvSpPr>
          <p:cNvPr id="9" name="Rectangle 8"/>
          <p:cNvSpPr/>
          <p:nvPr/>
        </p:nvSpPr>
        <p:spPr>
          <a:xfrm>
            <a:off x="4210680" y="1620000"/>
            <a:ext cx="3770640" cy="1550000"/>
          </a:xfrm>
          <a:prstGeom prst="rect">
            <a:avLst/>
          </a:prstGeom>
          <a:solidFill>
            <a:srgbClr val="EFE5F5"/>
          </a:solidFill>
          <a:ln w="12700">
            <a:solidFill>
              <a:srgbClr val="0B3D5C"/>
            </a:solidFill>
          </a:ln>
          <a:effectLst/>
        </p:spPr>
        <p:style>
          <a:lnRef idx="1">
            <a:schemeClr val="accent1"/>
          </a:lnRef>
          <a:fillRef idx="3">
            <a:schemeClr val="accent1"/>
          </a:fillRef>
          <a:effectRef idx="2">
            <a:schemeClr val="accent1"/>
          </a:effectRef>
          <a:fontRef idx="minor">
            <a:schemeClr val="lt1"/>
          </a:fontRef>
        </p:style>
        <p:txBody>
          <a:bodyPr rtlCol="0" anchor="ctr" wrap="square" lIns="100000" tIns="70000" rIns="100000"/>
          <a:lstStyle/>
          <a:p>
            <a:pPr algn="ctr"/>
            <a:r>
              <a:rPr sz="1300" b="1">
                <a:solidFill>
                  <a:srgbClr val="0B3D5C"/>
                </a:solidFill>
                <a:latin typeface="Aptos"/>
              </a:rPr>
              <a:t>Equal weight</a:t>
            </a:r>
          </a:p>
          <a:p>
            <a:pPr>
              <a:spcBef>
                <a:spcPts val="400"/>
              </a:spcBef>
            </a:pPr>
            <a:r>
              <a:rPr sz="900">
                <a:solidFill>
                  <a:srgbClr val="555555"/>
                </a:solidFill>
                <a:latin typeface="Consolas"/>
              </a:rPr>
              <a:t>All 7 dimensions at 0.143</a:t>
            </a:r>
          </a:p>
          <a:p>
            <a:pPr>
              <a:spcBef>
                <a:spcPts val="600"/>
              </a:spcBef>
            </a:pPr>
            <a:r>
              <a:rPr sz="1000">
                <a:solidFill>
                  <a:srgbClr val="222222"/>
                </a:solidFill>
                <a:latin typeface="Aptos"/>
              </a:rPr>
              <a:t>Removes the contract's own priority signal entirely -- a sensitivity floor, not a candidate alternative.</a:t>
            </a:r>
          </a:p>
        </p:txBody>
      </p:sp>
      <p:sp>
        <p:nvSpPr>
          <p:cNvPr id="10" name="Rectangle 9"/>
          <p:cNvSpPr/>
          <p:nvPr/>
        </p:nvSpPr>
        <p:spPr>
          <a:xfrm>
            <a:off x="8101320" y="1620000"/>
            <a:ext cx="3770640" cy="1550000"/>
          </a:xfrm>
          <a:prstGeom prst="rect">
            <a:avLst/>
          </a:prstGeom>
          <a:solidFill>
            <a:srgbClr val="EFE5F5"/>
          </a:solidFill>
          <a:ln w="12700">
            <a:solidFill>
              <a:srgbClr val="0B3D5C"/>
            </a:solidFill>
          </a:ln>
          <a:effectLst/>
        </p:spPr>
        <p:style>
          <a:lnRef idx="1">
            <a:schemeClr val="accent1"/>
          </a:lnRef>
          <a:fillRef idx="3">
            <a:schemeClr val="accent1"/>
          </a:fillRef>
          <a:effectRef idx="2">
            <a:schemeClr val="accent1"/>
          </a:effectRef>
          <a:fontRef idx="minor">
            <a:schemeClr val="lt1"/>
          </a:fontRef>
        </p:style>
        <p:txBody>
          <a:bodyPr rtlCol="0" anchor="ctr" wrap="square" lIns="100000" tIns="70000" rIns="100000"/>
          <a:lstStyle/>
          <a:p>
            <a:pPr algn="ctr"/>
            <a:r>
              <a:rPr sz="1300" b="1">
                <a:solidFill>
                  <a:srgbClr val="0B3D5C"/>
                </a:solidFill>
                <a:latin typeface="Aptos"/>
              </a:rPr>
              <a:t>Cost-heavy (70/30)</a:t>
            </a:r>
          </a:p>
          <a:p>
            <a:pPr>
              <a:spcBef>
                <a:spcPts val="400"/>
              </a:spcBef>
            </a:pPr>
            <a:r>
              <a:rPr sz="900">
                <a:solidFill>
                  <a:srgbClr val="555555"/>
                </a:solidFill>
                <a:latin typeface="Consolas"/>
              </a:rPr>
              <a:t>C 0.70, remaining 6 dims share 0.30 proportionally</a:t>
            </a:r>
          </a:p>
          <a:p>
            <a:pPr>
              <a:spcBef>
                <a:spcPts val="600"/>
              </a:spcBef>
            </a:pPr>
            <a:r>
              <a:rPr sz="1000">
                <a:solidFill>
                  <a:srgbClr val="222222"/>
                </a:solidFill>
                <a:latin typeface="Aptos"/>
              </a:rPr>
              <a:t>Inverts the contract's stated 3% cost weight to 70% -- an explanatory extreme, not a proposal.</a:t>
            </a:r>
          </a:p>
        </p:txBody>
      </p:sp>
      <p:sp>
        <p:nvSpPr>
          <p:cNvPr id="11" name="Rectangle 10"/>
          <p:cNvSpPr/>
          <p:nvPr/>
        </p:nvSpPr>
        <p:spPr>
          <a:xfrm>
            <a:off x="320040" y="3350000"/>
            <a:ext cx="11551920" cy="3050000"/>
          </a:xfrm>
          <a:prstGeom prst="rect">
            <a:avLst/>
          </a:prstGeom>
          <a:solidFill>
            <a:srgbClr val="FFFFFF"/>
          </a:solidFill>
          <a:ln w="9525">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0000" rIns="137160"/>
          <a:lstStyle/>
          <a:p>
            <a:pPr algn="ctr"/>
            <a:r>
              <a:rPr sz="1200" b="1">
                <a:solidFill>
                  <a:srgbClr val="0B3D5C"/>
                </a:solidFill>
                <a:latin typeface="Aptos"/>
              </a:rPr>
              <a:t>Findings (computed directly from stored 0-3 dimension scores, not estimated)</a:t>
            </a:r>
          </a:p>
          <a:p>
            <a:pPr>
              <a:spcBef>
                <a:spcPts val="700"/>
              </a:spcBef>
            </a:pPr>
            <a:r>
              <a:rPr b="1" sz="1050">
                <a:solidFill>
                  <a:srgbClr val="0B3D5C"/>
                </a:solidFill>
                <a:latin typeface="Aptos"/>
              </a:rPr>
              <a:t>•  </a:t>
            </a:r>
            <a:r>
              <a:rPr sz="1050">
                <a:solidFill>
                  <a:srgbClr val="222222"/>
                </a:solidFill>
                <a:latin typeface="Aptos"/>
              </a:rPr>
              <a:t>Base vs Equal: Spearman rank correlation strong but not perfect -- the RTM T0-Gate tier (43 items) is the main source of divergence, since gate precedence overrides score in Base but Equal has no gate concept applied the same way.</a:t>
            </a:r>
          </a:p>
          <a:p>
            <a:pPr>
              <a:spcBef>
                <a:spcPts val="700"/>
              </a:spcBef>
            </a:pPr>
            <a:r>
              <a:rPr b="1" sz="1050">
                <a:solidFill>
                  <a:srgbClr val="0B3D5C"/>
                </a:solidFill>
                <a:latin typeface="Aptos"/>
              </a:rPr>
              <a:t>•  </a:t>
            </a:r>
            <a:r>
              <a:rPr sz="1050">
                <a:solidFill>
                  <a:srgbClr val="222222"/>
                </a:solidFill>
                <a:latin typeface="Aptos"/>
              </a:rPr>
              <a:t>Base vs Cost=70%: correlation drops further -- items whose case rests on Reliability/Safety (not Cost) fall the most; a handful of cheap, low-technical-risk items rise sharply.</a:t>
            </a:r>
          </a:p>
          <a:p>
            <a:pPr>
              <a:spcBef>
                <a:spcPts val="700"/>
              </a:spcBef>
            </a:pPr>
            <a:r>
              <a:rPr b="1" sz="1050">
                <a:solidFill>
                  <a:srgbClr val="0B3D5C"/>
                </a:solidFill>
                <a:latin typeface="Aptos"/>
              </a:rPr>
              <a:t>•  </a:t>
            </a:r>
            <a:r>
              <a:rPr sz="1050">
                <a:solidFill>
                  <a:srgbClr val="222222"/>
                </a:solidFill>
                <a:latin typeface="Aptos"/>
              </a:rPr>
              <a:t>All 3 scenarios agree on very little at the extremes except the genuine outliers -- rank-1 vs rank-2 shows the only truly stable large gap across every weighting tested (Section 19 of the project backlog has full OFFER-ID-level deltas).</a:t>
            </a:r>
          </a:p>
          <a:p>
            <a:pPr>
              <a:spcBef>
                <a:spcPts val="700"/>
              </a:spcBef>
            </a:pPr>
            <a:r>
              <a:rPr b="1" sz="1050">
                <a:solidFill>
                  <a:srgbClr val="0B3D5C"/>
                </a:solidFill>
                <a:latin typeface="Aptos"/>
              </a:rPr>
              <a:t>•  </a:t>
            </a:r>
            <a:r>
              <a:rPr sz="1050">
                <a:solidFill>
                  <a:srgbClr val="222222"/>
                </a:solidFill>
                <a:latin typeface="Aptos"/>
              </a:rPr>
              <a:t>None of these 3 scenarios is being proposed as a replacement for Base -- they exist to make "how sensitive is the ranking to the contract's own weight choice" a concrete, explainable answer instead of a single scatter plot.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68680"/>
          </a:xfrm>
          <a:prstGeom prst="rect">
            <a:avLst/>
          </a:prstGeom>
          <a:solidFill>
            <a:srgbClr val="441F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9875520" cy="685800"/>
          </a:xfrm>
          <a:prstGeom prst="rect">
            <a:avLst/>
          </a:prstGeom>
          <a:noFill/>
        </p:spPr>
        <p:txBody>
          <a:bodyPr wrap="square">
            <a:spAutoFit/>
          </a:bodyPr>
          <a:lstStyle/>
          <a:p>
            <a:r>
              <a:rPr sz="2400" b="1">
                <a:solidFill>
                  <a:srgbClr val="FFFFFF"/>
                </a:solidFill>
                <a:latin typeface="Aptos"/>
              </a:rPr>
              <a:t>Granular cross-reference: code, deliverable, phase, RTM links</a:t>
            </a:r>
          </a:p>
        </p:txBody>
      </p:sp>
      <p:sp>
        <p:nvSpPr>
          <p:cNvPr id="4" name="TextBox 3"/>
          <p:cNvSpPr txBox="1"/>
          <p:nvPr/>
        </p:nvSpPr>
        <p:spPr>
          <a:xfrm>
            <a:off x="10607040" y="292608"/>
            <a:ext cx="1371600" cy="320040"/>
          </a:xfrm>
          <a:prstGeom prst="rect">
            <a:avLst/>
          </a:prstGeom>
          <a:noFill/>
        </p:spPr>
        <p:txBody>
          <a:bodyPr wrap="none">
            <a:spAutoFit/>
          </a:bodyPr>
          <a:lstStyle/>
          <a:p>
            <a:pPr algn="r"/>
            <a:r>
              <a:rPr sz="1100" b="1">
                <a:solidFill>
                  <a:srgbClr val="BFD6E6"/>
                </a:solidFill>
                <a:latin typeface="Aptos"/>
              </a:rPr>
              <a:t>EVAL-S15</a:t>
            </a:r>
          </a:p>
        </p:txBody>
      </p:sp>
      <p:sp>
        <p:nvSpPr>
          <p:cNvPr id="5" name="Rectangle 4"/>
          <p:cNvSpPr/>
          <p:nvPr/>
        </p:nvSpPr>
        <p:spPr>
          <a:xfrm>
            <a:off x="0" y="6547104"/>
            <a:ext cx="12192000" cy="310896"/>
          </a:xfrm>
          <a:prstGeom prst="rect">
            <a:avLst/>
          </a:prstGeom>
          <a:solidFill>
            <a:srgbClr val="F3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565392"/>
            <a:ext cx="10515600" cy="274320"/>
          </a:xfrm>
          <a:prstGeom prst="rect">
            <a:avLst/>
          </a:prstGeom>
          <a:noFill/>
        </p:spPr>
        <p:txBody>
          <a:bodyPr wrap="none">
            <a:spAutoFit/>
          </a:bodyPr>
          <a:lstStyle/>
          <a:p>
            <a:r>
              <a:rPr sz="850">
                <a:solidFill>
                  <a:srgbClr val="555555"/>
                </a:solidFill>
                <a:latin typeface="Aptos"/>
              </a:rPr>
              <a:t>BT METHOD — Engineering Baseline (canonical RTM-722) · EVAL-S15 (granular OFFER cross-reference, new) | v3.9</a:t>
            </a:r>
          </a:p>
        </p:txBody>
      </p:sp>
      <p:sp>
        <p:nvSpPr>
          <p:cNvPr id="7" name="TextBox 6"/>
          <p:cNvSpPr txBox="1"/>
          <p:nvPr/>
        </p:nvSpPr>
        <p:spPr>
          <a:xfrm>
            <a:off x="411480" y="940000"/>
            <a:ext cx="11400000" cy="300000"/>
          </a:xfrm>
          <a:prstGeom prst="rect">
            <a:avLst/>
          </a:prstGeom>
          <a:noFill/>
        </p:spPr>
        <p:txBody>
          <a:bodyPr wrap="square">
            <a:spAutoFit/>
          </a:bodyPr>
          <a:lstStyle/>
          <a:p>
            <a:r>
              <a:rPr sz="1150">
                <a:solidFill>
                  <a:srgbClr val="222222"/>
                </a:solidFill>
                <a:latin typeface="Aptos"/>
              </a:rPr>
              <a:t>Top-10 OFFER items by official rank -- every field pulled directly from OFFER_RANKING, none estimated for this slide.</a:t>
            </a:r>
          </a:p>
        </p:txBody>
      </p:sp>
      <p:graphicFrame>
        <p:nvGraphicFramePr>
          <p:cNvPr id="8" name="Table 7"/>
          <p:cNvGraphicFramePr>
            <a:graphicFrameLocks noGrp="1"/>
          </p:cNvGraphicFramePr>
          <p:nvPr/>
        </p:nvGraphicFramePr>
        <p:xfrm>
          <a:off x="320040" y="1360000"/>
          <a:ext cx="10850000" cy="4900000"/>
        </p:xfrm>
        <a:graphic>
          <a:graphicData uri="http://schemas.openxmlformats.org/drawingml/2006/table">
            <a:tbl>
              <a:tblPr firstRow="1" bandRow="1">
                <a:tableStyleId>{5C22544A-7EE6-4342-B048-85BDC9FD1C3A}</a:tableStyleId>
              </a:tblPr>
              <a:tblGrid>
                <a:gridCol w="750000"/>
                <a:gridCol w="2500000"/>
                <a:gridCol w="1900000"/>
                <a:gridCol w="2600000"/>
                <a:gridCol w="1550000"/>
                <a:gridCol w="1550000"/>
              </a:tblGrid>
              <a:tr h="445454">
                <a:tc>
                  <a:txBody>
                    <a:bodyPr wrap="square"/>
                    <a:lstStyle/>
                    <a:p>
                      <a:r>
                        <a:rPr sz="900" b="1">
                          <a:solidFill>
                            <a:srgbClr val="FFFFFF"/>
                          </a:solidFill>
                          <a:latin typeface="Aptos"/>
                        </a:rPr>
                        <a:t>Rank</a:t>
                      </a:r>
                    </a:p>
                  </a:txBody>
                  <a:tcPr>
                    <a:solidFill>
                      <a:srgbClr val="0B3D5C"/>
                    </a:solidFill>
                  </a:tcPr>
                </a:tc>
                <a:tc>
                  <a:txBody>
                    <a:bodyPr wrap="square"/>
                    <a:lstStyle/>
                    <a:p>
                      <a:r>
                        <a:rPr sz="900" b="1">
                          <a:solidFill>
                            <a:srgbClr val="FFFFFF"/>
                          </a:solidFill>
                          <a:latin typeface="Aptos"/>
                        </a:rPr>
                        <a:t>OFFER ID / Title</a:t>
                      </a:r>
                    </a:p>
                  </a:txBody>
                  <a:tcPr>
                    <a:solidFill>
                      <a:srgbClr val="0B3D5C"/>
                    </a:solidFill>
                  </a:tcPr>
                </a:tc>
                <a:tc>
                  <a:txBody>
                    <a:bodyPr wrap="square"/>
                    <a:lstStyle/>
                    <a:p>
                      <a:r>
                        <a:rPr sz="900" b="1">
                          <a:solidFill>
                            <a:srgbClr val="FFFFFF"/>
                          </a:solidFill>
                          <a:latin typeface="Aptos"/>
                        </a:rPr>
                        <a:t>Code / Standard</a:t>
                      </a:r>
                    </a:p>
                  </a:txBody>
                  <a:tcPr>
                    <a:solidFill>
                      <a:srgbClr val="0B3D5C"/>
                    </a:solidFill>
                  </a:tcPr>
                </a:tc>
                <a:tc>
                  <a:txBody>
                    <a:bodyPr wrap="square"/>
                    <a:lstStyle/>
                    <a:p>
                      <a:r>
                        <a:rPr sz="900" b="1">
                          <a:solidFill>
                            <a:srgbClr val="FFFFFF"/>
                          </a:solidFill>
                          <a:latin typeface="Aptos"/>
                        </a:rPr>
                        <a:t>Explicit deliverable</a:t>
                      </a:r>
                    </a:p>
                  </a:txBody>
                  <a:tcPr>
                    <a:solidFill>
                      <a:srgbClr val="0B3D5C"/>
                    </a:solidFill>
                  </a:tcPr>
                </a:tc>
                <a:tc>
                  <a:txBody>
                    <a:bodyPr wrap="square"/>
                    <a:lstStyle/>
                    <a:p>
                      <a:r>
                        <a:rPr sz="900" b="1">
                          <a:solidFill>
                            <a:srgbClr val="FFFFFF"/>
                          </a:solidFill>
                          <a:latin typeface="Aptos"/>
                        </a:rPr>
                        <a:t>Phase(s)</a:t>
                      </a:r>
                    </a:p>
                  </a:txBody>
                  <a:tcPr>
                    <a:solidFill>
                      <a:srgbClr val="0B3D5C"/>
                    </a:solidFill>
                  </a:tcPr>
                </a:tc>
                <a:tc>
                  <a:txBody>
                    <a:bodyPr wrap="square"/>
                    <a:lstStyle/>
                    <a:p>
                      <a:r>
                        <a:rPr sz="900" b="1">
                          <a:solidFill>
                            <a:srgbClr val="FFFFFF"/>
                          </a:solidFill>
                          <a:latin typeface="Aptos"/>
                        </a:rPr>
                        <a:t>RTM links (Primary/Supp.)</a:t>
                      </a:r>
                    </a:p>
                  </a:txBody>
                  <a:tcPr>
                    <a:solidFill>
                      <a:srgbClr val="0B3D5C"/>
                    </a:solidFill>
                  </a:tcPr>
                </a:tc>
              </a:tr>
              <a:tr h="445454">
                <a:tc>
                  <a:txBody>
                    <a:bodyPr wrap="square"/>
                    <a:lstStyle/>
                    <a:p>
                      <a:r>
                        <a:rPr sz="830" b="1">
                          <a:solidFill>
                            <a:srgbClr val="0B3D5C"/>
                          </a:solidFill>
                          <a:latin typeface="Aptos"/>
                        </a:rPr>
                        <a:t>1</a:t>
                      </a:r>
                    </a:p>
                  </a:txBody>
                  <a:tcPr>
                    <a:solidFill>
                      <a:srgbClr val="FFFFFF"/>
                    </a:solidFill>
                  </a:tcPr>
                </a:tc>
                <a:tc>
                  <a:txBody>
                    <a:bodyPr wrap="square"/>
                    <a:lstStyle/>
                    <a:p>
                      <a:r>
                        <a:rPr sz="830">
                          <a:solidFill>
                            <a:srgbClr val="222222"/>
                          </a:solidFill>
                          <a:latin typeface="Aptos"/>
                        </a:rPr>
                        <a:t>OFFER-02
Assumptions, Deviations &amp; Additio…</a:t>
                      </a:r>
                    </a:p>
                  </a:txBody>
                  <a:tcPr>
                    <a:solidFill>
                      <a:srgbClr val="FFFFFF"/>
                    </a:solidFill>
                  </a:tcPr>
                </a:tc>
                <a:tc>
                  <a:txBody>
                    <a:bodyPr wrap="square"/>
                    <a:lstStyle/>
                    <a:p>
                      <a:r>
                        <a:rPr sz="830">
                          <a:solidFill>
                            <a:srgbClr val="222222"/>
                          </a:solidFill>
                          <a:latin typeface="Aptos"/>
                        </a:rPr>
                        <a:t>None explicitly named in …</a:t>
                      </a:r>
                    </a:p>
                  </a:txBody>
                  <a:tcPr>
                    <a:solidFill>
                      <a:srgbClr val="FFFFFF"/>
                    </a:solidFill>
                  </a:tcPr>
                </a:tc>
                <a:tc>
                  <a:txBody>
                    <a:bodyPr wrap="square"/>
                    <a:lstStyle/>
                    <a:p>
                      <a:r>
                        <a:rPr sz="830">
                          <a:solidFill>
                            <a:srgbClr val="222222"/>
                          </a:solidFill>
                          <a:latin typeface="Aptos"/>
                        </a:rPr>
                        <a:t>Offer response: Assumptions, Deviatio…</a:t>
                      </a:r>
                    </a:p>
                  </a:txBody>
                  <a:tcPr>
                    <a:solidFill>
                      <a:srgbClr val="FFFFFF"/>
                    </a:solidFill>
                  </a:tcPr>
                </a:tc>
                <a:tc>
                  <a:txBody>
                    <a:bodyPr wrap="square"/>
                    <a:lstStyle/>
                    <a:p>
                      <a:r>
                        <a:rPr sz="830">
                          <a:solidFill>
                            <a:srgbClr val="222222"/>
                          </a:solidFill>
                          <a:latin typeface="Aptos"/>
                        </a:rPr>
                        <a:t>3 phases (L0→L2)</a:t>
                      </a:r>
                    </a:p>
                  </a:txBody>
                  <a:tcPr>
                    <a:solidFill>
                      <a:srgbClr val="FFFFFF"/>
                    </a:solidFill>
                  </a:tcPr>
                </a:tc>
                <a:tc>
                  <a:txBody>
                    <a:bodyPr wrap="square"/>
                    <a:lstStyle/>
                    <a:p>
                      <a:r>
                        <a:rPr sz="830">
                          <a:solidFill>
                            <a:srgbClr val="222222"/>
                          </a:solidFill>
                          <a:latin typeface="Aptos"/>
                        </a:rPr>
                        <a:t>1 / 1</a:t>
                      </a:r>
                    </a:p>
                  </a:txBody>
                  <a:tcPr>
                    <a:solidFill>
                      <a:srgbClr val="FFFFFF"/>
                    </a:solidFill>
                  </a:tcPr>
                </a:tc>
              </a:tr>
              <a:tr h="445454">
                <a:tc>
                  <a:txBody>
                    <a:bodyPr wrap="square"/>
                    <a:lstStyle/>
                    <a:p>
                      <a:r>
                        <a:rPr sz="830" b="1">
                          <a:solidFill>
                            <a:srgbClr val="0B3D5C"/>
                          </a:solidFill>
                          <a:latin typeface="Aptos"/>
                        </a:rPr>
                        <a:t>2</a:t>
                      </a:r>
                    </a:p>
                  </a:txBody>
                  <a:tcPr>
                    <a:solidFill>
                      <a:srgbClr val="F4F7F9"/>
                    </a:solidFill>
                  </a:tcPr>
                </a:tc>
                <a:tc>
                  <a:txBody>
                    <a:bodyPr wrap="square"/>
                    <a:lstStyle/>
                    <a:p>
                      <a:r>
                        <a:rPr sz="830">
                          <a:solidFill>
                            <a:srgbClr val="222222"/>
                          </a:solidFill>
                          <a:latin typeface="Aptos"/>
                        </a:rPr>
                        <a:t>OFFER-48
Detailed Quality Control Procedur…</a:t>
                      </a:r>
                    </a:p>
                  </a:txBody>
                  <a:tcPr>
                    <a:solidFill>
                      <a:srgbClr val="F4F7F9"/>
                    </a:solidFill>
                  </a:tcPr>
                </a:tc>
                <a:tc>
                  <a:txBody>
                    <a:bodyPr wrap="square"/>
                    <a:lstStyle/>
                    <a:p>
                      <a:r>
                        <a:rPr sz="830">
                          <a:solidFill>
                            <a:srgbClr val="222222"/>
                          </a:solidFill>
                          <a:latin typeface="Aptos"/>
                        </a:rPr>
                        <a:t>None explicitly named in …</a:t>
                      </a:r>
                    </a:p>
                  </a:txBody>
                  <a:tcPr>
                    <a:solidFill>
                      <a:srgbClr val="F4F7F9"/>
                    </a:solidFill>
                  </a:tcPr>
                </a:tc>
                <a:tc>
                  <a:txBody>
                    <a:bodyPr wrap="square"/>
                    <a:lstStyle/>
                    <a:p>
                      <a:r>
                        <a:rPr sz="830">
                          <a:solidFill>
                            <a:srgbClr val="222222"/>
                          </a:solidFill>
                          <a:latin typeface="Aptos"/>
                        </a:rPr>
                        <a:t>Offer response: Detailed Quality Cont…</a:t>
                      </a:r>
                    </a:p>
                  </a:txBody>
                  <a:tcPr>
                    <a:solidFill>
                      <a:srgbClr val="F4F7F9"/>
                    </a:solidFill>
                  </a:tcPr>
                </a:tc>
                <a:tc>
                  <a:txBody>
                    <a:bodyPr wrap="square"/>
                    <a:lstStyle/>
                    <a:p>
                      <a:r>
                        <a:rPr sz="830">
                          <a:solidFill>
                            <a:srgbClr val="222222"/>
                          </a:solidFill>
                          <a:latin typeface="Aptos"/>
                        </a:rPr>
                        <a:t>7 phases (L0→L6)</a:t>
                      </a:r>
                    </a:p>
                  </a:txBody>
                  <a:tcPr>
                    <a:solidFill>
                      <a:srgbClr val="F4F7F9"/>
                    </a:solidFill>
                  </a:tcPr>
                </a:tc>
                <a:tc>
                  <a:txBody>
                    <a:bodyPr wrap="square"/>
                    <a:lstStyle/>
                    <a:p>
                      <a:r>
                        <a:rPr sz="830">
                          <a:solidFill>
                            <a:srgbClr val="222222"/>
                          </a:solidFill>
                          <a:latin typeface="Aptos"/>
                        </a:rPr>
                        <a:t>1 / 0</a:t>
                      </a:r>
                    </a:p>
                  </a:txBody>
                  <a:tcPr>
                    <a:solidFill>
                      <a:srgbClr val="F4F7F9"/>
                    </a:solidFill>
                  </a:tcPr>
                </a:tc>
              </a:tr>
              <a:tr h="445454">
                <a:tc>
                  <a:txBody>
                    <a:bodyPr wrap="square"/>
                    <a:lstStyle/>
                    <a:p>
                      <a:r>
                        <a:rPr sz="830" b="1">
                          <a:solidFill>
                            <a:srgbClr val="0B3D5C"/>
                          </a:solidFill>
                          <a:latin typeface="Aptos"/>
                        </a:rPr>
                        <a:t>3</a:t>
                      </a:r>
                    </a:p>
                  </a:txBody>
                  <a:tcPr>
                    <a:solidFill>
                      <a:srgbClr val="FFFFFF"/>
                    </a:solidFill>
                  </a:tcPr>
                </a:tc>
                <a:tc>
                  <a:txBody>
                    <a:bodyPr wrap="square"/>
                    <a:lstStyle/>
                    <a:p>
                      <a:r>
                        <a:rPr sz="830">
                          <a:solidFill>
                            <a:srgbClr val="222222"/>
                          </a:solidFill>
                          <a:latin typeface="Aptos"/>
                        </a:rPr>
                        <a:t>OFFER-01
Tender Compliance Confirmation</a:t>
                      </a:r>
                    </a:p>
                  </a:txBody>
                  <a:tcPr>
                    <a:solidFill>
                      <a:srgbClr val="FFFFFF"/>
                    </a:solidFill>
                  </a:tcPr>
                </a:tc>
                <a:tc>
                  <a:txBody>
                    <a:bodyPr wrap="square"/>
                    <a:lstStyle/>
                    <a:p>
                      <a:r>
                        <a:rPr sz="830">
                          <a:solidFill>
                            <a:srgbClr val="222222"/>
                          </a:solidFill>
                          <a:latin typeface="Aptos"/>
                        </a:rPr>
                        <a:t>None explicitly named in …</a:t>
                      </a:r>
                    </a:p>
                  </a:txBody>
                  <a:tcPr>
                    <a:solidFill>
                      <a:srgbClr val="FFFFFF"/>
                    </a:solidFill>
                  </a:tcPr>
                </a:tc>
                <a:tc>
                  <a:txBody>
                    <a:bodyPr wrap="square"/>
                    <a:lstStyle/>
                    <a:p>
                      <a:r>
                        <a:rPr sz="830">
                          <a:solidFill>
                            <a:srgbClr val="222222"/>
                          </a:solidFill>
                          <a:latin typeface="Aptos"/>
                        </a:rPr>
                        <a:t>Offer response: Tender Compliance Con…</a:t>
                      </a:r>
                    </a:p>
                  </a:txBody>
                  <a:tcPr>
                    <a:solidFill>
                      <a:srgbClr val="FFFFFF"/>
                    </a:solidFill>
                  </a:tcPr>
                </a:tc>
                <a:tc>
                  <a:txBody>
                    <a:bodyPr wrap="square"/>
                    <a:lstStyle/>
                    <a:p>
                      <a:r>
                        <a:rPr sz="830">
                          <a:solidFill>
                            <a:srgbClr val="222222"/>
                          </a:solidFill>
                          <a:latin typeface="Aptos"/>
                        </a:rPr>
                        <a:t>3 phases (L0→L2)</a:t>
                      </a:r>
                    </a:p>
                  </a:txBody>
                  <a:tcPr>
                    <a:solidFill>
                      <a:srgbClr val="FFFFFF"/>
                    </a:solidFill>
                  </a:tcPr>
                </a:tc>
                <a:tc>
                  <a:txBody>
                    <a:bodyPr wrap="square"/>
                    <a:lstStyle/>
                    <a:p>
                      <a:r>
                        <a:rPr sz="830">
                          <a:solidFill>
                            <a:srgbClr val="222222"/>
                          </a:solidFill>
                          <a:latin typeface="Aptos"/>
                        </a:rPr>
                        <a:t>1 / 1</a:t>
                      </a:r>
                    </a:p>
                  </a:txBody>
                  <a:tcPr>
                    <a:solidFill>
                      <a:srgbClr val="FFFFFF"/>
                    </a:solidFill>
                  </a:tcPr>
                </a:tc>
              </a:tr>
              <a:tr h="445454">
                <a:tc>
                  <a:txBody>
                    <a:bodyPr wrap="square"/>
                    <a:lstStyle/>
                    <a:p>
                      <a:r>
                        <a:rPr sz="830" b="1">
                          <a:solidFill>
                            <a:srgbClr val="0B3D5C"/>
                          </a:solidFill>
                          <a:latin typeface="Aptos"/>
                        </a:rPr>
                        <a:t>4</a:t>
                      </a:r>
                    </a:p>
                  </a:txBody>
                  <a:tcPr>
                    <a:solidFill>
                      <a:srgbClr val="F4F7F9"/>
                    </a:solidFill>
                  </a:tcPr>
                </a:tc>
                <a:tc>
                  <a:txBody>
                    <a:bodyPr wrap="square"/>
                    <a:lstStyle/>
                    <a:p>
                      <a:r>
                        <a:rPr sz="830">
                          <a:solidFill>
                            <a:srgbClr val="222222"/>
                          </a:solidFill>
                          <a:latin typeface="Aptos"/>
                        </a:rPr>
                        <a:t>OFFER-03
Integrated Technical Proposal &amp; E…</a:t>
                      </a:r>
                    </a:p>
                  </a:txBody>
                  <a:tcPr>
                    <a:solidFill>
                      <a:srgbClr val="F4F7F9"/>
                    </a:solidFill>
                  </a:tcPr>
                </a:tc>
                <a:tc>
                  <a:txBody>
                    <a:bodyPr wrap="square"/>
                    <a:lstStyle/>
                    <a:p>
                      <a:r>
                        <a:rPr sz="830">
                          <a:solidFill>
                            <a:srgbClr val="222222"/>
                          </a:solidFill>
                          <a:latin typeface="Aptos"/>
                        </a:rPr>
                        <a:t>None explicitly named in …</a:t>
                      </a:r>
                    </a:p>
                  </a:txBody>
                  <a:tcPr>
                    <a:solidFill>
                      <a:srgbClr val="F4F7F9"/>
                    </a:solidFill>
                  </a:tcPr>
                </a:tc>
                <a:tc>
                  <a:txBody>
                    <a:bodyPr wrap="square"/>
                    <a:lstStyle/>
                    <a:p>
                      <a:r>
                        <a:rPr sz="830">
                          <a:solidFill>
                            <a:srgbClr val="222222"/>
                          </a:solidFill>
                          <a:latin typeface="Aptos"/>
                        </a:rPr>
                        <a:t>Offer response: Integrated Technical …</a:t>
                      </a:r>
                    </a:p>
                  </a:txBody>
                  <a:tcPr>
                    <a:solidFill>
                      <a:srgbClr val="F4F7F9"/>
                    </a:solidFill>
                  </a:tcPr>
                </a:tc>
                <a:tc>
                  <a:txBody>
                    <a:bodyPr wrap="square"/>
                    <a:lstStyle/>
                    <a:p>
                      <a:r>
                        <a:rPr sz="830">
                          <a:solidFill>
                            <a:srgbClr val="222222"/>
                          </a:solidFill>
                          <a:latin typeface="Aptos"/>
                        </a:rPr>
                        <a:t>3 phases (L0→L2)</a:t>
                      </a:r>
                    </a:p>
                  </a:txBody>
                  <a:tcPr>
                    <a:solidFill>
                      <a:srgbClr val="F4F7F9"/>
                    </a:solidFill>
                  </a:tcPr>
                </a:tc>
                <a:tc>
                  <a:txBody>
                    <a:bodyPr wrap="square"/>
                    <a:lstStyle/>
                    <a:p>
                      <a:r>
                        <a:rPr sz="830">
                          <a:solidFill>
                            <a:srgbClr val="222222"/>
                          </a:solidFill>
                          <a:latin typeface="Aptos"/>
                        </a:rPr>
                        <a:t>1 / 1</a:t>
                      </a:r>
                    </a:p>
                  </a:txBody>
                  <a:tcPr>
                    <a:solidFill>
                      <a:srgbClr val="F4F7F9"/>
                    </a:solidFill>
                  </a:tcPr>
                </a:tc>
              </a:tr>
              <a:tr h="445454">
                <a:tc>
                  <a:txBody>
                    <a:bodyPr wrap="square"/>
                    <a:lstStyle/>
                    <a:p>
                      <a:r>
                        <a:rPr sz="830" b="1">
                          <a:solidFill>
                            <a:srgbClr val="0B3D5C"/>
                          </a:solidFill>
                          <a:latin typeface="Aptos"/>
                        </a:rPr>
                        <a:t>5</a:t>
                      </a:r>
                    </a:p>
                  </a:txBody>
                  <a:tcPr>
                    <a:solidFill>
                      <a:srgbClr val="FFFFFF"/>
                    </a:solidFill>
                  </a:tcPr>
                </a:tc>
                <a:tc>
                  <a:txBody>
                    <a:bodyPr wrap="square"/>
                    <a:lstStyle/>
                    <a:p>
                      <a:r>
                        <a:rPr sz="830">
                          <a:solidFill>
                            <a:srgbClr val="222222"/>
                          </a:solidFill>
                          <a:latin typeface="Aptos"/>
                        </a:rPr>
                        <a:t>OFFER-47
Quality Assurance Program (QAP) D…</a:t>
                      </a:r>
                    </a:p>
                  </a:txBody>
                  <a:tcPr>
                    <a:solidFill>
                      <a:srgbClr val="FFFFFF"/>
                    </a:solidFill>
                  </a:tcPr>
                </a:tc>
                <a:tc>
                  <a:txBody>
                    <a:bodyPr wrap="square"/>
                    <a:lstStyle/>
                    <a:p>
                      <a:r>
                        <a:rPr sz="830">
                          <a:solidFill>
                            <a:srgbClr val="222222"/>
                          </a:solidFill>
                          <a:latin typeface="Aptos"/>
                        </a:rPr>
                        <a:t>None explicitly named in …</a:t>
                      </a:r>
                    </a:p>
                  </a:txBody>
                  <a:tcPr>
                    <a:solidFill>
                      <a:srgbClr val="FFFFFF"/>
                    </a:solidFill>
                  </a:tcPr>
                </a:tc>
                <a:tc>
                  <a:txBody>
                    <a:bodyPr wrap="square"/>
                    <a:lstStyle/>
                    <a:p>
                      <a:r>
                        <a:rPr sz="830">
                          <a:solidFill>
                            <a:srgbClr val="222222"/>
                          </a:solidFill>
                          <a:latin typeface="Aptos"/>
                        </a:rPr>
                        <a:t>Offer response: Quality Assurance Pro…</a:t>
                      </a:r>
                    </a:p>
                  </a:txBody>
                  <a:tcPr>
                    <a:solidFill>
                      <a:srgbClr val="FFFFFF"/>
                    </a:solidFill>
                  </a:tcPr>
                </a:tc>
                <a:tc>
                  <a:txBody>
                    <a:bodyPr wrap="square"/>
                    <a:lstStyle/>
                    <a:p>
                      <a:r>
                        <a:rPr sz="830">
                          <a:solidFill>
                            <a:srgbClr val="222222"/>
                          </a:solidFill>
                          <a:latin typeface="Aptos"/>
                        </a:rPr>
                        <a:t>7 phases (L0→L6)</a:t>
                      </a:r>
                    </a:p>
                  </a:txBody>
                  <a:tcPr>
                    <a:solidFill>
                      <a:srgbClr val="FFFFFF"/>
                    </a:solidFill>
                  </a:tcPr>
                </a:tc>
                <a:tc>
                  <a:txBody>
                    <a:bodyPr wrap="square"/>
                    <a:lstStyle/>
                    <a:p>
                      <a:r>
                        <a:rPr sz="830">
                          <a:solidFill>
                            <a:srgbClr val="222222"/>
                          </a:solidFill>
                          <a:latin typeface="Aptos"/>
                        </a:rPr>
                        <a:t>1 / 1</a:t>
                      </a:r>
                    </a:p>
                  </a:txBody>
                  <a:tcPr>
                    <a:solidFill>
                      <a:srgbClr val="FFFFFF"/>
                    </a:solidFill>
                  </a:tcPr>
                </a:tc>
              </a:tr>
              <a:tr h="445454">
                <a:tc>
                  <a:txBody>
                    <a:bodyPr wrap="square"/>
                    <a:lstStyle/>
                    <a:p>
                      <a:r>
                        <a:rPr sz="830" b="1">
                          <a:solidFill>
                            <a:srgbClr val="0B3D5C"/>
                          </a:solidFill>
                          <a:latin typeface="Aptos"/>
                        </a:rPr>
                        <a:t>6</a:t>
                      </a:r>
                    </a:p>
                  </a:txBody>
                  <a:tcPr>
                    <a:solidFill>
                      <a:srgbClr val="F4F7F9"/>
                    </a:solidFill>
                  </a:tcPr>
                </a:tc>
                <a:tc>
                  <a:txBody>
                    <a:bodyPr wrap="square"/>
                    <a:lstStyle/>
                    <a:p>
                      <a:r>
                        <a:rPr sz="830">
                          <a:solidFill>
                            <a:srgbClr val="222222"/>
                          </a:solidFill>
                          <a:latin typeface="Aptos"/>
                        </a:rPr>
                        <a:t>OFFER-49
Codes, Standards &amp; Compliance Fra…</a:t>
                      </a:r>
                    </a:p>
                  </a:txBody>
                  <a:tcPr>
                    <a:solidFill>
                      <a:srgbClr val="F4F7F9"/>
                    </a:solidFill>
                  </a:tcPr>
                </a:tc>
                <a:tc>
                  <a:txBody>
                    <a:bodyPr wrap="square"/>
                    <a:lstStyle/>
                    <a:p>
                      <a:r>
                        <a:rPr sz="830">
                          <a:solidFill>
                            <a:srgbClr val="222222"/>
                          </a:solidFill>
                          <a:latin typeface="Aptos"/>
                        </a:rPr>
                        <a:t>No individual standard na…</a:t>
                      </a:r>
                    </a:p>
                  </a:txBody>
                  <a:tcPr>
                    <a:solidFill>
                      <a:srgbClr val="F4F7F9"/>
                    </a:solidFill>
                  </a:tcPr>
                </a:tc>
                <a:tc>
                  <a:txBody>
                    <a:bodyPr wrap="square"/>
                    <a:lstStyle/>
                    <a:p>
                      <a:r>
                        <a:rPr sz="830">
                          <a:solidFill>
                            <a:srgbClr val="222222"/>
                          </a:solidFill>
                          <a:latin typeface="Aptos"/>
                        </a:rPr>
                        <a:t>Offer response: Codes, Standards &amp; Co…</a:t>
                      </a:r>
                    </a:p>
                  </a:txBody>
                  <a:tcPr>
                    <a:solidFill>
                      <a:srgbClr val="F4F7F9"/>
                    </a:solidFill>
                  </a:tcPr>
                </a:tc>
                <a:tc>
                  <a:txBody>
                    <a:bodyPr wrap="square"/>
                    <a:lstStyle/>
                    <a:p>
                      <a:r>
                        <a:rPr sz="830">
                          <a:solidFill>
                            <a:srgbClr val="222222"/>
                          </a:solidFill>
                          <a:latin typeface="Aptos"/>
                        </a:rPr>
                        <a:t>7 phases (L0→L6)</a:t>
                      </a:r>
                    </a:p>
                  </a:txBody>
                  <a:tcPr>
                    <a:solidFill>
                      <a:srgbClr val="F4F7F9"/>
                    </a:solidFill>
                  </a:tcPr>
                </a:tc>
                <a:tc>
                  <a:txBody>
                    <a:bodyPr wrap="square"/>
                    <a:lstStyle/>
                    <a:p>
                      <a:r>
                        <a:rPr sz="830">
                          <a:solidFill>
                            <a:srgbClr val="222222"/>
                          </a:solidFill>
                          <a:latin typeface="Aptos"/>
                        </a:rPr>
                        <a:t>1 / 1</a:t>
                      </a:r>
                    </a:p>
                  </a:txBody>
                  <a:tcPr>
                    <a:solidFill>
                      <a:srgbClr val="F4F7F9"/>
                    </a:solidFill>
                  </a:tcPr>
                </a:tc>
              </a:tr>
              <a:tr h="445454">
                <a:tc>
                  <a:txBody>
                    <a:bodyPr wrap="square"/>
                    <a:lstStyle/>
                    <a:p>
                      <a:r>
                        <a:rPr sz="830" b="1">
                          <a:solidFill>
                            <a:srgbClr val="0B3D5C"/>
                          </a:solidFill>
                          <a:latin typeface="Aptos"/>
                        </a:rPr>
                        <a:t>7</a:t>
                      </a:r>
                    </a:p>
                  </a:txBody>
                  <a:tcPr>
                    <a:solidFill>
                      <a:srgbClr val="FFFFFF"/>
                    </a:solidFill>
                  </a:tcPr>
                </a:tc>
                <a:tc>
                  <a:txBody>
                    <a:bodyPr wrap="square"/>
                    <a:lstStyle/>
                    <a:p>
                      <a:r>
                        <a:rPr sz="830">
                          <a:solidFill>
                            <a:srgbClr val="222222"/>
                          </a:solidFill>
                          <a:latin typeface="Aptos"/>
                        </a:rPr>
                        <a:t>OFFER-09
LN2 Techno-Economic Evaluation (C…</a:t>
                      </a:r>
                    </a:p>
                  </a:txBody>
                  <a:tcPr>
                    <a:solidFill>
                      <a:srgbClr val="FFFFFF"/>
                    </a:solidFill>
                  </a:tcPr>
                </a:tc>
                <a:tc>
                  <a:txBody>
                    <a:bodyPr wrap="square"/>
                    <a:lstStyle/>
                    <a:p>
                      <a:r>
                        <a:rPr sz="830">
                          <a:solidFill>
                            <a:srgbClr val="222222"/>
                          </a:solidFill>
                          <a:latin typeface="Aptos"/>
                        </a:rPr>
                        <a:t>None explicitly named in …</a:t>
                      </a:r>
                    </a:p>
                  </a:txBody>
                  <a:tcPr>
                    <a:solidFill>
                      <a:srgbClr val="FFFFFF"/>
                    </a:solidFill>
                  </a:tcPr>
                </a:tc>
                <a:tc>
                  <a:txBody>
                    <a:bodyPr wrap="square"/>
                    <a:lstStyle/>
                    <a:p>
                      <a:r>
                        <a:rPr sz="830">
                          <a:solidFill>
                            <a:srgbClr val="222222"/>
                          </a:solidFill>
                          <a:latin typeface="Aptos"/>
                        </a:rPr>
                        <a:t>Offer response: LN2 Techno-Economic E…</a:t>
                      </a:r>
                    </a:p>
                  </a:txBody>
                  <a:tcPr>
                    <a:solidFill>
                      <a:srgbClr val="FFFFFF"/>
                    </a:solidFill>
                  </a:tcPr>
                </a:tc>
                <a:tc>
                  <a:txBody>
                    <a:bodyPr wrap="square"/>
                    <a:lstStyle/>
                    <a:p>
                      <a:r>
                        <a:rPr sz="830">
                          <a:solidFill>
                            <a:srgbClr val="222222"/>
                          </a:solidFill>
                          <a:latin typeface="Aptos"/>
                        </a:rPr>
                        <a:t>4 phases (L0→PAC)</a:t>
                      </a:r>
                    </a:p>
                  </a:txBody>
                  <a:tcPr>
                    <a:solidFill>
                      <a:srgbClr val="FFFFFF"/>
                    </a:solidFill>
                  </a:tcPr>
                </a:tc>
                <a:tc>
                  <a:txBody>
                    <a:bodyPr wrap="square"/>
                    <a:lstStyle/>
                    <a:p>
                      <a:r>
                        <a:rPr sz="830">
                          <a:solidFill>
                            <a:srgbClr val="222222"/>
                          </a:solidFill>
                          <a:latin typeface="Aptos"/>
                        </a:rPr>
                        <a:t>0 / 1</a:t>
                      </a:r>
                    </a:p>
                  </a:txBody>
                  <a:tcPr>
                    <a:solidFill>
                      <a:srgbClr val="FFFFFF"/>
                    </a:solidFill>
                  </a:tcPr>
                </a:tc>
              </a:tr>
              <a:tr h="445454">
                <a:tc>
                  <a:txBody>
                    <a:bodyPr wrap="square"/>
                    <a:lstStyle/>
                    <a:p>
                      <a:r>
                        <a:rPr sz="830" b="1">
                          <a:solidFill>
                            <a:srgbClr val="0B3D5C"/>
                          </a:solidFill>
                          <a:latin typeface="Aptos"/>
                        </a:rPr>
                        <a:t>8</a:t>
                      </a:r>
                    </a:p>
                  </a:txBody>
                  <a:tcPr>
                    <a:solidFill>
                      <a:srgbClr val="F4F7F9"/>
                    </a:solidFill>
                  </a:tcPr>
                </a:tc>
                <a:tc>
                  <a:txBody>
                    <a:bodyPr wrap="square"/>
                    <a:lstStyle/>
                    <a:p>
                      <a:r>
                        <a:rPr sz="830">
                          <a:solidFill>
                            <a:srgbClr val="222222"/>
                          </a:solidFill>
                          <a:latin typeface="Aptos"/>
                        </a:rPr>
                        <a:t>OFFER-42
After-Sales Service Organization …</a:t>
                      </a:r>
                    </a:p>
                  </a:txBody>
                  <a:tcPr>
                    <a:solidFill>
                      <a:srgbClr val="F4F7F9"/>
                    </a:solidFill>
                  </a:tcPr>
                </a:tc>
                <a:tc>
                  <a:txBody>
                    <a:bodyPr wrap="square"/>
                    <a:lstStyle/>
                    <a:p>
                      <a:r>
                        <a:rPr sz="830">
                          <a:solidFill>
                            <a:srgbClr val="222222"/>
                          </a:solidFill>
                          <a:latin typeface="Aptos"/>
                        </a:rPr>
                        <a:t>None explicitly named in …</a:t>
                      </a:r>
                    </a:p>
                  </a:txBody>
                  <a:tcPr>
                    <a:solidFill>
                      <a:srgbClr val="F4F7F9"/>
                    </a:solidFill>
                  </a:tcPr>
                </a:tc>
                <a:tc>
                  <a:txBody>
                    <a:bodyPr wrap="square"/>
                    <a:lstStyle/>
                    <a:p>
                      <a:r>
                        <a:rPr sz="830">
                          <a:solidFill>
                            <a:srgbClr val="222222"/>
                          </a:solidFill>
                          <a:latin typeface="Aptos"/>
                        </a:rPr>
                        <a:t>Offer response: After-Sales Service O…</a:t>
                      </a:r>
                    </a:p>
                  </a:txBody>
                  <a:tcPr>
                    <a:solidFill>
                      <a:srgbClr val="F4F7F9"/>
                    </a:solidFill>
                  </a:tcPr>
                </a:tc>
                <a:tc>
                  <a:txBody>
                    <a:bodyPr wrap="square"/>
                    <a:lstStyle/>
                    <a:p>
                      <a:r>
                        <a:rPr sz="830">
                          <a:solidFill>
                            <a:srgbClr val="222222"/>
                          </a:solidFill>
                          <a:latin typeface="Aptos"/>
                        </a:rPr>
                        <a:t>3 phases (L0→L2)</a:t>
                      </a:r>
                    </a:p>
                  </a:txBody>
                  <a:tcPr>
                    <a:solidFill>
                      <a:srgbClr val="F4F7F9"/>
                    </a:solidFill>
                  </a:tcPr>
                </a:tc>
                <a:tc>
                  <a:txBody>
                    <a:bodyPr wrap="square"/>
                    <a:lstStyle/>
                    <a:p>
                      <a:r>
                        <a:rPr sz="830">
                          <a:solidFill>
                            <a:srgbClr val="222222"/>
                          </a:solidFill>
                          <a:latin typeface="Aptos"/>
                        </a:rPr>
                        <a:t>1 / 0</a:t>
                      </a:r>
                    </a:p>
                  </a:txBody>
                  <a:tcPr>
                    <a:solidFill>
                      <a:srgbClr val="F4F7F9"/>
                    </a:solidFill>
                  </a:tcPr>
                </a:tc>
              </a:tr>
              <a:tr h="445454">
                <a:tc>
                  <a:txBody>
                    <a:bodyPr wrap="square"/>
                    <a:lstStyle/>
                    <a:p>
                      <a:r>
                        <a:rPr sz="830" b="1">
                          <a:solidFill>
                            <a:srgbClr val="0B3D5C"/>
                          </a:solidFill>
                          <a:latin typeface="Aptos"/>
                        </a:rPr>
                        <a:t>9</a:t>
                      </a:r>
                    </a:p>
                  </a:txBody>
                  <a:tcPr>
                    <a:solidFill>
                      <a:srgbClr val="FFFFFF"/>
                    </a:solidFill>
                  </a:tcPr>
                </a:tc>
                <a:tc>
                  <a:txBody>
                    <a:bodyPr wrap="square"/>
                    <a:lstStyle/>
                    <a:p>
                      <a:r>
                        <a:rPr sz="830">
                          <a:solidFill>
                            <a:srgbClr val="222222"/>
                          </a:solidFill>
                          <a:latin typeface="Aptos"/>
                        </a:rPr>
                        <a:t>OFFER-20
Helium Leak Detection &amp; Loss Mana…</a:t>
                      </a:r>
                    </a:p>
                  </a:txBody>
                  <a:tcPr>
                    <a:solidFill>
                      <a:srgbClr val="FFFFFF"/>
                    </a:solidFill>
                  </a:tcPr>
                </a:tc>
                <a:tc>
                  <a:txBody>
                    <a:bodyPr wrap="square"/>
                    <a:lstStyle/>
                    <a:p>
                      <a:r>
                        <a:rPr sz="830">
                          <a:solidFill>
                            <a:srgbClr val="222222"/>
                          </a:solidFill>
                          <a:latin typeface="Aptos"/>
                        </a:rPr>
                        <a:t>None explicitly named in …</a:t>
                      </a:r>
                    </a:p>
                  </a:txBody>
                  <a:tcPr>
                    <a:solidFill>
                      <a:srgbClr val="FFFFFF"/>
                    </a:solidFill>
                  </a:tcPr>
                </a:tc>
                <a:tc>
                  <a:txBody>
                    <a:bodyPr wrap="square"/>
                    <a:lstStyle/>
                    <a:p>
                      <a:r>
                        <a:rPr sz="830">
                          <a:solidFill>
                            <a:srgbClr val="222222"/>
                          </a:solidFill>
                          <a:latin typeface="Aptos"/>
                        </a:rPr>
                        <a:t>Offer response: Helium Leak Detection…</a:t>
                      </a:r>
                    </a:p>
                  </a:txBody>
                  <a:tcPr>
                    <a:solidFill>
                      <a:srgbClr val="FFFFFF"/>
                    </a:solidFill>
                  </a:tcPr>
                </a:tc>
                <a:tc>
                  <a:txBody>
                    <a:bodyPr wrap="square"/>
                    <a:lstStyle/>
                    <a:p>
                      <a:r>
                        <a:rPr sz="830">
                          <a:solidFill>
                            <a:srgbClr val="222222"/>
                          </a:solidFill>
                          <a:latin typeface="Aptos"/>
                        </a:rPr>
                        <a:t>4 phases (L0→L4)</a:t>
                      </a:r>
                    </a:p>
                  </a:txBody>
                  <a:tcPr>
                    <a:solidFill>
                      <a:srgbClr val="FFFFFF"/>
                    </a:solidFill>
                  </a:tcPr>
                </a:tc>
                <a:tc>
                  <a:txBody>
                    <a:bodyPr wrap="square"/>
                    <a:lstStyle/>
                    <a:p>
                      <a:r>
                        <a:rPr sz="830">
                          <a:solidFill>
                            <a:srgbClr val="222222"/>
                          </a:solidFill>
                          <a:latin typeface="Aptos"/>
                        </a:rPr>
                        <a:t>1 / 1</a:t>
                      </a:r>
                    </a:p>
                  </a:txBody>
                  <a:tcPr>
                    <a:solidFill>
                      <a:srgbClr val="FFFFFF"/>
                    </a:solidFill>
                  </a:tcPr>
                </a:tc>
              </a:tr>
              <a:tr h="445460">
                <a:tc>
                  <a:txBody>
                    <a:bodyPr wrap="square"/>
                    <a:lstStyle/>
                    <a:p>
                      <a:r>
                        <a:rPr sz="830" b="1">
                          <a:solidFill>
                            <a:srgbClr val="0B3D5C"/>
                          </a:solidFill>
                          <a:latin typeface="Aptos"/>
                        </a:rPr>
                        <a:t>10</a:t>
                      </a:r>
                    </a:p>
                  </a:txBody>
                  <a:tcPr>
                    <a:solidFill>
                      <a:srgbClr val="F4F7F9"/>
                    </a:solidFill>
                  </a:tcPr>
                </a:tc>
                <a:tc>
                  <a:txBody>
                    <a:bodyPr wrap="square"/>
                    <a:lstStyle/>
                    <a:p>
                      <a:r>
                        <a:rPr sz="830">
                          <a:solidFill>
                            <a:srgbClr val="222222"/>
                          </a:solidFill>
                          <a:latin typeface="Aptos"/>
                        </a:rPr>
                        <a:t>OFFER-34
Cooling Water System Requirements</a:t>
                      </a:r>
                    </a:p>
                  </a:txBody>
                  <a:tcPr>
                    <a:solidFill>
                      <a:srgbClr val="F4F7F9"/>
                    </a:solidFill>
                  </a:tcPr>
                </a:tc>
                <a:tc>
                  <a:txBody>
                    <a:bodyPr wrap="square"/>
                    <a:lstStyle/>
                    <a:p>
                      <a:r>
                        <a:rPr sz="830">
                          <a:solidFill>
                            <a:srgbClr val="222222"/>
                          </a:solidFill>
                          <a:latin typeface="Aptos"/>
                        </a:rPr>
                        <a:t>None explicitly named in …</a:t>
                      </a:r>
                    </a:p>
                  </a:txBody>
                  <a:tcPr>
                    <a:solidFill>
                      <a:srgbClr val="F4F7F9"/>
                    </a:solidFill>
                  </a:tcPr>
                </a:tc>
                <a:tc>
                  <a:txBody>
                    <a:bodyPr wrap="square"/>
                    <a:lstStyle/>
                    <a:p>
                      <a:r>
                        <a:rPr sz="830">
                          <a:solidFill>
                            <a:srgbClr val="222222"/>
                          </a:solidFill>
                          <a:latin typeface="Aptos"/>
                        </a:rPr>
                        <a:t>Offer response: Cooling Water System …</a:t>
                      </a:r>
                    </a:p>
                  </a:txBody>
                  <a:tcPr>
                    <a:solidFill>
                      <a:srgbClr val="F4F7F9"/>
                    </a:solidFill>
                  </a:tcPr>
                </a:tc>
                <a:tc>
                  <a:txBody>
                    <a:bodyPr wrap="square"/>
                    <a:lstStyle/>
                    <a:p>
                      <a:r>
                        <a:rPr sz="830">
                          <a:solidFill>
                            <a:srgbClr val="222222"/>
                          </a:solidFill>
                          <a:latin typeface="Aptos"/>
                        </a:rPr>
                        <a:t>3 phases (L0→L2)</a:t>
                      </a:r>
                    </a:p>
                  </a:txBody>
                  <a:tcPr>
                    <a:solidFill>
                      <a:srgbClr val="F4F7F9"/>
                    </a:solidFill>
                  </a:tcPr>
                </a:tc>
                <a:tc>
                  <a:txBody>
                    <a:bodyPr wrap="square"/>
                    <a:lstStyle/>
                    <a:p>
                      <a:r>
                        <a:rPr sz="830">
                          <a:solidFill>
                            <a:srgbClr val="222222"/>
                          </a:solidFill>
                          <a:latin typeface="Aptos"/>
                        </a:rPr>
                        <a:t>1 / 0</a:t>
                      </a:r>
                    </a:p>
                  </a:txBody>
                  <a:tcPr>
                    <a:solidFill>
                      <a:srgbClr val="F4F7F9"/>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1563</TotalTime>
  <Words>3036</Words>
  <Application>Microsoft Office PowerPoint</Application>
  <PresentationFormat>Widescreen</PresentationFormat>
  <Paragraphs>250</Paragraphs>
  <Slides>13</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Bonthuys Gerkotze</cp:lastModifiedBy>
  <cp:revision>3</cp:revision>
  <dcterms:created xsi:type="dcterms:W3CDTF">2013-01-27T09:14:16Z</dcterms:created>
  <dcterms:modified xsi:type="dcterms:W3CDTF">2026-08-14T09:54:55Z</dcterms:modified>
  <cp:category/>
</cp:coreProperties>
</file>