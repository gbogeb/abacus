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18288"/>
          </a:xfrm>
          <a:prstGeom prst="rect">
            <a:avLst/>
          </a:prstGeom>
          <a:solidFill>
            <a:srgbClr val="33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A6BD"/>
                </a:solidFill>
                <a:latin typeface="Calibri"/>
              </a:rPr>
              <a:t>MINERVA CryoCell — MYRRHA 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P&amp;ID v3 — Drawing Dissection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14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CFDDF2"/>
                </a:solidFill>
                <a:latin typeface="Calibri"/>
              </a:rPr>
              <a:t>Layer hierarchy · piping classes · instrumentation · monochrome · A3 legibility</a:t>
            </a:r>
          </a:p>
          <a:p>
            <a:pPr algn="l"/>
            <a:r>
              <a:rPr sz="1600" b="0" i="0">
                <a:solidFill>
                  <a:srgbClr val="CFDDF2"/>
                </a:solidFill>
                <a:latin typeface="Calibri"/>
              </a:rPr>
              <a:t>QCELL (=NA.PS01_PFB712)  &amp;  RFCELL (=NA.PS01_PFB713)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A6BD"/>
                </a:solidFill>
                <a:latin typeface="Calibri"/>
              </a:rPr>
              <a:t>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43434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SCK CEN AD_01.16 · ISO 10628 · ISA 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27448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A6BD"/>
                </a:solidFill>
                <a:latin typeface="Calibri"/>
              </a:rPr>
              <a:t>Consultant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4727448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Mott MacDonald — Bristol, 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11496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A6BD"/>
                </a:solidFill>
                <a:latin typeface="Calibri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5111496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SCK CEN — Boeretang 200, 2400 Mol, 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95544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A6BD"/>
                </a:solidFill>
                <a:latin typeface="Calibri"/>
              </a:rPr>
              <a:t>MMD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5495544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411066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A6BD"/>
                </a:solidFill>
                <a:latin typeface="Calibri"/>
              </a:rPr>
              <a:t>Sheets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5879592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 sheets × 4 variants = 16 SVG + 16 PDF (A3 landscape)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6364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A6BD"/>
                </a:solidFill>
                <a:latin typeface="Calibri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626364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S2 — FOR ACCEPTANCE  ·  RESTRICTED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51052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FB4D4"/>
                </a:solidFill>
                <a:latin typeface="Calibri"/>
              </a:rPr>
              <a:t>Revision C1 · 2026-06 · v3 refinement (layers / legibility / monochrome / default views)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Deliverable Map &amp; Layer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22-layer hierarchical naming · toggleable overlays · consistent across all 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4572000" cy="507492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Layer stack (bottom → top)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00_Background_TitleBlock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01_Grid_Match-lines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02_Scope_Boundaries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03_Equipment_Vessels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04_Equipment_HX-Cryo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05_Piping_40K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06_Piping_4K5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07_Piping_2K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08_Piping_Water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09_Piping_Infra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10_Piping_OutOfScope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11_Valves_Actuators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12_Instruments_Field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13_Instruments_Panel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14_Signal_Pneumatic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15_Signal_Electric_SW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C06000"/>
                </a:solidFill>
                <a:latin typeface="Consolas"/>
              </a:rPr>
              <a:t>16_Legend_TOGGLEABLE</a:t>
            </a:r>
          </a:p>
          <a:p>
            <a:pPr>
              <a:spcAft>
                <a:spcPts val="200"/>
              </a:spcAft>
            </a:pPr>
            <a:r>
              <a:rPr sz="1150" b="1">
                <a:solidFill>
                  <a:srgbClr val="C06000"/>
                </a:solidFill>
                <a:latin typeface="Consolas"/>
              </a:rPr>
              <a:t>17_Notes_TOGGLEABLE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234440"/>
            <a:ext cx="6400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Naming convention: NN_Group_Detail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two-digit ordinal controls Z-order / print order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Group = Background / Piping / Instruments / Signal / Legend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Piping split by cryogenic class for selective visibility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40K, 4K5, 2K, Water, Infra, OutOfScope each on own layer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Signals separated from process piping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Pneumatic vs Electric/Software on dedicated layers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C06000"/>
                </a:solidFill>
                <a:latin typeface="Calibri"/>
              </a:rPr>
              <a:t>• TOGGLEABLE overlays default to display:none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Legend (16) and Notes (17) toggle on demand — zero clutter by default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Identical layer tree across all 4 sheets &amp; 4 variants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see LAYER_NAMING_STANDARD.md for the controlled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QCELL — Sheet 1 · Cryogenic Circuits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40 K / 4.5 K / 2 K + HX  ·  =NA.PS01_PFB712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484" y="1133856"/>
            <a:ext cx="7193270" cy="509320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1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8" y="1143000"/>
            <a:ext cx="7174982" cy="5074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49640" y="1143000"/>
            <a:ext cx="3246120" cy="507492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261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Three cryogenic temperature classes on one sheet</a:t>
            </a:r>
          </a:p>
          <a:p>
            <a:pPr lvl="1">
              <a:spcAft>
                <a:spcPts val="700"/>
              </a:spcAft>
            </a:pPr>
            <a:r>
              <a:rPr sz="1150">
                <a:solidFill>
                  <a:srgbClr val="555555"/>
                </a:solidFill>
                <a:latin typeface="Calibri"/>
              </a:rPr>
              <a:t>– 40 K (red) · 4.5 K (blue) · 2 K (cyan)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RF cavities CAV.1/CAV.2 + couplers + tuners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DI-water cooling (green) &amp; infrastructure runs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C06000"/>
                </a:solidFill>
                <a:latin typeface="Calibri"/>
              </a:rPr>
              <a:t>• Buffer-volume &amp; scope hand-over notes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QCELL — Sheet 2 · Instrumentation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Signals / loops / ISA bubbles  ·  =NA.PS01_PFB712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484" y="1133856"/>
            <a:ext cx="7193270" cy="509320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2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8" y="1143000"/>
            <a:ext cx="7174982" cy="5074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49640" y="1143000"/>
            <a:ext cx="3246120" cy="507492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261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Process greyed; instrumentation in foreground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• ISA 5.1 bubbles: field / panel / shared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Three distinct 0.25 mm signal patterns</a:t>
            </a:r>
          </a:p>
          <a:p>
            <a:pPr lvl="1">
              <a:spcAft>
                <a:spcPts val="700"/>
              </a:spcAft>
            </a:pPr>
            <a:r>
              <a:rPr sz="1150">
                <a:solidFill>
                  <a:srgbClr val="555555"/>
                </a:solidFill>
                <a:latin typeface="Calibri"/>
              </a:rPr>
              <a:t>– pneumatic (dash+//), electric (dotted), hydraulic (dash-dot)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C06000"/>
                </a:solidFill>
                <a:latin typeface="Calibri"/>
              </a:rPr>
              <a:t>• Re-allocated piezo sensors PZ535 / PZ525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RFCELL — Sheet 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RF distribution &amp; cooling  ·  =NA.PS01_PFB713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484" y="1133856"/>
            <a:ext cx="7193270" cy="509320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1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8" y="1143000"/>
            <a:ext cx="7174982" cy="5074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49640" y="1143000"/>
            <a:ext cx="3246120" cy="507492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261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RF power &amp; cooling distribution cell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• Same class colour &amp; line-weight system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C06000"/>
                </a:solidFill>
                <a:latin typeface="Calibri"/>
              </a:rPr>
              <a:t>• Scope diamonds at the last-metre hand-over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Shares symbol library with QCELL sheets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RFCELL — Sheet 2 · Instrumentation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Signals / loops / ISA bubbles  ·  =NA.PS01_PFB713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484" y="1133856"/>
            <a:ext cx="7193270" cy="509320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2_st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8" y="1143000"/>
            <a:ext cx="7174982" cy="5074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49640" y="1143000"/>
            <a:ext cx="3246120" cy="507492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2618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73736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Instrumentation foreground / process backdrop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• Consistent signal-pattern legend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B2147"/>
                </a:solidFill>
                <a:latin typeface="Calibri"/>
              </a:rPr>
              <a:t>• Panel vs field instrument differentiation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555555"/>
                </a:solidFill>
                <a:latin typeface="Calibri"/>
              </a:rPr>
              <a:t>• Cross-references to RFCELL Sheet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Piping Hierarchy &amp; Line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Visual weight communicates importance — readable at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327287"/>
            <a:ext cx="6601968" cy="3563346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pi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36431"/>
            <a:ext cx="6583680" cy="35450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12064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QCELL Sheet 1 — process-piping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96012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2147"/>
                </a:solidFill>
                <a:latin typeface="Calibri"/>
              </a:rPr>
              <a:t>Line-weight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371600"/>
            <a:ext cx="777240" cy="109728"/>
          </a:xfrm>
          <a:prstGeom prst="rect">
            <a:avLst/>
          </a:prstGeom>
          <a:solidFill>
            <a:srgbClr val="003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1536192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5544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33CC"/>
                </a:solidFill>
                <a:latin typeface="Calibri"/>
              </a:rPr>
              <a:t>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554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1.0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865376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main headers per cryo class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304288"/>
            <a:ext cx="777240" cy="109728"/>
          </a:xfrm>
          <a:prstGeom prst="rect">
            <a:avLst/>
          </a:prstGeom>
          <a:solidFill>
            <a:srgbClr val="E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2468880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00000"/>
                </a:solidFill>
                <a:latin typeface="Calibri"/>
              </a:rPr>
              <a:t>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8716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0.7 mm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798064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take-offs / sub-runs per class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236976"/>
            <a:ext cx="777240" cy="109728"/>
          </a:xfrm>
          <a:prstGeom prst="rect">
            <a:avLst/>
          </a:prstGeom>
          <a:solidFill>
            <a:srgbClr val="00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3401568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3419856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A000"/>
                </a:solidFill>
                <a:latin typeface="Calibri"/>
              </a:rPr>
              <a:t>SECONDARY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419856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0.5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730752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DI-water &amp; utility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4169664"/>
            <a:ext cx="777240" cy="10972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4334256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4352544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  <a:latin typeface="Calibri"/>
              </a:rPr>
              <a:t>OUT-OF-SCOPE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3525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0.35 mm dashed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663440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services beyond hand-over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5102352"/>
            <a:ext cx="777240" cy="109728"/>
          </a:xfrm>
          <a:prstGeom prst="rect">
            <a:avLst/>
          </a:prstGeom>
          <a:solidFill>
            <a:srgbClr val="7A0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0" y="5266944"/>
            <a:ext cx="4480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528523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7A00A0"/>
                </a:solidFill>
                <a:latin typeface="Calibri"/>
              </a:rPr>
              <a:t>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528523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 i="0">
                <a:solidFill>
                  <a:srgbClr val="1A1A1A"/>
                </a:solidFill>
                <a:latin typeface="Calibri"/>
              </a:rPr>
              <a:t>0.25 mm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596128"/>
            <a:ext cx="4297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instrument signal 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Instrumentation — ISA 5.1 Bubbles &amp;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Location modifiers · safety outlines · three signal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190" y="1179576"/>
            <a:ext cx="5452979" cy="486460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bub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34" y="1188720"/>
            <a:ext cx="5434691" cy="4846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23444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Bubble = ISA 5.1 instrument tag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plain circle = field-mounted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single line = panel / main control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double line = shared display / DCS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dashed outline = safety / interlock function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C06000"/>
                </a:solidFill>
                <a:latin typeface="Calibri"/>
              </a:rPr>
              <a:t>• Tag text ≥ 2.0 mm; main tags ≥ 2.5 mm @ A3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Signal lines kept at 0.25 mm but visually distinct: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7A00A0"/>
                </a:solidFill>
                <a:latin typeface="Calibri"/>
              </a:rPr>
              <a:t>– Pneumatic — dashed with // cross-ticks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00529B"/>
                </a:solidFill>
                <a:latin typeface="Calibri"/>
              </a:rPr>
              <a:t>– Electric — fine dotted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A06A00"/>
                </a:solidFill>
                <a:latin typeface="Calibri"/>
              </a:rPr>
              <a:t>– Hydraulic — dash-dot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Signals on dedicated layers, separate from process piping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Colour vs Monochrome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Every sheet ships full-colour + mono — mono survives B/W plotting &amp; photocopy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439828"/>
            <a:ext cx="5504688" cy="2972503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pi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48972"/>
            <a:ext cx="5486400" cy="29542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4572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B2147"/>
                </a:solidFill>
                <a:latin typeface="Calibri"/>
              </a:rPr>
              <a:t>STANDARD (full colour)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1439828"/>
            <a:ext cx="5504688" cy="2972503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rop_mono_pi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48972"/>
            <a:ext cx="5486400" cy="29542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45720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0B2147"/>
                </a:solidFill>
                <a:latin typeface="Calibri"/>
              </a:rPr>
              <a:t>STANDARD_MONO (black / grey)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• Mono removes class colour — hierarchy now carried by line weight + dash pattern alone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• Marker arrowheads / junction dots recoloured to black; cavity fills switched to white for contrast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• Guarantees legibility when printed on a mono A3 plotter or photocopied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Symbol Library &amp; Toggleable Legend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On-sheet legend (layer 16) — hidden by default, one click to reveal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839" y="1179576"/>
            <a:ext cx="3509842" cy="4956048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leg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983" y="1188720"/>
            <a:ext cx="3491554" cy="4937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0640" y="1280160"/>
            <a:ext cx="6675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Legend embedded on the sheet, not a wasteful side panel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lives on layer 16_Legend_TOGGLEABLE (display:none default)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Documents the full visual grammar: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piping hierarchy (primary / branch / secondary / out-of-scope)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three 0.25 mm signal patterns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ISA 5.1 instrument bubble families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3-compartment scope diamond (TP / cat+num / next system)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C06000"/>
                </a:solidFill>
                <a:latin typeface="Calibri"/>
              </a:rPr>
              <a:t>• AD_01.16 scope categories spelled out: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B=Building C=Civil E=Electrical G=Compressed gasses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H=HVAC L=Liquid waste S=Solid waste W=Water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Maximises usable drawing area — a core v3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Sensor Re-allocations &amp; New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Piezo / magnetic-coupler sensor rationalisation captured in the nomenclature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1384280" cy="1920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2147"/>
                </a:solidFill>
                <a:latin typeface="Calibri"/>
              </a:rPr>
              <a:t>Re-allocations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E00000"/>
                </a:solidFill>
                <a:latin typeface="Calibri"/>
              </a:rPr>
              <a:t>TT535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83080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83080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0A000"/>
                </a:solidFill>
                <a:latin typeface="Calibri"/>
              </a:rPr>
              <a:t>PZ535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coldest piezo (TT-CX) re-tagged as pressure/piezo 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03704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E00000"/>
                </a:solidFill>
                <a:latin typeface="Calibri"/>
              </a:rPr>
              <a:t>TT525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203704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203704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0A000"/>
                </a:solidFill>
                <a:latin typeface="Calibri"/>
              </a:rPr>
              <a:t>PZ525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203704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warmest piezo (TT-PT100) re-tagged (applied if present in source)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624328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E00000"/>
                </a:solidFill>
                <a:latin typeface="Calibri"/>
              </a:rPr>
              <a:t>4 × 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624328"/>
            <a:ext cx="548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624328"/>
            <a:ext cx="1554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0A000"/>
                </a:solidFill>
                <a:latin typeface="Calibri"/>
              </a:rPr>
              <a:t>CX / PT100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24328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magnetic-coupler sensors redistributed across cryo 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Full instrument &amp; equipment register lives in MINERVA_NOMENCLATURE_MASTER.xlsx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01_Instruments (297 rows) · 02_Equipment (44) · 03_Re-allocations · 04_New_components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05_Layer_map · 06_Colour_LineWeight · 07_Scope_categories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Every tag traceable from drawing → register → layer → colour/weight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C06000"/>
                </a:solidFill>
                <a:latin typeface="Calibri"/>
              </a:rPr>
              <a:t>• Re-allocations flagged so reviewers can audit the change set quickly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Scope Boundaries — AD_01.16 Diamonds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3-compartment hand-over markers at the last-metre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763385"/>
            <a:ext cx="5870448" cy="3514109"/>
          </a:xfrm>
          <a:prstGeom prst="rect">
            <a:avLst/>
          </a:prstGeom>
          <a:solidFill>
            <a:srgbClr val="FFFFFF"/>
          </a:solidFill>
          <a:ln w="1270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rop_diamo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72529"/>
            <a:ext cx="5852160" cy="34958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92240" y="128016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Diamond = scope hand-over point (TP)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Three compartments: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top — TP marker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middle — category letter + number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bottom — next system / package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C06000"/>
                </a:solidFill>
                <a:latin typeface="Calibri"/>
              </a:rPr>
              <a:t>• AD_01.16 categories: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B Building · C Civil · E Electrical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G Compressed gasses · H HVAC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– L Liquid waste · S Solid waste · W Water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2147"/>
                </a:solidFill>
                <a:latin typeface="Calibri"/>
              </a:rPr>
              <a:t>• Out-of-scope piping drawn 0.35 mm dashed for instant recognition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• Boundaries isolated on layer 02_Scope_Boundaries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Default Views — Embedded Presets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566928"/>
            <a:ext cx="10515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BFD3F2"/>
                </a:solidFill>
                <a:latin typeface="Calibri"/>
              </a:rPr>
              <a:t>5 named view presets stored as SVG &lt;metadata&gt; for the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91440"/>
            <a:ext cx="731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11384280" cy="50292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25296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225296"/>
            <a:ext cx="7315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What it shows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83080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3657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01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83080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fit whole sheet · all process layers · legend 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41448"/>
            <a:ext cx="11384280" cy="603504"/>
          </a:xfrm>
          <a:prstGeom prst="rect">
            <a:avLst/>
          </a:prstGeom>
          <a:solidFill>
            <a:srgbClr val="E8ECF1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3657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02 Cryogenic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441448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isolate 40K/4K5/2K piping + cryo equipment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99816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99816"/>
            <a:ext cx="3657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03 Instrumentation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099816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instruments + signals foreground, process greyed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58184"/>
            <a:ext cx="11384280" cy="603504"/>
          </a:xfrm>
          <a:prstGeom prst="rect">
            <a:avLst/>
          </a:prstGeom>
          <a:solidFill>
            <a:srgbClr val="E8ECF1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58184"/>
            <a:ext cx="3657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04 Scope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758184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scope boundaries + diamonds + out-of-scope piping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416552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16552"/>
            <a:ext cx="3657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B2147"/>
                </a:solidFill>
                <a:latin typeface="Calibri"/>
              </a:rPr>
              <a:t>05 Print (mono)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416552"/>
            <a:ext cx="740664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monochrome-ready, legend + notes on, A3 frame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Presets are machine-readable metadata (layer visibility + zoom box) — see DEFAULT_VIEWS_GUIDE.md.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MINERVA CryoCell  ·  P&amp;ID v3 Dissection  ·  SCK CEN / Mott MacDonald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65105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AD_01.16  ·  ISO 10628  ·  ISA 5.1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1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00A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A3 Printing &amp; Deliverable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 i="0">
                <a:solidFill>
                  <a:srgbClr val="00A6BD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6400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• Drawing frame = A3 landscape 420 × 297 mm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CFDDF2"/>
                </a:solidFill>
                <a:latin typeface="Calibri"/>
              </a:rPr>
              <a:t>– compact full-width bottom title block (~30 mm)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CFDDF2"/>
                </a:solidFill>
                <a:latin typeface="Calibri"/>
              </a:rPr>
              <a:t>– no wasteful right-hand panel — max drawing area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• Text sizing tuned for true A3 legibility</a:t>
            </a:r>
          </a:p>
          <a:p>
            <a:pPr lvl="1">
              <a:spcAft>
                <a:spcPts val="400"/>
              </a:spcAft>
            </a:pPr>
            <a:r>
              <a:rPr sz="1400">
                <a:solidFill>
                  <a:srgbClr val="CFDDF2"/>
                </a:solidFill>
                <a:latin typeface="Calibri"/>
              </a:rPr>
              <a:t>– main tags ≥ 2.5 mm · bubbles 2.0 mm · callouts 2.2 mm · legend 1.8 mm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• 16 PDF exported at exact A3 (1190.55 × 841.89 pt)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• Print mono variants for B/W plotters &amp; copies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0A6BD"/>
                </a:solidFill>
                <a:latin typeface="Calibri"/>
              </a:rPr>
              <a:t>• See PRINTING_GUIDE_A3.pdf for plotter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280160"/>
            <a:ext cx="4389120" cy="4846320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41732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A6BD"/>
                </a:solidFill>
                <a:latin typeface="Calibri"/>
              </a:rPr>
              <a:t>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2024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16 SVG (4 sheets × 4 variants)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16 PDF (A3, print-ready)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MINERVA_NOMENCLATURE_MASTER.xlsx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MINERVA_PID_DISSECTION.pptx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LAYER_NAMING_STANDARD.md/.pdf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DEFAULT_VIEWS_GUIDE.md/.pdf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PRINTING_GUIDE_A3.pdf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FB4D4"/>
                </a:solidFill>
                <a:latin typeface="Calibri"/>
              </a:rPr>
              <a:t>MINERVA CryoCell · SCK CEN / Mott MacDonald · AD_01.16 / ISO 10628 / ISA 5.1 · Rev C1 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