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MINERVA CryoCell — P&amp;ID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0A6BD"/>
                </a:solidFill>
                <a:latin typeface="Calibri"/>
              </a:rPr>
              <a:t>Revision v5  ·  Cryogenic-Focus Colour Scheme &amp; Line Nomenclature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New cryogenic-focus palette: cold header (A/B) on top, thermal shield (D/E), warm WPS (W/S/U) on the bottom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[LINE]-[SIZE]-[MOC] nomenclature labels + flow-direction arrows on every classified run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Line specification table, MAIN-LINES-ONLY schematic &amp; Line W temperature-gradient annotation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16 production sheets (colour + mono) + 2 single-line schematics + LINE_SPECIFICATION_MASTER.xlsx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SCK CEN  ·  MYRRHA / MINERVA Phase 1  ·  Mott MacDonald (Bristol, UK)  ·  MMD 411066  ·  S2 - FOR ACCEPTANCE  ·  RESTRICTED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What Changed in 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Ten-phase revision of the v4 deliverable — cryogenic clarity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9144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00A6BD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Cryogenic-focus colour scheme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A 4.5 K blue · B 2 K cyan · D 40 K orange · E 60 K red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warm WPS: W green · S lime · U olive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Spatial reorganisation (zone bands)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cold header top → thermal shield → equipment → warm bottom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[LINE]-[SIZE]-[MOC] line labels (layer 04D)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Flow-direction arrows on every run (layer 04G)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Line specification table embedded in the legend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06000"/>
                </a:solidFill>
                <a:latin typeface="Calibri"/>
              </a:rPr>
              <a:t>• MAIN-LINES-ONLY preset + standalone schematic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Mono = line-weight + dash class differentiation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06000"/>
                </a:solidFill>
                <a:latin typeface="Calibri"/>
              </a:rPr>
              <a:t>• Line W temperature gradient (4.5 K → 300 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216" y="1799610"/>
            <a:ext cx="5504688" cy="389886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l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08754"/>
            <a:ext cx="5486400" cy="38805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6172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QCELL — MAIN-LINES-ONLY single-line schematic (new in v5)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967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v5 Dissection  ·  SCK CEN / Mott MacDonald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519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5.1-2022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Line Classification &amp; Colour Coding  —  revised v5 palette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Cold header (top) · thermal shield · warm piping system (bottom)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9144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00A6BD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2147"/>
                </a:solidFill>
                <a:latin typeface="Calibri"/>
              </a:rPr>
              <a:t>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0789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2147"/>
                </a:solidFill>
                <a:latin typeface="Calibri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07899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2147"/>
                </a:solidFill>
                <a:latin typeface="Calibri"/>
              </a:rPr>
              <a:t>Temp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07899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2147"/>
                </a:solidFill>
                <a:latin typeface="Calibri"/>
              </a:rPr>
              <a:t>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07899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2147"/>
                </a:solidFill>
                <a:latin typeface="Calibri"/>
              </a:rPr>
              <a:t>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07899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2147"/>
                </a:solidFill>
                <a:latin typeface="Calibri"/>
              </a:rPr>
              <a:t>DN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07899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B2147"/>
                </a:solidFill>
                <a:latin typeface="Calibri"/>
              </a:rPr>
              <a:t>MOC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17320"/>
            <a:ext cx="11384280" cy="27432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4273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COLD HEADER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28216"/>
            <a:ext cx="11384280" cy="310896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856232"/>
            <a:ext cx="777240" cy="400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736216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000FF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17282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4.5 K primary 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728216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4.5 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72821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3 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72821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~50 g/s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72821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172821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SS316L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167128"/>
            <a:ext cx="777240" cy="40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047112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00080"/>
                </a:solidFill>
                <a:latin typeface="Calibri"/>
              </a:rPr>
              <a:t>A'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039112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4.5 K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039112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4.5 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03911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3 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03911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varies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03911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03911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SS316L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350008"/>
            <a:ext cx="11384280" cy="310896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2478024"/>
            <a:ext cx="777240" cy="40000"/>
          </a:xfrm>
          <a:prstGeom prst="rect">
            <a:avLst/>
          </a:prstGeom>
          <a:solidFill>
            <a:srgbClr val="00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358008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0C0D0"/>
                </a:solidFill>
                <a:latin typeface="Calibri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235000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2 K primary 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2350008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2 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35000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27 mbar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235000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~47.5 g/s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235000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35000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SS316L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788920"/>
            <a:ext cx="777240" cy="40000"/>
          </a:xfrm>
          <a:prstGeom prst="rect">
            <a:avLst/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668904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  <a:latin typeface="Calibri"/>
              </a:rPr>
              <a:t>B'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60904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2 K branches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2660904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2 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2660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27 mbar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2660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varies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2660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2660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SS316L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026664"/>
            <a:ext cx="11384280" cy="27432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036664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THERMAL SHIELD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337560"/>
            <a:ext cx="11384280" cy="310896"/>
          </a:xfrm>
          <a:prstGeom prst="rect">
            <a:avLst/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3465576"/>
            <a:ext cx="777240" cy="40000"/>
          </a:xfrm>
          <a:prstGeom prst="rect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345560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8000"/>
                </a:solidFill>
                <a:latin typeface="Calibri"/>
              </a:rPr>
              <a:t>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3337560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40 K shield inlet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3337560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40 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14 bar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33756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TBD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333756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DN32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333756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Cu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776472"/>
            <a:ext cx="777240" cy="40000"/>
          </a:xfrm>
          <a:prstGeom prst="rect">
            <a:avLst/>
          </a:prstGeom>
          <a:solidFill>
            <a:srgbClr val="FF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3656456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B366"/>
                </a:solidFill>
                <a:latin typeface="Calibri"/>
              </a:rPr>
              <a:t>D'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17320" y="364845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40 K branches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0" y="3648456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40 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364845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14 bar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364845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varies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364845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364845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3959352"/>
            <a:ext cx="11384280" cy="310896"/>
          </a:xfrm>
          <a:prstGeom prst="rect">
            <a:avLst/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2920" y="4087368"/>
            <a:ext cx="777240" cy="4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3967352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0000"/>
                </a:solidFill>
                <a:latin typeface="Calibri"/>
              </a:rPr>
              <a:t>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17320" y="3959352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60 K shield outlet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97680" y="3959352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60 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0" y="395935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13 bar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0" y="395935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TBD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0" y="395935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0" y="395935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Cu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398264"/>
            <a:ext cx="777240" cy="40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4278248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E'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17320" y="42702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60 K branches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7680" y="4270248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60 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0" y="427024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13 bar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0" y="427024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varies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427024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0" y="427024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Cu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636008"/>
            <a:ext cx="11384280" cy="27432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464600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WARM PIPING SYSTEM (WPS)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4946904"/>
            <a:ext cx="11384280" cy="310896"/>
          </a:xfrm>
          <a:prstGeom prst="rect">
            <a:avLst/>
          </a:prstGeom>
          <a:solidFill>
            <a:srgbClr val="EC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02920" y="5074920"/>
            <a:ext cx="777240" cy="40000"/>
          </a:xfrm>
          <a:prstGeom prst="rect">
            <a:avLst/>
          </a:prstGeom>
          <a:solidFill>
            <a:srgbClr val="0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" y="4954904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0C000"/>
                </a:solidFill>
                <a:latin typeface="Calibri"/>
              </a:rPr>
              <a:t>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17320" y="4946904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WPS warm return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7680" y="4946904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4.5 K-300 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3600" y="4946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6 bar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0" y="4946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~2.5 g/s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86800" y="4946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400" y="4946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SS304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5385816"/>
            <a:ext cx="777240" cy="40000"/>
          </a:xfrm>
          <a:prstGeom prst="rect">
            <a:avLst/>
          </a:prstGeom>
          <a:solidFill>
            <a:srgbClr val="8FB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" y="5265800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8FBF00"/>
                </a:solidFill>
                <a:latin typeface="Calibri"/>
              </a:rPr>
              <a:t>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17320" y="5257800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WPS service / safety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97680" y="5257800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2-292 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43600" y="525780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1.05 bar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15200" y="525780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TBD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86800" y="525780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DN15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58400" y="525780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SS304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1480" y="5568696"/>
            <a:ext cx="11384280" cy="310896"/>
          </a:xfrm>
          <a:prstGeom prst="rect">
            <a:avLst/>
          </a:prstGeom>
          <a:solidFill>
            <a:srgbClr val="EC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02920" y="5696712"/>
            <a:ext cx="777240" cy="40000"/>
          </a:xfrm>
          <a:prstGeom prst="rect">
            <a:avLst/>
          </a:prstGeom>
          <a:solidFill>
            <a:srgbClr val="8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2920" y="5576696"/>
            <a:ext cx="868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808000"/>
                </a:solidFill>
                <a:latin typeface="Calibri"/>
              </a:rPr>
              <a:t>U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17320" y="556869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WPS GHe supply inlet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97680" y="5568696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292 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943600" y="556869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14 bar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5200" y="556869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TBD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86800" y="556869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DN15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58400" y="556869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SS304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595274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Temperature increases top → bottom (4.5 K → 300 K).  Primary lines are saturated; branches (′) use the darker / lighter shade of the same hue.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1480" y="651967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v5 Dissection  ·  SCK CEN / Mott MacDonald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29600" y="6519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5.1-2022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Line Nomenclature &amp; Branching  —  new in 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[LINE]-[SIZE]-[MOC] tags  ·  MAIN → BRANCH (A → A′)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9144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00A6BD"/>
                </a:solidFill>
                <a:latin typeface="Calibri"/>
              </a:rPr>
              <a:t>3.5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486400" cy="233172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2147"/>
                </a:solidFill>
                <a:latin typeface="Calibri"/>
              </a:rPr>
              <a:t>Tag 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000FF"/>
                </a:solidFill>
                <a:latin typeface="Consolas"/>
              </a:rPr>
              <a:t>A - DN50 - SS316L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• [LINE]   class designator (A, B, D, E, W, S, U)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• [SIZE]   nominal bore (DN50, DN40, DN32 …)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• [MOC]    material of construction (SS316L, Cu, SS304)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703320"/>
            <a:ext cx="5486400" cy="26060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1304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2147"/>
                </a:solidFill>
                <a:latin typeface="Calibri"/>
              </a:rPr>
              <a:t>Main → branch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8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00FF"/>
                </a:solidFill>
                <a:latin typeface="Consolas"/>
              </a:rPr>
              <a:t>A  DN50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297680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29768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0080"/>
                </a:solidFill>
                <a:latin typeface="Consolas"/>
              </a:rPr>
              <a:t>A′ DN25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297680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4.5 K take-offs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5488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C0D0"/>
                </a:solidFill>
                <a:latin typeface="Consolas"/>
              </a:rPr>
              <a:t>B  DN40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754880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75488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Consolas"/>
              </a:rPr>
              <a:t>B′ DN25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754880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2 K take-offs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1208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  <a:latin typeface="Consolas"/>
              </a:rPr>
              <a:t>D  DN32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212080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21208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B366"/>
                </a:solidFill>
                <a:latin typeface="Consolas"/>
              </a:rPr>
              <a:t>D′ DN20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212080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40 K shield branches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66928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0000"/>
                </a:solidFill>
                <a:latin typeface="Consolas"/>
              </a:rPr>
              <a:t>E  DN32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669280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566928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C0000"/>
                </a:solidFill>
                <a:latin typeface="Consolas"/>
              </a:rPr>
              <a:t>E′ DN20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669280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60 K shield branches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2344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Primary trunk vs branch decided by run length</a:t>
            </a:r>
          </a:p>
          <a:p>
            <a:pPr lvl="1"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Calibri"/>
              </a:rPr>
              <a:t>– 55th-percentile threshold per class splits primary / branch</a:t>
            </a:r>
          </a:p>
          <a:p>
            <a:pPr lvl="1"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Calibri"/>
              </a:rPr>
              <a:t>– primary on layers 04/05/06; branches on 04B/05B/06B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Branch = same hue, reduced bore, same fluid</a:t>
            </a:r>
          </a:p>
          <a:p>
            <a:pPr lvl="1"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Calibri"/>
              </a:rPr>
              <a:t>– A′/B′ darker shade; D′/E′ lighter shade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Size reduces along the distribution chain</a:t>
            </a:r>
          </a:p>
          <a:p>
            <a:pPr lvl="1"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Calibri"/>
              </a:rPr>
              <a:t>– DN50/DN40 headers → DN25/DN20 branches → instrument tube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C06000"/>
                </a:solidFill>
                <a:latin typeface="Calibri"/>
              </a:rPr>
              <a:t>• Labels render on layer 04D, offset along the pipe normal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3669" y="4014216"/>
            <a:ext cx="3314901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l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813" y="4023360"/>
            <a:ext cx="3296613" cy="23317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26480" y="635508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Branch drops A′/B′ into the cryomodule (schematic detail)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1967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v5 Dissection  ·  SCK CEN / Mott MacDonald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519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5.1-2022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Spatial Reorganisation — Cold Top / Warm 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Zone bands group the sheet by temperature class (layer 02C)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9144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00A6BD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05885" y="1133856"/>
            <a:ext cx="7257909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1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29" y="1143000"/>
            <a:ext cx="7239621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41080" y="1143000"/>
            <a:ext cx="3154680" cy="51206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261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Reading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00FF"/>
                </a:solidFill>
                <a:latin typeface="Calibri"/>
              </a:rPr>
              <a:t>• COLD HEADER (top)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555555"/>
                </a:solidFill>
                <a:latin typeface="Calibri"/>
              </a:rPr>
              <a:t>– A 4.5 K / B 2 K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06000"/>
                </a:solidFill>
                <a:latin typeface="Calibri"/>
              </a:rPr>
              <a:t>• THERMAL SHIELD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555555"/>
                </a:solidFill>
                <a:latin typeface="Calibri"/>
              </a:rPr>
              <a:t>– D 40 K in / E 60 K out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Calibri"/>
              </a:rPr>
              <a:t>• EQUIPMENT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555555"/>
                </a:solidFill>
                <a:latin typeface="Calibri"/>
              </a:rPr>
              <a:t>– cavities / vessels / HX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C000"/>
                </a:solidFill>
                <a:latin typeface="Calibri"/>
              </a:rPr>
              <a:t>• WARM PIPING (bottom)</a:t>
            </a:r>
          </a:p>
          <a:p>
            <a:pPr lvl="1">
              <a:spcAft>
                <a:spcPts val="600"/>
              </a:spcAft>
            </a:pPr>
            <a:r>
              <a:rPr sz="1100">
                <a:solidFill>
                  <a:srgbClr val="555555"/>
                </a:solidFill>
                <a:latin typeface="Calibri"/>
              </a:rPr>
              <a:t>– W / S / U → QRB handover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Bands are reference overlays — extracted geometry is preserved, not re-routed.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967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v5 Dissection  ·  SCK CEN / Mott MacDonald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19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5.1-2022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Line Specification Table &amp; MAIN-LINES-ONLY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Embedded legend table (layer 16) + VIEW_MAINLINES_ONLY preset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9144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00A6BD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8537" y="1179576"/>
            <a:ext cx="2452205" cy="5047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spec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81" y="1188720"/>
            <a:ext cx="2433917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Specification table embedded in the on-sheet legend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6357" y="1271016"/>
            <a:ext cx="5189446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l_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501" y="1280160"/>
            <a:ext cx="5171158" cy="3657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498348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Standalone QCELL-MAINLINES_VIEW.svg single-line schematic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035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555555"/>
                </a:solidFill>
                <a:latin typeface="Calibri"/>
              </a:rPr>
              <a:t>• Table lists every line: colour, temp, pressure, DN, MOC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55555"/>
                </a:solidFill>
                <a:latin typeface="Calibri"/>
              </a:rPr>
              <a:t>• MAIN-LINES preset hides branches &amp; instrumentation for a clean distribution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967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v5 Dissection  ·  SCK CEN / Mott MacDonald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519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5.1-2022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Colour vs Monochrome — Class by Weight &amp; Dash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Mono survives B/W plotting: cold = heavy solid, warm = dashed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9144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00A6BD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9210" y="1271016"/>
            <a:ext cx="2230940" cy="459028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spec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354" y="1280160"/>
            <a:ext cx="2212652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B2147"/>
                </a:solidFill>
                <a:latin typeface="Calibri"/>
              </a:rPr>
              <a:t>STANDARD (full colour)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91370" y="1271016"/>
            <a:ext cx="2230940" cy="459028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_spectable_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514" y="1280160"/>
            <a:ext cx="2212652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94360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B2147"/>
                </a:solidFill>
                <a:latin typeface="Calibri"/>
              </a:rPr>
              <a:t>STANDARD_MONO (line-weight + dash)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967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v5 Dissection  ·  SCK CEN / Mott MacDonald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519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5.1-2022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Line W — Temperature Gradient 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WPS warm return: 4.5 K (QCELL side) → 300 K (USER side / QRB)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9144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00A6BD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874612"/>
            <a:ext cx="7607808" cy="1371415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83756"/>
            <a:ext cx="7589520" cy="13531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0233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Line W carries cold helium that is progressively warmed back to ambient before the QRB handover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cold end 4.5 K (QCELL / cold box side)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electrical heater / ambient gain along the run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warm end ~300 K at the USER side (NA.CP03 QRB)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06000"/>
                </a:solidFill>
                <a:latin typeface="Calibri"/>
              </a:rPr>
              <a:t>• Flow rate ~2.5 g/s · DN20 · SS304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• Gradient bar drawn on layer 15_Temperature_Gradient and reproduced in the MAIN-LINES schematic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v5 Dissection  ·  SCK CEN / Mott MacDonald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19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5.1-2022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v5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Everything ships under output_v5/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9144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i="0">
                <a:solidFill>
                  <a:srgbClr val="00A6BD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16 production sheets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QCELL + RFCELL × 2 sheets × {STANDARD, CONTROL-CENTRIC} × {colour, mono}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each as SVG + A3 PDF + review PNG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2 MAIN-LINES-ONLY schematics (QCELL + RFCELL)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LINE_SPECIFICATION_MASTER.xlsx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– 01_Line_Specification · 02_Main_vs_Branch · 03_Source_Circuits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6000"/>
                </a:solidFill>
                <a:latin typeface="Calibri"/>
              </a:rPr>
              <a:t>• MINERVA_PID_DISSECTION_v5.pptx (this deck)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COLOR_SCHEME_REVISION_GUIDE.pdf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B2147"/>
                </a:solidFill>
                <a:latin typeface="Calibri"/>
              </a:rPr>
              <a:t>• TEMPERATURE_GRADIENT_VISUALIZATION.pdf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216" y="1433850"/>
            <a:ext cx="5504688" cy="389886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l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42994"/>
            <a:ext cx="5486400" cy="38805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5321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RFCELL — MAIN-LINES-ONLY schematic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967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v5 Dissection  ·  SCK CEN / Mott MacDonald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519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5.1-2022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